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256" r:id="rId2"/>
    <p:sldId id="330" r:id="rId3"/>
    <p:sldId id="331" r:id="rId4"/>
    <p:sldId id="372" r:id="rId5"/>
    <p:sldId id="374" r:id="rId6"/>
    <p:sldId id="332" r:id="rId7"/>
    <p:sldId id="333" r:id="rId8"/>
    <p:sldId id="373" r:id="rId9"/>
    <p:sldId id="354" r:id="rId10"/>
    <p:sldId id="352" r:id="rId11"/>
    <p:sldId id="351" r:id="rId12"/>
    <p:sldId id="355" r:id="rId13"/>
    <p:sldId id="358" r:id="rId14"/>
    <p:sldId id="359" r:id="rId15"/>
    <p:sldId id="360" r:id="rId16"/>
    <p:sldId id="361" r:id="rId17"/>
    <p:sldId id="362" r:id="rId18"/>
    <p:sldId id="363" r:id="rId19"/>
    <p:sldId id="365" r:id="rId20"/>
    <p:sldId id="366" r:id="rId21"/>
    <p:sldId id="368" r:id="rId22"/>
    <p:sldId id="369" r:id="rId23"/>
    <p:sldId id="370" r:id="rId24"/>
    <p:sldId id="357" r:id="rId25"/>
  </p:sldIdLst>
  <p:sldSz cx="17340263"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7765"/>
    <a:srgbClr val="EC62A7"/>
    <a:srgbClr val="D17DA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3175" cap="flat">
              <a:noFill/>
              <a:miter lim="400000"/>
            </a:ln>
          </a:right>
          <a:top>
            <a:ln w="12700" cap="flat">
              <a:noFill/>
              <a:miter lim="400000"/>
            </a:ln>
          </a:top>
          <a:bottom>
            <a:ln w="12700" cap="flat">
              <a:noFill/>
              <a:miter lim="400000"/>
            </a:ln>
          </a:bottom>
          <a:insideH>
            <a:ln w="12700" cap="flat">
              <a:noFill/>
              <a:miter lim="400000"/>
            </a:ln>
          </a:insideH>
          <a:insideV>
            <a:ln w="3175"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3175" cap="flat">
              <a:solidFill>
                <a:srgbClr val="3797C6"/>
              </a:solidFill>
              <a:prstDash val="solid"/>
              <a:miter lim="400000"/>
            </a:ln>
          </a:top>
          <a:bottom>
            <a:ln w="12700" cap="flat">
              <a:noFill/>
              <a:miter lim="400000"/>
            </a:ln>
          </a:bottom>
          <a:insideH>
            <a:ln w="3175"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3175" cap="flat">
              <a:noFill/>
              <a:miter lim="400000"/>
            </a:ln>
          </a:bottom>
          <a:insideH>
            <a:ln w="3175"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3175" cap="flat">
              <a:solidFill>
                <a:srgbClr val="B8B8B8"/>
              </a:solidFill>
              <a:prstDash val="solid"/>
              <a:miter lim="400000"/>
            </a:ln>
          </a:left>
          <a:right>
            <a:ln w="3175" cap="flat">
              <a:solidFill>
                <a:srgbClr val="B8B8B8"/>
              </a:solidFill>
              <a:prstDash val="solid"/>
              <a:miter lim="400000"/>
            </a:ln>
          </a:right>
          <a:top>
            <a:ln w="3175" cap="flat">
              <a:solidFill>
                <a:srgbClr val="B8B8B8"/>
              </a:solidFill>
              <a:prstDash val="solid"/>
              <a:miter lim="400000"/>
            </a:ln>
          </a:top>
          <a:bottom>
            <a:ln w="3175" cap="flat">
              <a:solidFill>
                <a:srgbClr val="B8B8B8"/>
              </a:solidFill>
              <a:prstDash val="solid"/>
              <a:miter lim="400000"/>
            </a:ln>
          </a:bottom>
          <a:insideH>
            <a:ln w="3175" cap="flat">
              <a:solidFill>
                <a:srgbClr val="B8B8B8"/>
              </a:solidFill>
              <a:prstDash val="solid"/>
              <a:miter lim="400000"/>
            </a:ln>
          </a:insideH>
          <a:insideV>
            <a:ln w="3175"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ff" i="off">
        <a:fontRef idx="minor">
          <a:srgbClr val="FFFFFF"/>
        </a:fontRef>
        <a:srgbClr val="FFFFFF"/>
      </a:tcTxStyle>
      <a:tcStyle>
        <a:tcBdr>
          <a:left>
            <a:ln w="3175" cap="flat">
              <a:solidFill>
                <a:srgbClr val="606060"/>
              </a:solidFill>
              <a:prstDash val="solid"/>
              <a:miter lim="400000"/>
            </a:ln>
          </a:left>
          <a:right>
            <a:ln w="3175" cap="flat">
              <a:solidFill>
                <a:srgbClr val="606060"/>
              </a:solidFill>
              <a:prstDash val="solid"/>
              <a:miter lim="400000"/>
            </a:ln>
          </a:right>
          <a:top>
            <a:ln w="3175" cap="flat">
              <a:solidFill>
                <a:srgbClr val="606060"/>
              </a:solidFill>
              <a:prstDash val="solid"/>
              <a:miter lim="400000"/>
            </a:ln>
          </a:top>
          <a:bottom>
            <a:ln w="3175" cap="flat">
              <a:solidFill>
                <a:srgbClr val="606060"/>
              </a:solidFill>
              <a:prstDash val="solid"/>
              <a:miter lim="400000"/>
            </a:ln>
          </a:bottom>
          <a:insideH>
            <a:ln w="3175" cap="flat">
              <a:solidFill>
                <a:srgbClr val="606060"/>
              </a:solidFill>
              <a:prstDash val="solid"/>
              <a:miter lim="400000"/>
            </a:ln>
          </a:insideH>
          <a:insideV>
            <a:ln w="3175"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3175" cap="flat">
              <a:solidFill>
                <a:srgbClr val="606060"/>
              </a:solidFill>
              <a:prstDash val="solid"/>
              <a:miter lim="400000"/>
            </a:ln>
          </a:left>
          <a:right>
            <a:ln w="3175" cap="flat">
              <a:solidFill>
                <a:srgbClr val="606060"/>
              </a:solidFill>
              <a:prstDash val="solid"/>
              <a:miter lim="400000"/>
            </a:ln>
          </a:right>
          <a:top>
            <a:ln w="3175" cap="flat">
              <a:solidFill>
                <a:srgbClr val="606060"/>
              </a:solidFill>
              <a:prstDash val="solid"/>
              <a:miter lim="400000"/>
            </a:ln>
          </a:top>
          <a:bottom>
            <a:ln w="3175" cap="flat">
              <a:solidFill>
                <a:srgbClr val="606060"/>
              </a:solidFill>
              <a:prstDash val="solid"/>
              <a:miter lim="400000"/>
            </a:ln>
          </a:bottom>
          <a:insideH>
            <a:ln w="3175" cap="flat">
              <a:solidFill>
                <a:srgbClr val="606060"/>
              </a:solidFill>
              <a:prstDash val="solid"/>
              <a:miter lim="400000"/>
            </a:ln>
          </a:insideH>
          <a:insideV>
            <a:ln w="3175"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3175" cap="flat">
              <a:solidFill>
                <a:srgbClr val="929292"/>
              </a:solidFill>
              <a:prstDash val="solid"/>
              <a:miter lim="400000"/>
            </a:ln>
          </a:left>
          <a:right>
            <a:ln w="3175" cap="flat">
              <a:solidFill>
                <a:srgbClr val="929292"/>
              </a:solidFill>
              <a:prstDash val="solid"/>
              <a:miter lim="400000"/>
            </a:ln>
          </a:right>
          <a:top>
            <a:ln w="3175" cap="flat">
              <a:solidFill>
                <a:srgbClr val="606060"/>
              </a:solidFill>
              <a:prstDash val="solid"/>
              <a:miter lim="400000"/>
            </a:ln>
          </a:top>
          <a:bottom>
            <a:ln w="3175" cap="flat">
              <a:solidFill>
                <a:srgbClr val="606060"/>
              </a:solidFill>
              <a:prstDash val="solid"/>
              <a:miter lim="400000"/>
            </a:ln>
          </a:bottom>
          <a:insideH>
            <a:ln w="3175" cap="flat">
              <a:solidFill>
                <a:srgbClr val="929292"/>
              </a:solidFill>
              <a:prstDash val="solid"/>
              <a:miter lim="400000"/>
            </a:ln>
          </a:insideH>
          <a:insideV>
            <a:ln w="3175"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3175" cap="flat">
              <a:solidFill>
                <a:srgbClr val="5D5D5D"/>
              </a:solidFill>
              <a:custDash>
                <a:ds d="200000" sp="200000"/>
              </a:custDash>
              <a:miter lim="400000"/>
            </a:ln>
          </a:left>
          <a:right>
            <a:ln w="3175" cap="flat">
              <a:solidFill>
                <a:srgbClr val="5D5D5D"/>
              </a:solidFill>
              <a:custDash>
                <a:ds d="200000" sp="200000"/>
              </a:custDash>
              <a:miter lim="400000"/>
            </a:ln>
          </a:right>
          <a:top>
            <a:ln w="3175" cap="flat">
              <a:solidFill>
                <a:srgbClr val="5D5D5D"/>
              </a:solidFill>
              <a:custDash>
                <a:ds d="200000" sp="200000"/>
              </a:custDash>
              <a:miter lim="400000"/>
            </a:ln>
          </a:top>
          <a:bottom>
            <a:ln w="3175" cap="flat">
              <a:solidFill>
                <a:srgbClr val="5D5D5D"/>
              </a:solidFill>
              <a:custDash>
                <a:ds d="200000" sp="200000"/>
              </a:custDash>
              <a:miter lim="400000"/>
            </a:ln>
          </a:bottom>
          <a:insideH>
            <a:ln w="3175" cap="flat">
              <a:solidFill>
                <a:srgbClr val="5D5D5D"/>
              </a:solidFill>
              <a:custDash>
                <a:ds d="200000" sp="200000"/>
              </a:custDash>
              <a:miter lim="400000"/>
            </a:ln>
          </a:insideH>
          <a:insideV>
            <a:ln w="3175"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ff" i="off">
        <a:fontRef idx="minor">
          <a:srgbClr val="FFFFFF"/>
        </a:fontRef>
        <a:srgbClr val="FFFFFF"/>
      </a:tcTxStyle>
      <a:tcStyle>
        <a:tcBdr>
          <a:left>
            <a:ln w="3175" cap="flat">
              <a:solidFill>
                <a:srgbClr val="5D5D5D"/>
              </a:solidFill>
              <a:prstDash val="solid"/>
              <a:miter lim="400000"/>
            </a:ln>
          </a:left>
          <a:right>
            <a:ln w="3175" cap="flat">
              <a:solidFill>
                <a:srgbClr val="5D5D5D"/>
              </a:solidFill>
              <a:prstDash val="solid"/>
              <a:miter lim="400000"/>
            </a:ln>
          </a:right>
          <a:top>
            <a:ln w="3175" cap="flat">
              <a:solidFill>
                <a:srgbClr val="5D5D5D"/>
              </a:solidFill>
              <a:prstDash val="solid"/>
              <a:miter lim="400000"/>
            </a:ln>
          </a:top>
          <a:bottom>
            <a:ln w="3175" cap="flat">
              <a:solidFill>
                <a:srgbClr val="5D5D5D"/>
              </a:solidFill>
              <a:prstDash val="solid"/>
              <a:miter lim="400000"/>
            </a:ln>
          </a:bottom>
          <a:insideH>
            <a:ln w="3175" cap="flat">
              <a:solidFill>
                <a:srgbClr val="5D5D5D"/>
              </a:solidFill>
              <a:prstDash val="solid"/>
              <a:miter lim="400000"/>
            </a:ln>
          </a:insideH>
          <a:insideV>
            <a:ln w="3175"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3175" cap="flat">
              <a:solidFill>
                <a:srgbClr val="5D5D5D"/>
              </a:solidFill>
              <a:prstDash val="solid"/>
              <a:miter lim="400000"/>
            </a:ln>
          </a:left>
          <a:right>
            <a:ln w="3175" cap="flat">
              <a:solidFill>
                <a:srgbClr val="5D5D5D"/>
              </a:solidFill>
              <a:prstDash val="solid"/>
              <a:miter lim="400000"/>
            </a:ln>
          </a:right>
          <a:top>
            <a:ln w="3175" cap="flat">
              <a:solidFill>
                <a:srgbClr val="5D5D5D"/>
              </a:solidFill>
              <a:prstDash val="solid"/>
              <a:miter lim="400000"/>
            </a:ln>
          </a:top>
          <a:bottom>
            <a:ln w="3175" cap="flat">
              <a:solidFill>
                <a:srgbClr val="5D5D5D"/>
              </a:solidFill>
              <a:prstDash val="solid"/>
              <a:miter lim="400000"/>
            </a:ln>
          </a:bottom>
          <a:insideH>
            <a:ln w="3175" cap="flat">
              <a:solidFill>
                <a:srgbClr val="5D5D5D"/>
              </a:solidFill>
              <a:prstDash val="solid"/>
              <a:miter lim="400000"/>
            </a:ln>
          </a:insideH>
          <a:insideV>
            <a:ln w="3175"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3175" cap="flat">
              <a:solidFill>
                <a:srgbClr val="5D5D5D"/>
              </a:solidFill>
              <a:prstDash val="solid"/>
              <a:miter lim="400000"/>
            </a:ln>
          </a:left>
          <a:right>
            <a:ln w="3175" cap="flat">
              <a:solidFill>
                <a:srgbClr val="5D5D5D"/>
              </a:solidFill>
              <a:prstDash val="solid"/>
              <a:miter lim="400000"/>
            </a:ln>
          </a:right>
          <a:top>
            <a:ln w="3175" cap="flat">
              <a:solidFill>
                <a:srgbClr val="5D5D5D"/>
              </a:solidFill>
              <a:prstDash val="solid"/>
              <a:miter lim="400000"/>
            </a:ln>
          </a:top>
          <a:bottom>
            <a:ln w="3175" cap="flat">
              <a:solidFill>
                <a:srgbClr val="5D5D5D"/>
              </a:solidFill>
              <a:prstDash val="solid"/>
              <a:miter lim="400000"/>
            </a:ln>
          </a:bottom>
          <a:insideH>
            <a:ln w="3175" cap="flat">
              <a:solidFill>
                <a:srgbClr val="5D5D5D"/>
              </a:solidFill>
              <a:prstDash val="solid"/>
              <a:miter lim="400000"/>
            </a:ln>
          </a:insideH>
          <a:insideV>
            <a:ln w="3175"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3175" cap="flat">
              <a:solidFill>
                <a:srgbClr val="A6AAA9"/>
              </a:solidFill>
              <a:prstDash val="solid"/>
              <a:miter lim="400000"/>
            </a:ln>
          </a:left>
          <a:right>
            <a:ln w="3175" cap="flat">
              <a:solidFill>
                <a:srgbClr val="A6AAA9"/>
              </a:solidFill>
              <a:prstDash val="solid"/>
              <a:miter lim="400000"/>
            </a:ln>
          </a:right>
          <a:top>
            <a:ln w="3175" cap="flat">
              <a:solidFill>
                <a:srgbClr val="A6AAA9"/>
              </a:solidFill>
              <a:prstDash val="solid"/>
              <a:miter lim="400000"/>
            </a:ln>
          </a:top>
          <a:bottom>
            <a:ln w="3175" cap="flat">
              <a:solidFill>
                <a:srgbClr val="A6AAA9"/>
              </a:solidFill>
              <a:prstDash val="solid"/>
              <a:miter lim="400000"/>
            </a:ln>
          </a:bottom>
          <a:insideH>
            <a:ln w="3175" cap="flat">
              <a:solidFill>
                <a:srgbClr val="A6AAA9"/>
              </a:solidFill>
              <a:prstDash val="solid"/>
              <a:miter lim="400000"/>
            </a:ln>
          </a:insideH>
          <a:insideV>
            <a:ln w="3175"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Helvetica Neue"/>
          <a:ea typeface="Helvetica Neue"/>
          <a:cs typeface="Helvetica Neue"/>
        </a:font>
        <a:srgbClr val="FFFFFF"/>
      </a:tcTxStyle>
      <a:tcStyle>
        <a:tcBdr>
          <a:left>
            <a:ln w="3175" cap="flat">
              <a:solidFill>
                <a:srgbClr val="A6AAA9"/>
              </a:solidFill>
              <a:prstDash val="solid"/>
              <a:miter lim="400000"/>
            </a:ln>
          </a:left>
          <a:right>
            <a:ln w="3175" cap="flat">
              <a:solidFill>
                <a:srgbClr val="A6AAA9"/>
              </a:solidFill>
              <a:prstDash val="solid"/>
              <a:miter lim="400000"/>
            </a:ln>
          </a:right>
          <a:top>
            <a:ln w="3175" cap="flat">
              <a:solidFill>
                <a:srgbClr val="A6AAA9"/>
              </a:solidFill>
              <a:prstDash val="solid"/>
              <a:miter lim="400000"/>
            </a:ln>
          </a:top>
          <a:bottom>
            <a:ln w="3175" cap="flat">
              <a:solidFill>
                <a:srgbClr val="A6AAA9"/>
              </a:solidFill>
              <a:prstDash val="solid"/>
              <a:miter lim="400000"/>
            </a:ln>
          </a:bottom>
          <a:insideH>
            <a:ln w="3175" cap="flat">
              <a:solidFill>
                <a:srgbClr val="A6AAA9"/>
              </a:solidFill>
              <a:prstDash val="solid"/>
              <a:miter lim="400000"/>
            </a:ln>
          </a:insideH>
          <a:insideV>
            <a:ln w="3175"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3175" cap="flat">
              <a:solidFill>
                <a:srgbClr val="A6AAA9"/>
              </a:solidFill>
              <a:prstDash val="solid"/>
              <a:miter lim="400000"/>
            </a:ln>
          </a:left>
          <a:right>
            <a:ln w="3175" cap="flat">
              <a:solidFill>
                <a:srgbClr val="A6AAA9"/>
              </a:solidFill>
              <a:prstDash val="solid"/>
              <a:miter lim="400000"/>
            </a:ln>
          </a:right>
          <a:top>
            <a:ln w="3175" cap="flat">
              <a:solidFill>
                <a:srgbClr val="A6AAA9"/>
              </a:solidFill>
              <a:prstDash val="solid"/>
              <a:miter lim="400000"/>
            </a:ln>
          </a:top>
          <a:bottom>
            <a:ln w="3175" cap="flat">
              <a:solidFill>
                <a:srgbClr val="A6AAA9"/>
              </a:solidFill>
              <a:prstDash val="solid"/>
              <a:miter lim="400000"/>
            </a:ln>
          </a:bottom>
          <a:insideH>
            <a:ln w="3175" cap="flat">
              <a:solidFill>
                <a:srgbClr val="A6AAA9"/>
              </a:solidFill>
              <a:prstDash val="solid"/>
              <a:miter lim="400000"/>
            </a:ln>
          </a:insideH>
          <a:insideV>
            <a:ln w="3175"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3175" cap="flat">
              <a:solidFill>
                <a:srgbClr val="A6AAA9"/>
              </a:solidFill>
              <a:prstDash val="solid"/>
              <a:miter lim="400000"/>
            </a:ln>
          </a:left>
          <a:right>
            <a:ln w="3175" cap="flat">
              <a:solidFill>
                <a:srgbClr val="A6AAA9"/>
              </a:solidFill>
              <a:prstDash val="solid"/>
              <a:miter lim="400000"/>
            </a:ln>
          </a:right>
          <a:top>
            <a:ln w="3175" cap="flat">
              <a:solidFill>
                <a:srgbClr val="A6AAA9"/>
              </a:solidFill>
              <a:prstDash val="solid"/>
              <a:miter lim="400000"/>
            </a:ln>
          </a:top>
          <a:bottom>
            <a:ln w="3175" cap="flat">
              <a:solidFill>
                <a:srgbClr val="A6AAA9"/>
              </a:solidFill>
              <a:prstDash val="solid"/>
              <a:miter lim="400000"/>
            </a:ln>
          </a:bottom>
          <a:insideH>
            <a:ln w="3175" cap="flat">
              <a:solidFill>
                <a:srgbClr val="A6AAA9"/>
              </a:solidFill>
              <a:prstDash val="solid"/>
              <a:miter lim="400000"/>
            </a:ln>
          </a:insideH>
          <a:insideV>
            <a:ln w="3175"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Helvetica Neue"/>
          <a:ea typeface="Helvetica Neue"/>
          <a:cs typeface="Helvetica Neue"/>
        </a:font>
        <a:srgbClr val="FFFFFF"/>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3175" cap="flat">
              <a:solidFill>
                <a:srgbClr val="000000"/>
              </a:solidFill>
              <a:custDash>
                <a:ds d="200000" sp="200000"/>
              </a:custDash>
              <a:miter lim="400000"/>
            </a:ln>
          </a:left>
          <a:right>
            <a:ln w="3175" cap="flat">
              <a:solidFill>
                <a:srgbClr val="000000"/>
              </a:solidFill>
              <a:custDash>
                <a:ds d="200000" sp="200000"/>
              </a:custDash>
              <a:miter lim="400000"/>
            </a:ln>
          </a:right>
          <a:top>
            <a:ln w="3175" cap="flat">
              <a:solidFill>
                <a:srgbClr val="000000"/>
              </a:solidFill>
              <a:custDash>
                <a:ds d="200000" sp="200000"/>
              </a:custDash>
              <a:miter lim="400000"/>
            </a:ln>
          </a:top>
          <a:bottom>
            <a:ln w="3175" cap="flat">
              <a:solidFill>
                <a:srgbClr val="000000"/>
              </a:solidFill>
              <a:custDash>
                <a:ds d="200000" sp="200000"/>
              </a:custDash>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3175" cap="flat">
              <a:solidFill>
                <a:srgbClr val="000000"/>
              </a:solidFill>
              <a:prstDash val="solid"/>
              <a:miter lim="400000"/>
            </a:ln>
          </a:right>
          <a:top>
            <a:ln w="3175" cap="flat">
              <a:solidFill>
                <a:srgbClr val="000000"/>
              </a:solidFill>
              <a:custDash>
                <a:ds d="200000" sp="200000"/>
              </a:custDash>
              <a:miter lim="400000"/>
            </a:ln>
          </a:top>
          <a:bottom>
            <a:ln w="3175" cap="flat">
              <a:solidFill>
                <a:srgbClr val="000000"/>
              </a:solidFill>
              <a:custDash>
                <a:ds d="200000" sp="200000"/>
              </a:custDash>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3175" cap="flat">
              <a:solidFill>
                <a:srgbClr val="000000"/>
              </a:solidFill>
              <a:custDash>
                <a:ds d="200000" sp="200000"/>
              </a:custDash>
              <a:miter lim="400000"/>
            </a:ln>
          </a:left>
          <a:right>
            <a:ln w="3175" cap="flat">
              <a:solidFill>
                <a:srgbClr val="000000"/>
              </a:solidFill>
              <a:custDash>
                <a:ds d="200000" sp="200000"/>
              </a:custDash>
              <a:miter lim="400000"/>
            </a:ln>
          </a:right>
          <a:top>
            <a:ln w="3175" cap="flat">
              <a:solidFill>
                <a:srgbClr val="000000"/>
              </a:solidFill>
              <a:prstDash val="solid"/>
              <a:miter lim="400000"/>
            </a:ln>
          </a:top>
          <a:bottom>
            <a:ln w="12700" cap="flat">
              <a:noFill/>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3175" cap="flat">
              <a:solidFill>
                <a:srgbClr val="000000"/>
              </a:solidFill>
              <a:custDash>
                <a:ds d="200000" sp="200000"/>
              </a:custDash>
              <a:miter lim="400000"/>
            </a:ln>
          </a:left>
          <a:right>
            <a:ln w="3175" cap="flat">
              <a:solidFill>
                <a:srgbClr val="000000"/>
              </a:solidFill>
              <a:custDash>
                <a:ds d="200000" sp="200000"/>
              </a:custDash>
              <a:miter lim="400000"/>
            </a:ln>
          </a:right>
          <a:top>
            <a:ln w="12700" cap="flat">
              <a:noFill/>
              <a:miter lim="400000"/>
            </a:ln>
          </a:top>
          <a:bottom>
            <a:ln w="3175" cap="flat">
              <a:solidFill>
                <a:srgbClr val="000000"/>
              </a:solidFill>
              <a:prstDash val="solid"/>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434" autoAdjust="0"/>
    <p:restoredTop sz="94564"/>
  </p:normalViewPr>
  <p:slideViewPr>
    <p:cSldViewPr snapToGrid="0" snapToObjects="1">
      <p:cViewPr varScale="1">
        <p:scale>
          <a:sx n="74" d="100"/>
          <a:sy n="74" d="100"/>
        </p:scale>
        <p:origin x="192" y="680"/>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6" name="Shape 116"/>
          <p:cNvSpPr>
            <a:spLocks noGrp="1" noRot="1" noChangeAspect="1"/>
          </p:cNvSpPr>
          <p:nvPr>
            <p:ph type="sldImg"/>
          </p:nvPr>
        </p:nvSpPr>
        <p:spPr>
          <a:xfrm>
            <a:off x="381000" y="685800"/>
            <a:ext cx="6096000" cy="3429000"/>
          </a:xfrm>
          <a:prstGeom prst="rect">
            <a:avLst/>
          </a:prstGeom>
        </p:spPr>
        <p:txBody>
          <a:bodyPr/>
          <a:lstStyle/>
          <a:p>
            <a:endParaRPr/>
          </a:p>
        </p:txBody>
      </p:sp>
      <p:sp>
        <p:nvSpPr>
          <p:cNvPr id="117" name="Shape 117"/>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Punti elenco">
    <p:spTree>
      <p:nvGrpSpPr>
        <p:cNvPr id="1" name=""/>
        <p:cNvGrpSpPr/>
        <p:nvPr/>
      </p:nvGrpSpPr>
      <p:grpSpPr>
        <a:xfrm>
          <a:off x="0" y="0"/>
          <a:ext cx="0" cy="0"/>
          <a:chOff x="0" y="0"/>
          <a:chExt cx="0" cy="0"/>
        </a:xfrm>
      </p:grpSpPr>
      <p:sp>
        <p:nvSpPr>
          <p:cNvPr id="75" name="Corpo livello uno…"/>
          <p:cNvSpPr txBox="1">
            <a:spLocks noGrp="1"/>
          </p:cNvSpPr>
          <p:nvPr>
            <p:ph type="body" sz="half" idx="1"/>
          </p:nvPr>
        </p:nvSpPr>
        <p:spPr>
          <a:xfrm>
            <a:off x="3068413" y="2844799"/>
            <a:ext cx="11203438" cy="4064002"/>
          </a:xfrm>
          <a:prstGeom prst="rect">
            <a:avLst/>
          </a:prstGeom>
        </p:spPr>
        <p:txBody>
          <a:bodyPr anchor="ctr"/>
          <a:lstStyle>
            <a:lvl1pPr marL="564472" indent="-564472" algn="l">
              <a:spcBef>
                <a:spcPts val="5467"/>
              </a:spcBef>
              <a:buSzPct val="125000"/>
              <a:buChar char="•"/>
              <a:defRPr sz="4267"/>
            </a:lvl1pPr>
            <a:lvl2pPr marL="1411181" indent="-564472" algn="l">
              <a:spcBef>
                <a:spcPts val="5467"/>
              </a:spcBef>
              <a:buSzPct val="125000"/>
              <a:buChar char="•"/>
              <a:defRPr sz="4267"/>
            </a:lvl2pPr>
            <a:lvl3pPr marL="2257890" indent="-564472" algn="l">
              <a:spcBef>
                <a:spcPts val="5467"/>
              </a:spcBef>
              <a:buSzPct val="125000"/>
              <a:buChar char="•"/>
              <a:defRPr sz="4267"/>
            </a:lvl3pPr>
            <a:lvl4pPr marL="3104599" indent="-564472" algn="l">
              <a:spcBef>
                <a:spcPts val="5467"/>
              </a:spcBef>
              <a:buSzPct val="125000"/>
              <a:buChar char="•"/>
              <a:defRPr sz="4267"/>
            </a:lvl4pPr>
            <a:lvl5pPr marL="3951308" indent="-564472" algn="l">
              <a:spcBef>
                <a:spcPts val="5467"/>
              </a:spcBef>
              <a:buSzPct val="125000"/>
              <a:buChar char="•"/>
              <a:defRPr sz="4267"/>
            </a:lvl5pPr>
          </a:lstStyle>
          <a:p>
            <a:r>
              <a:t>Corpo livello uno</a:t>
            </a:r>
          </a:p>
          <a:p>
            <a:pPr lvl="1"/>
            <a:r>
              <a:t>Corpo livello due</a:t>
            </a:r>
          </a:p>
          <a:p>
            <a:pPr lvl="2"/>
            <a:r>
              <a:t>Corpo livello tre</a:t>
            </a:r>
          </a:p>
          <a:p>
            <a:pPr lvl="3"/>
            <a:r>
              <a:t>Corpo livello quattro</a:t>
            </a:r>
          </a:p>
          <a:p>
            <a:pPr lvl="4"/>
            <a:r>
              <a:t>Corpo livello cinque</a:t>
            </a:r>
          </a:p>
        </p:txBody>
      </p:sp>
      <p:sp>
        <p:nvSpPr>
          <p:cNvPr id="76" name="Numero diapositiva"/>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Foto - 3 per pagina">
    <p:spTree>
      <p:nvGrpSpPr>
        <p:cNvPr id="1" name=""/>
        <p:cNvGrpSpPr/>
        <p:nvPr/>
      </p:nvGrpSpPr>
      <p:grpSpPr>
        <a:xfrm>
          <a:off x="0" y="0"/>
          <a:ext cx="0" cy="0"/>
          <a:chOff x="0" y="0"/>
          <a:chExt cx="0" cy="0"/>
        </a:xfrm>
      </p:grpSpPr>
      <p:sp>
        <p:nvSpPr>
          <p:cNvPr id="83" name="Immagine"/>
          <p:cNvSpPr>
            <a:spLocks noGrp="1"/>
          </p:cNvSpPr>
          <p:nvPr>
            <p:ph type="pic" sz="quarter" idx="13"/>
          </p:nvPr>
        </p:nvSpPr>
        <p:spPr>
          <a:xfrm>
            <a:off x="10531170" y="4947921"/>
            <a:ext cx="4478366" cy="2240281"/>
          </a:xfrm>
          <a:prstGeom prst="rect">
            <a:avLst/>
          </a:prstGeom>
        </p:spPr>
        <p:txBody>
          <a:bodyPr lIns="91439" tIns="45719" rIns="91439" bIns="45719">
            <a:noAutofit/>
          </a:bodyPr>
          <a:lstStyle/>
          <a:p>
            <a:endParaRPr/>
          </a:p>
        </p:txBody>
      </p:sp>
      <p:sp>
        <p:nvSpPr>
          <p:cNvPr id="84" name="Immagine"/>
          <p:cNvSpPr>
            <a:spLocks noGrp="1"/>
          </p:cNvSpPr>
          <p:nvPr>
            <p:ph type="pic" sz="quarter" idx="14"/>
          </p:nvPr>
        </p:nvSpPr>
        <p:spPr>
          <a:xfrm>
            <a:off x="10322876" y="2585720"/>
            <a:ext cx="4443444" cy="2221655"/>
          </a:xfrm>
          <a:prstGeom prst="rect">
            <a:avLst/>
          </a:prstGeom>
        </p:spPr>
        <p:txBody>
          <a:bodyPr lIns="91439" tIns="45719" rIns="91439" bIns="45719">
            <a:noAutofit/>
          </a:bodyPr>
          <a:lstStyle/>
          <a:p>
            <a:endParaRPr/>
          </a:p>
        </p:txBody>
      </p:sp>
      <p:sp>
        <p:nvSpPr>
          <p:cNvPr id="85" name="Immagine"/>
          <p:cNvSpPr>
            <a:spLocks noGrp="1"/>
          </p:cNvSpPr>
          <p:nvPr>
            <p:ph type="pic" sz="half" idx="15"/>
          </p:nvPr>
        </p:nvSpPr>
        <p:spPr>
          <a:xfrm>
            <a:off x="2004967" y="2585719"/>
            <a:ext cx="9174763" cy="4587242"/>
          </a:xfrm>
          <a:prstGeom prst="rect">
            <a:avLst/>
          </a:prstGeom>
        </p:spPr>
        <p:txBody>
          <a:bodyPr lIns="91439" tIns="45719" rIns="91439" bIns="45719">
            <a:noAutofit/>
          </a:bodyPr>
          <a:lstStyle/>
          <a:p>
            <a:endParaRPr/>
          </a:p>
        </p:txBody>
      </p:sp>
      <p:sp>
        <p:nvSpPr>
          <p:cNvPr id="86" name="Numero diapositiva"/>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Citazione">
    <p:spTree>
      <p:nvGrpSpPr>
        <p:cNvPr id="1" name=""/>
        <p:cNvGrpSpPr/>
        <p:nvPr/>
      </p:nvGrpSpPr>
      <p:grpSpPr>
        <a:xfrm>
          <a:off x="0" y="0"/>
          <a:ext cx="0" cy="0"/>
          <a:chOff x="0" y="0"/>
          <a:chExt cx="0" cy="0"/>
        </a:xfrm>
      </p:grpSpPr>
      <p:sp>
        <p:nvSpPr>
          <p:cNvPr id="93" name="–Giovanni Mela"/>
          <p:cNvSpPr txBox="1">
            <a:spLocks noGrp="1"/>
          </p:cNvSpPr>
          <p:nvPr>
            <p:ph type="body" sz="quarter" idx="13"/>
          </p:nvPr>
        </p:nvSpPr>
        <p:spPr>
          <a:xfrm>
            <a:off x="3440957" y="5715001"/>
            <a:ext cx="10465122" cy="451470"/>
          </a:xfrm>
          <a:prstGeom prst="rect">
            <a:avLst/>
          </a:prstGeom>
        </p:spPr>
        <p:txBody>
          <a:bodyPr>
            <a:spAutoFit/>
          </a:bodyPr>
          <a:lstStyle>
            <a:lvl1pPr>
              <a:defRPr sz="2667" i="1"/>
            </a:lvl1pPr>
          </a:lstStyle>
          <a:p>
            <a:r>
              <a:t>–Giovanni Mela</a:t>
            </a:r>
          </a:p>
        </p:txBody>
      </p:sp>
      <p:sp>
        <p:nvSpPr>
          <p:cNvPr id="94" name="“Inserisci qui una citazione”."/>
          <p:cNvSpPr txBox="1">
            <a:spLocks noGrp="1"/>
          </p:cNvSpPr>
          <p:nvPr>
            <p:ph type="body" sz="quarter" idx="14"/>
          </p:nvPr>
        </p:nvSpPr>
        <p:spPr>
          <a:xfrm>
            <a:off x="3440957" y="4380634"/>
            <a:ext cx="10465122" cy="697692"/>
          </a:xfrm>
          <a:prstGeom prst="rect">
            <a:avLst/>
          </a:prstGeom>
        </p:spPr>
        <p:txBody>
          <a:bodyPr anchor="ctr">
            <a:spAutoFit/>
          </a:bodyPr>
          <a:lstStyle>
            <a:lvl1pPr>
              <a:defRPr sz="4267">
                <a:latin typeface="+mn-lt"/>
                <a:ea typeface="+mn-ea"/>
                <a:cs typeface="+mn-cs"/>
                <a:sym typeface="Helvetica Neue Medium"/>
              </a:defRPr>
            </a:lvl1pPr>
          </a:lstStyle>
          <a:p>
            <a:r>
              <a:t>“Inserisci qui una citazione”. </a:t>
            </a:r>
          </a:p>
        </p:txBody>
      </p:sp>
      <p:sp>
        <p:nvSpPr>
          <p:cNvPr id="95" name="Numero diapositiva"/>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Foto">
    <p:spTree>
      <p:nvGrpSpPr>
        <p:cNvPr id="1" name=""/>
        <p:cNvGrpSpPr/>
        <p:nvPr/>
      </p:nvGrpSpPr>
      <p:grpSpPr>
        <a:xfrm>
          <a:off x="0" y="0"/>
          <a:ext cx="0" cy="0"/>
          <a:chOff x="0" y="0"/>
          <a:chExt cx="0" cy="0"/>
        </a:xfrm>
      </p:grpSpPr>
      <p:sp>
        <p:nvSpPr>
          <p:cNvPr id="102" name="Immagine"/>
          <p:cNvSpPr>
            <a:spLocks noGrp="1"/>
          </p:cNvSpPr>
          <p:nvPr>
            <p:ph type="pic" idx="13"/>
          </p:nvPr>
        </p:nvSpPr>
        <p:spPr>
          <a:xfrm>
            <a:off x="2167532" y="2133600"/>
            <a:ext cx="13005200" cy="6505789"/>
          </a:xfrm>
          <a:prstGeom prst="rect">
            <a:avLst/>
          </a:prstGeom>
        </p:spPr>
        <p:txBody>
          <a:bodyPr lIns="91439" tIns="45719" rIns="91439" bIns="45719">
            <a:noAutofit/>
          </a:bodyPr>
          <a:lstStyle/>
          <a:p>
            <a:endParaRPr/>
          </a:p>
        </p:txBody>
      </p:sp>
      <p:sp>
        <p:nvSpPr>
          <p:cNvPr id="103" name="Numero diapositiva"/>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Vuoto">
    <p:spTree>
      <p:nvGrpSpPr>
        <p:cNvPr id="1" name=""/>
        <p:cNvGrpSpPr/>
        <p:nvPr/>
      </p:nvGrpSpPr>
      <p:grpSpPr>
        <a:xfrm>
          <a:off x="0" y="0"/>
          <a:ext cx="0" cy="0"/>
          <a:chOff x="0" y="0"/>
          <a:chExt cx="0" cy="0"/>
        </a:xfrm>
      </p:grpSpPr>
      <p:sp>
        <p:nvSpPr>
          <p:cNvPr id="110" name="Numero diapositiva"/>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Titolo e sottotitolo">
    <p:spTree>
      <p:nvGrpSpPr>
        <p:cNvPr id="1" name=""/>
        <p:cNvGrpSpPr/>
        <p:nvPr/>
      </p:nvGrpSpPr>
      <p:grpSpPr>
        <a:xfrm>
          <a:off x="0" y="0"/>
          <a:ext cx="0" cy="0"/>
          <a:chOff x="0" y="0"/>
          <a:chExt cx="0" cy="0"/>
        </a:xfrm>
      </p:grpSpPr>
      <p:sp>
        <p:nvSpPr>
          <p:cNvPr id="11" name="Titolo Testo"/>
          <p:cNvSpPr txBox="1">
            <a:spLocks noGrp="1"/>
          </p:cNvSpPr>
          <p:nvPr>
            <p:ph type="title"/>
          </p:nvPr>
        </p:nvSpPr>
        <p:spPr>
          <a:prstGeom prst="rect">
            <a:avLst/>
          </a:prstGeom>
        </p:spPr>
        <p:txBody>
          <a:bodyPr/>
          <a:lstStyle/>
          <a:p>
            <a:r>
              <a:t>Titolo Testo</a:t>
            </a:r>
          </a:p>
        </p:txBody>
      </p:sp>
      <p:sp>
        <p:nvSpPr>
          <p:cNvPr id="12" name="Corpo livello uno…"/>
          <p:cNvSpPr txBox="1">
            <a:spLocks noGrp="1"/>
          </p:cNvSpPr>
          <p:nvPr>
            <p:ph type="body" sz="quarter" idx="1"/>
          </p:nvPr>
        </p:nvSpPr>
        <p:spPr>
          <a:prstGeom prst="rect">
            <a:avLst/>
          </a:prstGeom>
        </p:spPr>
        <p:txBody>
          <a:bodyPr/>
          <a:lstStyle/>
          <a:p>
            <a:r>
              <a:t>Corpo livello uno</a:t>
            </a:r>
          </a:p>
          <a:p>
            <a:pPr lvl="1"/>
            <a:r>
              <a:t>Corpo livello due</a:t>
            </a:r>
          </a:p>
          <a:p>
            <a:pPr lvl="2"/>
            <a:r>
              <a:t>Corpo livello tre</a:t>
            </a:r>
          </a:p>
          <a:p>
            <a:pPr lvl="3"/>
            <a:r>
              <a:t>Corpo livello quattro</a:t>
            </a:r>
          </a:p>
          <a:p>
            <a:pPr lvl="4"/>
            <a:r>
              <a:t>Corpo livello cinque</a:t>
            </a:r>
          </a:p>
        </p:txBody>
      </p:sp>
      <p:sp>
        <p:nvSpPr>
          <p:cNvPr id="13" name="Numero diapositiva"/>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970173030"/>
      </p:ext>
    </p:extLst>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olo Testo"/>
          <p:cNvSpPr txBox="1">
            <a:spLocks noGrp="1"/>
          </p:cNvSpPr>
          <p:nvPr>
            <p:ph type="title"/>
          </p:nvPr>
        </p:nvSpPr>
        <p:spPr>
          <a:xfrm>
            <a:off x="3115827" y="3053080"/>
            <a:ext cx="11108609" cy="185928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0320" tIns="20320" rIns="20320" bIns="20320" anchor="b">
            <a:normAutofit/>
          </a:bodyPr>
          <a:lstStyle/>
          <a:p>
            <a:r>
              <a:t>Titolo Testo</a:t>
            </a:r>
          </a:p>
        </p:txBody>
      </p:sp>
      <p:sp>
        <p:nvSpPr>
          <p:cNvPr id="3" name="Corpo livello uno…"/>
          <p:cNvSpPr txBox="1">
            <a:spLocks noGrp="1"/>
          </p:cNvSpPr>
          <p:nvPr>
            <p:ph type="body" idx="1"/>
          </p:nvPr>
        </p:nvSpPr>
        <p:spPr>
          <a:xfrm>
            <a:off x="3115827" y="4963160"/>
            <a:ext cx="11108609" cy="6350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0320" tIns="20320" rIns="20320" bIns="20320">
            <a:normAutofit/>
          </a:bodyPr>
          <a:lstStyle/>
          <a:p>
            <a:r>
              <a:t>Corpo livello uno</a:t>
            </a:r>
          </a:p>
          <a:p>
            <a:pPr lvl="1"/>
            <a:r>
              <a:t>Corpo livello due</a:t>
            </a:r>
          </a:p>
          <a:p>
            <a:pPr lvl="2"/>
            <a:r>
              <a:t>Corpo livello tre</a:t>
            </a:r>
          </a:p>
          <a:p>
            <a:pPr lvl="3"/>
            <a:r>
              <a:t>Corpo livello quattro</a:t>
            </a:r>
          </a:p>
          <a:p>
            <a:pPr lvl="4"/>
            <a:r>
              <a:t>Corpo livello cinque</a:t>
            </a:r>
          </a:p>
        </p:txBody>
      </p:sp>
      <p:sp>
        <p:nvSpPr>
          <p:cNvPr id="4" name="Numero diapositiva"/>
          <p:cNvSpPr txBox="1">
            <a:spLocks noGrp="1"/>
          </p:cNvSpPr>
          <p:nvPr>
            <p:ph type="sldNum" sz="quarter" idx="2"/>
          </p:nvPr>
        </p:nvSpPr>
        <p:spPr>
          <a:xfrm>
            <a:off x="8517184" y="7366001"/>
            <a:ext cx="299121" cy="328360"/>
          </a:xfrm>
          <a:prstGeom prst="rect">
            <a:avLst/>
          </a:prstGeom>
          <a:ln w="3175">
            <a:miter lim="400000"/>
          </a:ln>
        </p:spPr>
        <p:txBody>
          <a:bodyPr wrap="none" lIns="20320" tIns="20320" rIns="20320" bIns="20320">
            <a:spAutoFit/>
          </a:bodyPr>
          <a:lstStyle>
            <a:lvl1pPr>
              <a:defRPr sz="1867" b="0">
                <a:latin typeface="Helvetica Neue Light"/>
                <a:ea typeface="Helvetica Neue Light"/>
                <a:cs typeface="Helvetica Neue Light"/>
                <a:sym typeface="Helvetica Neue Light"/>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Lst>
  <p:transition spd="med"/>
  <p:txStyles>
    <p:titleStyle>
      <a:lvl1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1pPr>
      <a:lvl2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2pPr>
      <a:lvl3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3pPr>
      <a:lvl4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4pPr>
      <a:lvl5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5pPr>
      <a:lvl6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6pPr>
      <a:lvl7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7pPr>
      <a:lvl8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8pPr>
      <a:lvl9pPr marL="0" marR="0" indent="0" algn="ctr" defTabSz="782735" rtl="0" latinLnBrk="0">
        <a:lnSpc>
          <a:spcPct val="100000"/>
        </a:lnSpc>
        <a:spcBef>
          <a:spcPts val="0"/>
        </a:spcBef>
        <a:spcAft>
          <a:spcPts val="0"/>
        </a:spcAft>
        <a:buClrTx/>
        <a:buSzTx/>
        <a:buFontTx/>
        <a:buNone/>
        <a:tabLst/>
        <a:defRPr sz="10134" b="0" i="0" u="none" strike="noStrike" cap="none" spc="0" baseline="0">
          <a:solidFill>
            <a:srgbClr val="000000"/>
          </a:solidFill>
          <a:uFillTx/>
          <a:latin typeface="+mn-lt"/>
          <a:ea typeface="+mn-ea"/>
          <a:cs typeface="+mn-cs"/>
          <a:sym typeface="Helvetica Neue Medium"/>
        </a:defRPr>
      </a:lvl9pPr>
    </p:titleStyle>
    <p:bodyStyle>
      <a:lvl1pPr marL="0" marR="0" indent="0"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1pPr>
      <a:lvl2pPr marL="0" marR="0" indent="0"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2pPr>
      <a:lvl3pPr marL="0" marR="0" indent="0"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3pPr>
      <a:lvl4pPr marL="0" marR="0" indent="0"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4pPr>
      <a:lvl5pPr marL="0" marR="0" indent="0"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5pPr>
      <a:lvl6pPr marL="0" marR="0" indent="474157"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6pPr>
      <a:lvl7pPr marL="0" marR="0" indent="948314"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7pPr>
      <a:lvl8pPr marL="0" marR="0" indent="1422471"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8pPr>
      <a:lvl9pPr marL="0" marR="0" indent="1896628" algn="ctr" defTabSz="782735" rtl="0" latinLnBrk="0">
        <a:lnSpc>
          <a:spcPct val="100000"/>
        </a:lnSpc>
        <a:spcBef>
          <a:spcPts val="0"/>
        </a:spcBef>
        <a:spcAft>
          <a:spcPts val="0"/>
        </a:spcAft>
        <a:buClrTx/>
        <a:buSzTx/>
        <a:buFontTx/>
        <a:buNone/>
        <a:tabLst/>
        <a:defRPr sz="4800" b="0" i="0" u="none" strike="noStrike" cap="none" spc="0" baseline="0">
          <a:solidFill>
            <a:srgbClr val="000000"/>
          </a:solidFill>
          <a:uFillTx/>
          <a:latin typeface="Helvetica Neue"/>
          <a:ea typeface="Helvetica Neue"/>
          <a:cs typeface="Helvetica Neue"/>
          <a:sym typeface="Helvetica Neue"/>
        </a:defRPr>
      </a:lvl9pPr>
    </p:bodyStyle>
    <p:otherStyle>
      <a:lvl1pPr marL="0" marR="0" indent="0"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1pPr>
      <a:lvl2pPr marL="0" marR="0" indent="304815"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2pPr>
      <a:lvl3pPr marL="0" marR="0" indent="609630"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3pPr>
      <a:lvl4pPr marL="0" marR="0" indent="914446"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4pPr>
      <a:lvl5pPr marL="0" marR="0" indent="1219261"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5pPr>
      <a:lvl6pPr marL="0" marR="0" indent="1524076"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6pPr>
      <a:lvl7pPr marL="0" marR="0" indent="1828891"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7pPr>
      <a:lvl8pPr marL="0" marR="0" indent="2133707"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8pPr>
      <a:lvl9pPr marL="0" marR="0" indent="2438522" algn="ctr" defTabSz="782735" latinLnBrk="0">
        <a:lnSpc>
          <a:spcPct val="100000"/>
        </a:lnSpc>
        <a:spcBef>
          <a:spcPts val="0"/>
        </a:spcBef>
        <a:spcAft>
          <a:spcPts val="0"/>
        </a:spcAft>
        <a:buClrTx/>
        <a:buSzTx/>
        <a:buFontTx/>
        <a:buNone/>
        <a:tabLst/>
        <a:defRPr sz="1867" b="0" i="0" u="none" strike="noStrike" cap="none" spc="0" baseline="0">
          <a:solidFill>
            <a:schemeClr val="tx1"/>
          </a:solidFill>
          <a:uFillTx/>
          <a:latin typeface="+mn-lt"/>
          <a:ea typeface="+mn-ea"/>
          <a:cs typeface="+mn-cs"/>
          <a:sym typeface="Helvetica Neue Ligh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hyperlink" Target="https://www.amazon.com/GRNYUNS-Vettriano-Connolly-Aesthetic-12x18inch/dp/B0DBHFRCMS" TargetMode="External"/><Relationship Id="rId2" Type="http://schemas.openxmlformats.org/officeDocument/2006/relationships/image" Target="../media/image8.jpe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hyperlink" Target="https://www.reddit.com/r/alternativeart/comments/3ycnu1/genderbent_trio_ronnie_harriet_and_herman_harry/" TargetMode="External"/><Relationship Id="rId2" Type="http://schemas.openxmlformats.org/officeDocument/2006/relationships/image" Target="../media/image9.jpe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hyperlink" Target="https://commons.wikimedia.org/wiki/File:Rembrandt_Man_in_Armour.jpg" TargetMode="External"/><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0" name="POWER POINT_2.pdf" descr="POWER POINT_2.pdf"/>
          <p:cNvPicPr>
            <a:picLocks noChangeAspect="1"/>
          </p:cNvPicPr>
          <p:nvPr/>
        </p:nvPicPr>
        <p:blipFill>
          <a:blip r:embed="rId2"/>
          <a:stretch>
            <a:fillRect/>
          </a:stretch>
        </p:blipFill>
        <p:spPr>
          <a:xfrm>
            <a:off x="0" y="2844588"/>
            <a:ext cx="17340263" cy="7044336"/>
          </a:xfrm>
          <a:prstGeom prst="rect">
            <a:avLst/>
          </a:prstGeom>
          <a:ln w="12700">
            <a:miter lim="400000"/>
          </a:ln>
        </p:spPr>
      </p:pic>
      <p:sp>
        <p:nvSpPr>
          <p:cNvPr id="121" name="PROJECT NAME…"/>
          <p:cNvSpPr txBox="1"/>
          <p:nvPr/>
        </p:nvSpPr>
        <p:spPr>
          <a:xfrm>
            <a:off x="643085" y="8620331"/>
            <a:ext cx="3865120" cy="85891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chor="b">
            <a:normAutofit/>
          </a:bodyPr>
          <a:lstStyle/>
          <a:p>
            <a:pPr algn="l" defTabSz="782735">
              <a:defRPr sz="2400">
                <a:solidFill>
                  <a:srgbClr val="FFFFFF"/>
                </a:solidFill>
                <a:latin typeface="Barlow Bold"/>
                <a:ea typeface="Barlow Bold"/>
                <a:cs typeface="Barlow Bold"/>
                <a:sym typeface="Barlow Bold"/>
              </a:defRPr>
            </a:pPr>
            <a:r>
              <a:rPr lang="en-GB" sz="3467" dirty="0"/>
              <a:t>28 January 2026</a:t>
            </a:r>
            <a:endParaRPr lang="en-GB" sz="3200" dirty="0"/>
          </a:p>
        </p:txBody>
      </p:sp>
      <p:sp>
        <p:nvSpPr>
          <p:cNvPr id="122" name="Shape 21"/>
          <p:cNvSpPr txBox="1"/>
          <p:nvPr/>
        </p:nvSpPr>
        <p:spPr>
          <a:xfrm>
            <a:off x="643084" y="3024529"/>
            <a:ext cx="15442981" cy="13555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67735" tIns="67735" rIns="67735" bIns="67735">
            <a:spAutoFit/>
          </a:bodyPr>
          <a:lstStyle/>
          <a:p>
            <a:pPr algn="l" defTabSz="778972">
              <a:lnSpc>
                <a:spcPct val="90000"/>
              </a:lnSpc>
              <a:defRPr sz="8300">
                <a:solidFill>
                  <a:srgbClr val="F47A63"/>
                </a:solidFill>
                <a:latin typeface="Barlow-Medium"/>
                <a:ea typeface="Barlow-Medium"/>
                <a:cs typeface="Barlow-Medium"/>
                <a:sym typeface="Barlow-Medium"/>
              </a:defRPr>
            </a:pPr>
            <a:r>
              <a:rPr lang="en-GB" sz="8800" dirty="0"/>
              <a:t>Exclusive rights</a:t>
            </a:r>
          </a:p>
        </p:txBody>
      </p:sp>
      <p:sp>
        <p:nvSpPr>
          <p:cNvPr id="123" name="Shape 21"/>
          <p:cNvSpPr txBox="1"/>
          <p:nvPr/>
        </p:nvSpPr>
        <p:spPr>
          <a:xfrm>
            <a:off x="643085" y="4560057"/>
            <a:ext cx="5849895" cy="85891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67735" tIns="67735" rIns="67735" bIns="67735">
            <a:spAutoFit/>
          </a:bodyPr>
          <a:lstStyle>
            <a:lvl1pPr algn="l" defTabSz="584200">
              <a:lnSpc>
                <a:spcPct val="80000"/>
              </a:lnSpc>
              <a:defRPr sz="2200">
                <a:solidFill>
                  <a:srgbClr val="575453"/>
                </a:solidFill>
                <a:latin typeface="Source Sans Pro"/>
                <a:ea typeface="Source Sans Pro"/>
                <a:cs typeface="Source Sans Pro"/>
                <a:sym typeface="Source Sans Pro"/>
              </a:defRPr>
            </a:lvl1pPr>
          </a:lstStyle>
          <a:p>
            <a:r>
              <a:rPr lang="en-GB" sz="2933" b="0" i="1" dirty="0">
                <a:latin typeface="Barlow" pitchFamily="2" charset="77"/>
              </a:rPr>
              <a:t>Copyright in the Digital Environment</a:t>
            </a:r>
          </a:p>
          <a:p>
            <a:r>
              <a:rPr lang="en-GB" sz="2933" b="0" dirty="0">
                <a:latin typeface="Barlow" pitchFamily="2" charset="77"/>
              </a:rPr>
              <a:t>Amy Thomas</a:t>
            </a:r>
          </a:p>
        </p:txBody>
      </p:sp>
      <p:pic>
        <p:nvPicPr>
          <p:cNvPr id="128" name="CREATe_logo.pdf" descr="CREATe_logo.pdf"/>
          <p:cNvPicPr>
            <a:picLocks noChangeAspect="1"/>
          </p:cNvPicPr>
          <p:nvPr/>
        </p:nvPicPr>
        <p:blipFill>
          <a:blip r:embed="rId3"/>
          <a:stretch>
            <a:fillRect/>
          </a:stretch>
        </p:blipFill>
        <p:spPr>
          <a:xfrm>
            <a:off x="15200133" y="9129850"/>
            <a:ext cx="1771865" cy="603932"/>
          </a:xfrm>
          <a:prstGeom prst="rect">
            <a:avLst/>
          </a:prstGeom>
          <a:ln w="12700">
            <a:miter lim="400000"/>
          </a:ln>
        </p:spPr>
      </p:pic>
      <p:pic>
        <p:nvPicPr>
          <p:cNvPr id="3" name="Picture 2" descr="Logo&#10;&#10;Description automatically generated with medium confidence">
            <a:extLst>
              <a:ext uri="{FF2B5EF4-FFF2-40B4-BE49-F238E27FC236}">
                <a16:creationId xmlns:a16="http://schemas.microsoft.com/office/drawing/2014/main" id="{C3063262-4A96-2F70-7806-EDB3098D322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230124" y="9204893"/>
            <a:ext cx="1771865" cy="548707"/>
          </a:xfrm>
          <a:prstGeom prst="rect">
            <a:avLst/>
          </a:prstGeom>
        </p:spPr>
      </p:pic>
    </p:spTree>
    <p:extLst>
      <p:ext uri="{BB962C8B-B14F-4D97-AF65-F5344CB8AC3E}">
        <p14:creationId xmlns:p14="http://schemas.microsoft.com/office/powerpoint/2010/main" val="1671474396"/>
      </p:ext>
    </p:extLst>
  </p:cSld>
  <p:clrMapOvr>
    <a:masterClrMapping/>
  </p:clrMapOvr>
  <p:transition spd="med" advTm="27815"/>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TITLE TEXT"/>
          <p:cNvSpPr txBox="1"/>
          <p:nvPr/>
        </p:nvSpPr>
        <p:spPr>
          <a:xfrm>
            <a:off x="1028459" y="1002549"/>
            <a:ext cx="9641622"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Format: 28 January</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p:cNvSpPr txBox="1"/>
          <p:nvPr/>
        </p:nvSpPr>
        <p:spPr>
          <a:xfrm>
            <a:off x="1028459" y="1002549"/>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45BED730-319F-B81C-01BA-95190CA990FA}"/>
              </a:ext>
            </a:extLst>
          </p:cNvPr>
          <p:cNvSpPr/>
          <p:nvPr/>
        </p:nvSpPr>
        <p:spPr>
          <a:xfrm>
            <a:off x="1028459" y="2179242"/>
            <a:ext cx="14862995" cy="3880549"/>
          </a:xfrm>
          <a:prstGeom prst="rect">
            <a:avLst/>
          </a:prstGeom>
        </p:spPr>
        <p:txBody>
          <a:bodyPr wrap="square">
            <a:spAutoFit/>
          </a:bodyPr>
          <a:lstStyle/>
          <a:p>
            <a:pPr marL="285750" indent="-285750" algn="l" defTabSz="457200">
              <a:lnSpc>
                <a:spcPct val="15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Economic rights</a:t>
            </a:r>
          </a:p>
          <a:p>
            <a:pPr marL="285750" indent="-285750" algn="l" defTabSz="457200">
              <a:lnSpc>
                <a:spcPct val="15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Moral rights</a:t>
            </a:r>
          </a:p>
          <a:p>
            <a:pPr marL="285750" indent="-285750" algn="l" defTabSz="457200">
              <a:lnSpc>
                <a:spcPct val="150000"/>
              </a:lnSpc>
              <a:buFont typeface="Arial" panose="020B0604020202020204" pitchFamily="34" charset="0"/>
              <a:buChar char="•"/>
              <a:defRPr sz="1400" b="0" spc="-27">
                <a:latin typeface="Barlow Regular"/>
                <a:ea typeface="Barlow Regular"/>
                <a:cs typeface="Barlow Regular"/>
                <a:sym typeface="Barlow Regular"/>
              </a:defRPr>
            </a:pPr>
            <a:endParaRPr lang="en-GB" sz="2800" dirty="0">
              <a:solidFill>
                <a:schemeClr val="tx2"/>
              </a:solidFill>
              <a:latin typeface="Barlow" pitchFamily="2" charset="77"/>
            </a:endParaRPr>
          </a:p>
          <a:p>
            <a:pPr marL="285750" indent="-285750" algn="l" defTabSz="457200">
              <a:lnSpc>
                <a:spcPct val="15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Dates for your diary:</a:t>
            </a:r>
          </a:p>
          <a:p>
            <a:pPr marL="285750" indent="-285750" algn="l" defTabSz="457200">
              <a:lnSpc>
                <a:spcPct val="15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Formative assignment (essay plan) due: </a:t>
            </a:r>
            <a:r>
              <a:rPr lang="en-GB" sz="2800" u="sng" dirty="0">
                <a:solidFill>
                  <a:schemeClr val="tx2"/>
                </a:solidFill>
                <a:latin typeface="Barlow" pitchFamily="2" charset="77"/>
              </a:rPr>
              <a:t>11 March 4pm</a:t>
            </a:r>
          </a:p>
          <a:p>
            <a:pPr marL="285750" indent="-285750" algn="l" defTabSz="457200">
              <a:lnSpc>
                <a:spcPct val="15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Summative assignment (essay of 4,500 words) due: </a:t>
            </a:r>
            <a:r>
              <a:rPr lang="en-GB" sz="2800" u="sng" dirty="0">
                <a:solidFill>
                  <a:schemeClr val="tx2"/>
                </a:solidFill>
                <a:latin typeface="Barlow" pitchFamily="2" charset="77"/>
              </a:rPr>
              <a:t>1 April 4pm </a:t>
            </a:r>
          </a:p>
        </p:txBody>
      </p:sp>
    </p:spTree>
    <p:extLst>
      <p:ext uri="{BB962C8B-B14F-4D97-AF65-F5344CB8AC3E}">
        <p14:creationId xmlns:p14="http://schemas.microsoft.com/office/powerpoint/2010/main" val="2391216936"/>
      </p:ext>
    </p:extLst>
  </p:cSld>
  <p:clrMapOvr>
    <a:masterClrMapping/>
  </p:clrMapOvr>
  <p:transition spd="med" advTm="222639"/>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78D271-39AE-0982-98E4-C4E5999A63C7}"/>
            </a:ext>
          </a:extLst>
        </p:cNvPr>
        <p:cNvGrpSpPr/>
        <p:nvPr/>
      </p:nvGrpSpPr>
      <p:grpSpPr>
        <a:xfrm>
          <a:off x="0" y="0"/>
          <a:ext cx="0" cy="0"/>
          <a:chOff x="0" y="0"/>
          <a:chExt cx="0" cy="0"/>
        </a:xfrm>
      </p:grpSpPr>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58DCB523-839B-30AB-CFC4-8B1C050CEFD2}"/>
              </a:ext>
            </a:extLst>
          </p:cNvPr>
          <p:cNvSpPr txBox="1"/>
          <p:nvPr/>
        </p:nvSpPr>
        <p:spPr>
          <a:xfrm>
            <a:off x="1028459" y="1002549"/>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4" name="TextBox 3">
            <a:extLst>
              <a:ext uri="{FF2B5EF4-FFF2-40B4-BE49-F238E27FC236}">
                <a16:creationId xmlns:a16="http://schemas.microsoft.com/office/drawing/2014/main" id="{8C3DE51E-802B-74FC-FC80-D79080AD4774}"/>
              </a:ext>
            </a:extLst>
          </p:cNvPr>
          <p:cNvSpPr txBox="1"/>
          <p:nvPr/>
        </p:nvSpPr>
        <p:spPr>
          <a:xfrm>
            <a:off x="1469198" y="2722364"/>
            <a:ext cx="14401865" cy="4308872"/>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5400" b="0" dirty="0">
                <a:solidFill>
                  <a:schemeClr val="tx2"/>
                </a:solidFill>
                <a:latin typeface="Barlow" pitchFamily="2" charset="77"/>
              </a:rPr>
              <a:t>Work falls within copyrightable subject-matter + fixed permanently + meets the originality standard = copyright </a:t>
            </a:r>
          </a:p>
          <a:p>
            <a:pPr marL="342900" indent="-342900" algn="l">
              <a:buFont typeface="Arial" panose="020B0604020202020204" pitchFamily="34" charset="0"/>
              <a:buChar char="•"/>
            </a:pPr>
            <a:endParaRPr lang="en-GB" sz="2800" b="0" dirty="0">
              <a:solidFill>
                <a:schemeClr val="tx2"/>
              </a:solidFill>
              <a:latin typeface="Barlow" pitchFamily="2" charset="77"/>
            </a:endParaRPr>
          </a:p>
          <a:p>
            <a:pPr marL="342900" indent="-342900" algn="l">
              <a:buFont typeface="Arial" panose="020B0604020202020204" pitchFamily="34" charset="0"/>
              <a:buChar char="•"/>
            </a:pPr>
            <a:r>
              <a:rPr lang="en-GB" sz="2800" b="0" dirty="0">
                <a:solidFill>
                  <a:schemeClr val="tx2"/>
                </a:solidFill>
                <a:latin typeface="Barlow" pitchFamily="2" charset="77"/>
              </a:rPr>
              <a:t>Copyright in turn gives you a bundle of several (and severable) rights:</a:t>
            </a:r>
          </a:p>
          <a:p>
            <a:pPr marL="342900" indent="-342900" algn="l">
              <a:buFont typeface="Arial" panose="020B0604020202020204" pitchFamily="34" charset="0"/>
              <a:buChar char="•"/>
            </a:pPr>
            <a:r>
              <a:rPr lang="en-GB" sz="2800" b="0" dirty="0">
                <a:solidFill>
                  <a:schemeClr val="tx2"/>
                </a:solidFill>
                <a:latin typeface="Barlow" pitchFamily="2" charset="77"/>
              </a:rPr>
              <a:t>Economic</a:t>
            </a:r>
          </a:p>
          <a:p>
            <a:pPr marL="342900" indent="-342900" algn="l">
              <a:buFont typeface="Arial" panose="020B0604020202020204" pitchFamily="34" charset="0"/>
              <a:buChar char="•"/>
            </a:pPr>
            <a:r>
              <a:rPr lang="en-GB" sz="2800" b="0" dirty="0">
                <a:solidFill>
                  <a:schemeClr val="tx2"/>
                </a:solidFill>
                <a:latin typeface="Barlow" pitchFamily="2" charset="77"/>
              </a:rPr>
              <a:t>Moral</a:t>
            </a:r>
            <a:endParaRPr lang="en-US" sz="2800" b="0" dirty="0">
              <a:solidFill>
                <a:schemeClr val="tx2"/>
              </a:solidFill>
              <a:latin typeface="Barlow" pitchFamily="2" charset="77"/>
            </a:endParaRPr>
          </a:p>
        </p:txBody>
      </p:sp>
    </p:spTree>
    <p:extLst>
      <p:ext uri="{BB962C8B-B14F-4D97-AF65-F5344CB8AC3E}">
        <p14:creationId xmlns:p14="http://schemas.microsoft.com/office/powerpoint/2010/main" val="1177121127"/>
      </p:ext>
    </p:extLst>
  </p:cSld>
  <p:clrMapOvr>
    <a:masterClrMapping/>
  </p:clrMapOvr>
  <p:transition spd="med" advTm="222639"/>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AF9EF-7898-04FE-4785-7727A851C7EE}"/>
            </a:ext>
          </a:extLst>
        </p:cNvPr>
        <p:cNvGrpSpPr/>
        <p:nvPr/>
      </p:nvGrpSpPr>
      <p:grpSpPr>
        <a:xfrm>
          <a:off x="0" y="0"/>
          <a:ext cx="0" cy="0"/>
          <a:chOff x="0" y="0"/>
          <a:chExt cx="0" cy="0"/>
        </a:xfrm>
      </p:grpSpPr>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3B0A75AE-60EF-6B28-588B-23F9428A5D10}"/>
              </a:ext>
            </a:extLst>
          </p:cNvPr>
          <p:cNvSpPr txBox="1"/>
          <p:nvPr/>
        </p:nvSpPr>
        <p:spPr>
          <a:xfrm>
            <a:off x="1028459" y="1002549"/>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84AFFF1C-F3EC-FAB9-C697-1BEA12D1CE60}"/>
              </a:ext>
            </a:extLst>
          </p:cNvPr>
          <p:cNvSpPr/>
          <p:nvPr/>
        </p:nvSpPr>
        <p:spPr>
          <a:xfrm>
            <a:off x="1018091" y="3566698"/>
            <a:ext cx="7641672" cy="2620204"/>
          </a:xfrm>
          <a:prstGeom prst="rect">
            <a:avLst/>
          </a:prstGeom>
        </p:spPr>
        <p:txBody>
          <a:bodyPr wrap="square">
            <a:spAutoFit/>
          </a:bodyPr>
          <a:lstStyle/>
          <a:p>
            <a:pPr marL="285750" indent="-28575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2800" i="1" dirty="0">
                <a:solidFill>
                  <a:schemeClr val="tx2"/>
                </a:solidFill>
                <a:latin typeface="Barlow" pitchFamily="2" charset="77"/>
              </a:rPr>
              <a:t>Can you think of something people regularly do online with creative content that everyone seems to accept (or is seen as normal) but that you suspect infringes someone’s (economic or moral) rights? Share one example.</a:t>
            </a:r>
          </a:p>
        </p:txBody>
      </p:sp>
      <p:sp>
        <p:nvSpPr>
          <p:cNvPr id="2" name="TITLE TEXT">
            <a:extLst>
              <a:ext uri="{FF2B5EF4-FFF2-40B4-BE49-F238E27FC236}">
                <a16:creationId xmlns:a16="http://schemas.microsoft.com/office/drawing/2014/main" id="{ABF0E77C-176E-E306-627D-6F90481F4FF5}"/>
              </a:ext>
            </a:extLst>
          </p:cNvPr>
          <p:cNvSpPr txBox="1"/>
          <p:nvPr/>
        </p:nvSpPr>
        <p:spPr>
          <a:xfrm>
            <a:off x="1028459" y="1002549"/>
            <a:ext cx="9641622"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Participation activity</a:t>
            </a:r>
            <a:endParaRPr sz="5334" dirty="0"/>
          </a:p>
        </p:txBody>
      </p:sp>
      <p:pic>
        <p:nvPicPr>
          <p:cNvPr id="1026" name="Picture 2" descr="QR code">
            <a:extLst>
              <a:ext uri="{FF2B5EF4-FFF2-40B4-BE49-F238E27FC236}">
                <a16:creationId xmlns:a16="http://schemas.microsoft.com/office/drawing/2014/main" id="{22C01DAF-2832-EE14-58B6-02F6E2B2DD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42591" y="1832308"/>
            <a:ext cx="6411830" cy="641183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563B77C-91CB-84A5-88F1-3B4BD0731991}"/>
              </a:ext>
            </a:extLst>
          </p:cNvPr>
          <p:cNvSpPr txBox="1"/>
          <p:nvPr/>
        </p:nvSpPr>
        <p:spPr>
          <a:xfrm>
            <a:off x="9099789" y="8244138"/>
            <a:ext cx="7497433" cy="523220"/>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GB" sz="2800" b="0" dirty="0">
                <a:solidFill>
                  <a:schemeClr val="tx2"/>
                </a:solidFill>
                <a:latin typeface="Barlow" pitchFamily="2" charset="77"/>
              </a:rPr>
              <a:t>https://</a:t>
            </a:r>
            <a:r>
              <a:rPr lang="en-GB" sz="2800" b="0" dirty="0" err="1">
                <a:solidFill>
                  <a:schemeClr val="tx2"/>
                </a:solidFill>
                <a:latin typeface="Barlow" pitchFamily="2" charset="77"/>
              </a:rPr>
              <a:t>forms.cloud.microsoft</a:t>
            </a:r>
            <a:r>
              <a:rPr lang="en-GB" sz="2800" b="0" dirty="0">
                <a:solidFill>
                  <a:schemeClr val="tx2"/>
                </a:solidFill>
                <a:latin typeface="Barlow" pitchFamily="2" charset="77"/>
              </a:rPr>
              <a:t>/e/aRdzj8fSKa</a:t>
            </a:r>
          </a:p>
        </p:txBody>
      </p:sp>
    </p:spTree>
    <p:extLst>
      <p:ext uri="{BB962C8B-B14F-4D97-AF65-F5344CB8AC3E}">
        <p14:creationId xmlns:p14="http://schemas.microsoft.com/office/powerpoint/2010/main" val="4269376805"/>
      </p:ext>
    </p:extLst>
  </p:cSld>
  <p:clrMapOvr>
    <a:masterClrMapping/>
  </p:clrMapOvr>
  <p:transition spd="med" advTm="222639"/>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7D4DF2-CAB1-D82A-A553-D4D6CEB6BFB1}"/>
            </a:ext>
          </a:extLst>
        </p:cNvPr>
        <p:cNvGrpSpPr/>
        <p:nvPr/>
      </p:nvGrpSpPr>
      <p:grpSpPr>
        <a:xfrm>
          <a:off x="0" y="0"/>
          <a:ext cx="0" cy="0"/>
          <a:chOff x="0" y="0"/>
          <a:chExt cx="0" cy="0"/>
        </a:xfrm>
      </p:grpSpPr>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DA72D651-070F-66C9-DDD6-3D34CAD4F6EA}"/>
              </a:ext>
            </a:extLst>
          </p:cNvPr>
          <p:cNvSpPr txBox="1"/>
          <p:nvPr/>
        </p:nvSpPr>
        <p:spPr>
          <a:xfrm>
            <a:off x="1028459" y="1002549"/>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2D1A3D58-567C-74CC-1F10-B167D4FBFAAC}"/>
              </a:ext>
            </a:extLst>
          </p:cNvPr>
          <p:cNvSpPr/>
          <p:nvPr/>
        </p:nvSpPr>
        <p:spPr>
          <a:xfrm>
            <a:off x="1018091" y="2790321"/>
            <a:ext cx="7641672" cy="5205528"/>
          </a:xfrm>
          <a:prstGeom prst="rect">
            <a:avLst/>
          </a:prstGeom>
        </p:spPr>
        <p:txBody>
          <a:bodyPr wrap="square">
            <a:spAutoFit/>
          </a:bodyPr>
          <a:lstStyle/>
          <a:p>
            <a:pPr marL="285750" indent="-28575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2800" i="1" dirty="0">
                <a:solidFill>
                  <a:schemeClr val="tx2"/>
                </a:solidFill>
                <a:latin typeface="Barlow" pitchFamily="2" charset="77"/>
              </a:rPr>
              <a:t>Can you think of something people regularly do online with creative content that everyone seems to accept (or is seen as normal) but that you suspect infringes someone’s (economic or moral) rights? Share one example.</a:t>
            </a:r>
          </a:p>
          <a:p>
            <a:pPr marL="285750" indent="-28575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lang="en-GB" sz="2800" i="1" dirty="0">
              <a:solidFill>
                <a:schemeClr val="tx2"/>
              </a:solidFill>
              <a:latin typeface="Barlow" pitchFamily="2" charset="77"/>
            </a:endParaRPr>
          </a:p>
          <a:p>
            <a:pPr marL="285750" indent="-28575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Often there is a conflict between copyright law and social norms – copyright gives the holder an opportunity to take action, but they don’t have to</a:t>
            </a:r>
          </a:p>
        </p:txBody>
      </p:sp>
      <p:sp>
        <p:nvSpPr>
          <p:cNvPr id="2" name="TITLE TEXT">
            <a:extLst>
              <a:ext uri="{FF2B5EF4-FFF2-40B4-BE49-F238E27FC236}">
                <a16:creationId xmlns:a16="http://schemas.microsoft.com/office/drawing/2014/main" id="{1A8F5375-10BB-2D87-B3EA-EF802FE319A4}"/>
              </a:ext>
            </a:extLst>
          </p:cNvPr>
          <p:cNvSpPr txBox="1"/>
          <p:nvPr/>
        </p:nvSpPr>
        <p:spPr>
          <a:xfrm>
            <a:off x="1028459" y="1002549"/>
            <a:ext cx="9641622"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Participation activity</a:t>
            </a:r>
            <a:endParaRPr sz="5334" dirty="0"/>
          </a:p>
        </p:txBody>
      </p:sp>
      <p:pic>
        <p:nvPicPr>
          <p:cNvPr id="1026" name="Picture 2" descr="QR code">
            <a:extLst>
              <a:ext uri="{FF2B5EF4-FFF2-40B4-BE49-F238E27FC236}">
                <a16:creationId xmlns:a16="http://schemas.microsoft.com/office/drawing/2014/main" id="{FA22279D-E264-F3BD-1543-3A0FD87753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42591" y="1832308"/>
            <a:ext cx="6411830" cy="641183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73123F4-D472-9396-026B-B5DABC14FEE8}"/>
              </a:ext>
            </a:extLst>
          </p:cNvPr>
          <p:cNvSpPr txBox="1"/>
          <p:nvPr/>
        </p:nvSpPr>
        <p:spPr>
          <a:xfrm>
            <a:off x="9099789" y="8244138"/>
            <a:ext cx="7497433" cy="523220"/>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GB" sz="2800" b="0" dirty="0">
                <a:solidFill>
                  <a:schemeClr val="tx2"/>
                </a:solidFill>
                <a:latin typeface="Barlow" pitchFamily="2" charset="77"/>
              </a:rPr>
              <a:t>https://</a:t>
            </a:r>
            <a:r>
              <a:rPr lang="en-GB" sz="2800" b="0" dirty="0" err="1">
                <a:solidFill>
                  <a:schemeClr val="tx2"/>
                </a:solidFill>
                <a:latin typeface="Barlow" pitchFamily="2" charset="77"/>
              </a:rPr>
              <a:t>forms.cloud.microsoft</a:t>
            </a:r>
            <a:r>
              <a:rPr lang="en-GB" sz="2800" b="0" dirty="0">
                <a:solidFill>
                  <a:schemeClr val="tx2"/>
                </a:solidFill>
                <a:latin typeface="Barlow" pitchFamily="2" charset="77"/>
              </a:rPr>
              <a:t>/e/aRdzj8fSKa</a:t>
            </a:r>
          </a:p>
        </p:txBody>
      </p:sp>
    </p:spTree>
    <p:extLst>
      <p:ext uri="{BB962C8B-B14F-4D97-AF65-F5344CB8AC3E}">
        <p14:creationId xmlns:p14="http://schemas.microsoft.com/office/powerpoint/2010/main" val="2307052531"/>
      </p:ext>
    </p:extLst>
  </p:cSld>
  <p:clrMapOvr>
    <a:masterClrMapping/>
  </p:clrMapOvr>
  <p:transition spd="med" advTm="222639"/>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B2293-F22C-2241-B462-B342E0880EA2}"/>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1B557B4D-7424-2AF6-9D86-A045777B44C3}"/>
              </a:ext>
            </a:extLst>
          </p:cNvPr>
          <p:cNvSpPr txBox="1"/>
          <p:nvPr/>
        </p:nvSpPr>
        <p:spPr>
          <a:xfrm>
            <a:off x="1028459" y="1002549"/>
            <a:ext cx="9641622"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Economic rights</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7890E01D-79AA-1CFF-409B-3BF8EAB812F8}"/>
              </a:ext>
            </a:extLst>
          </p:cNvPr>
          <p:cNvSpPr txBox="1"/>
          <p:nvPr/>
        </p:nvSpPr>
        <p:spPr>
          <a:xfrm>
            <a:off x="1028459" y="1002549"/>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E5ECDC0C-CC6A-8094-A371-9C70953B0ADB}"/>
              </a:ext>
            </a:extLst>
          </p:cNvPr>
          <p:cNvSpPr/>
          <p:nvPr/>
        </p:nvSpPr>
        <p:spPr>
          <a:xfrm>
            <a:off x="1028459" y="2179242"/>
            <a:ext cx="14862995" cy="3137269"/>
          </a:xfrm>
          <a:prstGeom prst="rect">
            <a:avLst/>
          </a:prstGeom>
        </p:spPr>
        <p:txBody>
          <a:bodyPr wrap="square">
            <a:spAutoFit/>
          </a:bodyPr>
          <a:lstStyle/>
          <a:p>
            <a:pPr marL="285750" indent="-28575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CDPA s 16 – 24:</a:t>
            </a:r>
          </a:p>
          <a:p>
            <a:pPr marL="285750" indent="-28575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Reproduction</a:t>
            </a:r>
          </a:p>
          <a:p>
            <a:pPr marL="285750" indent="-28575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Distribution</a:t>
            </a:r>
          </a:p>
          <a:p>
            <a:pPr marL="285750" indent="-28575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Communication to the public</a:t>
            </a:r>
          </a:p>
          <a:p>
            <a:pPr marL="285750" indent="-28575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Adaptation</a:t>
            </a:r>
          </a:p>
          <a:p>
            <a:pPr marL="285750" indent="-28575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But see also: translations, lending and rental, broadcasting, public performance etc.</a:t>
            </a:r>
          </a:p>
        </p:txBody>
      </p:sp>
    </p:spTree>
    <p:extLst>
      <p:ext uri="{BB962C8B-B14F-4D97-AF65-F5344CB8AC3E}">
        <p14:creationId xmlns:p14="http://schemas.microsoft.com/office/powerpoint/2010/main" val="604302316"/>
      </p:ext>
    </p:extLst>
  </p:cSld>
  <p:clrMapOvr>
    <a:masterClrMapping/>
  </p:clrMapOvr>
  <p:transition spd="med" advTm="222639"/>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DB5E2-2F68-4FDF-1266-5B95DB68C02C}"/>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CEEDC374-9900-0DEA-E419-2E809AAAC45E}"/>
              </a:ext>
            </a:extLst>
          </p:cNvPr>
          <p:cNvSpPr txBox="1"/>
          <p:nvPr/>
        </p:nvSpPr>
        <p:spPr>
          <a:xfrm>
            <a:off x="1028459" y="1002549"/>
            <a:ext cx="9641622"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Reproduction</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1CD4B5FA-FA17-0C34-0194-218F80AF2428}"/>
              </a:ext>
            </a:extLst>
          </p:cNvPr>
          <p:cNvSpPr txBox="1"/>
          <p:nvPr/>
        </p:nvSpPr>
        <p:spPr>
          <a:xfrm>
            <a:off x="1028459" y="1002549"/>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B24C34BD-B509-FD5A-36A8-5A5890639CF1}"/>
              </a:ext>
            </a:extLst>
          </p:cNvPr>
          <p:cNvSpPr/>
          <p:nvPr/>
        </p:nvSpPr>
        <p:spPr>
          <a:xfrm>
            <a:off x="1028460" y="2179242"/>
            <a:ext cx="7770484" cy="1069011"/>
          </a:xfrm>
          <a:prstGeom prst="rect">
            <a:avLst/>
          </a:prstGeom>
        </p:spPr>
        <p:txBody>
          <a:bodyPr wrap="square">
            <a:spAutoFit/>
          </a:bodyPr>
          <a:lstStyle/>
          <a:p>
            <a:pPr marL="285750" indent="-28575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CDPA s16(1)(a): ‘to copy the work’ e.g. the copy right!</a:t>
            </a:r>
          </a:p>
        </p:txBody>
      </p:sp>
      <p:pic>
        <p:nvPicPr>
          <p:cNvPr id="2050" name="Picture 2" descr="QR code">
            <a:extLst>
              <a:ext uri="{FF2B5EF4-FFF2-40B4-BE49-F238E27FC236}">
                <a16:creationId xmlns:a16="http://schemas.microsoft.com/office/drawing/2014/main" id="{84909AEC-D2C4-93C6-F29A-9C12EE70A3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0456" y="1417428"/>
            <a:ext cx="6363598" cy="636359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0446A1D-B72A-F24D-F569-DFA2B64ED3C9}"/>
              </a:ext>
            </a:extLst>
          </p:cNvPr>
          <p:cNvSpPr txBox="1"/>
          <p:nvPr/>
        </p:nvSpPr>
        <p:spPr>
          <a:xfrm>
            <a:off x="10342357" y="7718851"/>
            <a:ext cx="5039795" cy="954107"/>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GB" sz="2800" b="0" dirty="0">
                <a:solidFill>
                  <a:schemeClr val="tx2"/>
                </a:solidFill>
                <a:latin typeface="Barlow" pitchFamily="2" charset="77"/>
              </a:rPr>
              <a:t>https://</a:t>
            </a:r>
            <a:r>
              <a:rPr lang="en-GB" sz="2800" b="0" dirty="0" err="1">
                <a:solidFill>
                  <a:schemeClr val="tx2"/>
                </a:solidFill>
                <a:latin typeface="Barlow" pitchFamily="2" charset="77"/>
              </a:rPr>
              <a:t>forms.cloud.microsoft</a:t>
            </a:r>
            <a:r>
              <a:rPr lang="en-GB" sz="2800" b="0" dirty="0">
                <a:solidFill>
                  <a:schemeClr val="tx2"/>
                </a:solidFill>
                <a:latin typeface="Barlow" pitchFamily="2" charset="77"/>
              </a:rPr>
              <a:t>/e/ptHi9f5K2V</a:t>
            </a:r>
          </a:p>
        </p:txBody>
      </p:sp>
    </p:spTree>
    <p:extLst>
      <p:ext uri="{BB962C8B-B14F-4D97-AF65-F5344CB8AC3E}">
        <p14:creationId xmlns:p14="http://schemas.microsoft.com/office/powerpoint/2010/main" val="3286877817"/>
      </p:ext>
    </p:extLst>
  </p:cSld>
  <p:clrMapOvr>
    <a:masterClrMapping/>
  </p:clrMapOvr>
  <p:transition spd="med" advTm="222639"/>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0C9D7-1915-34EC-2BDF-7EB2827B48F0}"/>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A1DAB566-CC7E-06C4-B035-5F18CE8A0115}"/>
              </a:ext>
            </a:extLst>
          </p:cNvPr>
          <p:cNvSpPr txBox="1"/>
          <p:nvPr/>
        </p:nvSpPr>
        <p:spPr>
          <a:xfrm>
            <a:off x="1028459" y="1002549"/>
            <a:ext cx="9641622"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Reproduction</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E5A7AEB9-B90A-2151-F3A2-1F097331E82C}"/>
              </a:ext>
            </a:extLst>
          </p:cNvPr>
          <p:cNvSpPr txBox="1"/>
          <p:nvPr/>
        </p:nvSpPr>
        <p:spPr>
          <a:xfrm>
            <a:off x="1028459" y="1002549"/>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C2D39A62-B6E4-A8E8-7ED2-6A11CD59E8F0}"/>
              </a:ext>
            </a:extLst>
          </p:cNvPr>
          <p:cNvSpPr/>
          <p:nvPr/>
        </p:nvSpPr>
        <p:spPr>
          <a:xfrm>
            <a:off x="1028459" y="2179242"/>
            <a:ext cx="14862995" cy="5521512"/>
          </a:xfrm>
          <a:prstGeom prst="rect">
            <a:avLst/>
          </a:prstGeom>
        </p:spPr>
        <p:txBody>
          <a:bodyPr wrap="square">
            <a:spAutoFit/>
          </a:bodyPr>
          <a:lstStyle/>
          <a:p>
            <a:pPr marL="457200" indent="-45720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2800" b="0" dirty="0">
                <a:solidFill>
                  <a:schemeClr val="tx2"/>
                </a:solidFill>
                <a:latin typeface="Barlow" pitchFamily="2" charset="77"/>
              </a:rPr>
              <a:t>In theory, applies to </a:t>
            </a:r>
            <a:r>
              <a:rPr lang="en-GB" sz="2800" b="0" u="sng" dirty="0">
                <a:solidFill>
                  <a:schemeClr val="tx2"/>
                </a:solidFill>
                <a:latin typeface="Barlow" pitchFamily="2" charset="77"/>
              </a:rPr>
              <a:t>any type of copying</a:t>
            </a:r>
            <a:r>
              <a:rPr lang="en-GB" sz="2800" b="0" dirty="0">
                <a:solidFill>
                  <a:schemeClr val="tx2"/>
                </a:solidFill>
                <a:latin typeface="Barlow" pitchFamily="2" charset="77"/>
              </a:rPr>
              <a:t>: temporary, tangential, or minimal use of a work (</a:t>
            </a:r>
            <a:r>
              <a:rPr lang="en-GB" sz="2800" b="0" dirty="0" err="1">
                <a:solidFill>
                  <a:schemeClr val="tx2"/>
                </a:solidFill>
                <a:latin typeface="Barlow" pitchFamily="2" charset="77"/>
              </a:rPr>
              <a:t>InfoSoc</a:t>
            </a:r>
            <a:r>
              <a:rPr lang="en-GB" sz="2800" b="0" dirty="0">
                <a:solidFill>
                  <a:schemeClr val="tx2"/>
                </a:solidFill>
                <a:latin typeface="Barlow" pitchFamily="2" charset="77"/>
              </a:rPr>
              <a:t> Directive art 2(e) and 3(2)):</a:t>
            </a:r>
          </a:p>
          <a:p>
            <a:pPr marL="457200" indent="-457200" algn="just">
              <a:buFont typeface="Arial" panose="020B0604020202020204" pitchFamily="34" charset="0"/>
              <a:buChar char="•"/>
            </a:pPr>
            <a:r>
              <a:rPr lang="en-GB" sz="2800" b="0" dirty="0">
                <a:solidFill>
                  <a:schemeClr val="tx2"/>
                </a:solidFill>
                <a:latin typeface="Barlow" pitchFamily="2" charset="77"/>
              </a:rPr>
              <a:t>Literal copying – copy/paste, photocopy, screenshot (see </a:t>
            </a:r>
            <a:r>
              <a:rPr lang="en-GB" sz="2800" b="0" i="1" dirty="0" err="1">
                <a:solidFill>
                  <a:schemeClr val="tx2"/>
                </a:solidFill>
                <a:latin typeface="Barlow" pitchFamily="2" charset="77"/>
              </a:rPr>
              <a:t>Infopaq</a:t>
            </a:r>
            <a:r>
              <a:rPr lang="en-GB" sz="2800" b="0" i="1" dirty="0">
                <a:solidFill>
                  <a:schemeClr val="tx2"/>
                </a:solidFill>
                <a:latin typeface="Barlow" pitchFamily="2" charset="77"/>
              </a:rPr>
              <a:t>, </a:t>
            </a:r>
            <a:r>
              <a:rPr lang="en-GB" sz="2800" b="0" i="1" dirty="0" err="1">
                <a:solidFill>
                  <a:schemeClr val="tx2"/>
                </a:solidFill>
                <a:latin typeface="Barlow" pitchFamily="2" charset="77"/>
              </a:rPr>
              <a:t>Tixdaq</a:t>
            </a:r>
            <a:r>
              <a:rPr lang="en-GB" sz="2800" b="0" dirty="0">
                <a:solidFill>
                  <a:schemeClr val="tx2"/>
                </a:solidFill>
                <a:latin typeface="Barlow" pitchFamily="2" charset="77"/>
              </a:rPr>
              <a:t>)</a:t>
            </a:r>
          </a:p>
          <a:p>
            <a:pPr marL="457200" indent="-457200" algn="just">
              <a:buFont typeface="Arial" panose="020B0604020202020204" pitchFamily="34" charset="0"/>
              <a:buChar char="•"/>
            </a:pPr>
            <a:r>
              <a:rPr lang="en-GB" sz="2800" b="0" dirty="0">
                <a:solidFill>
                  <a:schemeClr val="tx2"/>
                </a:solidFill>
                <a:latin typeface="Barlow" pitchFamily="2" charset="77"/>
              </a:rPr>
              <a:t>Non-literal copying – emulating via another method/process</a:t>
            </a:r>
            <a:endParaRPr lang="en-GB" sz="2800" dirty="0">
              <a:solidFill>
                <a:schemeClr val="tx2"/>
              </a:solidFill>
              <a:latin typeface="Barlow" pitchFamily="2" charset="77"/>
            </a:endParaRPr>
          </a:p>
          <a:p>
            <a:pPr marL="457200" indent="-45720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lang="en-GB" sz="2800" b="0" dirty="0">
              <a:solidFill>
                <a:schemeClr val="tx2"/>
              </a:solidFill>
              <a:latin typeface="Barlow" pitchFamily="2" charset="77"/>
            </a:endParaRPr>
          </a:p>
          <a:p>
            <a:pPr marL="457200" indent="-457200" algn="just">
              <a:buFont typeface="Arial" panose="020B0604020202020204" pitchFamily="34" charset="0"/>
              <a:buChar char="•"/>
            </a:pPr>
            <a:r>
              <a:rPr lang="en-GB" sz="2800" b="0" dirty="0">
                <a:solidFill>
                  <a:schemeClr val="tx2"/>
                </a:solidFill>
                <a:latin typeface="Barlow" pitchFamily="2" charset="77"/>
              </a:rPr>
              <a:t>Key question: does the copy embody a </a:t>
            </a:r>
            <a:r>
              <a:rPr lang="en-GB" sz="2800" b="0" u="sng" dirty="0">
                <a:solidFill>
                  <a:schemeClr val="tx2"/>
                </a:solidFill>
                <a:latin typeface="Barlow" pitchFamily="2" charset="77"/>
              </a:rPr>
              <a:t>substantial part</a:t>
            </a:r>
            <a:r>
              <a:rPr lang="en-GB" sz="2800" b="0" dirty="0">
                <a:solidFill>
                  <a:schemeClr val="tx2"/>
                </a:solidFill>
                <a:latin typeface="Barlow" pitchFamily="2" charset="77"/>
              </a:rPr>
              <a:t> of the </a:t>
            </a:r>
            <a:r>
              <a:rPr lang="en-GB" sz="2800" b="0" u="sng" dirty="0">
                <a:solidFill>
                  <a:schemeClr val="tx2"/>
                </a:solidFill>
                <a:latin typeface="Barlow" pitchFamily="2" charset="77"/>
              </a:rPr>
              <a:t>author’s own intellectual creation</a:t>
            </a:r>
            <a:r>
              <a:rPr lang="en-GB" sz="2800" b="0" dirty="0">
                <a:solidFill>
                  <a:schemeClr val="tx2"/>
                </a:solidFill>
                <a:latin typeface="Barlow" pitchFamily="2" charset="77"/>
              </a:rPr>
              <a:t>? </a:t>
            </a:r>
          </a:p>
          <a:p>
            <a:pPr marL="457200" indent="-457200" algn="just">
              <a:buFont typeface="Arial" panose="020B0604020202020204" pitchFamily="34" charset="0"/>
              <a:buChar char="•"/>
            </a:pPr>
            <a:r>
              <a:rPr lang="en-GB" sz="2800" b="0" dirty="0">
                <a:solidFill>
                  <a:schemeClr val="tx2"/>
                </a:solidFill>
                <a:latin typeface="Barlow" pitchFamily="2" charset="77"/>
              </a:rPr>
              <a:t>In theory different from </a:t>
            </a:r>
            <a:r>
              <a:rPr lang="en-GB" sz="2800" b="0" i="1" dirty="0">
                <a:solidFill>
                  <a:schemeClr val="tx2"/>
                </a:solidFill>
                <a:latin typeface="Barlow" pitchFamily="2" charset="77"/>
              </a:rPr>
              <a:t>Pelham</a:t>
            </a:r>
            <a:r>
              <a:rPr lang="en-GB" sz="2800" b="0" dirty="0">
                <a:solidFill>
                  <a:schemeClr val="tx2"/>
                </a:solidFill>
                <a:latin typeface="Barlow" pitchFamily="2" charset="77"/>
              </a:rPr>
              <a:t> ‘part’ test: but what is ‘substantial’ is still a </a:t>
            </a:r>
            <a:r>
              <a:rPr lang="en-GB" sz="2800" b="0" u="sng" dirty="0">
                <a:solidFill>
                  <a:schemeClr val="tx2"/>
                </a:solidFill>
                <a:latin typeface="Barlow" pitchFamily="2" charset="77"/>
              </a:rPr>
              <a:t>qualitative</a:t>
            </a:r>
            <a:r>
              <a:rPr lang="en-GB" sz="2800" b="0" dirty="0">
                <a:solidFill>
                  <a:schemeClr val="tx2"/>
                </a:solidFill>
                <a:latin typeface="Barlow" pitchFamily="2" charset="77"/>
              </a:rPr>
              <a:t> not quantitative metric</a:t>
            </a:r>
          </a:p>
          <a:p>
            <a:pPr marL="457200" indent="-457200" algn="just">
              <a:buFont typeface="Arial" panose="020B0604020202020204" pitchFamily="34" charset="0"/>
              <a:buChar char="•"/>
            </a:pPr>
            <a:endParaRPr lang="en-GB" sz="2800" b="0" dirty="0">
              <a:solidFill>
                <a:schemeClr val="tx2"/>
              </a:solidFill>
              <a:latin typeface="Barlow" pitchFamily="2" charset="77"/>
            </a:endParaRPr>
          </a:p>
          <a:p>
            <a:pPr marL="457200" indent="-457200" algn="just">
              <a:buFont typeface="Arial" panose="020B0604020202020204" pitchFamily="34" charset="0"/>
              <a:buChar char="•"/>
            </a:pPr>
            <a:r>
              <a:rPr lang="en-GB" sz="2800" b="0" dirty="0">
                <a:solidFill>
                  <a:schemeClr val="tx2"/>
                </a:solidFill>
                <a:latin typeface="Barlow" pitchFamily="2" charset="77"/>
              </a:rPr>
              <a:t>Note: this is why exceptions are very important in the digital environment (covered next week)</a:t>
            </a:r>
          </a:p>
        </p:txBody>
      </p:sp>
    </p:spTree>
    <p:extLst>
      <p:ext uri="{BB962C8B-B14F-4D97-AF65-F5344CB8AC3E}">
        <p14:creationId xmlns:p14="http://schemas.microsoft.com/office/powerpoint/2010/main" val="4093548710"/>
      </p:ext>
    </p:extLst>
  </p:cSld>
  <p:clrMapOvr>
    <a:masterClrMapping/>
  </p:clrMapOvr>
  <p:transition spd="med" advTm="222639"/>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15D05-6AB5-6CBD-F6D7-272ACFE56FB3}"/>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2C804652-CF6D-39A0-6005-1D70149154B9}"/>
              </a:ext>
            </a:extLst>
          </p:cNvPr>
          <p:cNvSpPr txBox="1"/>
          <p:nvPr/>
        </p:nvSpPr>
        <p:spPr>
          <a:xfrm>
            <a:off x="1028459" y="1002549"/>
            <a:ext cx="9641622"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Reproduction: Literal copying</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01C3E465-E54C-A46F-4906-EA5F766993FD}"/>
              </a:ext>
            </a:extLst>
          </p:cNvPr>
          <p:cNvSpPr txBox="1"/>
          <p:nvPr/>
        </p:nvSpPr>
        <p:spPr>
          <a:xfrm>
            <a:off x="1028459" y="1002549"/>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3" name="Rectangle 2">
            <a:extLst>
              <a:ext uri="{FF2B5EF4-FFF2-40B4-BE49-F238E27FC236}">
                <a16:creationId xmlns:a16="http://schemas.microsoft.com/office/drawing/2014/main" id="{1E97AF9F-CF71-3014-9112-F0E2B86B2FDD}"/>
              </a:ext>
            </a:extLst>
          </p:cNvPr>
          <p:cNvSpPr/>
          <p:nvPr/>
        </p:nvSpPr>
        <p:spPr>
          <a:xfrm>
            <a:off x="1028459" y="2195410"/>
            <a:ext cx="7390921" cy="6555641"/>
          </a:xfrm>
          <a:prstGeom prst="rect">
            <a:avLst/>
          </a:prstGeom>
        </p:spPr>
        <p:txBody>
          <a:bodyPr wrap="square">
            <a:spAutoFit/>
          </a:bodyPr>
          <a:lstStyle/>
          <a:p>
            <a:pPr marL="457200" indent="-457200" algn="just">
              <a:buFont typeface="Arial" panose="020B0604020202020204" pitchFamily="34" charset="0"/>
              <a:buChar char="•"/>
            </a:pPr>
            <a:r>
              <a:rPr lang="en-GB" sz="2800" b="0" dirty="0">
                <a:solidFill>
                  <a:schemeClr val="tx2"/>
                </a:solidFill>
                <a:latin typeface="Barlow" pitchFamily="2" charset="77"/>
              </a:rPr>
              <a:t>Cases C-403/08 and C429/08 </a:t>
            </a:r>
            <a:r>
              <a:rPr lang="en-GB" sz="2800" b="0" i="1" dirty="0">
                <a:solidFill>
                  <a:schemeClr val="tx2"/>
                </a:solidFill>
                <a:latin typeface="Barlow" pitchFamily="2" charset="77"/>
              </a:rPr>
              <a:t>Football Association Premier League Ltd v QC Leisure, Murphy v Media Protection Services Ltd</a:t>
            </a:r>
          </a:p>
          <a:p>
            <a:pPr marL="457200" indent="-457200" algn="just">
              <a:buFont typeface="Arial" panose="020B0604020202020204" pitchFamily="34" charset="0"/>
              <a:buChar char="•"/>
            </a:pPr>
            <a:r>
              <a:rPr lang="en-GB" sz="2800" b="0" dirty="0">
                <a:solidFill>
                  <a:schemeClr val="tx2"/>
                </a:solidFill>
                <a:latin typeface="Barlow" pitchFamily="2" charset="77"/>
              </a:rPr>
              <a:t>Landlady shows PL football matches in her pub, using a (paid-for) Greek subscription channel which was not licensed in the UK</a:t>
            </a:r>
          </a:p>
          <a:p>
            <a:pPr marL="457200" indent="-457200" algn="just">
              <a:buFont typeface="Arial" panose="020B0604020202020204" pitchFamily="34" charset="0"/>
              <a:buChar char="•"/>
            </a:pPr>
            <a:r>
              <a:rPr lang="en-GB" sz="2800" b="0" dirty="0">
                <a:solidFill>
                  <a:schemeClr val="tx2"/>
                </a:solidFill>
                <a:latin typeface="Barlow" pitchFamily="2" charset="77"/>
              </a:rPr>
              <a:t>Tiny parts of real-time live footage are technically copied (e.g., in an RAM), forwarded and instantly deleted</a:t>
            </a:r>
          </a:p>
          <a:p>
            <a:pPr marL="457200" indent="-457200" algn="just">
              <a:buFont typeface="Arial" panose="020B0604020202020204" pitchFamily="34" charset="0"/>
              <a:buChar char="•"/>
            </a:pPr>
            <a:r>
              <a:rPr lang="en-GB" sz="2800" b="0" dirty="0">
                <a:solidFill>
                  <a:schemeClr val="tx2"/>
                </a:solidFill>
                <a:latin typeface="Barlow" pitchFamily="2" charset="77"/>
              </a:rPr>
              <a:t>‘… it is not relevant whether a work is reproduced by means of linear fragments which may have an ephemeral existence because they are immediately effaced in the course of a technical process’</a:t>
            </a:r>
            <a:r>
              <a:rPr lang="en-GB" sz="2800" b="0" i="1" dirty="0">
                <a:solidFill>
                  <a:schemeClr val="tx2"/>
                </a:solidFill>
                <a:latin typeface="Barlow" pitchFamily="2" charset="77"/>
              </a:rPr>
              <a:t> (para 157)</a:t>
            </a:r>
            <a:endParaRPr lang="en-GB" sz="2800" b="0" dirty="0">
              <a:solidFill>
                <a:schemeClr val="tx2"/>
              </a:solidFill>
              <a:latin typeface="Barlow" pitchFamily="2" charset="77"/>
            </a:endParaRPr>
          </a:p>
        </p:txBody>
      </p:sp>
      <p:pic>
        <p:nvPicPr>
          <p:cNvPr id="4" name="Picture 2" descr="Watching Football Pub Images – Browse 4,952 Stock Photos, Vectors, and  Video | Adobe Stock">
            <a:extLst>
              <a:ext uri="{FF2B5EF4-FFF2-40B4-BE49-F238E27FC236}">
                <a16:creationId xmlns:a16="http://schemas.microsoft.com/office/drawing/2014/main" id="{A1D4DA38-485D-091E-AAEA-0D92D33C61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30264" y="2676197"/>
            <a:ext cx="7081539" cy="47297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2387092"/>
      </p:ext>
    </p:extLst>
  </p:cSld>
  <p:clrMapOvr>
    <a:masterClrMapping/>
  </p:clrMapOvr>
  <p:transition spd="med" advTm="222639"/>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0D679-AFDE-338D-82A9-386C3FD5B0F1}"/>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DB7D975A-9E44-99ED-CC19-4F28AFF3A554}"/>
              </a:ext>
            </a:extLst>
          </p:cNvPr>
          <p:cNvSpPr txBox="1"/>
          <p:nvPr/>
        </p:nvSpPr>
        <p:spPr>
          <a:xfrm>
            <a:off x="1028459" y="1002549"/>
            <a:ext cx="13084356"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334" dirty="0"/>
              <a:t>Reproduction: Non-literal copying</a:t>
            </a:r>
            <a:endParaRPr sz="5334" dirty="0"/>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918CC9C0-7E4A-D8D8-05C8-13D625A8CEF2}"/>
              </a:ext>
            </a:extLst>
          </p:cNvPr>
          <p:cNvSpPr txBox="1"/>
          <p:nvPr/>
        </p:nvSpPr>
        <p:spPr>
          <a:xfrm>
            <a:off x="1028459" y="1002549"/>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pic>
        <p:nvPicPr>
          <p:cNvPr id="2" name="Obraz 4" descr="Obraz zawierający tekst&#10;&#10;Opis wygenerowany automatycznie">
            <a:extLst>
              <a:ext uri="{FF2B5EF4-FFF2-40B4-BE49-F238E27FC236}">
                <a16:creationId xmlns:a16="http://schemas.microsoft.com/office/drawing/2014/main" id="{AAAC81F6-D682-3A29-5F46-F23DA7FC5873}"/>
              </a:ext>
            </a:extLst>
          </p:cNvPr>
          <p:cNvPicPr>
            <a:picLocks noChangeAspect="1"/>
          </p:cNvPicPr>
          <p:nvPr/>
        </p:nvPicPr>
        <p:blipFill rotWithShape="1">
          <a:blip r:embed="rId2"/>
          <a:srcRect l="26729" t="39500" r="11022" b="45800"/>
          <a:stretch/>
        </p:blipFill>
        <p:spPr>
          <a:xfrm>
            <a:off x="1028459" y="1954372"/>
            <a:ext cx="15528018" cy="4695778"/>
          </a:xfrm>
          <a:prstGeom prst="rect">
            <a:avLst/>
          </a:prstGeom>
        </p:spPr>
      </p:pic>
      <p:sp>
        <p:nvSpPr>
          <p:cNvPr id="4" name="TextBox 3">
            <a:extLst>
              <a:ext uri="{FF2B5EF4-FFF2-40B4-BE49-F238E27FC236}">
                <a16:creationId xmlns:a16="http://schemas.microsoft.com/office/drawing/2014/main" id="{83C8A96D-F740-0E34-5F08-E8783DAC031C}"/>
              </a:ext>
            </a:extLst>
          </p:cNvPr>
          <p:cNvSpPr txBox="1"/>
          <p:nvPr/>
        </p:nvSpPr>
        <p:spPr>
          <a:xfrm>
            <a:off x="1040973" y="6987657"/>
            <a:ext cx="15515504" cy="1764586"/>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0320" tIns="20320" rIns="20320" bIns="20320" numCol="1" spcCol="38100" rtlCol="0" anchor="ctr">
            <a:spAutoFit/>
          </a:bodyPr>
          <a:lstStyle/>
          <a:p>
            <a:pPr marL="457200" indent="-457200" algn="just">
              <a:buFont typeface="Arial" panose="020B0604020202020204" pitchFamily="34" charset="0"/>
              <a:buChar char="•"/>
            </a:pPr>
            <a:r>
              <a:rPr lang="en-GB" sz="2800" b="0" i="1" dirty="0">
                <a:solidFill>
                  <a:schemeClr val="tx2"/>
                </a:solidFill>
                <a:effectLst/>
                <a:latin typeface="Barlow" pitchFamily="2" charset="77"/>
                <a:ea typeface="Calibri" panose="020F0502020204030204" pitchFamily="34" charset="0"/>
                <a:cs typeface="Times New Roman" panose="02020603050405020304" pitchFamily="18" charset="0"/>
              </a:rPr>
              <a:t>Designers Guild Ltd v Russell Williams (Textiles) Ltd </a:t>
            </a:r>
            <a:r>
              <a:rPr lang="en-GB" sz="2800" b="0" dirty="0">
                <a:solidFill>
                  <a:schemeClr val="tx2"/>
                </a:solidFill>
                <a:effectLst/>
                <a:latin typeface="Barlow" pitchFamily="2" charset="77"/>
                <a:ea typeface="Calibri" panose="020F0502020204030204" pitchFamily="34" charset="0"/>
                <a:cs typeface="Times New Roman" panose="02020603050405020304" pitchFamily="18" charset="0"/>
              </a:rPr>
              <a:t>[2001] FSR 11</a:t>
            </a:r>
          </a:p>
          <a:p>
            <a:pPr marL="457200" indent="-457200" algn="just">
              <a:buFont typeface="Arial" panose="020B0604020202020204" pitchFamily="34" charset="0"/>
              <a:buChar char="•"/>
            </a:pPr>
            <a:r>
              <a:rPr lang="en-GB" sz="2800" b="0" dirty="0">
                <a:solidFill>
                  <a:schemeClr val="tx2"/>
                </a:solidFill>
                <a:latin typeface="Barlow" pitchFamily="2" charset="77"/>
                <a:ea typeface="Calibri" panose="020F0502020204030204" pitchFamily="34" charset="0"/>
                <a:cs typeface="Times New Roman" panose="02020603050405020304" pitchFamily="18" charset="0"/>
              </a:rPr>
              <a:t>Key question: can it be copyright infringement to copy an artistic technique/emulate an artistic effect?</a:t>
            </a:r>
          </a:p>
          <a:p>
            <a:pPr marL="457200" indent="-457200" algn="just">
              <a:buFont typeface="Arial" panose="020B0604020202020204" pitchFamily="34" charset="0"/>
              <a:buChar char="•"/>
            </a:pPr>
            <a:r>
              <a:rPr lang="en-GB" sz="2800" b="0" dirty="0">
                <a:solidFill>
                  <a:schemeClr val="tx2"/>
                </a:solidFill>
                <a:latin typeface="Barlow" pitchFamily="2" charset="77"/>
                <a:ea typeface="Calibri" panose="020F0502020204030204" pitchFamily="34" charset="0"/>
                <a:cs typeface="Times New Roman" panose="02020603050405020304" pitchFamily="18" charset="0"/>
              </a:rPr>
              <a:t>‘… a copier is not at liberty to appropriate the benefit of another’s </a:t>
            </a:r>
            <a:r>
              <a:rPr lang="en-GB" sz="2800" b="0" u="sng" dirty="0">
                <a:solidFill>
                  <a:schemeClr val="tx2"/>
                </a:solidFill>
                <a:latin typeface="Barlow" pitchFamily="2" charset="77"/>
                <a:ea typeface="Calibri" panose="020F0502020204030204" pitchFamily="34" charset="0"/>
                <a:cs typeface="Times New Roman" panose="02020603050405020304" pitchFamily="18" charset="0"/>
              </a:rPr>
              <a:t>skill and labour’</a:t>
            </a:r>
            <a:endParaRPr lang="en-GB" sz="2800" b="0" dirty="0">
              <a:solidFill>
                <a:schemeClr val="tx2"/>
              </a:solidFill>
              <a:effectLst/>
              <a:latin typeface="Barlow" pitchFamily="2" charset="77"/>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98164493"/>
      </p:ext>
    </p:extLst>
  </p:cSld>
  <p:clrMapOvr>
    <a:masterClrMapping/>
  </p:clrMapOvr>
  <p:transition spd="med" advTm="222639"/>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E2788-EC82-3501-5D3D-22EB5D6A53E5}"/>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51150DF3-899C-5523-EFB8-0BA7F4FCF92E}"/>
              </a:ext>
            </a:extLst>
          </p:cNvPr>
          <p:cNvSpPr txBox="1"/>
          <p:nvPr/>
        </p:nvSpPr>
        <p:spPr>
          <a:xfrm>
            <a:off x="1028459" y="1002549"/>
            <a:ext cx="9641622"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400" dirty="0"/>
              <a:t>Distribution</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2B630D99-0670-0A14-9C4E-B97D409DB69B}"/>
              </a:ext>
            </a:extLst>
          </p:cNvPr>
          <p:cNvSpPr txBox="1"/>
          <p:nvPr/>
        </p:nvSpPr>
        <p:spPr>
          <a:xfrm>
            <a:off x="1028459" y="1002549"/>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5" name="Rectangle 4">
            <a:extLst>
              <a:ext uri="{FF2B5EF4-FFF2-40B4-BE49-F238E27FC236}">
                <a16:creationId xmlns:a16="http://schemas.microsoft.com/office/drawing/2014/main" id="{C6755823-25EA-AE5A-08FF-258717351676}"/>
              </a:ext>
            </a:extLst>
          </p:cNvPr>
          <p:cNvSpPr/>
          <p:nvPr/>
        </p:nvSpPr>
        <p:spPr>
          <a:xfrm>
            <a:off x="1028459" y="2731332"/>
            <a:ext cx="9440488" cy="4688463"/>
          </a:xfrm>
          <a:prstGeom prst="rect">
            <a:avLst/>
          </a:prstGeom>
        </p:spPr>
        <p:txBody>
          <a:bodyPr wrap="square">
            <a:spAutoFit/>
          </a:bodyPr>
          <a:lstStyle/>
          <a:p>
            <a:pPr marL="285750" indent="-28575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CDPA s16(1)(b)to issue copies of the work to the public</a:t>
            </a:r>
          </a:p>
          <a:p>
            <a:pPr marL="285750" indent="-28575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Note: the principle of </a:t>
            </a:r>
            <a:r>
              <a:rPr lang="en-GB" sz="2800" u="sng" dirty="0">
                <a:solidFill>
                  <a:schemeClr val="tx2"/>
                </a:solidFill>
                <a:latin typeface="Barlow" pitchFamily="2" charset="77"/>
              </a:rPr>
              <a:t>exhaustion</a:t>
            </a:r>
            <a:r>
              <a:rPr lang="en-GB" sz="2800" dirty="0">
                <a:solidFill>
                  <a:schemeClr val="tx2"/>
                </a:solidFill>
                <a:latin typeface="Barlow" pitchFamily="2" charset="77"/>
              </a:rPr>
              <a:t> (in the US: first sale doctrine) limits this right</a:t>
            </a:r>
          </a:p>
          <a:p>
            <a:pPr marL="285750" indent="-28575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C-419/13 </a:t>
            </a:r>
            <a:r>
              <a:rPr lang="en-GB" sz="2800" i="1" dirty="0">
                <a:solidFill>
                  <a:schemeClr val="tx2"/>
                </a:solidFill>
                <a:latin typeface="Barlow" pitchFamily="2" charset="77"/>
              </a:rPr>
              <a:t>Art and </a:t>
            </a:r>
            <a:r>
              <a:rPr lang="en-GB" sz="2800" i="1" dirty="0" err="1">
                <a:solidFill>
                  <a:schemeClr val="tx2"/>
                </a:solidFill>
                <a:latin typeface="Barlow" pitchFamily="2" charset="77"/>
              </a:rPr>
              <a:t>Allposters</a:t>
            </a:r>
            <a:r>
              <a:rPr lang="en-GB" sz="2800" i="1" dirty="0">
                <a:solidFill>
                  <a:schemeClr val="tx2"/>
                </a:solidFill>
                <a:latin typeface="Barlow" pitchFamily="2" charset="77"/>
              </a:rPr>
              <a:t> v </a:t>
            </a:r>
            <a:r>
              <a:rPr lang="en-GB" sz="2800" i="1" dirty="0" err="1">
                <a:solidFill>
                  <a:schemeClr val="tx2"/>
                </a:solidFill>
                <a:latin typeface="Barlow" pitchFamily="2" charset="77"/>
              </a:rPr>
              <a:t>Stichting</a:t>
            </a:r>
            <a:r>
              <a:rPr lang="en-GB" sz="2800" i="1" dirty="0">
                <a:solidFill>
                  <a:schemeClr val="tx2"/>
                </a:solidFill>
                <a:latin typeface="Barlow" pitchFamily="2" charset="77"/>
              </a:rPr>
              <a:t> </a:t>
            </a:r>
            <a:r>
              <a:rPr lang="en-GB" sz="2800" i="1" dirty="0" err="1">
                <a:solidFill>
                  <a:schemeClr val="tx2"/>
                </a:solidFill>
                <a:latin typeface="Barlow" pitchFamily="2" charset="77"/>
              </a:rPr>
              <a:t>Pictoright</a:t>
            </a:r>
            <a:endParaRPr lang="en-GB" sz="2800" i="1" dirty="0">
              <a:solidFill>
                <a:schemeClr val="tx2"/>
              </a:solidFill>
              <a:latin typeface="Barlow" pitchFamily="2" charset="77"/>
            </a:endParaRPr>
          </a:p>
          <a:p>
            <a:pPr marL="285750" indent="-28575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Exhaustion only applies to the distribution right, </a:t>
            </a:r>
            <a:r>
              <a:rPr lang="en-GB" sz="2800" u="sng" dirty="0">
                <a:solidFill>
                  <a:schemeClr val="tx2"/>
                </a:solidFill>
                <a:latin typeface="Barlow" pitchFamily="2" charset="77"/>
              </a:rPr>
              <a:t>not</a:t>
            </a:r>
            <a:r>
              <a:rPr lang="en-GB" sz="2800" dirty="0">
                <a:solidFill>
                  <a:schemeClr val="tx2"/>
                </a:solidFill>
                <a:latin typeface="Barlow" pitchFamily="2" charset="77"/>
              </a:rPr>
              <a:t> the reproduction right</a:t>
            </a:r>
          </a:p>
          <a:p>
            <a:pPr marL="285750" indent="-28575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Is the altered object, taken as a whole, physically the same object that was placed on the market with the consent of the rightsholder?</a:t>
            </a:r>
          </a:p>
        </p:txBody>
      </p:sp>
      <p:pic>
        <p:nvPicPr>
          <p:cNvPr id="2" name="Picture 2" descr="GRNYUNS Jack Vettriano Poster Dr Connolly, I Presume Painting Poster Canvas  Wall Art Posters For Room Aesthetic And Decor Pictures For Living Room ...">
            <a:extLst>
              <a:ext uri="{FF2B5EF4-FFF2-40B4-BE49-F238E27FC236}">
                <a16:creationId xmlns:a16="http://schemas.microsoft.com/office/drawing/2014/main" id="{204D026F-1FC1-8D0C-316C-3C3997B6BC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09416" y="1002549"/>
            <a:ext cx="5077746" cy="755574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6E2A745-6F53-8E31-A525-A0B07F76DFF0}"/>
              </a:ext>
            </a:extLst>
          </p:cNvPr>
          <p:cNvSpPr txBox="1"/>
          <p:nvPr/>
        </p:nvSpPr>
        <p:spPr>
          <a:xfrm>
            <a:off x="12880958" y="8592033"/>
            <a:ext cx="1334661" cy="318036"/>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20320" tIns="20320" rIns="20320" bIns="20320" numCol="1" spcCol="38100" rtlCol="0" anchor="ctr">
            <a:spAutoFit/>
          </a:bodyPr>
          <a:lstStyle/>
          <a:p>
            <a:pPr marL="0" marR="0" indent="0" algn="ctr" defTabSz="587022" rtl="0" fontAlgn="auto" latinLnBrk="0" hangingPunct="0">
              <a:lnSpc>
                <a:spcPct val="100000"/>
              </a:lnSpc>
              <a:spcBef>
                <a:spcPts val="0"/>
              </a:spcBef>
              <a:spcAft>
                <a:spcPts val="0"/>
              </a:spcAft>
              <a:buClrTx/>
              <a:buSzTx/>
              <a:buFontTx/>
              <a:buNone/>
              <a:tabLst/>
            </a:pPr>
            <a:r>
              <a:rPr kumimoji="0" lang="en-GB" sz="1800" b="1" i="0" u="none" strike="noStrike" cap="none" spc="0" normalizeH="0" baseline="0" dirty="0">
                <a:ln>
                  <a:noFill/>
                </a:ln>
                <a:solidFill>
                  <a:schemeClr val="tx2"/>
                </a:solidFill>
                <a:effectLst/>
                <a:uFillTx/>
                <a:latin typeface="Barlow" pitchFamily="2" charset="77"/>
                <a:sym typeface="Helvetica Neue"/>
                <a:hlinkClick r:id="rId3">
                  <a:extLst>
                    <a:ext uri="{A12FA001-AC4F-418D-AE19-62706E023703}">
                      <ahyp:hlinkClr xmlns:ahyp="http://schemas.microsoft.com/office/drawing/2018/hyperlinkcolor" val="tx"/>
                    </a:ext>
                  </a:extLst>
                </a:hlinkClick>
              </a:rPr>
              <a:t>Image credit</a:t>
            </a:r>
            <a:endParaRPr kumimoji="0" lang="en-GB" sz="1800" b="1" i="0" u="none" strike="noStrike" cap="none" spc="0" normalizeH="0" baseline="0" dirty="0">
              <a:ln>
                <a:noFill/>
              </a:ln>
              <a:solidFill>
                <a:schemeClr val="tx2"/>
              </a:solidFill>
              <a:effectLst/>
              <a:uFillTx/>
              <a:latin typeface="Barlow" pitchFamily="2" charset="77"/>
              <a:sym typeface="Helvetica Neue"/>
            </a:endParaRPr>
          </a:p>
        </p:txBody>
      </p:sp>
    </p:spTree>
    <p:extLst>
      <p:ext uri="{BB962C8B-B14F-4D97-AF65-F5344CB8AC3E}">
        <p14:creationId xmlns:p14="http://schemas.microsoft.com/office/powerpoint/2010/main" val="4205761403"/>
      </p:ext>
    </p:extLst>
  </p:cSld>
  <p:clrMapOvr>
    <a:masterClrMapping/>
  </p:clrMapOvr>
  <p:transition spd="med" advTm="222639"/>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7B64D-B0F2-CA87-B576-90FD3A703EC8}"/>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4381A97E-E5C8-E27B-8C9A-D362E13E1A17}"/>
              </a:ext>
            </a:extLst>
          </p:cNvPr>
          <p:cNvSpPr txBox="1"/>
          <p:nvPr/>
        </p:nvSpPr>
        <p:spPr>
          <a:xfrm>
            <a:off x="1028459" y="1002549"/>
            <a:ext cx="14870904"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400" dirty="0"/>
              <a:t>Digital exhaustion: example essay question</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85F3F35A-14BD-D76C-2EE1-2A7217F8A5E9}"/>
              </a:ext>
            </a:extLst>
          </p:cNvPr>
          <p:cNvSpPr txBox="1"/>
          <p:nvPr/>
        </p:nvSpPr>
        <p:spPr>
          <a:xfrm>
            <a:off x="1028459" y="1002549"/>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5" name="Rectangle 4">
            <a:extLst>
              <a:ext uri="{FF2B5EF4-FFF2-40B4-BE49-F238E27FC236}">
                <a16:creationId xmlns:a16="http://schemas.microsoft.com/office/drawing/2014/main" id="{C30546C3-2C4C-EC49-7FA1-AF6D520DC9D1}"/>
              </a:ext>
            </a:extLst>
          </p:cNvPr>
          <p:cNvSpPr/>
          <p:nvPr/>
        </p:nvSpPr>
        <p:spPr>
          <a:xfrm>
            <a:off x="1028459" y="2179242"/>
            <a:ext cx="14336727" cy="1586075"/>
          </a:xfrm>
          <a:prstGeom prst="rect">
            <a:avLst/>
          </a:prstGeom>
        </p:spPr>
        <p:txBody>
          <a:bodyPr wrap="square">
            <a:spAutoFit/>
          </a:bodyPr>
          <a:lstStyle/>
          <a:p>
            <a:pPr marL="457200" indent="-45720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2800" i="1" dirty="0">
                <a:solidFill>
                  <a:schemeClr val="tx2"/>
                </a:solidFill>
                <a:latin typeface="Barlow" pitchFamily="2" charset="77"/>
              </a:rPr>
              <a:t>Do the principles of exhaustion work in the digital environment? Should you be able to re-sell e.g., a digital copy of a song or photograph? Think about the policy implications: why are second hand digital works different from real property?</a:t>
            </a:r>
          </a:p>
        </p:txBody>
      </p:sp>
    </p:spTree>
    <p:extLst>
      <p:ext uri="{BB962C8B-B14F-4D97-AF65-F5344CB8AC3E}">
        <p14:creationId xmlns:p14="http://schemas.microsoft.com/office/powerpoint/2010/main" val="2755017726"/>
      </p:ext>
    </p:extLst>
  </p:cSld>
  <p:clrMapOvr>
    <a:masterClrMapping/>
  </p:clrMapOvr>
  <p:transition spd="med" advTm="222639"/>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F4C18-F20C-20E5-6AD7-5B305840A826}"/>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D42E4520-962E-950E-A1C4-D23678C1CC98}"/>
              </a:ext>
            </a:extLst>
          </p:cNvPr>
          <p:cNvSpPr txBox="1"/>
          <p:nvPr/>
        </p:nvSpPr>
        <p:spPr>
          <a:xfrm>
            <a:off x="1028458" y="1002549"/>
            <a:ext cx="14236423"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400" dirty="0"/>
              <a:t>Digital exhaustion: example essay question</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E7C6A7CC-CE2D-7834-E8A9-59CF1A49F75B}"/>
              </a:ext>
            </a:extLst>
          </p:cNvPr>
          <p:cNvSpPr txBox="1"/>
          <p:nvPr/>
        </p:nvSpPr>
        <p:spPr>
          <a:xfrm>
            <a:off x="1028459" y="1002549"/>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graphicFrame>
        <p:nvGraphicFramePr>
          <p:cNvPr id="2" name="Table 1">
            <a:extLst>
              <a:ext uri="{FF2B5EF4-FFF2-40B4-BE49-F238E27FC236}">
                <a16:creationId xmlns:a16="http://schemas.microsoft.com/office/drawing/2014/main" id="{9B074EBC-BF28-F51C-562B-55D925D3D7B7}"/>
              </a:ext>
            </a:extLst>
          </p:cNvPr>
          <p:cNvGraphicFramePr>
            <a:graphicFrameLocks noGrp="1"/>
          </p:cNvGraphicFramePr>
          <p:nvPr>
            <p:extLst>
              <p:ext uri="{D42A27DB-BD31-4B8C-83A1-F6EECF244321}">
                <p14:modId xmlns:p14="http://schemas.microsoft.com/office/powerpoint/2010/main" val="3002101444"/>
              </p:ext>
            </p:extLst>
          </p:nvPr>
        </p:nvGraphicFramePr>
        <p:xfrm>
          <a:off x="1028459" y="2323007"/>
          <a:ext cx="15015594" cy="5303520"/>
        </p:xfrm>
        <a:graphic>
          <a:graphicData uri="http://schemas.openxmlformats.org/drawingml/2006/table">
            <a:tbl>
              <a:tblPr firstRow="1" bandRow="1">
                <a:tableStyleId>{5940675A-B579-460E-94D1-54222C63F5DA}</a:tableStyleId>
              </a:tblPr>
              <a:tblGrid>
                <a:gridCol w="6972785">
                  <a:extLst>
                    <a:ext uri="{9D8B030D-6E8A-4147-A177-3AD203B41FA5}">
                      <a16:colId xmlns:a16="http://schemas.microsoft.com/office/drawing/2014/main" val="3830196973"/>
                    </a:ext>
                  </a:extLst>
                </a:gridCol>
                <a:gridCol w="8042809">
                  <a:extLst>
                    <a:ext uri="{9D8B030D-6E8A-4147-A177-3AD203B41FA5}">
                      <a16:colId xmlns:a16="http://schemas.microsoft.com/office/drawing/2014/main" val="1239987322"/>
                    </a:ext>
                  </a:extLst>
                </a:gridCol>
              </a:tblGrid>
              <a:tr h="370840">
                <a:tc>
                  <a:txBody>
                    <a:bodyPr/>
                    <a:lstStyle/>
                    <a:p>
                      <a:pPr algn="just"/>
                      <a:r>
                        <a:rPr lang="en-GB" sz="2800" b="1" dirty="0">
                          <a:solidFill>
                            <a:schemeClr val="bg1"/>
                          </a:solidFill>
                          <a:latin typeface="Barlow" pitchFamily="2" charset="77"/>
                        </a:rPr>
                        <a:t>EU (UK)</a:t>
                      </a:r>
                    </a:p>
                    <a:p>
                      <a:pPr algn="just"/>
                      <a:r>
                        <a:rPr lang="en-GB" sz="2800" dirty="0">
                          <a:solidFill>
                            <a:schemeClr val="bg1"/>
                          </a:solidFill>
                          <a:latin typeface="Barlow" pitchFamily="2" charset="77"/>
                        </a:rPr>
                        <a:t>Digital exhaustion sometimes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solidFill>
                  </a:tcPr>
                </a:tc>
                <a:tc>
                  <a:txBody>
                    <a:bodyPr/>
                    <a:lstStyle/>
                    <a:p>
                      <a:pPr algn="just"/>
                      <a:r>
                        <a:rPr lang="en-GB" sz="2800" b="1" dirty="0">
                          <a:solidFill>
                            <a:schemeClr val="bg1"/>
                          </a:solidFill>
                          <a:latin typeface="Barlow" pitchFamily="2" charset="77"/>
                        </a:rPr>
                        <a:t>US</a:t>
                      </a:r>
                    </a:p>
                    <a:p>
                      <a:pPr algn="just"/>
                      <a:r>
                        <a:rPr lang="en-GB" sz="2800" dirty="0">
                          <a:solidFill>
                            <a:schemeClr val="bg1"/>
                          </a:solidFill>
                          <a:latin typeface="Barlow" pitchFamily="2" charset="77"/>
                        </a:rPr>
                        <a:t>No digital exhaustion</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1736739432"/>
                  </a:ext>
                </a:extLst>
              </a:tr>
              <a:tr h="370840">
                <a:tc>
                  <a:txBody>
                    <a:bodyPr/>
                    <a:lstStyle/>
                    <a:p>
                      <a:pPr marL="457200" indent="-457200" algn="just">
                        <a:buFont typeface="Arial" panose="020B0604020202020204" pitchFamily="34" charset="0"/>
                        <a:buChar char="•"/>
                      </a:pPr>
                      <a:r>
                        <a:rPr lang="en-GB" sz="2800" i="1" dirty="0" err="1">
                          <a:solidFill>
                            <a:schemeClr val="tx2"/>
                          </a:solidFill>
                          <a:latin typeface="Barlow" pitchFamily="2" charset="77"/>
                        </a:rPr>
                        <a:t>UsedSoft</a:t>
                      </a:r>
                      <a:r>
                        <a:rPr lang="en-GB" sz="2800" dirty="0">
                          <a:solidFill>
                            <a:schemeClr val="tx2"/>
                          </a:solidFill>
                          <a:latin typeface="Barlow" pitchFamily="2" charset="77"/>
                        </a:rPr>
                        <a:t> </a:t>
                      </a:r>
                      <a:r>
                        <a:rPr lang="en-GB" sz="2800" i="1" dirty="0">
                          <a:solidFill>
                            <a:schemeClr val="tx2"/>
                          </a:solidFill>
                          <a:latin typeface="Barlow" pitchFamily="2" charset="77"/>
                        </a:rPr>
                        <a:t>GmbH v Oracle International Corp </a:t>
                      </a:r>
                    </a:p>
                    <a:p>
                      <a:pPr algn="just"/>
                      <a:r>
                        <a:rPr lang="en-GB" sz="2800" i="0" dirty="0">
                          <a:solidFill>
                            <a:schemeClr val="tx2"/>
                          </a:solidFill>
                          <a:latin typeface="Barlow" pitchFamily="2" charset="77"/>
                        </a:rPr>
                        <a:t>(second hand digital software – lex </a:t>
                      </a:r>
                      <a:r>
                        <a:rPr lang="en-GB" sz="2800" i="0" dirty="0" err="1">
                          <a:solidFill>
                            <a:schemeClr val="tx2"/>
                          </a:solidFill>
                          <a:latin typeface="Barlow" pitchFamily="2" charset="77"/>
                        </a:rPr>
                        <a:t>specialis</a:t>
                      </a:r>
                      <a:r>
                        <a:rPr lang="en-GB" sz="2800" i="0" dirty="0">
                          <a:solidFill>
                            <a:schemeClr val="tx2"/>
                          </a:solidFill>
                          <a:latin typeface="Barlow" pitchFamily="2" charset="77"/>
                        </a:rPr>
                        <a:t> Software Directive)</a:t>
                      </a:r>
                    </a:p>
                    <a:p>
                      <a:pPr algn="just"/>
                      <a:endParaRPr lang="en-GB" sz="2800" i="1" dirty="0">
                        <a:solidFill>
                          <a:schemeClr val="tx2"/>
                        </a:solidFill>
                        <a:latin typeface="Barlow" pitchFamily="2" charset="77"/>
                      </a:endParaRPr>
                    </a:p>
                    <a:p>
                      <a:pPr marL="457200" indent="-457200" algn="just">
                        <a:buFont typeface="Arial" panose="020B0604020202020204" pitchFamily="34" charset="0"/>
                        <a:buChar char="•"/>
                      </a:pPr>
                      <a:r>
                        <a:rPr lang="en-GB" sz="2800" i="1" dirty="0" err="1">
                          <a:solidFill>
                            <a:schemeClr val="tx2"/>
                          </a:solidFill>
                          <a:latin typeface="Barlow" pitchFamily="2" charset="77"/>
                        </a:rPr>
                        <a:t>Nederlands</a:t>
                      </a:r>
                      <a:r>
                        <a:rPr lang="en-GB" sz="2800" i="1" dirty="0">
                          <a:solidFill>
                            <a:schemeClr val="tx2"/>
                          </a:solidFill>
                          <a:latin typeface="Barlow" pitchFamily="2" charset="77"/>
                        </a:rPr>
                        <a:t> </a:t>
                      </a:r>
                      <a:r>
                        <a:rPr lang="en-GB" sz="2800" i="1" dirty="0" err="1">
                          <a:solidFill>
                            <a:schemeClr val="tx2"/>
                          </a:solidFill>
                          <a:latin typeface="Barlow" pitchFamily="2" charset="77"/>
                        </a:rPr>
                        <a:t>Uitgeversverbond</a:t>
                      </a:r>
                      <a:r>
                        <a:rPr lang="en-GB" sz="2800" i="1" dirty="0">
                          <a:solidFill>
                            <a:schemeClr val="tx2"/>
                          </a:solidFill>
                          <a:latin typeface="Barlow" pitchFamily="2" charset="77"/>
                        </a:rPr>
                        <a:t> and </a:t>
                      </a:r>
                      <a:r>
                        <a:rPr lang="en-GB" sz="2800" i="1" dirty="0" err="1">
                          <a:solidFill>
                            <a:schemeClr val="tx2"/>
                          </a:solidFill>
                          <a:latin typeface="Barlow" pitchFamily="2" charset="77"/>
                        </a:rPr>
                        <a:t>Groep</a:t>
                      </a:r>
                      <a:r>
                        <a:rPr lang="en-GB" sz="2800" i="1" dirty="0">
                          <a:solidFill>
                            <a:schemeClr val="tx2"/>
                          </a:solidFill>
                          <a:latin typeface="Barlow" pitchFamily="2" charset="77"/>
                        </a:rPr>
                        <a:t> </a:t>
                      </a:r>
                      <a:r>
                        <a:rPr lang="en-GB" sz="2800" i="1" dirty="0" err="1">
                          <a:solidFill>
                            <a:schemeClr val="tx2"/>
                          </a:solidFill>
                          <a:latin typeface="Barlow" pitchFamily="2" charset="77"/>
                        </a:rPr>
                        <a:t>Algemene</a:t>
                      </a:r>
                      <a:r>
                        <a:rPr lang="en-GB" sz="2800" i="1" dirty="0">
                          <a:solidFill>
                            <a:schemeClr val="tx2"/>
                          </a:solidFill>
                          <a:latin typeface="Barlow" pitchFamily="2" charset="77"/>
                        </a:rPr>
                        <a:t> </a:t>
                      </a:r>
                      <a:r>
                        <a:rPr lang="en-GB" sz="2800" i="1" dirty="0" err="1">
                          <a:solidFill>
                            <a:schemeClr val="tx2"/>
                          </a:solidFill>
                          <a:latin typeface="Barlow" pitchFamily="2" charset="77"/>
                        </a:rPr>
                        <a:t>Uitgevers</a:t>
                      </a:r>
                      <a:r>
                        <a:rPr lang="en-GB" sz="2800" i="1" dirty="0">
                          <a:solidFill>
                            <a:schemeClr val="tx2"/>
                          </a:solidFill>
                          <a:latin typeface="Barlow" pitchFamily="2" charset="77"/>
                        </a:rPr>
                        <a:t> v Tom </a:t>
                      </a:r>
                      <a:r>
                        <a:rPr lang="en-GB" sz="2800" i="1" dirty="0" err="1">
                          <a:solidFill>
                            <a:schemeClr val="tx2"/>
                          </a:solidFill>
                          <a:latin typeface="Barlow" pitchFamily="2" charset="77"/>
                        </a:rPr>
                        <a:t>Kabinet</a:t>
                      </a:r>
                      <a:r>
                        <a:rPr lang="en-GB" sz="2800" i="1" dirty="0">
                          <a:solidFill>
                            <a:schemeClr val="tx2"/>
                          </a:solidFill>
                          <a:latin typeface="Barlow" pitchFamily="2" charset="77"/>
                        </a:rPr>
                        <a:t> Internet BV</a:t>
                      </a:r>
                    </a:p>
                    <a:p>
                      <a:pPr algn="just"/>
                      <a:r>
                        <a:rPr lang="en-GB" sz="2800" i="0" dirty="0">
                          <a:solidFill>
                            <a:schemeClr val="tx2"/>
                          </a:solidFill>
                          <a:latin typeface="Barlow" pitchFamily="2" charset="77"/>
                        </a:rPr>
                        <a:t>(second hand digital audio-visual works – </a:t>
                      </a:r>
                      <a:r>
                        <a:rPr lang="en-GB" sz="2800" i="0" dirty="0" err="1">
                          <a:solidFill>
                            <a:schemeClr val="tx2"/>
                          </a:solidFill>
                          <a:latin typeface="Barlow" pitchFamily="2" charset="77"/>
                        </a:rPr>
                        <a:t>InfoSoc</a:t>
                      </a:r>
                      <a:r>
                        <a:rPr lang="en-GB" sz="2800" i="0" dirty="0">
                          <a:solidFill>
                            <a:schemeClr val="tx2"/>
                          </a:solidFill>
                          <a:latin typeface="Barlow" pitchFamily="2" charset="77"/>
                        </a:rPr>
                        <a:t> Directive)</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457200" indent="-457200" algn="just">
                        <a:buFont typeface="Arial" panose="020B0604020202020204" pitchFamily="34" charset="0"/>
                        <a:buChar char="•"/>
                      </a:pPr>
                      <a:r>
                        <a:rPr lang="en-GB" sz="2800" i="1" dirty="0">
                          <a:solidFill>
                            <a:schemeClr val="tx2"/>
                          </a:solidFill>
                          <a:latin typeface="Barlow" pitchFamily="2" charset="77"/>
                        </a:rPr>
                        <a:t>Capitol Records, LLC v. </a:t>
                      </a:r>
                      <a:r>
                        <a:rPr lang="en-GB" sz="2800" i="1" dirty="0" err="1">
                          <a:solidFill>
                            <a:schemeClr val="tx2"/>
                          </a:solidFill>
                          <a:latin typeface="Barlow" pitchFamily="2" charset="77"/>
                        </a:rPr>
                        <a:t>ReDigi</a:t>
                      </a:r>
                      <a:r>
                        <a:rPr lang="en-GB" sz="2800" i="1" dirty="0">
                          <a:solidFill>
                            <a:schemeClr val="tx2"/>
                          </a:solidFill>
                          <a:latin typeface="Barlow" pitchFamily="2" charset="77"/>
                        </a:rPr>
                        <a:t> Inc</a:t>
                      </a:r>
                    </a:p>
                    <a:p>
                      <a:pPr marL="0" indent="0" algn="just">
                        <a:buFont typeface="Arial" panose="020B0604020202020204" pitchFamily="34" charset="0"/>
                        <a:buNone/>
                      </a:pPr>
                      <a:r>
                        <a:rPr lang="en-GB" sz="2800" i="0" dirty="0">
                          <a:solidFill>
                            <a:schemeClr val="tx2"/>
                          </a:solidFill>
                          <a:latin typeface="Barlow" pitchFamily="2" charset="77"/>
                        </a:rPr>
                        <a:t>‘the fact that a file has move from one material object [the user’s computer] to another [the </a:t>
                      </a:r>
                      <a:r>
                        <a:rPr lang="en-GB" sz="2800" i="0" dirty="0" err="1">
                          <a:solidFill>
                            <a:schemeClr val="tx2"/>
                          </a:solidFill>
                          <a:latin typeface="Barlow" pitchFamily="2" charset="77"/>
                        </a:rPr>
                        <a:t>ReDigi</a:t>
                      </a:r>
                      <a:r>
                        <a:rPr lang="en-GB" sz="2800" i="0" dirty="0">
                          <a:solidFill>
                            <a:schemeClr val="tx2"/>
                          </a:solidFill>
                          <a:latin typeface="Barlow" pitchFamily="2" charset="77"/>
                        </a:rPr>
                        <a:t> server] means a </a:t>
                      </a:r>
                      <a:r>
                        <a:rPr lang="en-GB" sz="2800" i="0" u="sng" dirty="0">
                          <a:solidFill>
                            <a:schemeClr val="tx2"/>
                          </a:solidFill>
                          <a:latin typeface="Barlow" pitchFamily="2" charset="77"/>
                        </a:rPr>
                        <a:t>reproduction</a:t>
                      </a:r>
                      <a:r>
                        <a:rPr lang="en-GB" sz="2800" i="0" dirty="0">
                          <a:solidFill>
                            <a:schemeClr val="tx2"/>
                          </a:solidFill>
                          <a:latin typeface="Barlow" pitchFamily="2" charset="77"/>
                        </a:rPr>
                        <a:t> has occurred’</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6703967"/>
                  </a:ext>
                </a:extLst>
              </a:tr>
            </a:tbl>
          </a:graphicData>
        </a:graphic>
      </p:graphicFrame>
    </p:spTree>
    <p:extLst>
      <p:ext uri="{BB962C8B-B14F-4D97-AF65-F5344CB8AC3E}">
        <p14:creationId xmlns:p14="http://schemas.microsoft.com/office/powerpoint/2010/main" val="2923110080"/>
      </p:ext>
    </p:extLst>
  </p:cSld>
  <p:clrMapOvr>
    <a:masterClrMapping/>
  </p:clrMapOvr>
  <p:transition spd="med" advTm="222639"/>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F4030-B253-BD81-63E8-236D00424BC4}"/>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B7ABC95E-CAC8-CB2F-EB22-67EE6D8B54A7}"/>
              </a:ext>
            </a:extLst>
          </p:cNvPr>
          <p:cNvSpPr txBox="1"/>
          <p:nvPr/>
        </p:nvSpPr>
        <p:spPr>
          <a:xfrm>
            <a:off x="1028459" y="1002549"/>
            <a:ext cx="9641622"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400" dirty="0"/>
              <a:t>Communication to the public</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090CFEAD-46E4-C7B5-A69D-5F86C0F0C84C}"/>
              </a:ext>
            </a:extLst>
          </p:cNvPr>
          <p:cNvSpPr txBox="1"/>
          <p:nvPr/>
        </p:nvSpPr>
        <p:spPr>
          <a:xfrm>
            <a:off x="1028459" y="1002549"/>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5" name="Rectangle 4">
            <a:extLst>
              <a:ext uri="{FF2B5EF4-FFF2-40B4-BE49-F238E27FC236}">
                <a16:creationId xmlns:a16="http://schemas.microsoft.com/office/drawing/2014/main" id="{98E3FF45-47A3-A4DC-EB81-3753626FCD21}"/>
              </a:ext>
            </a:extLst>
          </p:cNvPr>
          <p:cNvSpPr/>
          <p:nvPr/>
        </p:nvSpPr>
        <p:spPr>
          <a:xfrm>
            <a:off x="1028459" y="2179242"/>
            <a:ext cx="14336727" cy="3654334"/>
          </a:xfrm>
          <a:prstGeom prst="rect">
            <a:avLst/>
          </a:prstGeom>
        </p:spPr>
        <p:txBody>
          <a:bodyPr wrap="square">
            <a:spAutoFit/>
          </a:bodyPr>
          <a:lstStyle/>
          <a:p>
            <a:pPr marL="285750" indent="-285750" algn="l"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S16(1)(d)  ‘to communicate the work to the public’</a:t>
            </a:r>
          </a:p>
          <a:p>
            <a:pPr marL="285750" indent="-285750" algn="l"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e.g., streaming, hyperlinking…?</a:t>
            </a:r>
          </a:p>
          <a:p>
            <a:pPr marL="285750" indent="-285750" algn="l"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+20 CJEU judgements since 2006! See e.g., </a:t>
            </a:r>
            <a:r>
              <a:rPr lang="en-GB" sz="2800" i="1" dirty="0">
                <a:solidFill>
                  <a:schemeClr val="tx2"/>
                </a:solidFill>
                <a:latin typeface="Barlow" pitchFamily="2" charset="77"/>
              </a:rPr>
              <a:t>SGAE </a:t>
            </a:r>
            <a:r>
              <a:rPr lang="en-GB" sz="2800" dirty="0">
                <a:solidFill>
                  <a:schemeClr val="tx2"/>
                </a:solidFill>
                <a:latin typeface="Barlow" pitchFamily="2" charset="77"/>
              </a:rPr>
              <a:t>(C-306/05),</a:t>
            </a:r>
            <a:r>
              <a:rPr lang="en-GB" sz="2800" i="1" dirty="0">
                <a:solidFill>
                  <a:schemeClr val="tx2"/>
                </a:solidFill>
                <a:latin typeface="Barlow" pitchFamily="2" charset="77"/>
              </a:rPr>
              <a:t> Svensson </a:t>
            </a:r>
            <a:r>
              <a:rPr lang="en-GB" sz="2800" dirty="0">
                <a:solidFill>
                  <a:schemeClr val="tx2"/>
                </a:solidFill>
                <a:latin typeface="Barlow" pitchFamily="2" charset="77"/>
              </a:rPr>
              <a:t>(C-466/12), </a:t>
            </a:r>
            <a:r>
              <a:rPr lang="en-GB" sz="2800" i="1" dirty="0" err="1">
                <a:solidFill>
                  <a:schemeClr val="tx2"/>
                </a:solidFill>
                <a:latin typeface="Barlow" pitchFamily="2" charset="77"/>
              </a:rPr>
              <a:t>Bestwater</a:t>
            </a:r>
            <a:r>
              <a:rPr lang="en-GB" sz="2800" i="1" dirty="0">
                <a:solidFill>
                  <a:schemeClr val="tx2"/>
                </a:solidFill>
                <a:latin typeface="Barlow" pitchFamily="2" charset="77"/>
              </a:rPr>
              <a:t> </a:t>
            </a:r>
            <a:r>
              <a:rPr lang="en-GB" sz="2800" dirty="0">
                <a:solidFill>
                  <a:schemeClr val="tx2"/>
                </a:solidFill>
                <a:latin typeface="Barlow" pitchFamily="2" charset="77"/>
              </a:rPr>
              <a:t>(C-348/13), </a:t>
            </a:r>
            <a:r>
              <a:rPr lang="en-GB" sz="2800" i="1" dirty="0">
                <a:solidFill>
                  <a:schemeClr val="tx2"/>
                </a:solidFill>
                <a:latin typeface="Barlow" pitchFamily="2" charset="77"/>
              </a:rPr>
              <a:t>GS Media </a:t>
            </a:r>
            <a:r>
              <a:rPr lang="en-GB" sz="2800" dirty="0">
                <a:solidFill>
                  <a:schemeClr val="tx2"/>
                </a:solidFill>
                <a:latin typeface="Barlow" pitchFamily="2" charset="77"/>
              </a:rPr>
              <a:t>(C-160/15) </a:t>
            </a:r>
          </a:p>
          <a:p>
            <a:pPr marL="285750" indent="-285750" algn="l"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lang="en-GB" sz="2800" dirty="0">
              <a:solidFill>
                <a:schemeClr val="tx2"/>
              </a:solidFill>
              <a:latin typeface="Barlow" pitchFamily="2" charset="77"/>
            </a:endParaRPr>
          </a:p>
          <a:p>
            <a:pPr marL="285750" indent="-285750" algn="l"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Note: you are not expected to engage with this right in-depth for the purposes of this course (covered in: Digital Media Creators, Contemporary Issues in Intellectual Property)</a:t>
            </a:r>
          </a:p>
        </p:txBody>
      </p:sp>
    </p:spTree>
    <p:extLst>
      <p:ext uri="{BB962C8B-B14F-4D97-AF65-F5344CB8AC3E}">
        <p14:creationId xmlns:p14="http://schemas.microsoft.com/office/powerpoint/2010/main" val="1047181685"/>
      </p:ext>
    </p:extLst>
  </p:cSld>
  <p:clrMapOvr>
    <a:masterClrMapping/>
  </p:clrMapOvr>
  <p:transition spd="med" advTm="222639"/>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64ED99-1858-24B8-D196-2022DF9F4C7C}"/>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EA9CE234-24F2-46F7-B3B3-CC4A93A641B5}"/>
              </a:ext>
            </a:extLst>
          </p:cNvPr>
          <p:cNvSpPr txBox="1"/>
          <p:nvPr/>
        </p:nvSpPr>
        <p:spPr>
          <a:xfrm>
            <a:off x="1028459" y="1002549"/>
            <a:ext cx="9641622"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400" dirty="0"/>
              <a:t>Adaptation</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A9D5F892-E05E-045C-F7B7-58C73A03EBDE}"/>
              </a:ext>
            </a:extLst>
          </p:cNvPr>
          <p:cNvSpPr txBox="1"/>
          <p:nvPr/>
        </p:nvSpPr>
        <p:spPr>
          <a:xfrm>
            <a:off x="1028459" y="1002549"/>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5" name="Rectangle 4">
            <a:extLst>
              <a:ext uri="{FF2B5EF4-FFF2-40B4-BE49-F238E27FC236}">
                <a16:creationId xmlns:a16="http://schemas.microsoft.com/office/drawing/2014/main" id="{1EF09873-8D2F-8E04-4FEA-91CB69208762}"/>
              </a:ext>
            </a:extLst>
          </p:cNvPr>
          <p:cNvSpPr/>
          <p:nvPr/>
        </p:nvSpPr>
        <p:spPr>
          <a:xfrm>
            <a:off x="1028460" y="2179242"/>
            <a:ext cx="7641672" cy="6756721"/>
          </a:xfrm>
          <a:prstGeom prst="rect">
            <a:avLst/>
          </a:prstGeom>
        </p:spPr>
        <p:txBody>
          <a:bodyPr wrap="square">
            <a:spAutoFit/>
          </a:bodyPr>
          <a:lstStyle/>
          <a:p>
            <a:pPr marL="285750" indent="-285750" algn="l"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S16(1) (e) ‘to make an adaptation of the work or do any of the above in relation to an adaptation’ (change in form)</a:t>
            </a:r>
          </a:p>
          <a:p>
            <a:pPr marL="285750" indent="-285750" algn="l"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Relation to derivative works (incorporates original work from re-creator), new works, and infringement</a:t>
            </a:r>
          </a:p>
          <a:p>
            <a:pPr marL="285750" indent="-285750" algn="l"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Note: difference between UK (reserved right) vs US (a ‘fair use’ sometimes)</a:t>
            </a:r>
          </a:p>
          <a:p>
            <a:pPr marL="285750" indent="-285750" algn="l"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lang="en-GB" sz="2800" dirty="0">
              <a:solidFill>
                <a:schemeClr val="tx2"/>
              </a:solidFill>
              <a:latin typeface="Barlow" pitchFamily="2" charset="77"/>
            </a:endParaRPr>
          </a:p>
          <a:p>
            <a:pPr marL="285750" indent="-285750" algn="l"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2800" i="1" dirty="0">
                <a:solidFill>
                  <a:schemeClr val="tx2"/>
                </a:solidFill>
                <a:latin typeface="Barlow" pitchFamily="2" charset="77"/>
              </a:rPr>
              <a:t>Is changing the gender of a fictional character (e.g., from man -&gt; woman, colloquially known as ‘gender bending’) in a fan work an ‘adaptation’ or ‘derivative work'?</a:t>
            </a:r>
          </a:p>
        </p:txBody>
      </p:sp>
      <p:pic>
        <p:nvPicPr>
          <p:cNvPr id="3" name="Picture 2" descr="Genderbent Trio | Rule 63 | Fem harry potter, Harry potter, Harry potter  love">
            <a:extLst>
              <a:ext uri="{FF2B5EF4-FFF2-40B4-BE49-F238E27FC236}">
                <a16:creationId xmlns:a16="http://schemas.microsoft.com/office/drawing/2014/main" id="{039F1163-CE29-CF9D-37A3-81ECB0B502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70131" y="1832308"/>
            <a:ext cx="8159257" cy="602345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0337F23-F66F-817F-222E-128A5F78C399}"/>
              </a:ext>
            </a:extLst>
          </p:cNvPr>
          <p:cNvSpPr txBox="1"/>
          <p:nvPr/>
        </p:nvSpPr>
        <p:spPr>
          <a:xfrm>
            <a:off x="12026324" y="8074362"/>
            <a:ext cx="1446870" cy="318036"/>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20320" tIns="20320" rIns="20320" bIns="20320" numCol="1" spcCol="38100" rtlCol="0" anchor="ctr">
            <a:spAutoFit/>
          </a:bodyPr>
          <a:lstStyle/>
          <a:p>
            <a:pPr marL="0" marR="0" indent="0" algn="ctr" defTabSz="587022" rtl="0" fontAlgn="auto" latinLnBrk="0" hangingPunct="0">
              <a:lnSpc>
                <a:spcPct val="100000"/>
              </a:lnSpc>
              <a:spcBef>
                <a:spcPts val="0"/>
              </a:spcBef>
              <a:spcAft>
                <a:spcPts val="0"/>
              </a:spcAft>
              <a:buClrTx/>
              <a:buSzTx/>
              <a:buFontTx/>
              <a:buNone/>
              <a:tabLst/>
            </a:pPr>
            <a:r>
              <a:rPr kumimoji="0" lang="en-GB" sz="1800" b="1" i="0" u="none" strike="noStrike" cap="none" spc="0" normalizeH="0" baseline="0" dirty="0">
                <a:ln>
                  <a:noFill/>
                </a:ln>
                <a:solidFill>
                  <a:schemeClr val="tx2"/>
                </a:solidFill>
                <a:effectLst/>
                <a:uFillTx/>
                <a:latin typeface="Barlow" pitchFamily="2" charset="77"/>
                <a:sym typeface="Helvetica Neue"/>
                <a:hlinkClick r:id="rId3">
                  <a:extLst>
                    <a:ext uri="{A12FA001-AC4F-418D-AE19-62706E023703}">
                      <ahyp:hlinkClr xmlns:ahyp="http://schemas.microsoft.com/office/drawing/2018/hyperlinkcolor" val="tx"/>
                    </a:ext>
                  </a:extLst>
                </a:hlinkClick>
              </a:rPr>
              <a:t>Image Source</a:t>
            </a:r>
            <a:endParaRPr kumimoji="0" lang="en-GB" sz="1800" b="1" i="0" u="none" strike="noStrike" cap="none" spc="0" normalizeH="0" baseline="0" dirty="0">
              <a:ln>
                <a:noFill/>
              </a:ln>
              <a:solidFill>
                <a:schemeClr val="tx2"/>
              </a:solidFill>
              <a:effectLst/>
              <a:uFillTx/>
              <a:latin typeface="Barlow" pitchFamily="2" charset="77"/>
              <a:sym typeface="Helvetica Neue"/>
            </a:endParaRPr>
          </a:p>
        </p:txBody>
      </p:sp>
    </p:spTree>
    <p:extLst>
      <p:ext uri="{BB962C8B-B14F-4D97-AF65-F5344CB8AC3E}">
        <p14:creationId xmlns:p14="http://schemas.microsoft.com/office/powerpoint/2010/main" val="1784842279"/>
      </p:ext>
    </p:extLst>
  </p:cSld>
  <p:clrMapOvr>
    <a:masterClrMapping/>
  </p:clrMapOvr>
  <p:transition spd="med" advTm="222639"/>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96D84-0A00-3E16-5637-3D925F5B0411}"/>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0A7BCC14-1BFA-66E0-40BF-004DE1C0C66E}"/>
              </a:ext>
            </a:extLst>
          </p:cNvPr>
          <p:cNvSpPr txBox="1"/>
          <p:nvPr/>
        </p:nvSpPr>
        <p:spPr>
          <a:xfrm>
            <a:off x="1028459" y="1002549"/>
            <a:ext cx="9641622"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400" dirty="0"/>
              <a:t>Moral rights</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E456FC62-D47A-16F5-E00D-373501AA1EB2}"/>
              </a:ext>
            </a:extLst>
          </p:cNvPr>
          <p:cNvSpPr txBox="1"/>
          <p:nvPr/>
        </p:nvSpPr>
        <p:spPr>
          <a:xfrm>
            <a:off x="1028459" y="1002549"/>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5" name="Rectangle 4">
            <a:extLst>
              <a:ext uri="{FF2B5EF4-FFF2-40B4-BE49-F238E27FC236}">
                <a16:creationId xmlns:a16="http://schemas.microsoft.com/office/drawing/2014/main" id="{53E859D6-AE3E-43D7-57D9-49B59386BE32}"/>
              </a:ext>
            </a:extLst>
          </p:cNvPr>
          <p:cNvSpPr/>
          <p:nvPr/>
        </p:nvSpPr>
        <p:spPr>
          <a:xfrm>
            <a:off x="1028459" y="2179242"/>
            <a:ext cx="15283345" cy="2419124"/>
          </a:xfrm>
          <a:prstGeom prst="rect">
            <a:avLst/>
          </a:prstGeom>
        </p:spPr>
        <p:txBody>
          <a:bodyPr wrap="square">
            <a:spAutoFit/>
          </a:bodyPr>
          <a:lstStyle/>
          <a:p>
            <a:pPr marL="285750" indent="-28575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US" sz="2800" b="0" dirty="0">
                <a:solidFill>
                  <a:schemeClr val="tx2"/>
                </a:solidFill>
                <a:latin typeface="Barlow" pitchFamily="2" charset="77"/>
              </a:rPr>
              <a:t>Included in the Berne Convention (and Chapter IV CDPA, </a:t>
            </a:r>
            <a:r>
              <a:rPr lang="en-GB" sz="2800" dirty="0">
                <a:solidFill>
                  <a:schemeClr val="tx2"/>
                </a:solidFill>
                <a:latin typeface="Barlow" pitchFamily="2" charset="77"/>
              </a:rPr>
              <a:t>s77 – 89</a:t>
            </a:r>
            <a:r>
              <a:rPr lang="en-US" sz="2800" b="0" dirty="0">
                <a:solidFill>
                  <a:schemeClr val="tx2"/>
                </a:solidFill>
                <a:latin typeface="Barlow" pitchFamily="2" charset="77"/>
              </a:rPr>
              <a:t>)</a:t>
            </a:r>
          </a:p>
          <a:p>
            <a:pPr marL="285750" indent="-28575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lang="en-GB" sz="2800" dirty="0">
              <a:solidFill>
                <a:schemeClr val="tx2"/>
              </a:solidFill>
              <a:latin typeface="Barlow" pitchFamily="2" charset="77"/>
            </a:endParaRPr>
          </a:p>
          <a:p>
            <a:pPr marL="285750" indent="-285750" algn="just">
              <a:buFont typeface="Arial" panose="020B0604020202020204" pitchFamily="34" charset="0"/>
              <a:buChar char="•"/>
            </a:pPr>
            <a:r>
              <a:rPr lang="en-US" sz="2800" b="0" dirty="0">
                <a:solidFill>
                  <a:schemeClr val="tx2"/>
                </a:solidFill>
                <a:latin typeface="Barlow" pitchFamily="2" charset="77"/>
              </a:rPr>
              <a:t>Concerned with the </a:t>
            </a:r>
            <a:r>
              <a:rPr lang="en-US" sz="2800" dirty="0">
                <a:solidFill>
                  <a:schemeClr val="tx2"/>
                </a:solidFill>
                <a:latin typeface="Barlow" pitchFamily="2" charset="77"/>
              </a:rPr>
              <a:t>personal connection </a:t>
            </a:r>
            <a:r>
              <a:rPr lang="en-US" sz="2800" b="0" dirty="0">
                <a:solidFill>
                  <a:schemeClr val="tx2"/>
                </a:solidFill>
                <a:latin typeface="Barlow" pitchFamily="2" charset="77"/>
              </a:rPr>
              <a:t>an author has with their work</a:t>
            </a:r>
          </a:p>
          <a:p>
            <a:pPr marL="285750" indent="-285750" algn="just">
              <a:buFont typeface="Arial" panose="020B0604020202020204" pitchFamily="34" charset="0"/>
              <a:buChar char="•"/>
            </a:pPr>
            <a:r>
              <a:rPr lang="en-US" sz="2800" b="0" dirty="0">
                <a:solidFill>
                  <a:schemeClr val="tx2"/>
                </a:solidFill>
                <a:latin typeface="Barlow" pitchFamily="2" charset="77"/>
              </a:rPr>
              <a:t>Tend to be </a:t>
            </a:r>
            <a:r>
              <a:rPr lang="en-US" sz="2800" dirty="0">
                <a:solidFill>
                  <a:schemeClr val="tx2"/>
                </a:solidFill>
                <a:latin typeface="Barlow" pitchFamily="2" charset="77"/>
              </a:rPr>
              <a:t>stronger in civil law jurisdictions </a:t>
            </a:r>
            <a:r>
              <a:rPr lang="en-US" sz="2800" b="0" dirty="0">
                <a:solidFill>
                  <a:schemeClr val="tx2"/>
                </a:solidFill>
                <a:latin typeface="Barlow" pitchFamily="2" charset="77"/>
              </a:rPr>
              <a:t>rather than common law jurisdictions</a:t>
            </a:r>
          </a:p>
          <a:p>
            <a:pPr marL="285750" indent="-285750" algn="just">
              <a:buFont typeface="Arial" panose="020B0604020202020204" pitchFamily="34" charset="0"/>
              <a:buChar char="•"/>
            </a:pPr>
            <a:r>
              <a:rPr lang="en-US" sz="2800" b="0" dirty="0">
                <a:solidFill>
                  <a:schemeClr val="tx2"/>
                </a:solidFill>
                <a:latin typeface="Barlow" pitchFamily="2" charset="77"/>
              </a:rPr>
              <a:t>In the UK, moral rights can’t be licensed or assigned, but can be </a:t>
            </a:r>
            <a:r>
              <a:rPr lang="en-US" sz="2800" dirty="0">
                <a:solidFill>
                  <a:schemeClr val="tx2"/>
                </a:solidFill>
                <a:latin typeface="Barlow" pitchFamily="2" charset="77"/>
              </a:rPr>
              <a:t>waived </a:t>
            </a:r>
            <a:r>
              <a:rPr lang="en-US" sz="2800" b="0" dirty="0">
                <a:solidFill>
                  <a:schemeClr val="tx2"/>
                </a:solidFill>
                <a:latin typeface="Barlow" pitchFamily="2" charset="77"/>
              </a:rPr>
              <a:t>(forfeited) in the UK</a:t>
            </a:r>
          </a:p>
        </p:txBody>
      </p:sp>
    </p:spTree>
    <p:extLst>
      <p:ext uri="{BB962C8B-B14F-4D97-AF65-F5344CB8AC3E}">
        <p14:creationId xmlns:p14="http://schemas.microsoft.com/office/powerpoint/2010/main" val="2588590209"/>
      </p:ext>
    </p:extLst>
  </p:cSld>
  <p:clrMapOvr>
    <a:masterClrMapping/>
  </p:clrMapOvr>
  <p:transition spd="med" advTm="222639"/>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66FAE-A5DF-231A-F34E-BE72669F806B}"/>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A4C04889-30A9-2BEB-F6BC-C941FDAE2CE5}"/>
              </a:ext>
            </a:extLst>
          </p:cNvPr>
          <p:cNvSpPr txBox="1"/>
          <p:nvPr/>
        </p:nvSpPr>
        <p:spPr>
          <a:xfrm>
            <a:off x="1028459" y="1002549"/>
            <a:ext cx="9641622"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400" dirty="0"/>
              <a:t>Paternity (attribution)</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4404C7A8-BD9E-5B9A-F846-213A49984AF4}"/>
              </a:ext>
            </a:extLst>
          </p:cNvPr>
          <p:cNvSpPr txBox="1"/>
          <p:nvPr/>
        </p:nvSpPr>
        <p:spPr>
          <a:xfrm>
            <a:off x="1028459" y="1002549"/>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5" name="Rectangle 4">
            <a:extLst>
              <a:ext uri="{FF2B5EF4-FFF2-40B4-BE49-F238E27FC236}">
                <a16:creationId xmlns:a16="http://schemas.microsoft.com/office/drawing/2014/main" id="{25CDFD04-263F-9984-C2F1-CCF6590FAEAC}"/>
              </a:ext>
            </a:extLst>
          </p:cNvPr>
          <p:cNvSpPr/>
          <p:nvPr/>
        </p:nvSpPr>
        <p:spPr>
          <a:xfrm>
            <a:off x="1028459" y="2179242"/>
            <a:ext cx="15449402" cy="4056495"/>
          </a:xfrm>
          <a:prstGeom prst="rect">
            <a:avLst/>
          </a:prstGeom>
        </p:spPr>
        <p:txBody>
          <a:bodyPr wrap="square">
            <a:spAutoFit/>
          </a:bodyPr>
          <a:lstStyle/>
          <a:p>
            <a:pPr marL="285750" indent="-285750" algn="just" defTabSz="457200">
              <a:lnSpc>
                <a:spcPct val="12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CDPA s77</a:t>
            </a:r>
          </a:p>
          <a:p>
            <a:pPr marL="342900" indent="-342900" algn="just">
              <a:buFont typeface="Arial" panose="020B0604020202020204" pitchFamily="34" charset="0"/>
              <a:buChar char="•"/>
            </a:pPr>
            <a:r>
              <a:rPr lang="en-US" sz="2800" b="0" dirty="0">
                <a:solidFill>
                  <a:schemeClr val="tx2"/>
                </a:solidFill>
                <a:latin typeface="Barlow" pitchFamily="2" charset="77"/>
              </a:rPr>
              <a:t>Right to be </a:t>
            </a:r>
            <a:r>
              <a:rPr lang="en-US" sz="2800" dirty="0">
                <a:solidFill>
                  <a:schemeClr val="tx2"/>
                </a:solidFill>
                <a:latin typeface="Barlow" pitchFamily="2" charset="77"/>
              </a:rPr>
              <a:t>named and acknowledged</a:t>
            </a:r>
            <a:r>
              <a:rPr lang="en-US" sz="2800" b="0" dirty="0">
                <a:solidFill>
                  <a:schemeClr val="tx2"/>
                </a:solidFill>
                <a:latin typeface="Barlow" pitchFamily="2" charset="77"/>
              </a:rPr>
              <a:t> as the author</a:t>
            </a:r>
          </a:p>
          <a:p>
            <a:pPr marL="342900" indent="-342900" algn="just">
              <a:buFont typeface="Arial" panose="020B0604020202020204" pitchFamily="34" charset="0"/>
              <a:buChar char="•"/>
            </a:pPr>
            <a:r>
              <a:rPr lang="en-US" sz="2800" b="0" dirty="0">
                <a:solidFill>
                  <a:schemeClr val="tx2"/>
                </a:solidFill>
                <a:latin typeface="Barlow" pitchFamily="2" charset="77"/>
              </a:rPr>
              <a:t>You can also object </a:t>
            </a:r>
            <a:r>
              <a:rPr lang="en-US" sz="2800" dirty="0">
                <a:solidFill>
                  <a:schemeClr val="tx2"/>
                </a:solidFill>
                <a:latin typeface="Barlow" pitchFamily="2" charset="77"/>
              </a:rPr>
              <a:t>to false attribution </a:t>
            </a:r>
            <a:r>
              <a:rPr lang="en-US" sz="2800" b="0" dirty="0">
                <a:solidFill>
                  <a:schemeClr val="tx2"/>
                </a:solidFill>
                <a:latin typeface="Barlow" pitchFamily="2" charset="77"/>
              </a:rPr>
              <a:t>(see also: WIPO Internet Treaties, </a:t>
            </a:r>
            <a:r>
              <a:rPr lang="en-US" sz="2800" b="0" dirty="0" err="1">
                <a:solidFill>
                  <a:schemeClr val="tx2"/>
                </a:solidFill>
                <a:latin typeface="Barlow" pitchFamily="2" charset="77"/>
              </a:rPr>
              <a:t>InfoSoc</a:t>
            </a:r>
            <a:r>
              <a:rPr lang="en-US" sz="2800" b="0" dirty="0">
                <a:solidFill>
                  <a:schemeClr val="tx2"/>
                </a:solidFill>
                <a:latin typeface="Barlow" pitchFamily="2" charset="77"/>
              </a:rPr>
              <a:t> Directive)</a:t>
            </a:r>
          </a:p>
          <a:p>
            <a:pPr marL="342900" indent="-342900" algn="just">
              <a:buFont typeface="Arial" panose="020B0604020202020204" pitchFamily="34" charset="0"/>
              <a:buChar char="•"/>
            </a:pPr>
            <a:r>
              <a:rPr lang="en-US" sz="2800" b="0" dirty="0">
                <a:solidFill>
                  <a:schemeClr val="tx2"/>
                </a:solidFill>
                <a:latin typeface="Barlow" pitchFamily="2" charset="77"/>
              </a:rPr>
              <a:t>Some online communities prefer </a:t>
            </a:r>
            <a:r>
              <a:rPr lang="en-US" sz="2800" dirty="0">
                <a:solidFill>
                  <a:schemeClr val="tx2"/>
                </a:solidFill>
                <a:latin typeface="Barlow" pitchFamily="2" charset="77"/>
              </a:rPr>
              <a:t>anonymity and pseudonymity</a:t>
            </a:r>
            <a:r>
              <a:rPr lang="en-US" sz="2800" b="0" dirty="0">
                <a:solidFill>
                  <a:schemeClr val="tx2"/>
                </a:solidFill>
                <a:latin typeface="Barlow" pitchFamily="2" charset="77"/>
              </a:rPr>
              <a:t> (see </a:t>
            </a:r>
            <a:r>
              <a:rPr lang="en-GB" sz="2800" b="0" dirty="0">
                <a:solidFill>
                  <a:schemeClr val="tx2"/>
                </a:solidFill>
                <a:latin typeface="Barlow" pitchFamily="2" charset="77"/>
              </a:rPr>
              <a:t>Fiesler (2018) </a:t>
            </a:r>
            <a:r>
              <a:rPr lang="en-GB" sz="2800" b="0" i="1" dirty="0">
                <a:solidFill>
                  <a:schemeClr val="tx2"/>
                </a:solidFill>
                <a:latin typeface="Barlow" pitchFamily="2" charset="77"/>
              </a:rPr>
              <a:t>Everything I Needed to Know: Empirical Investigations of Copyright Norms in Fandom</a:t>
            </a:r>
            <a:r>
              <a:rPr lang="en-GB" sz="2800" b="0" dirty="0">
                <a:solidFill>
                  <a:schemeClr val="tx2"/>
                </a:solidFill>
                <a:latin typeface="Barlow" pitchFamily="2" charset="77"/>
              </a:rPr>
              <a:t>)</a:t>
            </a:r>
            <a:endParaRPr lang="en-US" sz="2800" b="0" dirty="0">
              <a:solidFill>
                <a:schemeClr val="tx2"/>
              </a:solidFill>
              <a:latin typeface="Barlow" pitchFamily="2" charset="77"/>
            </a:endParaRPr>
          </a:p>
          <a:p>
            <a:pPr marL="342900" indent="-342900" algn="just">
              <a:buFont typeface="Arial" panose="020B0604020202020204" pitchFamily="34" charset="0"/>
              <a:buChar char="•"/>
            </a:pPr>
            <a:endParaRPr lang="en-US" sz="2800" b="0" dirty="0">
              <a:solidFill>
                <a:schemeClr val="tx2"/>
              </a:solidFill>
              <a:latin typeface="Barlow" pitchFamily="2" charset="77"/>
            </a:endParaRPr>
          </a:p>
          <a:p>
            <a:pPr marL="342900" indent="-342900" algn="just">
              <a:buFont typeface="Arial" panose="020B0604020202020204" pitchFamily="34" charset="0"/>
              <a:buChar char="•"/>
            </a:pPr>
            <a:r>
              <a:rPr lang="en-US" sz="2800" b="0" dirty="0">
                <a:solidFill>
                  <a:schemeClr val="tx2"/>
                </a:solidFill>
                <a:latin typeface="Barlow" pitchFamily="2" charset="77"/>
              </a:rPr>
              <a:t>Limitations:</a:t>
            </a:r>
          </a:p>
          <a:p>
            <a:pPr marL="342900" indent="-342900" algn="just">
              <a:buFont typeface="Arial" panose="020B0604020202020204" pitchFamily="34" charset="0"/>
              <a:buChar char="•"/>
            </a:pPr>
            <a:r>
              <a:rPr lang="en-US" sz="2800" b="0" dirty="0">
                <a:solidFill>
                  <a:schemeClr val="tx2"/>
                </a:solidFill>
                <a:latin typeface="Barlow" pitchFamily="2" charset="77"/>
              </a:rPr>
              <a:t>Only applies to literary, dramatic or musical works</a:t>
            </a:r>
          </a:p>
          <a:p>
            <a:pPr marL="342900" indent="-342900" algn="just">
              <a:buFont typeface="Arial" panose="020B0604020202020204" pitchFamily="34" charset="0"/>
              <a:buChar char="•"/>
            </a:pPr>
            <a:r>
              <a:rPr lang="en-US" sz="2800" b="0" dirty="0">
                <a:solidFill>
                  <a:schemeClr val="tx2"/>
                </a:solidFill>
                <a:latin typeface="Barlow" pitchFamily="2" charset="77"/>
              </a:rPr>
              <a:t>Needs to be asserted</a:t>
            </a:r>
          </a:p>
        </p:txBody>
      </p:sp>
    </p:spTree>
    <p:extLst>
      <p:ext uri="{BB962C8B-B14F-4D97-AF65-F5344CB8AC3E}">
        <p14:creationId xmlns:p14="http://schemas.microsoft.com/office/powerpoint/2010/main" val="3944496414"/>
      </p:ext>
    </p:extLst>
  </p:cSld>
  <p:clrMapOvr>
    <a:masterClrMapping/>
  </p:clrMapOvr>
  <p:transition spd="med" advTm="222639"/>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DB38F-41BD-C6FD-FB4C-352F9382AE9C}"/>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CB989822-07EA-CAFD-BF07-208D2EC7D3FD}"/>
              </a:ext>
            </a:extLst>
          </p:cNvPr>
          <p:cNvSpPr txBox="1"/>
          <p:nvPr/>
        </p:nvSpPr>
        <p:spPr>
          <a:xfrm>
            <a:off x="1028459" y="1002549"/>
            <a:ext cx="9641622"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400" dirty="0"/>
              <a:t>Paternity (attribution)</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1D1DF640-26A1-21D4-23CA-1FC4E9A38F0C}"/>
              </a:ext>
            </a:extLst>
          </p:cNvPr>
          <p:cNvSpPr txBox="1"/>
          <p:nvPr/>
        </p:nvSpPr>
        <p:spPr>
          <a:xfrm>
            <a:off x="1028459" y="1002549"/>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5" name="Rectangle 4">
            <a:extLst>
              <a:ext uri="{FF2B5EF4-FFF2-40B4-BE49-F238E27FC236}">
                <a16:creationId xmlns:a16="http://schemas.microsoft.com/office/drawing/2014/main" id="{FD435CF9-9E70-2B9F-3971-C5BD42010972}"/>
              </a:ext>
            </a:extLst>
          </p:cNvPr>
          <p:cNvSpPr/>
          <p:nvPr/>
        </p:nvSpPr>
        <p:spPr>
          <a:xfrm>
            <a:off x="1028459" y="4051832"/>
            <a:ext cx="8167299" cy="1384995"/>
          </a:xfrm>
          <a:prstGeom prst="rect">
            <a:avLst/>
          </a:prstGeom>
        </p:spPr>
        <p:txBody>
          <a:bodyPr wrap="square">
            <a:spAutoFit/>
          </a:bodyPr>
          <a:lstStyle/>
          <a:p>
            <a:pPr marL="342900" indent="-342900" algn="just">
              <a:buFont typeface="Arial" panose="020B0604020202020204" pitchFamily="34" charset="0"/>
              <a:buChar char="•"/>
            </a:pPr>
            <a:r>
              <a:rPr lang="en-US" sz="2800" b="0" i="1" dirty="0">
                <a:solidFill>
                  <a:schemeClr val="tx2"/>
                </a:solidFill>
                <a:latin typeface="Barlow" pitchFamily="2" charset="77"/>
              </a:rPr>
              <a:t>How is attribution managed in the digital environment?</a:t>
            </a:r>
            <a:r>
              <a:rPr lang="en-GB" sz="2800" b="0" i="1" dirty="0">
                <a:solidFill>
                  <a:schemeClr val="tx2"/>
                </a:solidFill>
                <a:latin typeface="Barlow" pitchFamily="2" charset="77"/>
              </a:rPr>
              <a:t> How do people make sure they are ‘attributed’ when sharing content online?</a:t>
            </a:r>
            <a:endParaRPr lang="en-US" sz="2800" b="0" i="1" dirty="0">
              <a:solidFill>
                <a:schemeClr val="tx2"/>
              </a:solidFill>
              <a:latin typeface="Barlow" pitchFamily="2" charset="77"/>
            </a:endParaRPr>
          </a:p>
        </p:txBody>
      </p:sp>
      <p:pic>
        <p:nvPicPr>
          <p:cNvPr id="3074" name="Picture 2" descr="QR code">
            <a:extLst>
              <a:ext uri="{FF2B5EF4-FFF2-40B4-BE49-F238E27FC236}">
                <a16:creationId xmlns:a16="http://schemas.microsoft.com/office/drawing/2014/main" id="{BC31A5C3-61E3-3F3F-C36D-B26DDA820F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31264" y="1454061"/>
            <a:ext cx="6580539" cy="658053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CCC4C5E-1A09-C22F-568C-F5E34F325DBB}"/>
              </a:ext>
            </a:extLst>
          </p:cNvPr>
          <p:cNvSpPr txBox="1"/>
          <p:nvPr/>
        </p:nvSpPr>
        <p:spPr>
          <a:xfrm>
            <a:off x="10481533" y="8034600"/>
            <a:ext cx="5080000" cy="954107"/>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GB" sz="2800" b="0" dirty="0">
                <a:solidFill>
                  <a:schemeClr val="tx2"/>
                </a:solidFill>
                <a:latin typeface="Barlow" pitchFamily="2" charset="77"/>
              </a:rPr>
              <a:t>https://</a:t>
            </a:r>
            <a:r>
              <a:rPr lang="en-GB" sz="2800" b="0" dirty="0" err="1">
                <a:solidFill>
                  <a:schemeClr val="tx2"/>
                </a:solidFill>
                <a:latin typeface="Barlow" pitchFamily="2" charset="77"/>
              </a:rPr>
              <a:t>forms.cloud.microsoft</a:t>
            </a:r>
            <a:r>
              <a:rPr lang="en-GB" sz="2800" b="0" dirty="0">
                <a:solidFill>
                  <a:schemeClr val="tx2"/>
                </a:solidFill>
                <a:latin typeface="Barlow" pitchFamily="2" charset="77"/>
              </a:rPr>
              <a:t>/e/gFfmH2cXNt</a:t>
            </a:r>
          </a:p>
        </p:txBody>
      </p:sp>
    </p:spTree>
    <p:extLst>
      <p:ext uri="{BB962C8B-B14F-4D97-AF65-F5344CB8AC3E}">
        <p14:creationId xmlns:p14="http://schemas.microsoft.com/office/powerpoint/2010/main" val="4164617807"/>
      </p:ext>
    </p:extLst>
  </p:cSld>
  <p:clrMapOvr>
    <a:masterClrMapping/>
  </p:clrMapOvr>
  <p:transition spd="med" advTm="222639"/>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111BE-CEEE-E65E-1D30-2D8D49F834D1}"/>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E900E1EE-9E6A-4B04-8608-062CC048390A}"/>
              </a:ext>
            </a:extLst>
          </p:cNvPr>
          <p:cNvSpPr txBox="1"/>
          <p:nvPr/>
        </p:nvSpPr>
        <p:spPr>
          <a:xfrm>
            <a:off x="1028458" y="1002549"/>
            <a:ext cx="11218505"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400" dirty="0"/>
              <a:t>Integrity (derogatory treatment)</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C2AFAD47-A166-78AC-71A6-FEA3A68A5556}"/>
              </a:ext>
            </a:extLst>
          </p:cNvPr>
          <p:cNvSpPr txBox="1"/>
          <p:nvPr/>
        </p:nvSpPr>
        <p:spPr>
          <a:xfrm>
            <a:off x="1028459" y="1002549"/>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5" name="Rectangle 4">
            <a:extLst>
              <a:ext uri="{FF2B5EF4-FFF2-40B4-BE49-F238E27FC236}">
                <a16:creationId xmlns:a16="http://schemas.microsoft.com/office/drawing/2014/main" id="{86B637B6-5A6F-7CF9-84DE-2AE37DDF09F8}"/>
              </a:ext>
            </a:extLst>
          </p:cNvPr>
          <p:cNvSpPr/>
          <p:nvPr/>
        </p:nvSpPr>
        <p:spPr>
          <a:xfrm>
            <a:off x="1028459" y="2179242"/>
            <a:ext cx="15283345" cy="2677656"/>
          </a:xfrm>
          <a:prstGeom prst="rect">
            <a:avLst/>
          </a:prstGeom>
        </p:spPr>
        <p:txBody>
          <a:bodyPr wrap="square">
            <a:spAutoFit/>
          </a:bodyPr>
          <a:lstStyle/>
          <a:p>
            <a:pPr marL="285750" indent="-285750" algn="just" defTabSz="457200">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CDPA s80</a:t>
            </a:r>
          </a:p>
          <a:p>
            <a:pPr marL="342900" indent="-342900" algn="just">
              <a:buFont typeface="Arial" panose="020B0604020202020204" pitchFamily="34" charset="0"/>
              <a:buChar char="•"/>
            </a:pPr>
            <a:r>
              <a:rPr lang="en-US" sz="2800" b="0" dirty="0">
                <a:solidFill>
                  <a:schemeClr val="tx2"/>
                </a:solidFill>
                <a:latin typeface="Barlow" pitchFamily="2" charset="77"/>
              </a:rPr>
              <a:t>The right to object to distortion or alteration of your work that is ‘</a:t>
            </a:r>
            <a:r>
              <a:rPr lang="en-US" sz="2800" dirty="0">
                <a:solidFill>
                  <a:schemeClr val="tx2"/>
                </a:solidFill>
                <a:latin typeface="Barlow" pitchFamily="2" charset="77"/>
              </a:rPr>
              <a:t>prejudicial to the author’s </a:t>
            </a:r>
            <a:r>
              <a:rPr lang="en-US" sz="2800" dirty="0" err="1">
                <a:solidFill>
                  <a:schemeClr val="tx2"/>
                </a:solidFill>
                <a:latin typeface="Barlow" pitchFamily="2" charset="77"/>
              </a:rPr>
              <a:t>honour</a:t>
            </a:r>
            <a:r>
              <a:rPr lang="en-US" sz="2800" dirty="0">
                <a:solidFill>
                  <a:schemeClr val="tx2"/>
                </a:solidFill>
                <a:latin typeface="Barlow" pitchFamily="2" charset="77"/>
              </a:rPr>
              <a:t> or reputation</a:t>
            </a:r>
            <a:r>
              <a:rPr lang="en-US" sz="2800" b="0" dirty="0">
                <a:solidFill>
                  <a:schemeClr val="tx2"/>
                </a:solidFill>
                <a:latin typeface="Barlow" pitchFamily="2" charset="77"/>
              </a:rPr>
              <a:t>’ (Berne Convention)</a:t>
            </a:r>
          </a:p>
          <a:p>
            <a:pPr marL="342900" indent="-342900" algn="just">
              <a:buFont typeface="Arial" panose="020B0604020202020204" pitchFamily="34" charset="0"/>
              <a:buChar char="•"/>
            </a:pPr>
            <a:r>
              <a:rPr lang="en-US" sz="2800" b="0" dirty="0">
                <a:solidFill>
                  <a:schemeClr val="tx2"/>
                </a:solidFill>
                <a:latin typeface="Barlow" pitchFamily="2" charset="77"/>
              </a:rPr>
              <a:t>Note: doesn’t apply to computer </a:t>
            </a:r>
            <a:r>
              <a:rPr lang="en-US" sz="2800" b="0" dirty="0" err="1">
                <a:solidFill>
                  <a:schemeClr val="tx2"/>
                </a:solidFill>
                <a:latin typeface="Barlow" pitchFamily="2" charset="77"/>
              </a:rPr>
              <a:t>programmes</a:t>
            </a:r>
            <a:r>
              <a:rPr lang="en-US" sz="2800" b="0" dirty="0">
                <a:solidFill>
                  <a:schemeClr val="tx2"/>
                </a:solidFill>
                <a:latin typeface="Barlow" pitchFamily="2" charset="77"/>
              </a:rPr>
              <a:t>, computer-generated works or sound recordings</a:t>
            </a:r>
          </a:p>
          <a:p>
            <a:pPr marL="285750" indent="-285750" algn="just" defTabSz="457200">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See: </a:t>
            </a:r>
            <a:r>
              <a:rPr lang="en-GB" sz="2800" i="1" dirty="0">
                <a:solidFill>
                  <a:schemeClr val="tx2"/>
                </a:solidFill>
                <a:latin typeface="Barlow" pitchFamily="2" charset="77"/>
              </a:rPr>
              <a:t>Confetti Records</a:t>
            </a:r>
            <a:r>
              <a:rPr lang="en-GB" sz="2800" dirty="0">
                <a:solidFill>
                  <a:schemeClr val="tx2"/>
                </a:solidFill>
                <a:latin typeface="Barlow" pitchFamily="2" charset="77"/>
              </a:rPr>
              <a:t> &amp; Others </a:t>
            </a:r>
            <a:r>
              <a:rPr lang="en-GB" sz="2800" i="1" dirty="0">
                <a:solidFill>
                  <a:schemeClr val="tx2"/>
                </a:solidFill>
                <a:latin typeface="Barlow" pitchFamily="2" charset="77"/>
              </a:rPr>
              <a:t>v Warner</a:t>
            </a:r>
            <a:r>
              <a:rPr lang="en-GB" sz="2800" dirty="0">
                <a:solidFill>
                  <a:schemeClr val="tx2"/>
                </a:solidFill>
                <a:latin typeface="Barlow" pitchFamily="2" charset="77"/>
              </a:rPr>
              <a:t> </a:t>
            </a:r>
            <a:r>
              <a:rPr lang="en-GB" sz="2800" i="1" dirty="0">
                <a:solidFill>
                  <a:schemeClr val="tx2"/>
                </a:solidFill>
                <a:latin typeface="Barlow" pitchFamily="2" charset="77"/>
              </a:rPr>
              <a:t>Music UK Ltd </a:t>
            </a:r>
            <a:r>
              <a:rPr lang="en-GB" sz="2800" dirty="0">
                <a:solidFill>
                  <a:schemeClr val="tx2"/>
                </a:solidFill>
                <a:latin typeface="Barlow" pitchFamily="2" charset="77"/>
              </a:rPr>
              <a:t>(subjective judgement – objective measurement)</a:t>
            </a:r>
          </a:p>
        </p:txBody>
      </p:sp>
    </p:spTree>
    <p:extLst>
      <p:ext uri="{BB962C8B-B14F-4D97-AF65-F5344CB8AC3E}">
        <p14:creationId xmlns:p14="http://schemas.microsoft.com/office/powerpoint/2010/main" val="189703628"/>
      </p:ext>
    </p:extLst>
  </p:cSld>
  <p:clrMapOvr>
    <a:masterClrMapping/>
  </p:clrMapOvr>
  <p:transition spd="med" advTm="222639"/>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1A63B-8870-E2AC-AAA5-7D55ABC8ECEB}"/>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2E0A2FE0-9539-0B86-D24A-9292F116F090}"/>
              </a:ext>
            </a:extLst>
          </p:cNvPr>
          <p:cNvSpPr txBox="1"/>
          <p:nvPr/>
        </p:nvSpPr>
        <p:spPr>
          <a:xfrm>
            <a:off x="1028458" y="1002549"/>
            <a:ext cx="11218505"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400" dirty="0"/>
              <a:t>Integrity (derogatory treatment)</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F102C14E-8B47-2BAF-66F3-1FA4C9CDC7C9}"/>
              </a:ext>
            </a:extLst>
          </p:cNvPr>
          <p:cNvSpPr txBox="1"/>
          <p:nvPr/>
        </p:nvSpPr>
        <p:spPr>
          <a:xfrm>
            <a:off x="1028459" y="1002549"/>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5" name="Rectangle 4">
            <a:extLst>
              <a:ext uri="{FF2B5EF4-FFF2-40B4-BE49-F238E27FC236}">
                <a16:creationId xmlns:a16="http://schemas.microsoft.com/office/drawing/2014/main" id="{B67F38C5-C96E-98C5-D8AA-D01306889813}"/>
              </a:ext>
            </a:extLst>
          </p:cNvPr>
          <p:cNvSpPr/>
          <p:nvPr/>
        </p:nvSpPr>
        <p:spPr>
          <a:xfrm>
            <a:off x="1028458" y="4184302"/>
            <a:ext cx="8581368" cy="1384995"/>
          </a:xfrm>
          <a:prstGeom prst="rect">
            <a:avLst/>
          </a:prstGeom>
        </p:spPr>
        <p:txBody>
          <a:bodyPr wrap="square">
            <a:spAutoFit/>
          </a:bodyPr>
          <a:lstStyle/>
          <a:p>
            <a:pPr marL="285750" indent="-285750" algn="just" defTabSz="457200">
              <a:buFont typeface="Arial" panose="020B0604020202020204" pitchFamily="34" charset="0"/>
              <a:buChar char="•"/>
              <a:defRPr sz="1400" b="0" spc="-27">
                <a:latin typeface="Barlow Regular"/>
                <a:ea typeface="Barlow Regular"/>
                <a:cs typeface="Barlow Regular"/>
                <a:sym typeface="Barlow Regular"/>
              </a:defRPr>
            </a:pPr>
            <a:r>
              <a:rPr lang="en-GB" sz="2800" i="1" dirty="0">
                <a:solidFill>
                  <a:schemeClr val="tx2"/>
                </a:solidFill>
                <a:latin typeface="Barlow" pitchFamily="2" charset="77"/>
              </a:rPr>
              <a:t>Consider the following scenarios. Do you think they can be considered a ‘derogatory treatment’ within the meaning of the integrity right?</a:t>
            </a:r>
          </a:p>
        </p:txBody>
      </p:sp>
      <p:pic>
        <p:nvPicPr>
          <p:cNvPr id="4098" name="Picture 2" descr="QR code">
            <a:extLst>
              <a:ext uri="{FF2B5EF4-FFF2-40B4-BE49-F238E27FC236}">
                <a16:creationId xmlns:a16="http://schemas.microsoft.com/office/drawing/2014/main" id="{94A05560-395F-8736-22CB-99B5436BDC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07810" y="1987585"/>
            <a:ext cx="6103994" cy="610399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9716175-CC40-158A-1C24-EBB9498108CF}"/>
              </a:ext>
            </a:extLst>
          </p:cNvPr>
          <p:cNvSpPr txBox="1"/>
          <p:nvPr/>
        </p:nvSpPr>
        <p:spPr>
          <a:xfrm>
            <a:off x="10730320" y="8091579"/>
            <a:ext cx="5058974" cy="954107"/>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GB" sz="2800" b="0" dirty="0">
                <a:solidFill>
                  <a:schemeClr val="tx2"/>
                </a:solidFill>
                <a:latin typeface="Barlow" pitchFamily="2" charset="77"/>
              </a:rPr>
              <a:t>https://</a:t>
            </a:r>
            <a:r>
              <a:rPr lang="en-GB" sz="2800" b="0" dirty="0" err="1">
                <a:solidFill>
                  <a:schemeClr val="tx2"/>
                </a:solidFill>
                <a:latin typeface="Barlow" pitchFamily="2" charset="77"/>
              </a:rPr>
              <a:t>forms.cloud.microsoft</a:t>
            </a:r>
            <a:r>
              <a:rPr lang="en-GB" sz="2800" b="0" dirty="0">
                <a:solidFill>
                  <a:schemeClr val="tx2"/>
                </a:solidFill>
                <a:latin typeface="Barlow" pitchFamily="2" charset="77"/>
              </a:rPr>
              <a:t>/e/KT8UNYZGMd</a:t>
            </a:r>
          </a:p>
        </p:txBody>
      </p:sp>
    </p:spTree>
    <p:extLst>
      <p:ext uri="{BB962C8B-B14F-4D97-AF65-F5344CB8AC3E}">
        <p14:creationId xmlns:p14="http://schemas.microsoft.com/office/powerpoint/2010/main" val="10583485"/>
      </p:ext>
    </p:extLst>
  </p:cSld>
  <p:clrMapOvr>
    <a:masterClrMapping/>
  </p:clrMapOvr>
  <p:transition spd="med" advTm="222639"/>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F2C847-58A0-7DCA-E56B-14A3F15FD3FF}"/>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F6E8CE35-D1A6-AEAC-6AFF-9FBA2DD28167}"/>
              </a:ext>
            </a:extLst>
          </p:cNvPr>
          <p:cNvSpPr txBox="1"/>
          <p:nvPr/>
        </p:nvSpPr>
        <p:spPr>
          <a:xfrm>
            <a:off x="1028458" y="1002549"/>
            <a:ext cx="11218505"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400" dirty="0"/>
              <a:t>Duration of rights</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DF06FAC5-A9CE-10F6-8EAB-214DA4A14E88}"/>
              </a:ext>
            </a:extLst>
          </p:cNvPr>
          <p:cNvSpPr txBox="1"/>
          <p:nvPr/>
        </p:nvSpPr>
        <p:spPr>
          <a:xfrm>
            <a:off x="1028459" y="1002549"/>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5" name="Rectangle 4">
            <a:extLst>
              <a:ext uri="{FF2B5EF4-FFF2-40B4-BE49-F238E27FC236}">
                <a16:creationId xmlns:a16="http://schemas.microsoft.com/office/drawing/2014/main" id="{A9BAB9F8-ECFC-B3DA-DEBC-566C56CEF61B}"/>
              </a:ext>
            </a:extLst>
          </p:cNvPr>
          <p:cNvSpPr/>
          <p:nvPr/>
        </p:nvSpPr>
        <p:spPr>
          <a:xfrm>
            <a:off x="1028459" y="2179242"/>
            <a:ext cx="14336727" cy="4401205"/>
          </a:xfrm>
          <a:prstGeom prst="rect">
            <a:avLst/>
          </a:prstGeom>
        </p:spPr>
        <p:txBody>
          <a:bodyPr wrap="square">
            <a:spAutoFit/>
          </a:bodyPr>
          <a:lstStyle/>
          <a:p>
            <a:pPr marL="342900" indent="-342900" algn="just">
              <a:buFont typeface="Arial" panose="020B0604020202020204" pitchFamily="34" charset="0"/>
              <a:buChar char="•"/>
            </a:pPr>
            <a:r>
              <a:rPr lang="en-GB" sz="2800" b="0" dirty="0">
                <a:solidFill>
                  <a:schemeClr val="tx2"/>
                </a:solidFill>
                <a:latin typeface="Barlow" pitchFamily="2" charset="77"/>
              </a:rPr>
              <a:t>Berne stipulates a </a:t>
            </a:r>
            <a:r>
              <a:rPr lang="en-GB" sz="2800" dirty="0">
                <a:solidFill>
                  <a:schemeClr val="tx2"/>
                </a:solidFill>
                <a:latin typeface="Barlow" pitchFamily="2" charset="77"/>
              </a:rPr>
              <a:t>minimum protection of 50 years after the author’s death.</a:t>
            </a:r>
          </a:p>
          <a:p>
            <a:pPr marL="342900" indent="-342900" algn="just">
              <a:buFont typeface="Arial" panose="020B0604020202020204" pitchFamily="34" charset="0"/>
              <a:buChar char="•"/>
            </a:pPr>
            <a:endParaRPr lang="en-GB" sz="2800" b="0" dirty="0">
              <a:solidFill>
                <a:schemeClr val="tx2"/>
              </a:solidFill>
              <a:latin typeface="Barlow" pitchFamily="2" charset="77"/>
            </a:endParaRPr>
          </a:p>
          <a:p>
            <a:pPr marL="342900" indent="-342900" algn="just">
              <a:buFont typeface="Arial" panose="020B0604020202020204" pitchFamily="34" charset="0"/>
              <a:buChar char="•"/>
            </a:pPr>
            <a:r>
              <a:rPr lang="en-GB" sz="2800" b="0" dirty="0">
                <a:solidFill>
                  <a:schemeClr val="tx2"/>
                </a:solidFill>
                <a:latin typeface="Barlow" pitchFamily="2" charset="77"/>
              </a:rPr>
              <a:t>Written, dramatic, musical and artistic work -&gt; </a:t>
            </a:r>
            <a:r>
              <a:rPr lang="en-GB" sz="2800" dirty="0">
                <a:solidFill>
                  <a:schemeClr val="tx2"/>
                </a:solidFill>
                <a:latin typeface="Barlow" pitchFamily="2" charset="77"/>
              </a:rPr>
              <a:t>70 years after the author’s death</a:t>
            </a:r>
          </a:p>
          <a:p>
            <a:pPr marL="342900" indent="-342900" algn="just">
              <a:buFont typeface="Arial" panose="020B0604020202020204" pitchFamily="34" charset="0"/>
              <a:buChar char="•"/>
            </a:pPr>
            <a:r>
              <a:rPr lang="en-GB" sz="2800" b="0" dirty="0">
                <a:solidFill>
                  <a:schemeClr val="tx2"/>
                </a:solidFill>
                <a:latin typeface="Barlow" pitchFamily="2" charset="77"/>
              </a:rPr>
              <a:t>Sound and music recording -&gt; 70 years from when it’s first published</a:t>
            </a:r>
          </a:p>
          <a:p>
            <a:pPr marL="342900" indent="-342900" algn="just">
              <a:buFont typeface="Arial" panose="020B0604020202020204" pitchFamily="34" charset="0"/>
              <a:buChar char="•"/>
            </a:pPr>
            <a:r>
              <a:rPr lang="en-GB" sz="2800" b="0" dirty="0">
                <a:solidFill>
                  <a:schemeClr val="tx2"/>
                </a:solidFill>
                <a:latin typeface="Barlow" pitchFamily="2" charset="77"/>
              </a:rPr>
              <a:t>Films -&gt; 70 years after the death of the director, screenplay author and composer</a:t>
            </a:r>
          </a:p>
          <a:p>
            <a:pPr marL="342900" indent="-342900" algn="just">
              <a:buFont typeface="Arial" panose="020B0604020202020204" pitchFamily="34" charset="0"/>
              <a:buChar char="•"/>
            </a:pPr>
            <a:r>
              <a:rPr lang="en-GB" sz="2800" b="0" dirty="0">
                <a:solidFill>
                  <a:schemeClr val="tx2"/>
                </a:solidFill>
                <a:latin typeface="Barlow" pitchFamily="2" charset="77"/>
              </a:rPr>
              <a:t>Broadcasts -&gt; 50 years from when it’s first broadcast</a:t>
            </a:r>
          </a:p>
          <a:p>
            <a:pPr marL="342900" indent="-342900" algn="just">
              <a:buFont typeface="Arial" panose="020B0604020202020204" pitchFamily="34" charset="0"/>
              <a:buChar char="•"/>
            </a:pPr>
            <a:r>
              <a:rPr lang="en-GB" sz="2800" b="0" dirty="0">
                <a:solidFill>
                  <a:schemeClr val="tx2"/>
                </a:solidFill>
                <a:latin typeface="Barlow" pitchFamily="2" charset="77"/>
              </a:rPr>
              <a:t>Layout of published editions of written, dramatic or musical works -&gt; 25 years from when it’s first published</a:t>
            </a:r>
          </a:p>
          <a:p>
            <a:pPr marL="342900" indent="-342900" algn="just">
              <a:buFont typeface="Arial" panose="020B0604020202020204" pitchFamily="34" charset="0"/>
              <a:buChar char="•"/>
            </a:pPr>
            <a:endParaRPr lang="en-GB" sz="2800" b="0" dirty="0">
              <a:solidFill>
                <a:schemeClr val="tx2"/>
              </a:solidFill>
              <a:latin typeface="Barlow" pitchFamily="2" charset="77"/>
            </a:endParaRPr>
          </a:p>
          <a:p>
            <a:pPr marL="342900" indent="-342900" algn="just">
              <a:buFont typeface="Arial" panose="020B0604020202020204" pitchFamily="34" charset="0"/>
              <a:buChar char="•"/>
            </a:pPr>
            <a:r>
              <a:rPr lang="en-GB" sz="2800" b="0" i="1" dirty="0">
                <a:solidFill>
                  <a:schemeClr val="tx2"/>
                </a:solidFill>
                <a:latin typeface="Barlow" pitchFamily="2" charset="77"/>
              </a:rPr>
              <a:t>Why do you think copyright duration keeps getting longer?</a:t>
            </a:r>
          </a:p>
        </p:txBody>
      </p:sp>
    </p:spTree>
    <p:extLst>
      <p:ext uri="{BB962C8B-B14F-4D97-AF65-F5344CB8AC3E}">
        <p14:creationId xmlns:p14="http://schemas.microsoft.com/office/powerpoint/2010/main" val="2796628665"/>
      </p:ext>
    </p:extLst>
  </p:cSld>
  <p:clrMapOvr>
    <a:masterClrMapping/>
  </p:clrMapOvr>
  <p:transition spd="med" advTm="222639"/>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45AFB-4F42-2319-29E1-CE7CBE77E378}"/>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2324893A-41E7-4DB3-4954-005FE85585BA}"/>
              </a:ext>
            </a:extLst>
          </p:cNvPr>
          <p:cNvSpPr txBox="1"/>
          <p:nvPr/>
        </p:nvSpPr>
        <p:spPr>
          <a:xfrm>
            <a:off x="1028458" y="1002549"/>
            <a:ext cx="11218505"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400" dirty="0"/>
              <a:t>Duration of rights</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08326A19-3213-2103-FF01-5078E7796420}"/>
              </a:ext>
            </a:extLst>
          </p:cNvPr>
          <p:cNvSpPr txBox="1"/>
          <p:nvPr/>
        </p:nvSpPr>
        <p:spPr>
          <a:xfrm>
            <a:off x="1028459" y="1002549"/>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5" name="Rectangle 4">
            <a:extLst>
              <a:ext uri="{FF2B5EF4-FFF2-40B4-BE49-F238E27FC236}">
                <a16:creationId xmlns:a16="http://schemas.microsoft.com/office/drawing/2014/main" id="{93CF0AB7-4C80-D88D-C10F-BDBDEBD219CA}"/>
              </a:ext>
            </a:extLst>
          </p:cNvPr>
          <p:cNvSpPr/>
          <p:nvPr/>
        </p:nvSpPr>
        <p:spPr>
          <a:xfrm>
            <a:off x="1028459" y="2179242"/>
            <a:ext cx="14336727" cy="3108543"/>
          </a:xfrm>
          <a:prstGeom prst="rect">
            <a:avLst/>
          </a:prstGeom>
        </p:spPr>
        <p:txBody>
          <a:bodyPr wrap="square">
            <a:spAutoFit/>
          </a:bodyPr>
          <a:lstStyle/>
          <a:p>
            <a:pPr marL="342900" indent="-342900" algn="just">
              <a:buFont typeface="Arial" panose="020B0604020202020204" pitchFamily="34" charset="0"/>
              <a:buChar char="•"/>
            </a:pPr>
            <a:r>
              <a:rPr lang="en-GB" sz="2800" dirty="0">
                <a:solidFill>
                  <a:schemeClr val="tx2"/>
                </a:solidFill>
                <a:latin typeface="Barlow" pitchFamily="2" charset="77"/>
              </a:rPr>
              <a:t>Joint authorship: </a:t>
            </a:r>
            <a:r>
              <a:rPr lang="en-GB" sz="2800" b="0" dirty="0">
                <a:solidFill>
                  <a:schemeClr val="tx2"/>
                </a:solidFill>
                <a:latin typeface="Barlow" pitchFamily="2" charset="77"/>
              </a:rPr>
              <a:t>calculated from the date of the death of the last living author</a:t>
            </a:r>
          </a:p>
          <a:p>
            <a:pPr marL="342900" indent="-342900" algn="just">
              <a:buFont typeface="Arial" panose="020B0604020202020204" pitchFamily="34" charset="0"/>
              <a:buChar char="•"/>
            </a:pPr>
            <a:r>
              <a:rPr lang="en-GB" sz="2800" dirty="0">
                <a:solidFill>
                  <a:schemeClr val="tx2"/>
                </a:solidFill>
                <a:latin typeface="Barlow" pitchFamily="2" charset="77"/>
              </a:rPr>
              <a:t>Company copyright: </a:t>
            </a:r>
            <a:r>
              <a:rPr lang="en-GB" sz="2800" b="0" dirty="0">
                <a:solidFill>
                  <a:schemeClr val="tx2"/>
                </a:solidFill>
                <a:latin typeface="Barlow" pitchFamily="2" charset="77"/>
              </a:rPr>
              <a:t>calculated from the death of the author</a:t>
            </a:r>
          </a:p>
          <a:p>
            <a:pPr marL="342900" indent="-342900" algn="just">
              <a:buFont typeface="Arial" panose="020B0604020202020204" pitchFamily="34" charset="0"/>
              <a:buChar char="•"/>
            </a:pPr>
            <a:endParaRPr lang="en-GB" sz="2800" b="0" dirty="0">
              <a:solidFill>
                <a:schemeClr val="tx2"/>
              </a:solidFill>
              <a:latin typeface="Barlow" pitchFamily="2" charset="77"/>
            </a:endParaRPr>
          </a:p>
          <a:p>
            <a:pPr marL="342900" indent="-342900" algn="just">
              <a:buFont typeface="Arial" panose="020B0604020202020204" pitchFamily="34" charset="0"/>
              <a:buChar char="•"/>
            </a:pPr>
            <a:r>
              <a:rPr lang="en-GB" sz="2800" b="0" dirty="0">
                <a:solidFill>
                  <a:schemeClr val="tx2"/>
                </a:solidFill>
                <a:latin typeface="Barlow" pitchFamily="2" charset="77"/>
              </a:rPr>
              <a:t>Performers rights: 50 years from the date of release (non-sound recordings), 70 years from the date of release (sound recordings only)</a:t>
            </a:r>
          </a:p>
          <a:p>
            <a:pPr algn="just"/>
            <a:endParaRPr lang="en-GB" sz="2800" b="0" dirty="0">
              <a:solidFill>
                <a:schemeClr val="tx2"/>
              </a:solidFill>
              <a:latin typeface="Barlow" pitchFamily="2" charset="77"/>
            </a:endParaRPr>
          </a:p>
          <a:p>
            <a:pPr marL="342900" indent="-342900" algn="just">
              <a:buFont typeface="Arial" panose="020B0604020202020204" pitchFamily="34" charset="0"/>
              <a:buChar char="•"/>
            </a:pPr>
            <a:r>
              <a:rPr lang="en-GB" sz="2800" b="0" dirty="0">
                <a:solidFill>
                  <a:schemeClr val="tx2"/>
                </a:solidFill>
                <a:latin typeface="Barlow" pitchFamily="2" charset="77"/>
              </a:rPr>
              <a:t>After copyright expires, works enter the </a:t>
            </a:r>
            <a:r>
              <a:rPr lang="en-GB" sz="2800" dirty="0">
                <a:solidFill>
                  <a:schemeClr val="tx2"/>
                </a:solidFill>
                <a:latin typeface="Barlow" pitchFamily="2" charset="77"/>
              </a:rPr>
              <a:t>public domain.</a:t>
            </a:r>
            <a:endParaRPr lang="en-US" sz="2800" b="0" dirty="0">
              <a:solidFill>
                <a:schemeClr val="tx2"/>
              </a:solidFill>
              <a:latin typeface="Barlow" pitchFamily="2" charset="77"/>
            </a:endParaRPr>
          </a:p>
        </p:txBody>
      </p:sp>
    </p:spTree>
    <p:extLst>
      <p:ext uri="{BB962C8B-B14F-4D97-AF65-F5344CB8AC3E}">
        <p14:creationId xmlns:p14="http://schemas.microsoft.com/office/powerpoint/2010/main" val="4279331562"/>
      </p:ext>
    </p:extLst>
  </p:cSld>
  <p:clrMapOvr>
    <a:masterClrMapping/>
  </p:clrMapOvr>
  <p:transition spd="med" advTm="222639"/>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A7E9A3-5FA0-08B7-7DB2-23E7846BBEF9}"/>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3A611AA7-3C21-60EF-661B-F374827FFFF5}"/>
              </a:ext>
            </a:extLst>
          </p:cNvPr>
          <p:cNvSpPr txBox="1"/>
          <p:nvPr/>
        </p:nvSpPr>
        <p:spPr>
          <a:xfrm>
            <a:off x="1028458" y="1002549"/>
            <a:ext cx="11218505" cy="82975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400" dirty="0"/>
              <a:t>Example problem question</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6A34C0F1-A0CB-96C9-1B77-2F5839552CEA}"/>
              </a:ext>
            </a:extLst>
          </p:cNvPr>
          <p:cNvSpPr txBox="1"/>
          <p:nvPr/>
        </p:nvSpPr>
        <p:spPr>
          <a:xfrm>
            <a:off x="1028459" y="1002549"/>
            <a:ext cx="15015594" cy="46957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5" name="Rectangle 4">
            <a:extLst>
              <a:ext uri="{FF2B5EF4-FFF2-40B4-BE49-F238E27FC236}">
                <a16:creationId xmlns:a16="http://schemas.microsoft.com/office/drawing/2014/main" id="{BE606A95-872A-ED83-E104-AECB3EF8EC5A}"/>
              </a:ext>
            </a:extLst>
          </p:cNvPr>
          <p:cNvSpPr/>
          <p:nvPr/>
        </p:nvSpPr>
        <p:spPr>
          <a:xfrm>
            <a:off x="1028458" y="3419309"/>
            <a:ext cx="8535266" cy="3108543"/>
          </a:xfrm>
          <a:prstGeom prst="rect">
            <a:avLst/>
          </a:prstGeom>
        </p:spPr>
        <p:txBody>
          <a:bodyPr wrap="square">
            <a:spAutoFit/>
          </a:bodyPr>
          <a:lstStyle/>
          <a:p>
            <a:pPr marL="457200" indent="-457200" algn="just">
              <a:buFont typeface="Arial" panose="020B0604020202020204" pitchFamily="34" charset="0"/>
              <a:buChar char="•"/>
            </a:pPr>
            <a:r>
              <a:rPr lang="en-GB" sz="2800" b="0" dirty="0">
                <a:solidFill>
                  <a:schemeClr val="tx2"/>
                </a:solidFill>
                <a:latin typeface="Barlow" pitchFamily="2" charset="77"/>
              </a:rPr>
              <a:t>You find this picture of Rembrandt’s ‘A Man in Armour’ (1655) in a Google Image search.</a:t>
            </a:r>
          </a:p>
          <a:p>
            <a:pPr marL="457200" indent="-457200" algn="just">
              <a:buFont typeface="Arial" panose="020B0604020202020204" pitchFamily="34" charset="0"/>
              <a:buChar char="•"/>
            </a:pPr>
            <a:r>
              <a:rPr lang="en-GB" sz="2800" b="0" dirty="0">
                <a:solidFill>
                  <a:schemeClr val="tx2"/>
                </a:solidFill>
                <a:latin typeface="Barlow" pitchFamily="2" charset="77"/>
              </a:rPr>
              <a:t>Are you allowed to copy this picture and sell it on posters on Etsy? </a:t>
            </a:r>
          </a:p>
          <a:p>
            <a:pPr marL="457200" indent="-457200" algn="just">
              <a:buFont typeface="Arial" panose="020B0604020202020204" pitchFamily="34" charset="0"/>
              <a:buChar char="•"/>
            </a:pPr>
            <a:r>
              <a:rPr lang="en-GB" sz="2800" b="0" dirty="0">
                <a:solidFill>
                  <a:schemeClr val="tx2"/>
                </a:solidFill>
                <a:latin typeface="Barlow" pitchFamily="2" charset="77"/>
              </a:rPr>
              <a:t>Would your answer change if you were the person taking the picture (rather than copying someone else’s from Google)?</a:t>
            </a:r>
            <a:endParaRPr lang="en-GB" sz="2800" b="0" dirty="0">
              <a:solidFill>
                <a:schemeClr val="tx2"/>
              </a:solidFill>
              <a:latin typeface="Barlow" pitchFamily="2" charset="77"/>
              <a:ea typeface="Calibri" panose="020F0502020204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3416EA28-E5D1-EEC2-FF3A-E3CA5D01B4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72853" y="1409096"/>
            <a:ext cx="5404744" cy="712897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4681F43-2CED-3C1D-E483-2BB1BC5CFCC1}"/>
              </a:ext>
            </a:extLst>
          </p:cNvPr>
          <p:cNvSpPr txBox="1"/>
          <p:nvPr/>
        </p:nvSpPr>
        <p:spPr>
          <a:xfrm>
            <a:off x="12263010" y="8641259"/>
            <a:ext cx="1424429" cy="318036"/>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20320" tIns="20320" rIns="20320" bIns="20320" numCol="1" spcCol="38100" rtlCol="0" anchor="ctr">
            <a:spAutoFit/>
          </a:bodyPr>
          <a:lstStyle/>
          <a:p>
            <a:pPr marL="0" marR="0" indent="0" algn="ctr" defTabSz="587022" rtl="0" fontAlgn="auto" latinLnBrk="0" hangingPunct="0">
              <a:lnSpc>
                <a:spcPct val="100000"/>
              </a:lnSpc>
              <a:spcBef>
                <a:spcPts val="0"/>
              </a:spcBef>
              <a:spcAft>
                <a:spcPts val="0"/>
              </a:spcAft>
              <a:buClrTx/>
              <a:buSzTx/>
              <a:buFontTx/>
              <a:buNone/>
              <a:tabLst/>
            </a:pPr>
            <a:r>
              <a:rPr kumimoji="0" lang="en-GB" sz="1800" b="1" i="0" u="none" strike="noStrike" cap="none" spc="0" normalizeH="0" baseline="0" dirty="0">
                <a:ln>
                  <a:noFill/>
                </a:ln>
                <a:solidFill>
                  <a:schemeClr val="tx2"/>
                </a:solidFill>
                <a:effectLst/>
                <a:uFillTx/>
                <a:latin typeface="Barlow" pitchFamily="2" charset="77"/>
                <a:sym typeface="Helvetica Neue"/>
                <a:hlinkClick r:id="rId3">
                  <a:extLst>
                    <a:ext uri="{A12FA001-AC4F-418D-AE19-62706E023703}">
                      <ahyp:hlinkClr xmlns:ahyp="http://schemas.microsoft.com/office/drawing/2018/hyperlinkcolor" val="tx"/>
                    </a:ext>
                  </a:extLst>
                </a:hlinkClick>
              </a:rPr>
              <a:t>Image source</a:t>
            </a:r>
            <a:endParaRPr kumimoji="0" lang="en-GB" sz="1800" b="1" i="0" u="none" strike="noStrike" cap="none" spc="0" normalizeH="0" baseline="0" dirty="0">
              <a:ln>
                <a:noFill/>
              </a:ln>
              <a:solidFill>
                <a:schemeClr val="tx2"/>
              </a:solidFill>
              <a:effectLst/>
              <a:uFillTx/>
              <a:latin typeface="Barlow" pitchFamily="2" charset="77"/>
              <a:sym typeface="Helvetica Neue"/>
            </a:endParaRPr>
          </a:p>
        </p:txBody>
      </p:sp>
    </p:spTree>
    <p:extLst>
      <p:ext uri="{BB962C8B-B14F-4D97-AF65-F5344CB8AC3E}">
        <p14:creationId xmlns:p14="http://schemas.microsoft.com/office/powerpoint/2010/main" val="3693463312"/>
      </p:ext>
    </p:extLst>
  </p:cSld>
  <p:clrMapOvr>
    <a:masterClrMapping/>
  </p:clrMapOvr>
  <p:transition spd="med" advTm="222639"/>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83D3E-6E2B-E555-7436-F7CB16D33B1D}"/>
            </a:ext>
          </a:extLst>
        </p:cNvPr>
        <p:cNvGrpSpPr/>
        <p:nvPr/>
      </p:nvGrpSpPr>
      <p:grpSpPr>
        <a:xfrm>
          <a:off x="0" y="0"/>
          <a:ext cx="0" cy="0"/>
          <a:chOff x="0" y="0"/>
          <a:chExt cx="0" cy="0"/>
        </a:xfrm>
      </p:grpSpPr>
      <p:sp>
        <p:nvSpPr>
          <p:cNvPr id="130" name="TITLE TEXT">
            <a:extLst>
              <a:ext uri="{FF2B5EF4-FFF2-40B4-BE49-F238E27FC236}">
                <a16:creationId xmlns:a16="http://schemas.microsoft.com/office/drawing/2014/main" id="{6C8AE728-CA61-D206-0212-03A7BD03B92B}"/>
              </a:ext>
            </a:extLst>
          </p:cNvPr>
          <p:cNvSpPr txBox="1"/>
          <p:nvPr/>
        </p:nvSpPr>
        <p:spPr>
          <a:xfrm>
            <a:off x="1028459" y="1002549"/>
            <a:ext cx="9641622" cy="82975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lvl1pPr algn="l">
              <a:defRPr sz="4000" b="0">
                <a:solidFill>
                  <a:srgbClr val="F47A63"/>
                </a:solidFill>
                <a:latin typeface="Barlow ExtraBold"/>
                <a:ea typeface="Barlow ExtraBold"/>
                <a:cs typeface="Barlow ExtraBold"/>
                <a:sym typeface="Barlow ExtraBold"/>
              </a:defRPr>
            </a:lvl1pPr>
          </a:lstStyle>
          <a:p>
            <a:r>
              <a:rPr lang="en-GB" sz="5400" dirty="0"/>
              <a:t>Next week…</a:t>
            </a:r>
          </a:p>
        </p:txBody>
      </p:sp>
      <p:sp>
        <p:nvSpPr>
          <p:cNvPr id="132" name="Ut enim ad minim veniam, quis nostrum exercitationem ullam corporis suscipit laboriosam, nisi ut aliquid ex ea commodi consequatur. Quis aute iure reprehenderit in voluptate velit esse cillum dolore eu fugiat nulla pariatur. Excepteur sint obcaecat cupiditat non proident, sunt in culpa qui officia deserunt mollit anim id est laborum.…">
            <a:extLst>
              <a:ext uri="{FF2B5EF4-FFF2-40B4-BE49-F238E27FC236}">
                <a16:creationId xmlns:a16="http://schemas.microsoft.com/office/drawing/2014/main" id="{96C2D844-F09F-BF6B-2768-10D505902165}"/>
              </a:ext>
            </a:extLst>
          </p:cNvPr>
          <p:cNvSpPr txBox="1"/>
          <p:nvPr/>
        </p:nvSpPr>
        <p:spPr>
          <a:xfrm>
            <a:off x="1028459" y="1002549"/>
            <a:ext cx="15015594" cy="4695779"/>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7094" tIns="27094" rIns="27094" bIns="27094">
            <a:noAutofit/>
          </a:bodyPr>
          <a:lstStyle/>
          <a:p>
            <a:pPr marL="381019" indent="-381019" algn="l" defTabSz="609630">
              <a:lnSpc>
                <a:spcPct val="120000"/>
              </a:lnSpc>
              <a:buFont typeface="Arial" panose="020B0604020202020204" pitchFamily="34" charset="0"/>
              <a:buChar char="•"/>
              <a:defRPr sz="1400" b="0" spc="-27">
                <a:latin typeface="Barlow Regular"/>
                <a:ea typeface="Barlow Regular"/>
                <a:cs typeface="Barlow Regular"/>
                <a:sym typeface="Barlow Regular"/>
              </a:defRPr>
            </a:pPr>
            <a:endParaRPr sz="3200" dirty="0">
              <a:solidFill>
                <a:schemeClr val="tx2"/>
              </a:solidFill>
            </a:endParaRPr>
          </a:p>
        </p:txBody>
      </p:sp>
      <p:sp>
        <p:nvSpPr>
          <p:cNvPr id="5" name="Rectangle 4">
            <a:extLst>
              <a:ext uri="{FF2B5EF4-FFF2-40B4-BE49-F238E27FC236}">
                <a16:creationId xmlns:a16="http://schemas.microsoft.com/office/drawing/2014/main" id="{39B573DD-C9AB-E478-6F4D-B710D2953B0F}"/>
              </a:ext>
            </a:extLst>
          </p:cNvPr>
          <p:cNvSpPr/>
          <p:nvPr/>
        </p:nvSpPr>
        <p:spPr>
          <a:xfrm>
            <a:off x="1028459" y="2179242"/>
            <a:ext cx="14336727" cy="1295226"/>
          </a:xfrm>
          <a:prstGeom prst="rect">
            <a:avLst/>
          </a:prstGeom>
        </p:spPr>
        <p:txBody>
          <a:bodyPr wrap="square">
            <a:spAutoFit/>
          </a:bodyPr>
          <a:lstStyle/>
          <a:p>
            <a:pPr marL="285750" indent="-285750" algn="l" defTabSz="457200">
              <a:lnSpc>
                <a:spcPct val="15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Readings/preparation for next week (Exceptions and limitations)</a:t>
            </a:r>
          </a:p>
          <a:p>
            <a:pPr marL="285750" indent="-285750" algn="l" defTabSz="457200">
              <a:lnSpc>
                <a:spcPct val="150000"/>
              </a:lnSpc>
              <a:buFont typeface="Arial" panose="020B0604020202020204" pitchFamily="34" charset="0"/>
              <a:buChar char="•"/>
              <a:defRPr sz="1400" b="0" spc="-27">
                <a:latin typeface="Barlow Regular"/>
                <a:ea typeface="Barlow Regular"/>
                <a:cs typeface="Barlow Regular"/>
                <a:sym typeface="Barlow Regular"/>
              </a:defRPr>
            </a:pPr>
            <a:r>
              <a:rPr lang="en-GB" sz="2800" dirty="0">
                <a:solidFill>
                  <a:schemeClr val="tx2"/>
                </a:solidFill>
                <a:latin typeface="Barlow" pitchFamily="2" charset="77"/>
              </a:rPr>
              <a:t>Office hours: Wednesdays 1:30pm – 2:30pm (</a:t>
            </a:r>
            <a:r>
              <a:rPr lang="en-GB" sz="2800" dirty="0" err="1">
                <a:solidFill>
                  <a:schemeClr val="tx2"/>
                </a:solidFill>
                <a:latin typeface="Barlow" pitchFamily="2" charset="77"/>
              </a:rPr>
              <a:t>amy.thomas@glasgow.ac.uk</a:t>
            </a:r>
            <a:r>
              <a:rPr lang="en-GB" sz="2800" dirty="0">
                <a:solidFill>
                  <a:schemeClr val="tx2"/>
                </a:solidFill>
                <a:latin typeface="Barlow" pitchFamily="2" charset="77"/>
              </a:rPr>
              <a:t>)</a:t>
            </a:r>
          </a:p>
        </p:txBody>
      </p:sp>
    </p:spTree>
    <p:extLst>
      <p:ext uri="{BB962C8B-B14F-4D97-AF65-F5344CB8AC3E}">
        <p14:creationId xmlns:p14="http://schemas.microsoft.com/office/powerpoint/2010/main" val="4137750123"/>
      </p:ext>
    </p:extLst>
  </p:cSld>
  <p:clrMapOvr>
    <a:masterClrMapping/>
  </p:clrMapOvr>
  <p:transition spd="med" advTm="222639"/>
</p:sld>
</file>

<file path=ppt/theme/theme1.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3175" cap="flat">
          <a:noFill/>
          <a:miter lim="400000"/>
        </a:ln>
        <a:effectLst/>
        <a:sp3d/>
      </a:spPr>
      <a:bodyPr rot="0" spcFirstLastPara="1" vertOverflow="overflow" horzOverflow="overflow" vert="horz" wrap="square" lIns="0" tIns="0" rIns="0" bIns="0" numCol="1" spcCol="38100" rtlCol="0" anchor="ctr">
        <a:spAutoFit/>
      </a:bodyPr>
      <a:lstStyle>
        <a:defPPr marL="0" marR="0" indent="0" algn="ctr" defTabSz="587022"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3175"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3175" cap="flat">
          <a:noFill/>
          <a:miter lim="400000"/>
        </a:ln>
        <a:effectLst/>
        <a:sp3d/>
      </a:spPr>
      <a:bodyPr rot="0" spcFirstLastPara="1" vertOverflow="overflow" horzOverflow="overflow" vert="horz" wrap="square" lIns="20320" tIns="20320" rIns="20320" bIns="20320" numCol="1" spcCol="38100" rtlCol="0" anchor="ctr">
        <a:spAutoFit/>
      </a:bodyPr>
      <a:lstStyle>
        <a:defPPr marL="0" marR="0" indent="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3175" cap="flat">
          <a:noFill/>
          <a:miter lim="400000"/>
        </a:ln>
        <a:effectLst/>
        <a:sp3d/>
      </a:spPr>
      <a:bodyPr rot="0" spcFirstLastPara="1" vertOverflow="overflow" horzOverflow="overflow" vert="horz" wrap="square" lIns="0" tIns="0" rIns="0" bIns="0" numCol="1" spcCol="38100" rtlCol="0" anchor="ctr">
        <a:spAutoFit/>
      </a:bodyPr>
      <a:lstStyle>
        <a:defPPr marL="0" marR="0" indent="0" algn="ctr" defTabSz="587022"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3175"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3175" cap="flat">
          <a:noFill/>
          <a:miter lim="400000"/>
        </a:ln>
        <a:effectLst/>
        <a:sp3d/>
      </a:spPr>
      <a:bodyPr rot="0" spcFirstLastPara="1" vertOverflow="overflow" horzOverflow="overflow" vert="horz" wrap="square" lIns="20320" tIns="20320" rIns="20320" bIns="20320" numCol="1" spcCol="38100" rtlCol="0" anchor="ctr">
        <a:spAutoFit/>
      </a:bodyPr>
      <a:lstStyle>
        <a:defPPr marL="0" marR="0" indent="0" algn="ctr" defTabSz="587022" rtl="0" fontAlgn="auto" latinLnBrk="0" hangingPunct="0">
          <a:lnSpc>
            <a:spcPct val="100000"/>
          </a:lnSpc>
          <a:spcBef>
            <a:spcPts val="0"/>
          </a:spcBef>
          <a:spcAft>
            <a:spcPts val="0"/>
          </a:spcAft>
          <a:buClrTx/>
          <a:buSzTx/>
          <a:buFontTx/>
          <a:buNone/>
          <a:tabLst/>
          <a:defRPr kumimoji="0" sz="18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5301</TotalTime>
  <Words>1510</Words>
  <Application>Microsoft Macintosh PowerPoint</Application>
  <PresentationFormat>Custom</PresentationFormat>
  <Paragraphs>137</Paragraphs>
  <Slides>24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Barlow</vt:lpstr>
      <vt:lpstr>Helvetica Neue</vt:lpstr>
      <vt:lpstr>Helvetica Neue Light</vt:lpstr>
      <vt:lpstr>Helvetica Neue Medium</vt:lpstr>
      <vt:lpstr>White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MEMES AND PARASITES: ANALYSING DISCOURSE ON THE COPYRIGHT DIRECTIVE  Ula Furgal Amy Thomas Gikii 2020</dc:title>
  <dc:creator>Amy Thomas (student)</dc:creator>
  <cp:lastModifiedBy>Amy Thomas</cp:lastModifiedBy>
  <cp:revision>142</cp:revision>
  <dcterms:created xsi:type="dcterms:W3CDTF">2020-07-21T13:40:18Z</dcterms:created>
  <dcterms:modified xsi:type="dcterms:W3CDTF">2026-01-27T11:37:11Z</dcterms:modified>
</cp:coreProperties>
</file>