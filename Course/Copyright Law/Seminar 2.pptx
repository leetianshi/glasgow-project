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56" r:id="rId2"/>
    <p:sldId id="330" r:id="rId3"/>
    <p:sldId id="331" r:id="rId4"/>
    <p:sldId id="361" r:id="rId5"/>
    <p:sldId id="362" r:id="rId6"/>
    <p:sldId id="336" r:id="rId7"/>
    <p:sldId id="338" r:id="rId8"/>
    <p:sldId id="339" r:id="rId9"/>
    <p:sldId id="337" r:id="rId10"/>
    <p:sldId id="340" r:id="rId11"/>
    <p:sldId id="352" r:id="rId12"/>
    <p:sldId id="353" r:id="rId13"/>
    <p:sldId id="345" r:id="rId14"/>
    <p:sldId id="364" r:id="rId15"/>
    <p:sldId id="347" r:id="rId16"/>
    <p:sldId id="348" r:id="rId17"/>
    <p:sldId id="313" r:id="rId18"/>
    <p:sldId id="333" r:id="rId19"/>
    <p:sldId id="334" r:id="rId20"/>
    <p:sldId id="335" r:id="rId21"/>
    <p:sldId id="343" r:id="rId22"/>
    <p:sldId id="314" r:id="rId23"/>
    <p:sldId id="354" r:id="rId24"/>
    <p:sldId id="357" r:id="rId25"/>
    <p:sldId id="359" r:id="rId26"/>
    <p:sldId id="363" r:id="rId27"/>
    <p:sldId id="365" r:id="rId28"/>
    <p:sldId id="351" r:id="rId29"/>
  </p:sldIdLst>
  <p:sldSz cx="17340263"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765"/>
    <a:srgbClr val="EC62A7"/>
    <a:srgbClr val="D17D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3175" cap="flat">
              <a:noFill/>
              <a:miter lim="400000"/>
            </a:ln>
          </a:right>
          <a:top>
            <a:ln w="12700" cap="flat">
              <a:noFill/>
              <a:miter lim="400000"/>
            </a:ln>
          </a:top>
          <a:bottom>
            <a:ln w="12700" cap="flat">
              <a:noFill/>
              <a:miter lim="400000"/>
            </a:ln>
          </a:bottom>
          <a:insideH>
            <a:ln w="12700" cap="flat">
              <a:noFill/>
              <a:miter lim="400000"/>
            </a:ln>
          </a:insideH>
          <a:insideV>
            <a:ln w="3175"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3175" cap="flat">
              <a:solidFill>
                <a:srgbClr val="3797C6"/>
              </a:solidFill>
              <a:prstDash val="solid"/>
              <a:miter lim="400000"/>
            </a:ln>
          </a:top>
          <a:bottom>
            <a:ln w="12700" cap="flat">
              <a:noFill/>
              <a:miter lim="400000"/>
            </a:ln>
          </a:bottom>
          <a:insideH>
            <a:ln w="3175"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3175" cap="flat">
              <a:noFill/>
              <a:miter lim="400000"/>
            </a:ln>
          </a:bottom>
          <a:insideH>
            <a:ln w="3175"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3175" cap="flat">
              <a:solidFill>
                <a:srgbClr val="B8B8B8"/>
              </a:solidFill>
              <a:prstDash val="solid"/>
              <a:miter lim="400000"/>
            </a:ln>
          </a:left>
          <a:right>
            <a:ln w="3175" cap="flat">
              <a:solidFill>
                <a:srgbClr val="B8B8B8"/>
              </a:solidFill>
              <a:prstDash val="solid"/>
              <a:miter lim="400000"/>
            </a:ln>
          </a:right>
          <a:top>
            <a:ln w="3175" cap="flat">
              <a:solidFill>
                <a:srgbClr val="B8B8B8"/>
              </a:solidFill>
              <a:prstDash val="solid"/>
              <a:miter lim="400000"/>
            </a:ln>
          </a:top>
          <a:bottom>
            <a:ln w="3175" cap="flat">
              <a:solidFill>
                <a:srgbClr val="B8B8B8"/>
              </a:solidFill>
              <a:prstDash val="solid"/>
              <a:miter lim="400000"/>
            </a:ln>
          </a:bottom>
          <a:insideH>
            <a:ln w="3175" cap="flat">
              <a:solidFill>
                <a:srgbClr val="B8B8B8"/>
              </a:solidFill>
              <a:prstDash val="solid"/>
              <a:miter lim="400000"/>
            </a:ln>
          </a:insideH>
          <a:insideV>
            <a:ln w="3175"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3175" cap="flat">
              <a:solidFill>
                <a:srgbClr val="606060"/>
              </a:solidFill>
              <a:prstDash val="solid"/>
              <a:miter lim="400000"/>
            </a:ln>
          </a:left>
          <a:right>
            <a:ln w="3175" cap="flat">
              <a:solidFill>
                <a:srgbClr val="606060"/>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606060"/>
              </a:solidFill>
              <a:prstDash val="solid"/>
              <a:miter lim="400000"/>
            </a:ln>
          </a:insideH>
          <a:insideV>
            <a:ln w="3175"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3175" cap="flat">
              <a:solidFill>
                <a:srgbClr val="606060"/>
              </a:solidFill>
              <a:prstDash val="solid"/>
              <a:miter lim="400000"/>
            </a:ln>
          </a:left>
          <a:right>
            <a:ln w="3175" cap="flat">
              <a:solidFill>
                <a:srgbClr val="606060"/>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606060"/>
              </a:solidFill>
              <a:prstDash val="solid"/>
              <a:miter lim="400000"/>
            </a:ln>
          </a:insideH>
          <a:insideV>
            <a:ln w="3175"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3175" cap="flat">
              <a:solidFill>
                <a:srgbClr val="929292"/>
              </a:solidFill>
              <a:prstDash val="solid"/>
              <a:miter lim="400000"/>
            </a:ln>
          </a:left>
          <a:right>
            <a:ln w="3175" cap="flat">
              <a:solidFill>
                <a:srgbClr val="929292"/>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929292"/>
              </a:solidFill>
              <a:prstDash val="solid"/>
              <a:miter lim="400000"/>
            </a:ln>
          </a:insideH>
          <a:insideV>
            <a:ln w="3175"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3175" cap="flat">
              <a:solidFill>
                <a:srgbClr val="5D5D5D"/>
              </a:solidFill>
              <a:custDash>
                <a:ds d="200000" sp="200000"/>
              </a:custDash>
              <a:miter lim="400000"/>
            </a:ln>
          </a:left>
          <a:right>
            <a:ln w="3175" cap="flat">
              <a:solidFill>
                <a:srgbClr val="5D5D5D"/>
              </a:solidFill>
              <a:custDash>
                <a:ds d="200000" sp="200000"/>
              </a:custDash>
              <a:miter lim="400000"/>
            </a:ln>
          </a:right>
          <a:top>
            <a:ln w="3175" cap="flat">
              <a:solidFill>
                <a:srgbClr val="5D5D5D"/>
              </a:solidFill>
              <a:custDash>
                <a:ds d="200000" sp="200000"/>
              </a:custDash>
              <a:miter lim="400000"/>
            </a:ln>
          </a:top>
          <a:bottom>
            <a:ln w="3175" cap="flat">
              <a:solidFill>
                <a:srgbClr val="5D5D5D"/>
              </a:solidFill>
              <a:custDash>
                <a:ds d="200000" sp="200000"/>
              </a:custDash>
              <a:miter lim="400000"/>
            </a:ln>
          </a:bottom>
          <a:insideH>
            <a:ln w="3175" cap="flat">
              <a:solidFill>
                <a:srgbClr val="5D5D5D"/>
              </a:solidFill>
              <a:custDash>
                <a:ds d="200000" sp="200000"/>
              </a:custDash>
              <a:miter lim="400000"/>
            </a:ln>
          </a:insideH>
          <a:insideV>
            <a:ln w="3175"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3175" cap="flat">
              <a:solidFill>
                <a:srgbClr val="000000"/>
              </a:solidFill>
              <a:prstDash val="solid"/>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3175" cap="flat">
              <a:solidFill>
                <a:srgbClr val="000000"/>
              </a:solidFill>
              <a:prstDash val="solid"/>
              <a:miter lim="400000"/>
            </a:ln>
          </a:top>
          <a:bottom>
            <a:ln w="12700" cap="flat">
              <a:noFill/>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12700" cap="flat">
              <a:noFill/>
              <a:miter lim="400000"/>
            </a:ln>
          </a:top>
          <a:bottom>
            <a:ln w="3175" cap="flat">
              <a:solidFill>
                <a:srgbClr val="000000"/>
              </a:solidFill>
              <a:prstDash val="solid"/>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746" autoAdjust="0"/>
    <p:restoredTop sz="94564"/>
  </p:normalViewPr>
  <p:slideViewPr>
    <p:cSldViewPr snapToGrid="0" snapToObjects="1">
      <p:cViewPr varScale="1">
        <p:scale>
          <a:sx n="51" d="100"/>
          <a:sy n="51" d="100"/>
        </p:scale>
        <p:origin x="224" y="1400"/>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381000" y="685800"/>
            <a:ext cx="6096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Punti elenco">
    <p:spTree>
      <p:nvGrpSpPr>
        <p:cNvPr id="1" name=""/>
        <p:cNvGrpSpPr/>
        <p:nvPr/>
      </p:nvGrpSpPr>
      <p:grpSpPr>
        <a:xfrm>
          <a:off x="0" y="0"/>
          <a:ext cx="0" cy="0"/>
          <a:chOff x="0" y="0"/>
          <a:chExt cx="0" cy="0"/>
        </a:xfrm>
      </p:grpSpPr>
      <p:sp>
        <p:nvSpPr>
          <p:cNvPr id="75" name="Corpo livello uno…"/>
          <p:cNvSpPr txBox="1">
            <a:spLocks noGrp="1"/>
          </p:cNvSpPr>
          <p:nvPr>
            <p:ph type="body" sz="half" idx="1"/>
          </p:nvPr>
        </p:nvSpPr>
        <p:spPr>
          <a:xfrm>
            <a:off x="3068413" y="2844799"/>
            <a:ext cx="11203438" cy="4064002"/>
          </a:xfrm>
          <a:prstGeom prst="rect">
            <a:avLst/>
          </a:prstGeom>
        </p:spPr>
        <p:txBody>
          <a:bodyPr anchor="ctr"/>
          <a:lstStyle>
            <a:lvl1pPr marL="564472" indent="-564472" algn="l">
              <a:spcBef>
                <a:spcPts val="5467"/>
              </a:spcBef>
              <a:buSzPct val="125000"/>
              <a:buChar char="•"/>
              <a:defRPr sz="4267"/>
            </a:lvl1pPr>
            <a:lvl2pPr marL="1411181" indent="-564472" algn="l">
              <a:spcBef>
                <a:spcPts val="5467"/>
              </a:spcBef>
              <a:buSzPct val="125000"/>
              <a:buChar char="•"/>
              <a:defRPr sz="4267"/>
            </a:lvl2pPr>
            <a:lvl3pPr marL="2257890" indent="-564472" algn="l">
              <a:spcBef>
                <a:spcPts val="5467"/>
              </a:spcBef>
              <a:buSzPct val="125000"/>
              <a:buChar char="•"/>
              <a:defRPr sz="4267"/>
            </a:lvl3pPr>
            <a:lvl4pPr marL="3104599" indent="-564472" algn="l">
              <a:spcBef>
                <a:spcPts val="5467"/>
              </a:spcBef>
              <a:buSzPct val="125000"/>
              <a:buChar char="•"/>
              <a:defRPr sz="4267"/>
            </a:lvl4pPr>
            <a:lvl5pPr marL="3951308" indent="-564472" algn="l">
              <a:spcBef>
                <a:spcPts val="5467"/>
              </a:spcBef>
              <a:buSzPct val="125000"/>
              <a:buChar char="•"/>
              <a:defRPr sz="4267"/>
            </a:lvl5pPr>
          </a:lstStyle>
          <a:p>
            <a:r>
              <a:t>Corpo livello uno</a:t>
            </a:r>
          </a:p>
          <a:p>
            <a:pPr lvl="1"/>
            <a:r>
              <a:t>Corpo livello due</a:t>
            </a:r>
          </a:p>
          <a:p>
            <a:pPr lvl="2"/>
            <a:r>
              <a:t>Corpo livello tre</a:t>
            </a:r>
          </a:p>
          <a:p>
            <a:pPr lvl="3"/>
            <a:r>
              <a:t>Corpo livello quattro</a:t>
            </a:r>
          </a:p>
          <a:p>
            <a:pPr lvl="4"/>
            <a:r>
              <a:t>Corpo livello cinque</a:t>
            </a:r>
          </a:p>
        </p:txBody>
      </p:sp>
      <p:sp>
        <p:nvSpPr>
          <p:cNvPr id="76"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Foto - 3 per pagina">
    <p:spTree>
      <p:nvGrpSpPr>
        <p:cNvPr id="1" name=""/>
        <p:cNvGrpSpPr/>
        <p:nvPr/>
      </p:nvGrpSpPr>
      <p:grpSpPr>
        <a:xfrm>
          <a:off x="0" y="0"/>
          <a:ext cx="0" cy="0"/>
          <a:chOff x="0" y="0"/>
          <a:chExt cx="0" cy="0"/>
        </a:xfrm>
      </p:grpSpPr>
      <p:sp>
        <p:nvSpPr>
          <p:cNvPr id="83" name="Immagine"/>
          <p:cNvSpPr>
            <a:spLocks noGrp="1"/>
          </p:cNvSpPr>
          <p:nvPr>
            <p:ph type="pic" sz="quarter" idx="13"/>
          </p:nvPr>
        </p:nvSpPr>
        <p:spPr>
          <a:xfrm>
            <a:off x="10531170" y="4947921"/>
            <a:ext cx="4478366" cy="2240281"/>
          </a:xfrm>
          <a:prstGeom prst="rect">
            <a:avLst/>
          </a:prstGeom>
        </p:spPr>
        <p:txBody>
          <a:bodyPr lIns="91439" tIns="45719" rIns="91439" bIns="45719">
            <a:noAutofit/>
          </a:bodyPr>
          <a:lstStyle/>
          <a:p>
            <a:endParaRPr/>
          </a:p>
        </p:txBody>
      </p:sp>
      <p:sp>
        <p:nvSpPr>
          <p:cNvPr id="84" name="Immagine"/>
          <p:cNvSpPr>
            <a:spLocks noGrp="1"/>
          </p:cNvSpPr>
          <p:nvPr>
            <p:ph type="pic" sz="quarter" idx="14"/>
          </p:nvPr>
        </p:nvSpPr>
        <p:spPr>
          <a:xfrm>
            <a:off x="10322876" y="2585720"/>
            <a:ext cx="4443444" cy="2221655"/>
          </a:xfrm>
          <a:prstGeom prst="rect">
            <a:avLst/>
          </a:prstGeom>
        </p:spPr>
        <p:txBody>
          <a:bodyPr lIns="91439" tIns="45719" rIns="91439" bIns="45719">
            <a:noAutofit/>
          </a:bodyPr>
          <a:lstStyle/>
          <a:p>
            <a:endParaRPr/>
          </a:p>
        </p:txBody>
      </p:sp>
      <p:sp>
        <p:nvSpPr>
          <p:cNvPr id="85" name="Immagine"/>
          <p:cNvSpPr>
            <a:spLocks noGrp="1"/>
          </p:cNvSpPr>
          <p:nvPr>
            <p:ph type="pic" sz="half" idx="15"/>
          </p:nvPr>
        </p:nvSpPr>
        <p:spPr>
          <a:xfrm>
            <a:off x="2004967" y="2585719"/>
            <a:ext cx="9174763" cy="4587242"/>
          </a:xfrm>
          <a:prstGeom prst="rect">
            <a:avLst/>
          </a:prstGeom>
        </p:spPr>
        <p:txBody>
          <a:bodyPr lIns="91439" tIns="45719" rIns="91439" bIns="45719">
            <a:noAutofit/>
          </a:bodyPr>
          <a:lstStyle/>
          <a:p>
            <a:endParaRPr/>
          </a:p>
        </p:txBody>
      </p:sp>
      <p:sp>
        <p:nvSpPr>
          <p:cNvPr id="86"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Citazione">
    <p:spTree>
      <p:nvGrpSpPr>
        <p:cNvPr id="1" name=""/>
        <p:cNvGrpSpPr/>
        <p:nvPr/>
      </p:nvGrpSpPr>
      <p:grpSpPr>
        <a:xfrm>
          <a:off x="0" y="0"/>
          <a:ext cx="0" cy="0"/>
          <a:chOff x="0" y="0"/>
          <a:chExt cx="0" cy="0"/>
        </a:xfrm>
      </p:grpSpPr>
      <p:sp>
        <p:nvSpPr>
          <p:cNvPr id="93" name="–Giovanni Mela"/>
          <p:cNvSpPr txBox="1">
            <a:spLocks noGrp="1"/>
          </p:cNvSpPr>
          <p:nvPr>
            <p:ph type="body" sz="quarter" idx="13"/>
          </p:nvPr>
        </p:nvSpPr>
        <p:spPr>
          <a:xfrm>
            <a:off x="3440957" y="5715001"/>
            <a:ext cx="10465122" cy="451470"/>
          </a:xfrm>
          <a:prstGeom prst="rect">
            <a:avLst/>
          </a:prstGeom>
        </p:spPr>
        <p:txBody>
          <a:bodyPr>
            <a:spAutoFit/>
          </a:bodyPr>
          <a:lstStyle>
            <a:lvl1pPr>
              <a:defRPr sz="2667" i="1"/>
            </a:lvl1pPr>
          </a:lstStyle>
          <a:p>
            <a:r>
              <a:t>–Giovanni Mela</a:t>
            </a:r>
          </a:p>
        </p:txBody>
      </p:sp>
      <p:sp>
        <p:nvSpPr>
          <p:cNvPr id="94" name="“Inserisci qui una citazione”."/>
          <p:cNvSpPr txBox="1">
            <a:spLocks noGrp="1"/>
          </p:cNvSpPr>
          <p:nvPr>
            <p:ph type="body" sz="quarter" idx="14"/>
          </p:nvPr>
        </p:nvSpPr>
        <p:spPr>
          <a:xfrm>
            <a:off x="3440957" y="4380634"/>
            <a:ext cx="10465122" cy="697692"/>
          </a:xfrm>
          <a:prstGeom prst="rect">
            <a:avLst/>
          </a:prstGeom>
        </p:spPr>
        <p:txBody>
          <a:bodyPr anchor="ctr">
            <a:spAutoFit/>
          </a:bodyPr>
          <a:lstStyle>
            <a:lvl1pPr>
              <a:defRPr sz="4267">
                <a:latin typeface="+mn-lt"/>
                <a:ea typeface="+mn-ea"/>
                <a:cs typeface="+mn-cs"/>
                <a:sym typeface="Helvetica Neue Medium"/>
              </a:defRPr>
            </a:lvl1pPr>
          </a:lstStyle>
          <a:p>
            <a:r>
              <a:t>“Inserisci qui una citazione”. </a:t>
            </a:r>
          </a:p>
        </p:txBody>
      </p:sp>
      <p:sp>
        <p:nvSpPr>
          <p:cNvPr id="95"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Foto">
    <p:spTree>
      <p:nvGrpSpPr>
        <p:cNvPr id="1" name=""/>
        <p:cNvGrpSpPr/>
        <p:nvPr/>
      </p:nvGrpSpPr>
      <p:grpSpPr>
        <a:xfrm>
          <a:off x="0" y="0"/>
          <a:ext cx="0" cy="0"/>
          <a:chOff x="0" y="0"/>
          <a:chExt cx="0" cy="0"/>
        </a:xfrm>
      </p:grpSpPr>
      <p:sp>
        <p:nvSpPr>
          <p:cNvPr id="102" name="Immagine"/>
          <p:cNvSpPr>
            <a:spLocks noGrp="1"/>
          </p:cNvSpPr>
          <p:nvPr>
            <p:ph type="pic" idx="13"/>
          </p:nvPr>
        </p:nvSpPr>
        <p:spPr>
          <a:xfrm>
            <a:off x="2167532" y="2133600"/>
            <a:ext cx="13005200" cy="6505789"/>
          </a:xfrm>
          <a:prstGeom prst="rect">
            <a:avLst/>
          </a:prstGeom>
        </p:spPr>
        <p:txBody>
          <a:bodyPr lIns="91439" tIns="45719" rIns="91439" bIns="45719">
            <a:noAutofit/>
          </a:bodyPr>
          <a:lstStyle/>
          <a:p>
            <a:endParaRPr/>
          </a:p>
        </p:txBody>
      </p:sp>
      <p:sp>
        <p:nvSpPr>
          <p:cNvPr id="103"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Vuoto">
    <p:spTree>
      <p:nvGrpSpPr>
        <p:cNvPr id="1" name=""/>
        <p:cNvGrpSpPr/>
        <p:nvPr/>
      </p:nvGrpSpPr>
      <p:grpSpPr>
        <a:xfrm>
          <a:off x="0" y="0"/>
          <a:ext cx="0" cy="0"/>
          <a:chOff x="0" y="0"/>
          <a:chExt cx="0" cy="0"/>
        </a:xfrm>
      </p:grpSpPr>
      <p:sp>
        <p:nvSpPr>
          <p:cNvPr id="110"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Titolo e sottotitolo">
    <p:spTree>
      <p:nvGrpSpPr>
        <p:cNvPr id="1" name=""/>
        <p:cNvGrpSpPr/>
        <p:nvPr/>
      </p:nvGrpSpPr>
      <p:grpSpPr>
        <a:xfrm>
          <a:off x="0" y="0"/>
          <a:ext cx="0" cy="0"/>
          <a:chOff x="0" y="0"/>
          <a:chExt cx="0" cy="0"/>
        </a:xfrm>
      </p:grpSpPr>
      <p:sp>
        <p:nvSpPr>
          <p:cNvPr id="11" name="Titolo Testo"/>
          <p:cNvSpPr txBox="1">
            <a:spLocks noGrp="1"/>
          </p:cNvSpPr>
          <p:nvPr>
            <p:ph type="title"/>
          </p:nvPr>
        </p:nvSpPr>
        <p:spPr>
          <a:prstGeom prst="rect">
            <a:avLst/>
          </a:prstGeom>
        </p:spPr>
        <p:txBody>
          <a:bodyPr/>
          <a:lstStyle/>
          <a:p>
            <a:r>
              <a:t>Titolo Testo</a:t>
            </a:r>
          </a:p>
        </p:txBody>
      </p:sp>
      <p:sp>
        <p:nvSpPr>
          <p:cNvPr id="12" name="Corpo livello uno…"/>
          <p:cNvSpPr txBox="1">
            <a:spLocks noGrp="1"/>
          </p:cNvSpPr>
          <p:nvPr>
            <p:ph type="body" sz="quarter" idx="1"/>
          </p:nvPr>
        </p:nvSpPr>
        <p:spPr>
          <a:prstGeom prst="rect">
            <a:avLst/>
          </a:prstGeom>
        </p:spPr>
        <p:txBody>
          <a:bodyPr/>
          <a:lstStyle/>
          <a:p>
            <a:r>
              <a:t>Corpo livello uno</a:t>
            </a:r>
          </a:p>
          <a:p>
            <a:pPr lvl="1"/>
            <a:r>
              <a:t>Corpo livello due</a:t>
            </a:r>
          </a:p>
          <a:p>
            <a:pPr lvl="2"/>
            <a:r>
              <a:t>Corpo livello tre</a:t>
            </a:r>
          </a:p>
          <a:p>
            <a:pPr lvl="3"/>
            <a:r>
              <a:t>Corpo livello quattro</a:t>
            </a:r>
          </a:p>
          <a:p>
            <a:pPr lvl="4"/>
            <a:r>
              <a:t>Corpo livello cinque</a:t>
            </a:r>
          </a:p>
        </p:txBody>
      </p:sp>
      <p:sp>
        <p:nvSpPr>
          <p:cNvPr id="13"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970173030"/>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olo Testo"/>
          <p:cNvSpPr txBox="1">
            <a:spLocks noGrp="1"/>
          </p:cNvSpPr>
          <p:nvPr>
            <p:ph type="title"/>
          </p:nvPr>
        </p:nvSpPr>
        <p:spPr>
          <a:xfrm>
            <a:off x="3115827" y="3053080"/>
            <a:ext cx="11108609" cy="185928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0320" tIns="20320" rIns="20320" bIns="20320" anchor="b">
            <a:normAutofit/>
          </a:bodyPr>
          <a:lstStyle/>
          <a:p>
            <a:r>
              <a:t>Titolo Testo</a:t>
            </a:r>
          </a:p>
        </p:txBody>
      </p:sp>
      <p:sp>
        <p:nvSpPr>
          <p:cNvPr id="3" name="Corpo livello uno…"/>
          <p:cNvSpPr txBox="1">
            <a:spLocks noGrp="1"/>
          </p:cNvSpPr>
          <p:nvPr>
            <p:ph type="body" idx="1"/>
          </p:nvPr>
        </p:nvSpPr>
        <p:spPr>
          <a:xfrm>
            <a:off x="3115827" y="4963160"/>
            <a:ext cx="11108609" cy="63500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0320" tIns="20320" rIns="20320" bIns="20320">
            <a:normAutofit/>
          </a:bodyPr>
          <a:lstStyle/>
          <a:p>
            <a:r>
              <a:t>Corpo livello uno</a:t>
            </a:r>
          </a:p>
          <a:p>
            <a:pPr lvl="1"/>
            <a:r>
              <a:t>Corpo livello due</a:t>
            </a:r>
          </a:p>
          <a:p>
            <a:pPr lvl="2"/>
            <a:r>
              <a:t>Corpo livello tre</a:t>
            </a:r>
          </a:p>
          <a:p>
            <a:pPr lvl="3"/>
            <a:r>
              <a:t>Corpo livello quattro</a:t>
            </a:r>
          </a:p>
          <a:p>
            <a:pPr lvl="4"/>
            <a:r>
              <a:t>Corpo livello cinque</a:t>
            </a:r>
          </a:p>
        </p:txBody>
      </p:sp>
      <p:sp>
        <p:nvSpPr>
          <p:cNvPr id="4" name="Numero diapositiva"/>
          <p:cNvSpPr txBox="1">
            <a:spLocks noGrp="1"/>
          </p:cNvSpPr>
          <p:nvPr>
            <p:ph type="sldNum" sz="quarter" idx="2"/>
          </p:nvPr>
        </p:nvSpPr>
        <p:spPr>
          <a:xfrm>
            <a:off x="8517184" y="7366001"/>
            <a:ext cx="299121" cy="328360"/>
          </a:xfrm>
          <a:prstGeom prst="rect">
            <a:avLst/>
          </a:prstGeom>
          <a:ln w="3175">
            <a:miter lim="400000"/>
          </a:ln>
        </p:spPr>
        <p:txBody>
          <a:bodyPr wrap="none" lIns="20320" tIns="20320" rIns="20320" bIns="20320">
            <a:spAutoFit/>
          </a:bodyPr>
          <a:lstStyle>
            <a:lvl1pPr>
              <a:defRPr sz="1867" b="0">
                <a:latin typeface="Helvetica Neue Light"/>
                <a:ea typeface="Helvetica Neue Light"/>
                <a:cs typeface="Helvetica Neue Light"/>
                <a:sym typeface="Helvetica Neue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Lst>
  <p:transition spd="med"/>
  <p:txStyles>
    <p:titleStyle>
      <a:lvl1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1pPr>
      <a:lvl2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2pPr>
      <a:lvl3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3pPr>
      <a:lvl4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4pPr>
      <a:lvl5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5pPr>
      <a:lvl6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6pPr>
      <a:lvl7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7pPr>
      <a:lvl8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8pPr>
      <a:lvl9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9pPr>
    </p:titleStyle>
    <p:bodyStyle>
      <a:lvl1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1pPr>
      <a:lvl2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2pPr>
      <a:lvl3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3pPr>
      <a:lvl4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4pPr>
      <a:lvl5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5pPr>
      <a:lvl6pPr marL="0" marR="0" indent="474157"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6pPr>
      <a:lvl7pPr marL="0" marR="0" indent="948314"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7pPr>
      <a:lvl8pPr marL="0" marR="0" indent="1422471"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8pPr>
      <a:lvl9pPr marL="0" marR="0" indent="1896628"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1pPr>
      <a:lvl2pPr marL="0" marR="0" indent="304815"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2pPr>
      <a:lvl3pPr marL="0" marR="0" indent="609630"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3pPr>
      <a:lvl4pPr marL="0" marR="0" indent="914446"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4pPr>
      <a:lvl5pPr marL="0" marR="0" indent="1219261"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5pPr>
      <a:lvl6pPr marL="0" marR="0" indent="1524076"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6pPr>
      <a:lvl7pPr marL="0" marR="0" indent="1828891"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7pPr>
      <a:lvl8pPr marL="0" marR="0" indent="2133707"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8pPr>
      <a:lvl9pPr marL="0" marR="0" indent="2438522"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hyperlink" Target="https://bromleyhouse.org/holy-blood-and-the-holy-grail/" TargetMode="External"/><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hyperlink" Target="https://drownedinsound.com/in_depth/4151273-how-i-learned-to-stop-worrying-and-love-oasis-be-here-now" TargetMode="External"/><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hyperlink" Target="https://www.copyrightuser.org/educate/the-game-is-on/episode-1-case-file-1/" TargetMode="External"/><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hyperlink" Target="https://www.businessinsider.com/this-is-the-coolest-latte-art-ever-2013-5?r=US&amp;IR=T#this-cute-design-has-a-cat-reaching-over-to-another-coffee-cup-to-watch-fish-swimming-in-the-coffee-5" TargetMode="External"/><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hyperlink" Target="https://www.today.com/popculture/music/scooter-braun-taylor-swift-feud-rcna50205" TargetMode="External"/><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slideLayout" Target="../slideLayouts/slideLayout6.xml"/><Relationship Id="rId1" Type="http://schemas.openxmlformats.org/officeDocument/2006/relationships/video" Target="https://www.youtube.com/embed/SUi-clEwKzg?feature=oembed" TargetMode="External"/><Relationship Id="rId5" Type="http://schemas.openxmlformats.org/officeDocument/2006/relationships/hyperlink" Target="https://www.bbc.co.uk/travel/article/20160106-an-ancient-ink-technique-sees-new-blood" TargetMode="External"/><Relationship Id="rId4" Type="http://schemas.openxmlformats.org/officeDocument/2006/relationships/hyperlink" Target="https://online.berklee.edu/takenote/can-you-copyright-choreography-inside-the-murky-legal-landscape-of-tiktok-dances/"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fandompulse.substack.com/p/the-internet-goes-crazy-over-studio" TargetMode="External"/><Relationship Id="rId2" Type="http://schemas.openxmlformats.org/officeDocument/2006/relationships/image" Target="../media/image15.jpeg"/><Relationship Id="rId1" Type="http://schemas.openxmlformats.org/officeDocument/2006/relationships/slideLayout" Target="../slideLayouts/slideLayout6.xml"/><Relationship Id="rId4" Type="http://schemas.openxmlformats.org/officeDocument/2006/relationships/hyperlink" Target="https://www.bbc.co.uk/travel/article/20160106-an-ancient-ink-technique-sees-new-blood" TargetMode="External"/></Relationships>
</file>

<file path=ppt/slides/_rels/slide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0" name="POWER POINT_2.pdf" descr="POWER POINT_2.pdf"/>
          <p:cNvPicPr>
            <a:picLocks noChangeAspect="1"/>
          </p:cNvPicPr>
          <p:nvPr/>
        </p:nvPicPr>
        <p:blipFill>
          <a:blip r:embed="rId2"/>
          <a:stretch>
            <a:fillRect/>
          </a:stretch>
        </p:blipFill>
        <p:spPr>
          <a:xfrm>
            <a:off x="0" y="2844588"/>
            <a:ext cx="17340263" cy="7044336"/>
          </a:xfrm>
          <a:prstGeom prst="rect">
            <a:avLst/>
          </a:prstGeom>
          <a:ln w="12700">
            <a:miter lim="400000"/>
          </a:ln>
        </p:spPr>
      </p:pic>
      <p:sp>
        <p:nvSpPr>
          <p:cNvPr id="121" name="PROJECT NAME…"/>
          <p:cNvSpPr txBox="1"/>
          <p:nvPr/>
        </p:nvSpPr>
        <p:spPr>
          <a:xfrm>
            <a:off x="643085" y="8620331"/>
            <a:ext cx="3865120" cy="8589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chor="b">
            <a:normAutofit/>
          </a:bodyPr>
          <a:lstStyle/>
          <a:p>
            <a:pPr algn="l" defTabSz="782735">
              <a:defRPr sz="2400">
                <a:solidFill>
                  <a:srgbClr val="FFFFFF"/>
                </a:solidFill>
                <a:latin typeface="Barlow Bold"/>
                <a:ea typeface="Barlow Bold"/>
                <a:cs typeface="Barlow Bold"/>
                <a:sym typeface="Barlow Bold"/>
              </a:defRPr>
            </a:pPr>
            <a:r>
              <a:rPr lang="en-GB" sz="3467" dirty="0"/>
              <a:t>21 January 2026</a:t>
            </a:r>
            <a:endParaRPr lang="en-GB" sz="3200" dirty="0"/>
          </a:p>
        </p:txBody>
      </p:sp>
      <p:sp>
        <p:nvSpPr>
          <p:cNvPr id="122" name="Shape 21"/>
          <p:cNvSpPr txBox="1"/>
          <p:nvPr/>
        </p:nvSpPr>
        <p:spPr>
          <a:xfrm>
            <a:off x="643085" y="2014411"/>
            <a:ext cx="15442981" cy="257438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7735" tIns="67735" rIns="67735" bIns="67735">
            <a:spAutoFit/>
          </a:bodyPr>
          <a:lstStyle/>
          <a:p>
            <a:pPr algn="l" defTabSz="778972">
              <a:lnSpc>
                <a:spcPct val="90000"/>
              </a:lnSpc>
              <a:defRPr sz="8300">
                <a:solidFill>
                  <a:srgbClr val="F47A63"/>
                </a:solidFill>
                <a:latin typeface="Barlow-Medium"/>
                <a:ea typeface="Barlow-Medium"/>
                <a:cs typeface="Barlow-Medium"/>
                <a:sym typeface="Barlow-Medium"/>
              </a:defRPr>
            </a:pPr>
            <a:r>
              <a:rPr lang="en-GB" sz="8800" dirty="0"/>
              <a:t>Authorship, ownership, and subject-matter</a:t>
            </a:r>
          </a:p>
        </p:txBody>
      </p:sp>
      <p:sp>
        <p:nvSpPr>
          <p:cNvPr id="123" name="Shape 21"/>
          <p:cNvSpPr txBox="1"/>
          <p:nvPr/>
        </p:nvSpPr>
        <p:spPr>
          <a:xfrm>
            <a:off x="643085" y="4560057"/>
            <a:ext cx="6000578" cy="858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67735" tIns="67735" rIns="67735" bIns="67735">
            <a:spAutoFit/>
          </a:bodyPr>
          <a:lstStyle>
            <a:lvl1pPr algn="l" defTabSz="584200">
              <a:lnSpc>
                <a:spcPct val="80000"/>
              </a:lnSpc>
              <a:defRPr sz="2200">
                <a:solidFill>
                  <a:srgbClr val="575453"/>
                </a:solidFill>
                <a:latin typeface="Source Sans Pro"/>
                <a:ea typeface="Source Sans Pro"/>
                <a:cs typeface="Source Sans Pro"/>
                <a:sym typeface="Source Sans Pro"/>
              </a:defRPr>
            </a:lvl1pPr>
          </a:lstStyle>
          <a:p>
            <a:r>
              <a:rPr lang="en-GB" sz="2933" b="0" i="1" dirty="0">
                <a:latin typeface="Barlow" pitchFamily="2" charset="77"/>
              </a:rPr>
              <a:t>Copyright in the Digital Environment</a:t>
            </a:r>
          </a:p>
          <a:p>
            <a:r>
              <a:rPr lang="en-GB" sz="2933" b="0" dirty="0">
                <a:latin typeface="Barlow" pitchFamily="2" charset="77"/>
              </a:rPr>
              <a:t>Amy Thomas</a:t>
            </a:r>
          </a:p>
        </p:txBody>
      </p:sp>
      <p:pic>
        <p:nvPicPr>
          <p:cNvPr id="128" name="CREATe_logo.pdf" descr="CREATe_logo.pdf"/>
          <p:cNvPicPr>
            <a:picLocks noChangeAspect="1"/>
          </p:cNvPicPr>
          <p:nvPr/>
        </p:nvPicPr>
        <p:blipFill>
          <a:blip r:embed="rId3"/>
          <a:stretch>
            <a:fillRect/>
          </a:stretch>
        </p:blipFill>
        <p:spPr>
          <a:xfrm>
            <a:off x="15200133" y="9129850"/>
            <a:ext cx="1771865" cy="603932"/>
          </a:xfrm>
          <a:prstGeom prst="rect">
            <a:avLst/>
          </a:prstGeom>
          <a:ln w="12700">
            <a:miter lim="400000"/>
          </a:ln>
        </p:spPr>
      </p:pic>
      <p:pic>
        <p:nvPicPr>
          <p:cNvPr id="3" name="Picture 2" descr="Logo&#10;&#10;Description automatically generated with medium confidence">
            <a:extLst>
              <a:ext uri="{FF2B5EF4-FFF2-40B4-BE49-F238E27FC236}">
                <a16:creationId xmlns:a16="http://schemas.microsoft.com/office/drawing/2014/main" id="{C3063262-4A96-2F70-7806-EDB3098D322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230124" y="9204893"/>
            <a:ext cx="1771865" cy="548707"/>
          </a:xfrm>
          <a:prstGeom prst="rect">
            <a:avLst/>
          </a:prstGeom>
        </p:spPr>
      </p:pic>
    </p:spTree>
    <p:extLst>
      <p:ext uri="{BB962C8B-B14F-4D97-AF65-F5344CB8AC3E}">
        <p14:creationId xmlns:p14="http://schemas.microsoft.com/office/powerpoint/2010/main" val="1671474396"/>
      </p:ext>
    </p:extLst>
  </p:cSld>
  <p:clrMapOvr>
    <a:masterClrMapping/>
  </p:clrMapOvr>
  <p:transition spd="med" advTm="27815"/>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TEXT"/>
          <p:cNvSpPr txBox="1"/>
          <p:nvPr/>
        </p:nvSpPr>
        <p:spPr>
          <a:xfrm>
            <a:off x="1028459" y="1002549"/>
            <a:ext cx="964162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Format: 21 January</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p:cNvSpPr txBox="1"/>
          <p:nvPr/>
        </p:nvSpPr>
        <p:spPr>
          <a:xfrm>
            <a:off x="1028459" y="1002549"/>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45BED730-319F-B81C-01BA-95190CA990FA}"/>
              </a:ext>
            </a:extLst>
          </p:cNvPr>
          <p:cNvSpPr/>
          <p:nvPr/>
        </p:nvSpPr>
        <p:spPr>
          <a:xfrm>
            <a:off x="1028459" y="2179242"/>
            <a:ext cx="14862995" cy="6465873"/>
          </a:xfrm>
          <a:prstGeom prst="rect">
            <a:avLst/>
          </a:prstGeom>
        </p:spPr>
        <p:txBody>
          <a:bodyPr wrap="square">
            <a:spAutoFit/>
          </a:bodyPr>
          <a:lstStyle/>
          <a:p>
            <a:pPr marL="285750" indent="-285750" algn="l"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i.e., ‘Copyright subsistence’</a:t>
            </a:r>
          </a:p>
          <a:p>
            <a:pPr algn="l" defTabSz="457200">
              <a:lnSpc>
                <a:spcPct val="150000"/>
              </a:lnSpc>
              <a:defRPr sz="1400" b="0" spc="-27">
                <a:latin typeface="Barlow Regular"/>
                <a:ea typeface="Barlow Regular"/>
                <a:cs typeface="Barlow Regular"/>
                <a:sym typeface="Barlow Regular"/>
              </a:defRPr>
            </a:pPr>
            <a:endParaRPr lang="en-GB" sz="2800" dirty="0">
              <a:solidFill>
                <a:schemeClr val="tx2"/>
              </a:solidFill>
              <a:latin typeface="Barlow" pitchFamily="2" charset="77"/>
            </a:endParaRPr>
          </a:p>
          <a:p>
            <a:pPr marL="285750" indent="-285750" algn="l"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The author + the work</a:t>
            </a:r>
          </a:p>
          <a:p>
            <a:pPr marL="285750" indent="-285750" algn="l"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Subject-matter (incl. idea/expression)</a:t>
            </a:r>
          </a:p>
          <a:p>
            <a:pPr marL="285750" indent="-285750" algn="l"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Fixation</a:t>
            </a:r>
          </a:p>
          <a:p>
            <a:pPr marL="285750" indent="-285750" algn="l"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Originality</a:t>
            </a:r>
          </a:p>
          <a:p>
            <a:pPr marL="285750" indent="-285750" algn="l"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Authorship v ownership</a:t>
            </a:r>
          </a:p>
          <a:p>
            <a:pPr marL="285750" indent="-285750" algn="l"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endParaRPr lang="en-GB" sz="2800" dirty="0">
              <a:solidFill>
                <a:schemeClr val="tx2"/>
              </a:solidFill>
              <a:latin typeface="Barlow" pitchFamily="2" charset="77"/>
            </a:endParaRPr>
          </a:p>
          <a:p>
            <a:pPr marL="285750" indent="-285750" algn="l"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Note on readings: paras 3.47 - 3.85 of the textbook were excluded this week, but may be useful for revision (subject-matter deep dives)</a:t>
            </a:r>
          </a:p>
        </p:txBody>
      </p:sp>
    </p:spTree>
    <p:extLst>
      <p:ext uri="{BB962C8B-B14F-4D97-AF65-F5344CB8AC3E}">
        <p14:creationId xmlns:p14="http://schemas.microsoft.com/office/powerpoint/2010/main" val="2391216936"/>
      </p:ext>
    </p:extLst>
  </p:cSld>
  <p:clrMapOvr>
    <a:masterClrMapping/>
  </p:clrMapOvr>
  <p:transition spd="med" advTm="222639"/>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8D271-39AE-0982-98E4-C4E5999A63C7}"/>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D94B5357-A9B3-0233-4D55-E4AA369B3F51}"/>
              </a:ext>
            </a:extLst>
          </p:cNvPr>
          <p:cNvSpPr txBox="1"/>
          <p:nvPr/>
        </p:nvSpPr>
        <p:spPr>
          <a:xfrm>
            <a:off x="1028459" y="1002549"/>
            <a:ext cx="964162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The ‘author’</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58DCB523-839B-30AB-CFC4-8B1C050CEFD2}"/>
              </a:ext>
            </a:extLst>
          </p:cNvPr>
          <p:cNvSpPr txBox="1"/>
          <p:nvPr/>
        </p:nvSpPr>
        <p:spPr>
          <a:xfrm>
            <a:off x="1028459" y="1002549"/>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23BA65F2-1B7B-B317-2897-8C8731A4B20A}"/>
              </a:ext>
            </a:extLst>
          </p:cNvPr>
          <p:cNvSpPr/>
          <p:nvPr/>
        </p:nvSpPr>
        <p:spPr>
          <a:xfrm>
            <a:off x="1028460" y="2179242"/>
            <a:ext cx="8674442" cy="6465873"/>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GB" sz="2800" b="0" dirty="0">
                <a:solidFill>
                  <a:schemeClr val="tx2"/>
                </a:solidFill>
                <a:latin typeface="Barlow" pitchFamily="2" charset="77"/>
              </a:rPr>
              <a:t>Recap from last class: copyright is the law that regulates creativity and (its) creators.</a:t>
            </a:r>
          </a:p>
          <a:p>
            <a:pPr algn="just">
              <a:lnSpc>
                <a:spcPct val="150000"/>
              </a:lnSpc>
            </a:pPr>
            <a:endParaRPr lang="en-GB" sz="2800" b="0" dirty="0">
              <a:solidFill>
                <a:schemeClr val="tx2"/>
              </a:solidFill>
              <a:latin typeface="Barlow" pitchFamily="2" charset="77"/>
            </a:endParaRPr>
          </a:p>
          <a:p>
            <a:pPr marL="342900" indent="-342900" algn="just">
              <a:lnSpc>
                <a:spcPct val="150000"/>
              </a:lnSpc>
              <a:buFont typeface="Arial" panose="020B0604020202020204" pitchFamily="34" charset="0"/>
              <a:buChar char="•"/>
            </a:pPr>
            <a:r>
              <a:rPr lang="en-GB" sz="2800" b="0" i="1" dirty="0">
                <a:solidFill>
                  <a:schemeClr val="tx2"/>
                </a:solidFill>
                <a:latin typeface="Barlow" pitchFamily="2" charset="77"/>
              </a:rPr>
              <a:t>Think of an example of something (past or present) which you consider to be particularly creative. </a:t>
            </a:r>
          </a:p>
          <a:p>
            <a:pPr marL="342900" indent="-342900" algn="just">
              <a:lnSpc>
                <a:spcPct val="150000"/>
              </a:lnSpc>
              <a:buFont typeface="Arial" panose="020B0604020202020204" pitchFamily="34" charset="0"/>
              <a:buChar char="•"/>
            </a:pPr>
            <a:r>
              <a:rPr lang="en-GB" sz="2800" b="0" i="1" dirty="0">
                <a:solidFill>
                  <a:schemeClr val="tx2"/>
                </a:solidFill>
                <a:latin typeface="Barlow" pitchFamily="2" charset="77"/>
              </a:rPr>
              <a:t>Is the person(s) who made this creative thing an ‘author’ in the copyright sense?</a:t>
            </a:r>
          </a:p>
          <a:p>
            <a:pPr marL="342900" indent="-342900" algn="just">
              <a:lnSpc>
                <a:spcPct val="150000"/>
              </a:lnSpc>
              <a:buFont typeface="Arial" panose="020B0604020202020204" pitchFamily="34" charset="0"/>
              <a:buChar char="•"/>
            </a:pPr>
            <a:r>
              <a:rPr lang="en-GB" sz="2800" b="0" i="1" dirty="0">
                <a:solidFill>
                  <a:schemeClr val="tx2"/>
                </a:solidFill>
                <a:latin typeface="Barlow" pitchFamily="2" charset="77"/>
              </a:rPr>
              <a:t>If not, why not?</a:t>
            </a:r>
          </a:p>
          <a:p>
            <a:pPr marL="342900" indent="-342900" algn="just">
              <a:lnSpc>
                <a:spcPct val="150000"/>
              </a:lnSpc>
              <a:buFont typeface="Arial" panose="020B0604020202020204" pitchFamily="34" charset="0"/>
              <a:buChar char="•"/>
            </a:pPr>
            <a:endParaRPr lang="en-GB" sz="2800" b="0" i="1" dirty="0">
              <a:solidFill>
                <a:schemeClr val="tx2"/>
              </a:solidFill>
              <a:latin typeface="Barlow" pitchFamily="2" charset="77"/>
            </a:endParaRPr>
          </a:p>
          <a:p>
            <a:pPr marL="342900" indent="-342900" algn="just">
              <a:lnSpc>
                <a:spcPct val="150000"/>
              </a:lnSpc>
              <a:buFont typeface="Arial" panose="020B0604020202020204" pitchFamily="34" charset="0"/>
              <a:buChar char="•"/>
            </a:pPr>
            <a:r>
              <a:rPr lang="en-GB" sz="2800" b="0" dirty="0">
                <a:solidFill>
                  <a:schemeClr val="tx2"/>
                </a:solidFill>
                <a:latin typeface="Barlow" pitchFamily="2" charset="77"/>
              </a:rPr>
              <a:t>NB: This is today’s participation activity</a:t>
            </a:r>
          </a:p>
        </p:txBody>
      </p:sp>
      <p:pic>
        <p:nvPicPr>
          <p:cNvPr id="1026" name="Picture 2" descr="QR code">
            <a:extLst>
              <a:ext uri="{FF2B5EF4-FFF2-40B4-BE49-F238E27FC236}">
                <a16:creationId xmlns:a16="http://schemas.microsoft.com/office/drawing/2014/main" id="{50F23A83-A4B8-C7BF-14F0-799097FEB7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70081" y="1944986"/>
            <a:ext cx="5641722" cy="564172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CDA7586-1474-7E73-E825-6C2A14977FAA}"/>
              </a:ext>
            </a:extLst>
          </p:cNvPr>
          <p:cNvSpPr txBox="1"/>
          <p:nvPr/>
        </p:nvSpPr>
        <p:spPr>
          <a:xfrm>
            <a:off x="9153721" y="7699386"/>
            <a:ext cx="8674442" cy="461665"/>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sz="2400" b="0" dirty="0">
                <a:solidFill>
                  <a:schemeClr val="tx2"/>
                </a:solidFill>
                <a:latin typeface="Barlow" pitchFamily="2" charset="77"/>
              </a:rPr>
              <a:t>https://</a:t>
            </a:r>
            <a:r>
              <a:rPr lang="en-GB" sz="2400" b="0" dirty="0" err="1">
                <a:solidFill>
                  <a:schemeClr val="tx2"/>
                </a:solidFill>
                <a:latin typeface="Barlow" pitchFamily="2" charset="77"/>
              </a:rPr>
              <a:t>forms.cloud.microsoft</a:t>
            </a:r>
            <a:r>
              <a:rPr lang="en-GB" sz="2400" b="0" dirty="0">
                <a:solidFill>
                  <a:schemeClr val="tx2"/>
                </a:solidFill>
                <a:latin typeface="Barlow" pitchFamily="2" charset="77"/>
              </a:rPr>
              <a:t>/e/7VM3HKga9b</a:t>
            </a:r>
          </a:p>
        </p:txBody>
      </p:sp>
    </p:spTree>
    <p:extLst>
      <p:ext uri="{BB962C8B-B14F-4D97-AF65-F5344CB8AC3E}">
        <p14:creationId xmlns:p14="http://schemas.microsoft.com/office/powerpoint/2010/main" val="1177121127"/>
      </p:ext>
    </p:extLst>
  </p:cSld>
  <p:clrMapOvr>
    <a:masterClrMapping/>
  </p:clrMapOvr>
  <p:transition spd="med" advTm="222639"/>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2DCF9-8F39-4B76-7F62-F85C1DC355C0}"/>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E8B33AC5-2C55-BCC4-7274-932740843E49}"/>
              </a:ext>
            </a:extLst>
          </p:cNvPr>
          <p:cNvSpPr txBox="1"/>
          <p:nvPr/>
        </p:nvSpPr>
        <p:spPr>
          <a:xfrm>
            <a:off x="1028459" y="1002549"/>
            <a:ext cx="964162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The ‘author’</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3C5762EC-55B3-A4CC-6FA1-BF9680A089E3}"/>
              </a:ext>
            </a:extLst>
          </p:cNvPr>
          <p:cNvSpPr txBox="1"/>
          <p:nvPr/>
        </p:nvSpPr>
        <p:spPr>
          <a:xfrm>
            <a:off x="1028459" y="1002549"/>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graphicFrame>
        <p:nvGraphicFramePr>
          <p:cNvPr id="4" name="Table 3">
            <a:extLst>
              <a:ext uri="{FF2B5EF4-FFF2-40B4-BE49-F238E27FC236}">
                <a16:creationId xmlns:a16="http://schemas.microsoft.com/office/drawing/2014/main" id="{E1E71B15-0EBF-3093-7C04-5A01635D4177}"/>
              </a:ext>
            </a:extLst>
          </p:cNvPr>
          <p:cNvGraphicFramePr>
            <a:graphicFrameLocks noGrp="1"/>
          </p:cNvGraphicFramePr>
          <p:nvPr>
            <p:extLst>
              <p:ext uri="{D42A27DB-BD31-4B8C-83A1-F6EECF244321}">
                <p14:modId xmlns:p14="http://schemas.microsoft.com/office/powerpoint/2010/main" val="2271645202"/>
              </p:ext>
            </p:extLst>
          </p:nvPr>
        </p:nvGraphicFramePr>
        <p:xfrm>
          <a:off x="1028458" y="2297769"/>
          <a:ext cx="15015592" cy="5852383"/>
        </p:xfrm>
        <a:graphic>
          <a:graphicData uri="http://schemas.openxmlformats.org/drawingml/2006/table">
            <a:tbl>
              <a:tblPr firstRow="1" bandRow="1">
                <a:tableStyleId>{5940675A-B579-460E-94D1-54222C63F5DA}</a:tableStyleId>
              </a:tblPr>
              <a:tblGrid>
                <a:gridCol w="3753898">
                  <a:extLst>
                    <a:ext uri="{9D8B030D-6E8A-4147-A177-3AD203B41FA5}">
                      <a16:colId xmlns:a16="http://schemas.microsoft.com/office/drawing/2014/main" val="2729305582"/>
                    </a:ext>
                  </a:extLst>
                </a:gridCol>
                <a:gridCol w="3753898">
                  <a:extLst>
                    <a:ext uri="{9D8B030D-6E8A-4147-A177-3AD203B41FA5}">
                      <a16:colId xmlns:a16="http://schemas.microsoft.com/office/drawing/2014/main" val="493708467"/>
                    </a:ext>
                  </a:extLst>
                </a:gridCol>
                <a:gridCol w="3753898">
                  <a:extLst>
                    <a:ext uri="{9D8B030D-6E8A-4147-A177-3AD203B41FA5}">
                      <a16:colId xmlns:a16="http://schemas.microsoft.com/office/drawing/2014/main" val="1597261905"/>
                    </a:ext>
                  </a:extLst>
                </a:gridCol>
                <a:gridCol w="3753898">
                  <a:extLst>
                    <a:ext uri="{9D8B030D-6E8A-4147-A177-3AD203B41FA5}">
                      <a16:colId xmlns:a16="http://schemas.microsoft.com/office/drawing/2014/main" val="1474227025"/>
                    </a:ext>
                  </a:extLst>
                </a:gridCol>
              </a:tblGrid>
              <a:tr h="1254900">
                <a:tc>
                  <a:txBody>
                    <a:bodyPr/>
                    <a:lstStyle/>
                    <a:p>
                      <a:r>
                        <a:rPr lang="en-GB" sz="2400" b="1" dirty="0">
                          <a:solidFill>
                            <a:schemeClr val="tx2"/>
                          </a:solidFill>
                          <a:latin typeface="Barlow" pitchFamily="2" charset="77"/>
                        </a:rPr>
                        <a:t>International</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2400" b="0" dirty="0">
                          <a:solidFill>
                            <a:schemeClr val="tx2"/>
                          </a:solidFill>
                          <a:latin typeface="Barlow" pitchFamily="2" charset="77"/>
                        </a:rPr>
                        <a:t>e.g. Berne Convention;</a:t>
                      </a:r>
                    </a:p>
                    <a:p>
                      <a:r>
                        <a:rPr lang="en-GB" sz="2400" b="0" dirty="0">
                          <a:solidFill>
                            <a:schemeClr val="tx2"/>
                          </a:solidFill>
                          <a:latin typeface="Barlow" pitchFamily="2" charset="77"/>
                        </a:rPr>
                        <a:t>TRIPS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2400" b="0" dirty="0">
                          <a:solidFill>
                            <a:schemeClr val="tx2"/>
                          </a:solidFill>
                          <a:latin typeface="Barlow" pitchFamily="2" charset="77"/>
                        </a:rPr>
                        <a:t>Broad, high-level principles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2400" b="0" dirty="0">
                          <a:solidFill>
                            <a:schemeClr val="tx2"/>
                          </a:solidFill>
                          <a:latin typeface="Barlow" pitchFamily="2" charset="77"/>
                        </a:rPr>
                        <a:t>Berne Art 1: … ‘Protection of the rights of authors’</a:t>
                      </a:r>
                    </a:p>
                    <a:p>
                      <a:endParaRPr lang="en-GB" sz="2400" b="0" dirty="0">
                        <a:solidFill>
                          <a:schemeClr val="tx2"/>
                        </a:solidFill>
                        <a:latin typeface="Barlow" pitchFamily="2" charset="77"/>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60949361"/>
                  </a:ext>
                </a:extLst>
              </a:tr>
              <a:tr h="3043003">
                <a:tc>
                  <a:txBody>
                    <a:bodyPr/>
                    <a:lstStyle/>
                    <a:p>
                      <a:r>
                        <a:rPr lang="en-GB" sz="2400" b="1" dirty="0">
                          <a:solidFill>
                            <a:schemeClr val="tx2"/>
                          </a:solidFill>
                          <a:latin typeface="Barlow" pitchFamily="2" charset="77"/>
                        </a:rPr>
                        <a:t>Multi-lateral</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2400" b="0" dirty="0">
                          <a:solidFill>
                            <a:schemeClr val="tx2"/>
                          </a:solidFill>
                          <a:latin typeface="Barlow" pitchFamily="2" charset="77"/>
                        </a:rPr>
                        <a:t>e.g. EU Directives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2400" b="0" dirty="0">
                          <a:solidFill>
                            <a:schemeClr val="tx2"/>
                          </a:solidFill>
                          <a:latin typeface="Barlow" pitchFamily="2" charset="77"/>
                        </a:rPr>
                        <a:t>Often driven by trade agreements (e.g., a single market)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2400" b="0" dirty="0" err="1">
                          <a:solidFill>
                            <a:schemeClr val="tx2"/>
                          </a:solidFill>
                          <a:latin typeface="Barlow" pitchFamily="2" charset="77"/>
                        </a:rPr>
                        <a:t>Infosoc</a:t>
                      </a:r>
                      <a:r>
                        <a:rPr lang="en-GB" sz="2400" b="0" dirty="0">
                          <a:solidFill>
                            <a:schemeClr val="tx2"/>
                          </a:solidFill>
                          <a:latin typeface="Barlow" pitchFamily="2" charset="77"/>
                        </a:rPr>
                        <a:t> Art 9: ‘Any harmonisation of copyright and related rights must take as a basis a </a:t>
                      </a:r>
                      <a:r>
                        <a:rPr lang="en-GB" sz="2400" b="0" u="sng" dirty="0">
                          <a:solidFill>
                            <a:schemeClr val="tx2"/>
                          </a:solidFill>
                          <a:latin typeface="Barlow" pitchFamily="2" charset="77"/>
                        </a:rPr>
                        <a:t>high level</a:t>
                      </a:r>
                      <a:r>
                        <a:rPr lang="en-GB" sz="2400" b="0" dirty="0">
                          <a:solidFill>
                            <a:schemeClr val="tx2"/>
                          </a:solidFill>
                          <a:latin typeface="Barlow" pitchFamily="2" charset="77"/>
                        </a:rPr>
                        <a:t> of protection, since such rights are crucial to intellectual creation.’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73834005"/>
                  </a:ext>
                </a:extLst>
              </a:tr>
              <a:tr h="871752">
                <a:tc>
                  <a:txBody>
                    <a:bodyPr/>
                    <a:lstStyle/>
                    <a:p>
                      <a:r>
                        <a:rPr lang="en-GB" sz="2400" b="1" dirty="0">
                          <a:solidFill>
                            <a:schemeClr val="tx2"/>
                          </a:solidFill>
                          <a:latin typeface="Barlow" pitchFamily="2" charset="77"/>
                        </a:rPr>
                        <a:t>National</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2400" b="0" dirty="0">
                          <a:solidFill>
                            <a:schemeClr val="tx2"/>
                          </a:solidFill>
                          <a:latin typeface="Barlow" pitchFamily="2" charset="77"/>
                        </a:rPr>
                        <a:t>e.g. Copyright, Designs and Patents Act 1998</a:t>
                      </a:r>
                    </a:p>
                    <a:p>
                      <a:r>
                        <a:rPr lang="en-GB" sz="2400" b="0" dirty="0">
                          <a:solidFill>
                            <a:schemeClr val="tx2"/>
                          </a:solidFill>
                          <a:latin typeface="Barlow" pitchFamily="2" charset="77"/>
                        </a:rPr>
                        <a:t>AND</a:t>
                      </a:r>
                    </a:p>
                    <a:p>
                      <a:r>
                        <a:rPr lang="en-GB" sz="2400" b="0" dirty="0">
                          <a:solidFill>
                            <a:schemeClr val="tx2"/>
                          </a:solidFill>
                          <a:latin typeface="Barlow" pitchFamily="2" charset="77"/>
                        </a:rPr>
                        <a:t>Common law</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2400" b="0" dirty="0">
                          <a:solidFill>
                            <a:schemeClr val="tx2"/>
                          </a:solidFill>
                          <a:latin typeface="Barlow" pitchFamily="2" charset="77"/>
                        </a:rPr>
                        <a:t>Specifics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2400" b="0" dirty="0">
                          <a:solidFill>
                            <a:schemeClr val="tx2"/>
                          </a:solidFill>
                          <a:latin typeface="Barlow" pitchFamily="2" charset="77"/>
                        </a:rPr>
                        <a:t>CDPA Art 9(1): ‘“author”, in </a:t>
                      </a:r>
                      <a:r>
                        <a:rPr lang="en-GB" sz="2400" b="1" dirty="0">
                          <a:solidFill>
                            <a:schemeClr val="tx2"/>
                          </a:solidFill>
                          <a:latin typeface="Barlow" pitchFamily="2" charset="77"/>
                        </a:rPr>
                        <a:t>relation to a work</a:t>
                      </a:r>
                      <a:r>
                        <a:rPr lang="en-GB" sz="2400" b="0" dirty="0">
                          <a:solidFill>
                            <a:schemeClr val="tx2"/>
                          </a:solidFill>
                          <a:latin typeface="Barlow" pitchFamily="2" charset="77"/>
                        </a:rPr>
                        <a:t>, means the person who creates it’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48060895"/>
                  </a:ext>
                </a:extLst>
              </a:tr>
            </a:tbl>
          </a:graphicData>
        </a:graphic>
      </p:graphicFrame>
    </p:spTree>
    <p:extLst>
      <p:ext uri="{BB962C8B-B14F-4D97-AF65-F5344CB8AC3E}">
        <p14:creationId xmlns:p14="http://schemas.microsoft.com/office/powerpoint/2010/main" val="4044825863"/>
      </p:ext>
    </p:extLst>
  </p:cSld>
  <p:clrMapOvr>
    <a:masterClrMapping/>
  </p:clrMapOvr>
  <p:transition spd="med" advTm="222639"/>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CE0FE-7F8D-0B9B-572A-CD3E68BD2F25}"/>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D2A9A935-6F38-FABD-4B1A-A45E0A0576F7}"/>
              </a:ext>
            </a:extLst>
          </p:cNvPr>
          <p:cNvSpPr txBox="1"/>
          <p:nvPr/>
        </p:nvSpPr>
        <p:spPr>
          <a:xfrm>
            <a:off x="1028459" y="1002549"/>
            <a:ext cx="964162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The ‘work'</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F3BE0E26-B623-442C-3BD5-F4F1B71B7B0E}"/>
              </a:ext>
            </a:extLst>
          </p:cNvPr>
          <p:cNvSpPr txBox="1"/>
          <p:nvPr/>
        </p:nvSpPr>
        <p:spPr>
          <a:xfrm>
            <a:off x="1028459" y="1002549"/>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387F56AF-A1ED-DCD3-BEF5-B81E408EF3EE}"/>
              </a:ext>
            </a:extLst>
          </p:cNvPr>
          <p:cNvSpPr/>
          <p:nvPr/>
        </p:nvSpPr>
        <p:spPr>
          <a:xfrm>
            <a:off x="2087618" y="4059418"/>
            <a:ext cx="13165025" cy="1638910"/>
          </a:xfrm>
          <a:prstGeom prst="rect">
            <a:avLst/>
          </a:prstGeom>
        </p:spPr>
        <p:txBody>
          <a:bodyPr wrap="square">
            <a:spAutoFit/>
          </a:bodyPr>
          <a:lstStyle/>
          <a:p>
            <a:pPr>
              <a:lnSpc>
                <a:spcPct val="150000"/>
              </a:lnSpc>
              <a:spcAft>
                <a:spcPts val="600"/>
              </a:spcAft>
              <a:defRPr>
                <a:solidFill>
                  <a:srgbClr val="474C55"/>
                </a:solidFill>
              </a:defRPr>
            </a:pPr>
            <a:r>
              <a:rPr lang="en-GB" sz="3600" b="0" dirty="0">
                <a:solidFill>
                  <a:schemeClr val="tx2"/>
                </a:solidFill>
                <a:latin typeface="Barlow" pitchFamily="2" charset="77"/>
              </a:rPr>
              <a:t>Work falls within list of copyrightable </a:t>
            </a:r>
            <a:r>
              <a:rPr lang="en-GB" sz="3600" dirty="0">
                <a:solidFill>
                  <a:schemeClr val="tx2"/>
                </a:solidFill>
                <a:latin typeface="Barlow" pitchFamily="2" charset="77"/>
              </a:rPr>
              <a:t>subject-matter</a:t>
            </a:r>
            <a:r>
              <a:rPr lang="en-GB" sz="3600" b="0" dirty="0">
                <a:solidFill>
                  <a:schemeClr val="tx2"/>
                </a:solidFill>
                <a:latin typeface="Barlow" pitchFamily="2" charset="77"/>
              </a:rPr>
              <a:t> + </a:t>
            </a:r>
            <a:r>
              <a:rPr lang="en-GB" sz="3600" dirty="0">
                <a:solidFill>
                  <a:schemeClr val="tx2"/>
                </a:solidFill>
                <a:latin typeface="Barlow" pitchFamily="2" charset="77"/>
              </a:rPr>
              <a:t>fixed</a:t>
            </a:r>
            <a:br>
              <a:rPr lang="en-GB" sz="3600" b="0" dirty="0">
                <a:solidFill>
                  <a:schemeClr val="tx2"/>
                </a:solidFill>
                <a:latin typeface="Barlow" pitchFamily="2" charset="77"/>
              </a:rPr>
            </a:br>
            <a:r>
              <a:rPr lang="en-GB" sz="3600" b="0" dirty="0">
                <a:solidFill>
                  <a:schemeClr val="tx2"/>
                </a:solidFill>
                <a:latin typeface="Barlow" pitchFamily="2" charset="77"/>
              </a:rPr>
              <a:t>permanently + meets the </a:t>
            </a:r>
            <a:r>
              <a:rPr lang="en-GB" sz="3600" dirty="0">
                <a:solidFill>
                  <a:schemeClr val="tx2"/>
                </a:solidFill>
                <a:latin typeface="Barlow" pitchFamily="2" charset="77"/>
              </a:rPr>
              <a:t>originality</a:t>
            </a:r>
            <a:r>
              <a:rPr lang="en-GB" sz="3600" b="0" dirty="0">
                <a:solidFill>
                  <a:schemeClr val="tx2"/>
                </a:solidFill>
                <a:latin typeface="Barlow" pitchFamily="2" charset="77"/>
              </a:rPr>
              <a:t> standard = copyright work</a:t>
            </a:r>
          </a:p>
        </p:txBody>
      </p:sp>
      <p:sp>
        <p:nvSpPr>
          <p:cNvPr id="5" name="TextBox 4">
            <a:extLst>
              <a:ext uri="{FF2B5EF4-FFF2-40B4-BE49-F238E27FC236}">
                <a16:creationId xmlns:a16="http://schemas.microsoft.com/office/drawing/2014/main" id="{DB50ADBF-1674-19F7-1722-01FCEEAF2803}"/>
              </a:ext>
            </a:extLst>
          </p:cNvPr>
          <p:cNvSpPr txBox="1"/>
          <p:nvPr/>
        </p:nvSpPr>
        <p:spPr>
          <a:xfrm>
            <a:off x="1028460" y="6349158"/>
            <a:ext cx="15015593" cy="1200329"/>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342900" indent="-342900" algn="l">
              <a:lnSpc>
                <a:spcPct val="150000"/>
              </a:lnSpc>
              <a:spcAft>
                <a:spcPts val="600"/>
              </a:spcAft>
              <a:buFont typeface="Arial" panose="020B0604020202020204" pitchFamily="34" charset="0"/>
              <a:buChar char="•"/>
              <a:defRPr>
                <a:solidFill>
                  <a:srgbClr val="474C55"/>
                </a:solidFill>
              </a:defRPr>
            </a:pPr>
            <a:r>
              <a:rPr lang="en-GB" sz="2400" b="0" dirty="0">
                <a:solidFill>
                  <a:schemeClr val="tx2"/>
                </a:solidFill>
                <a:latin typeface="Barlow" pitchFamily="2" charset="77"/>
              </a:rPr>
              <a:t>Copyright arises </a:t>
            </a:r>
            <a:r>
              <a:rPr lang="en-GB" sz="2400" dirty="0">
                <a:solidFill>
                  <a:schemeClr val="tx2"/>
                </a:solidFill>
                <a:latin typeface="Barlow" pitchFamily="2" charset="77"/>
              </a:rPr>
              <a:t>automatically</a:t>
            </a:r>
            <a:r>
              <a:rPr lang="en-GB" sz="2400" b="0" dirty="0">
                <a:solidFill>
                  <a:schemeClr val="tx2"/>
                </a:solidFill>
                <a:latin typeface="Barlow" pitchFamily="2" charset="77"/>
              </a:rPr>
              <a:t> when a valid work is created – see Berne Convention (art. 5 (2))</a:t>
            </a:r>
          </a:p>
          <a:p>
            <a:pPr marL="342900" indent="-342900" algn="l">
              <a:lnSpc>
                <a:spcPct val="150000"/>
              </a:lnSpc>
              <a:spcAft>
                <a:spcPts val="600"/>
              </a:spcAft>
              <a:buFont typeface="Arial" panose="020B0604020202020204" pitchFamily="34" charset="0"/>
              <a:buChar char="•"/>
              <a:defRPr>
                <a:solidFill>
                  <a:srgbClr val="474C55"/>
                </a:solidFill>
              </a:defRPr>
            </a:pPr>
            <a:r>
              <a:rPr lang="en-GB" sz="2400" b="0" dirty="0">
                <a:solidFill>
                  <a:schemeClr val="tx2"/>
                </a:solidFill>
                <a:latin typeface="Barlow" pitchFamily="2" charset="77"/>
              </a:rPr>
              <a:t>No requirements for formalities of registration or marking (e.g., ©) – note: US registration system ‘bonuses’</a:t>
            </a:r>
          </a:p>
        </p:txBody>
      </p:sp>
    </p:spTree>
    <p:extLst>
      <p:ext uri="{BB962C8B-B14F-4D97-AF65-F5344CB8AC3E}">
        <p14:creationId xmlns:p14="http://schemas.microsoft.com/office/powerpoint/2010/main" val="2175920153"/>
      </p:ext>
    </p:extLst>
  </p:cSld>
  <p:clrMapOvr>
    <a:masterClrMapping/>
  </p:clrMapOvr>
  <p:transition spd="med" advTm="222639"/>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400F8-B309-9811-2C24-B5BA4EDC48A9}"/>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F442A479-1C1B-5776-FC86-967552ADAF52}"/>
              </a:ext>
            </a:extLst>
          </p:cNvPr>
          <p:cNvSpPr txBox="1"/>
          <p:nvPr/>
        </p:nvSpPr>
        <p:spPr>
          <a:xfrm>
            <a:off x="1028459" y="1002549"/>
            <a:ext cx="13873790"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Subject-matter: What </a:t>
            </a:r>
            <a:r>
              <a:rPr lang="en-GB" sz="5334" u="sng" dirty="0"/>
              <a:t>isn’t</a:t>
            </a:r>
            <a:r>
              <a:rPr lang="en-GB" sz="5334" dirty="0"/>
              <a:t> a work?</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2CD4B88D-1A6E-3F54-1B6C-853400DBC565}"/>
              </a:ext>
            </a:extLst>
          </p:cNvPr>
          <p:cNvSpPr txBox="1"/>
          <p:nvPr/>
        </p:nvSpPr>
        <p:spPr>
          <a:xfrm>
            <a:off x="1028459" y="1002549"/>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algn="l" defTabSz="609630">
              <a:lnSpc>
                <a:spcPct val="120000"/>
              </a:lnSpc>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C2D499E7-A94A-33C7-AE7C-25E7F3E55775}"/>
              </a:ext>
            </a:extLst>
          </p:cNvPr>
          <p:cNvSpPr/>
          <p:nvPr/>
        </p:nvSpPr>
        <p:spPr>
          <a:xfrm>
            <a:off x="1028459" y="2179242"/>
            <a:ext cx="14862995" cy="4034438"/>
          </a:xfrm>
          <a:prstGeom prst="rect">
            <a:avLst/>
          </a:prstGeom>
        </p:spPr>
        <p:txBody>
          <a:bodyPr wrap="square">
            <a:spAutoFit/>
          </a:bodyPr>
          <a:lstStyle/>
          <a:p>
            <a:pPr marL="342900" indent="-342900" algn="just">
              <a:lnSpc>
                <a:spcPct val="150000"/>
              </a:lnSpc>
              <a:spcAft>
                <a:spcPts val="600"/>
              </a:spcAft>
              <a:buFont typeface="Arial" panose="020B0604020202020204" pitchFamily="34" charset="0"/>
              <a:buChar char="•"/>
              <a:defRPr>
                <a:solidFill>
                  <a:srgbClr val="474C55"/>
                </a:solidFill>
              </a:defRPr>
            </a:pPr>
            <a:r>
              <a:rPr lang="en-GB" sz="2800" b="0" dirty="0">
                <a:solidFill>
                  <a:schemeClr val="tx2"/>
                </a:solidFill>
                <a:latin typeface="Barlow" pitchFamily="2" charset="77"/>
              </a:rPr>
              <a:t>Reverse standard: copyright is very broad, so sometimes it’s more helpful to think in the negative (what </a:t>
            </a:r>
            <a:r>
              <a:rPr lang="en-GB" sz="2800" b="0" i="1" dirty="0">
                <a:solidFill>
                  <a:schemeClr val="tx2"/>
                </a:solidFill>
                <a:latin typeface="Barlow" pitchFamily="2" charset="77"/>
              </a:rPr>
              <a:t>isn’t</a:t>
            </a:r>
            <a:r>
              <a:rPr lang="en-GB" sz="2800" b="0" dirty="0">
                <a:solidFill>
                  <a:schemeClr val="tx2"/>
                </a:solidFill>
                <a:latin typeface="Barlow" pitchFamily="2" charset="77"/>
              </a:rPr>
              <a:t> covered)</a:t>
            </a:r>
          </a:p>
          <a:p>
            <a:pPr marL="342900" indent="-342900" algn="just">
              <a:lnSpc>
                <a:spcPct val="150000"/>
              </a:lnSpc>
              <a:spcAft>
                <a:spcPts val="600"/>
              </a:spcAft>
              <a:buFont typeface="Arial" panose="020B0604020202020204" pitchFamily="34" charset="0"/>
              <a:buChar char="•"/>
              <a:defRPr>
                <a:solidFill>
                  <a:srgbClr val="474C55"/>
                </a:solidFill>
              </a:defRPr>
            </a:pPr>
            <a:r>
              <a:rPr lang="en-GB" sz="2800" b="0" dirty="0">
                <a:solidFill>
                  <a:schemeClr val="tx2"/>
                </a:solidFill>
                <a:latin typeface="Barlow" pitchFamily="2" charset="77"/>
              </a:rPr>
              <a:t>Copyright does not protect ideas, only the expression of ideas themselves (the idea-expression dichotomy, Berne Convention Article 9.2)</a:t>
            </a:r>
          </a:p>
          <a:p>
            <a:pPr marL="342900" indent="-342900" algn="just">
              <a:lnSpc>
                <a:spcPct val="150000"/>
              </a:lnSpc>
              <a:spcAft>
                <a:spcPts val="600"/>
              </a:spcAft>
              <a:buFont typeface="Arial" panose="020B0604020202020204" pitchFamily="34" charset="0"/>
              <a:buChar char="•"/>
              <a:defRPr>
                <a:solidFill>
                  <a:srgbClr val="474C55"/>
                </a:solidFill>
              </a:defRPr>
            </a:pPr>
            <a:r>
              <a:rPr lang="en-GB" sz="2800" b="0" dirty="0">
                <a:solidFill>
                  <a:schemeClr val="tx2"/>
                </a:solidFill>
                <a:latin typeface="Barlow" pitchFamily="2" charset="77"/>
              </a:rPr>
              <a:t>(unlike patent) copyright does not stop others from coming to the same result through an independent process</a:t>
            </a:r>
          </a:p>
        </p:txBody>
      </p:sp>
    </p:spTree>
    <p:extLst>
      <p:ext uri="{BB962C8B-B14F-4D97-AF65-F5344CB8AC3E}">
        <p14:creationId xmlns:p14="http://schemas.microsoft.com/office/powerpoint/2010/main" val="1535583432"/>
      </p:ext>
    </p:extLst>
  </p:cSld>
  <p:clrMapOvr>
    <a:masterClrMapping/>
  </p:clrMapOvr>
  <p:transition spd="med" advTm="222639"/>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0FD35-F115-226B-4A8A-BEEDD6717B48}"/>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28E73902-418B-81B5-A920-6B9189800019}"/>
              </a:ext>
            </a:extLst>
          </p:cNvPr>
          <p:cNvSpPr txBox="1"/>
          <p:nvPr/>
        </p:nvSpPr>
        <p:spPr>
          <a:xfrm>
            <a:off x="1028459" y="1002549"/>
            <a:ext cx="964162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Idea/expression: Example 1</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CB2C25A6-0108-8B6C-B7ED-F7503F5BC8C9}"/>
              </a:ext>
            </a:extLst>
          </p:cNvPr>
          <p:cNvSpPr txBox="1"/>
          <p:nvPr/>
        </p:nvSpPr>
        <p:spPr>
          <a:xfrm>
            <a:off x="1028459" y="1002549"/>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C0C09EC8-882D-471A-13CD-10C9597B7DF5}"/>
              </a:ext>
            </a:extLst>
          </p:cNvPr>
          <p:cNvSpPr/>
          <p:nvPr/>
        </p:nvSpPr>
        <p:spPr>
          <a:xfrm>
            <a:off x="1028459" y="2179242"/>
            <a:ext cx="14862995" cy="1372171"/>
          </a:xfrm>
          <a:prstGeom prst="rect">
            <a:avLst/>
          </a:prstGeom>
        </p:spPr>
        <p:txBody>
          <a:bodyPr wrap="square">
            <a:spAutoFit/>
          </a:bodyPr>
          <a:lstStyle/>
          <a:p>
            <a:pPr marL="342900" indent="-342900" algn="just">
              <a:lnSpc>
                <a:spcPct val="150000"/>
              </a:lnSpc>
              <a:spcAft>
                <a:spcPts val="600"/>
              </a:spcAft>
              <a:buFont typeface="Arial" panose="020B0604020202020204" pitchFamily="34" charset="0"/>
              <a:buChar char="•"/>
              <a:defRPr>
                <a:solidFill>
                  <a:srgbClr val="474C55"/>
                </a:solidFill>
              </a:defRPr>
            </a:pPr>
            <a:r>
              <a:rPr lang="en-GB" sz="2800" b="0" i="1" dirty="0">
                <a:solidFill>
                  <a:schemeClr val="tx2"/>
                </a:solidFill>
                <a:latin typeface="Barlow" pitchFamily="2" charset="77"/>
              </a:rPr>
              <a:t>Michael Baigent and Richard Leigh v The Random House Group Limited </a:t>
            </a:r>
            <a:r>
              <a:rPr lang="en-GB" sz="2800" b="0" dirty="0">
                <a:solidFill>
                  <a:schemeClr val="tx2"/>
                </a:solidFill>
                <a:latin typeface="Barlow" pitchFamily="2" charset="77"/>
              </a:rPr>
              <a:t>[2006] EWHC 719</a:t>
            </a:r>
          </a:p>
          <a:p>
            <a:pPr marL="342900" indent="-342900" algn="just">
              <a:lnSpc>
                <a:spcPct val="150000"/>
              </a:lnSpc>
              <a:spcAft>
                <a:spcPts val="600"/>
              </a:spcAft>
              <a:buFont typeface="Arial" panose="020B0604020202020204" pitchFamily="34" charset="0"/>
              <a:buChar char="•"/>
              <a:defRPr>
                <a:solidFill>
                  <a:srgbClr val="474C55"/>
                </a:solidFill>
              </a:defRPr>
            </a:pPr>
            <a:r>
              <a:rPr lang="en-GB" sz="2800" b="0" dirty="0">
                <a:solidFill>
                  <a:schemeClr val="tx2"/>
                </a:solidFill>
                <a:latin typeface="Barlow" pitchFamily="2" charset="77"/>
              </a:rPr>
              <a:t>A paradox for authors of non-fiction and factual works</a:t>
            </a:r>
          </a:p>
        </p:txBody>
      </p:sp>
      <p:pic>
        <p:nvPicPr>
          <p:cNvPr id="5" name="Picture 4" descr="The Holy Blood and the Holy Grail - Bromley House Library">
            <a:extLst>
              <a:ext uri="{FF2B5EF4-FFF2-40B4-BE49-F238E27FC236}">
                <a16:creationId xmlns:a16="http://schemas.microsoft.com/office/drawing/2014/main" id="{EEA89226-2B10-A5C2-1DC6-F66A3FF4DF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1860" y="3675480"/>
            <a:ext cx="8756542" cy="473956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A39B797-AFD3-16FB-3D12-9A3CB3BE5FF5}"/>
              </a:ext>
            </a:extLst>
          </p:cNvPr>
          <p:cNvSpPr txBox="1"/>
          <p:nvPr/>
        </p:nvSpPr>
        <p:spPr>
          <a:xfrm>
            <a:off x="5419362" y="8566385"/>
            <a:ext cx="6501538" cy="369332"/>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dirty="0">
                <a:solidFill>
                  <a:schemeClr val="tx2"/>
                </a:solidFill>
                <a:latin typeface="Barlow" pitchFamily="2" charset="77"/>
                <a:hlinkClick r:id="rId3">
                  <a:extLst>
                    <a:ext uri="{A12FA001-AC4F-418D-AE19-62706E023703}">
                      <ahyp:hlinkClr xmlns:ahyp="http://schemas.microsoft.com/office/drawing/2018/hyperlinkcolor" val="tx"/>
                    </a:ext>
                  </a:extLst>
                </a:hlinkClick>
              </a:rPr>
              <a:t>Image Source</a:t>
            </a:r>
            <a:endParaRPr lang="en-GB" dirty="0">
              <a:solidFill>
                <a:schemeClr val="tx2"/>
              </a:solidFill>
              <a:latin typeface="Barlow" pitchFamily="2" charset="77"/>
            </a:endParaRPr>
          </a:p>
        </p:txBody>
      </p:sp>
    </p:spTree>
    <p:extLst>
      <p:ext uri="{BB962C8B-B14F-4D97-AF65-F5344CB8AC3E}">
        <p14:creationId xmlns:p14="http://schemas.microsoft.com/office/powerpoint/2010/main" val="400169381"/>
      </p:ext>
    </p:extLst>
  </p:cSld>
  <p:clrMapOvr>
    <a:masterClrMapping/>
  </p:clrMapOvr>
  <p:transition spd="med" advTm="222639"/>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FFD42-CABA-181A-95F6-9E06C690B025}"/>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32534C8D-9057-8B52-FE11-68DAB7708B0C}"/>
              </a:ext>
            </a:extLst>
          </p:cNvPr>
          <p:cNvSpPr txBox="1"/>
          <p:nvPr/>
        </p:nvSpPr>
        <p:spPr>
          <a:xfrm>
            <a:off x="1028459" y="1002549"/>
            <a:ext cx="964162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Idea/expression: Example 2</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D012EFE4-DD61-C100-E5A1-1AE97832D278}"/>
              </a:ext>
            </a:extLst>
          </p:cNvPr>
          <p:cNvSpPr txBox="1"/>
          <p:nvPr/>
        </p:nvSpPr>
        <p:spPr>
          <a:xfrm>
            <a:off x="1028459" y="1002549"/>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72EE36C3-0A8C-12C4-C517-4E6B634B28BC}"/>
              </a:ext>
            </a:extLst>
          </p:cNvPr>
          <p:cNvSpPr/>
          <p:nvPr/>
        </p:nvSpPr>
        <p:spPr>
          <a:xfrm>
            <a:off x="1028459" y="2179242"/>
            <a:ext cx="14862995" cy="1372171"/>
          </a:xfrm>
          <a:prstGeom prst="rect">
            <a:avLst/>
          </a:prstGeom>
        </p:spPr>
        <p:txBody>
          <a:bodyPr wrap="square">
            <a:spAutoFit/>
          </a:bodyPr>
          <a:lstStyle/>
          <a:p>
            <a:pPr marL="342900" indent="-342900" algn="just">
              <a:lnSpc>
                <a:spcPct val="150000"/>
              </a:lnSpc>
              <a:spcAft>
                <a:spcPts val="600"/>
              </a:spcAft>
              <a:buFont typeface="Arial" panose="020B0604020202020204" pitchFamily="34" charset="0"/>
              <a:buChar char="•"/>
              <a:defRPr>
                <a:solidFill>
                  <a:srgbClr val="474C55"/>
                </a:solidFill>
              </a:defRPr>
            </a:pPr>
            <a:r>
              <a:rPr lang="en-GB" sz="2800" b="0" i="1" dirty="0">
                <a:solidFill>
                  <a:schemeClr val="tx2"/>
                </a:solidFill>
                <a:latin typeface="Barlow" pitchFamily="2" charset="77"/>
              </a:rPr>
              <a:t>Creation Records Ltd. and Others v News Group Newspapers Ltd </a:t>
            </a:r>
            <a:r>
              <a:rPr lang="en-GB" sz="2800" b="0" dirty="0">
                <a:solidFill>
                  <a:schemeClr val="tx2"/>
                </a:solidFill>
                <a:latin typeface="Barlow" pitchFamily="2" charset="77"/>
              </a:rPr>
              <a:t>[1997] EMLR 444</a:t>
            </a:r>
          </a:p>
          <a:p>
            <a:pPr marL="342900" indent="-342900" algn="just">
              <a:lnSpc>
                <a:spcPct val="150000"/>
              </a:lnSpc>
              <a:spcAft>
                <a:spcPts val="600"/>
              </a:spcAft>
              <a:buFont typeface="Arial" panose="020B0604020202020204" pitchFamily="34" charset="0"/>
              <a:buChar char="•"/>
              <a:defRPr>
                <a:solidFill>
                  <a:srgbClr val="474C55"/>
                </a:solidFill>
              </a:defRPr>
            </a:pPr>
            <a:r>
              <a:rPr lang="en-GB" sz="2800" b="0" i="1" dirty="0">
                <a:solidFill>
                  <a:schemeClr val="tx2"/>
                </a:solidFill>
                <a:latin typeface="Barlow" pitchFamily="2" charset="77"/>
              </a:rPr>
              <a:t>What alternative forms of law may be useful?</a:t>
            </a:r>
          </a:p>
        </p:txBody>
      </p:sp>
      <p:pic>
        <p:nvPicPr>
          <p:cNvPr id="2" name="Picture 8" descr="105030">
            <a:extLst>
              <a:ext uri="{FF2B5EF4-FFF2-40B4-BE49-F238E27FC236}">
                <a16:creationId xmlns:a16="http://schemas.microsoft.com/office/drawing/2014/main" id="{5A64C4BC-385E-7B64-3D2B-AF0E59B94E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4746" y="3615265"/>
            <a:ext cx="9303019" cy="529480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hlinkClick r:id="rId3"/>
            <a:extLst>
              <a:ext uri="{FF2B5EF4-FFF2-40B4-BE49-F238E27FC236}">
                <a16:creationId xmlns:a16="http://schemas.microsoft.com/office/drawing/2014/main" id="{82756ADD-46D4-C8AA-FA63-AA0584C4CFFA}"/>
              </a:ext>
            </a:extLst>
          </p:cNvPr>
          <p:cNvSpPr txBox="1"/>
          <p:nvPr/>
        </p:nvSpPr>
        <p:spPr>
          <a:xfrm>
            <a:off x="7946696" y="8973921"/>
            <a:ext cx="1446870" cy="318036"/>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20320" tIns="20320" rIns="20320" bIns="20320" numCol="1" spcCol="38100" rtlCol="0" anchor="ctr">
            <a:spAutoFit/>
          </a:bodyPr>
          <a:lstStyle/>
          <a:p>
            <a:r>
              <a:rPr lang="en-GB" dirty="0">
                <a:solidFill>
                  <a:schemeClr val="tx2"/>
                </a:solidFill>
                <a:latin typeface="Barlow" pitchFamily="2" charset="77"/>
                <a:hlinkClick r:id="rId3">
                  <a:extLst>
                    <a:ext uri="{A12FA001-AC4F-418D-AE19-62706E023703}">
                      <ahyp:hlinkClr xmlns:ahyp="http://schemas.microsoft.com/office/drawing/2018/hyperlinkcolor" val="tx"/>
                    </a:ext>
                  </a:extLst>
                </a:hlinkClick>
              </a:rPr>
              <a:t>Image Source</a:t>
            </a:r>
            <a:endParaRPr lang="en-GB" dirty="0">
              <a:solidFill>
                <a:schemeClr val="tx2"/>
              </a:solidFill>
              <a:latin typeface="Barlow" pitchFamily="2" charset="77"/>
            </a:endParaRPr>
          </a:p>
        </p:txBody>
      </p:sp>
    </p:spTree>
    <p:extLst>
      <p:ext uri="{BB962C8B-B14F-4D97-AF65-F5344CB8AC3E}">
        <p14:creationId xmlns:p14="http://schemas.microsoft.com/office/powerpoint/2010/main" val="3772306739"/>
      </p:ext>
    </p:extLst>
  </p:cSld>
  <p:clrMapOvr>
    <a:masterClrMapping/>
  </p:clrMapOvr>
  <p:transition spd="med" advTm="222639"/>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4FDA-ACB2-1B52-E441-C50E86248E64}"/>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743BB50C-BF59-EEB0-7E37-0A2F91B07490}"/>
              </a:ext>
            </a:extLst>
          </p:cNvPr>
          <p:cNvSpPr txBox="1"/>
          <p:nvPr/>
        </p:nvSpPr>
        <p:spPr>
          <a:xfrm>
            <a:off x="1028459" y="1002549"/>
            <a:ext cx="964162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Idea/expression: Example 3</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2259D6DB-7526-00B4-2107-5F141E8E776C}"/>
              </a:ext>
            </a:extLst>
          </p:cNvPr>
          <p:cNvSpPr txBox="1"/>
          <p:nvPr/>
        </p:nvSpPr>
        <p:spPr>
          <a:xfrm>
            <a:off x="1028459" y="1002549"/>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C445BFF2-FB04-0F96-296D-59967CADEBD7}"/>
              </a:ext>
            </a:extLst>
          </p:cNvPr>
          <p:cNvSpPr/>
          <p:nvPr/>
        </p:nvSpPr>
        <p:spPr>
          <a:xfrm>
            <a:off x="1028459" y="2179242"/>
            <a:ext cx="14862995" cy="1372171"/>
          </a:xfrm>
          <a:prstGeom prst="rect">
            <a:avLst/>
          </a:prstGeom>
        </p:spPr>
        <p:txBody>
          <a:bodyPr wrap="square">
            <a:spAutoFit/>
          </a:bodyPr>
          <a:lstStyle/>
          <a:p>
            <a:pPr marL="342900" indent="-342900" algn="l">
              <a:lnSpc>
                <a:spcPct val="150000"/>
              </a:lnSpc>
              <a:spcAft>
                <a:spcPts val="600"/>
              </a:spcAft>
              <a:buFont typeface="Arial" panose="020B0604020202020204" pitchFamily="34" charset="0"/>
              <a:buChar char="•"/>
              <a:defRPr>
                <a:solidFill>
                  <a:srgbClr val="474C55"/>
                </a:solidFill>
              </a:defRPr>
            </a:pPr>
            <a:r>
              <a:rPr lang="en-GB" sz="2800" b="0" i="1" dirty="0">
                <a:solidFill>
                  <a:schemeClr val="tx2"/>
                </a:solidFill>
                <a:latin typeface="Barlow" pitchFamily="2" charset="77"/>
              </a:rPr>
              <a:t>Temple Island Collections Ltd v New English Teas Ltd &amp; another </a:t>
            </a:r>
            <a:r>
              <a:rPr lang="en-GB" sz="2800" b="0" dirty="0">
                <a:solidFill>
                  <a:schemeClr val="tx2"/>
                </a:solidFill>
                <a:latin typeface="Barlow" pitchFamily="2" charset="77"/>
              </a:rPr>
              <a:t>[2012] EWPCC 1</a:t>
            </a:r>
          </a:p>
          <a:p>
            <a:pPr marL="342900" indent="-342900" algn="l">
              <a:lnSpc>
                <a:spcPct val="150000"/>
              </a:lnSpc>
              <a:spcAft>
                <a:spcPts val="600"/>
              </a:spcAft>
              <a:buFont typeface="Arial" panose="020B0604020202020204" pitchFamily="34" charset="0"/>
              <a:buChar char="•"/>
              <a:defRPr>
                <a:solidFill>
                  <a:srgbClr val="474C55"/>
                </a:solidFill>
              </a:defRPr>
            </a:pPr>
            <a:r>
              <a:rPr lang="en-GB" sz="2800" b="0" dirty="0">
                <a:solidFill>
                  <a:schemeClr val="tx2"/>
                </a:solidFill>
                <a:latin typeface="Barlow" pitchFamily="2" charset="77"/>
              </a:rPr>
              <a:t>Granting a monopoly on the ‘common elements of everyday life’?</a:t>
            </a:r>
          </a:p>
        </p:txBody>
      </p:sp>
      <p:pic>
        <p:nvPicPr>
          <p:cNvPr id="2" name="Picture 2" descr="Red bus in London">
            <a:extLst>
              <a:ext uri="{FF2B5EF4-FFF2-40B4-BE49-F238E27FC236}">
                <a16:creationId xmlns:a16="http://schemas.microsoft.com/office/drawing/2014/main" id="{360327BD-8F64-018E-B8AB-F3A611215B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8616" y="3551413"/>
            <a:ext cx="14083029" cy="439390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8B8245D-05BA-F91A-DC05-34ABBD8A7CC2}"/>
              </a:ext>
            </a:extLst>
          </p:cNvPr>
          <p:cNvSpPr txBox="1"/>
          <p:nvPr/>
        </p:nvSpPr>
        <p:spPr>
          <a:xfrm>
            <a:off x="5419362" y="8566385"/>
            <a:ext cx="6501538" cy="369332"/>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dirty="0">
                <a:solidFill>
                  <a:schemeClr val="tx2"/>
                </a:solidFill>
                <a:latin typeface="Barlow" pitchFamily="2" charset="77"/>
                <a:hlinkClick r:id="rId3">
                  <a:extLst>
                    <a:ext uri="{A12FA001-AC4F-418D-AE19-62706E023703}">
                      <ahyp:hlinkClr xmlns:ahyp="http://schemas.microsoft.com/office/drawing/2018/hyperlinkcolor" val="tx"/>
                    </a:ext>
                  </a:extLst>
                </a:hlinkClick>
              </a:rPr>
              <a:t>Image Source</a:t>
            </a:r>
            <a:endParaRPr lang="en-GB" dirty="0">
              <a:solidFill>
                <a:schemeClr val="tx2"/>
              </a:solidFill>
              <a:latin typeface="Barlow" pitchFamily="2" charset="77"/>
            </a:endParaRPr>
          </a:p>
        </p:txBody>
      </p:sp>
    </p:spTree>
    <p:extLst>
      <p:ext uri="{BB962C8B-B14F-4D97-AF65-F5344CB8AC3E}">
        <p14:creationId xmlns:p14="http://schemas.microsoft.com/office/powerpoint/2010/main" val="2289347749"/>
      </p:ext>
    </p:extLst>
  </p:cSld>
  <p:clrMapOvr>
    <a:masterClrMapping/>
  </p:clrMapOvr>
  <p:transition spd="med" advTm="222639"/>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552C6-6C10-73B5-78B0-33C4C4A97B18}"/>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226B1AF9-8E90-37FF-2786-24B62A26FC24}"/>
              </a:ext>
            </a:extLst>
          </p:cNvPr>
          <p:cNvSpPr txBox="1"/>
          <p:nvPr/>
        </p:nvSpPr>
        <p:spPr>
          <a:xfrm>
            <a:off x="1028458" y="1002549"/>
            <a:ext cx="15283346"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The closed list of subject-matter (CDPA s3-8)</a:t>
            </a:r>
            <a:endParaRPr lang="en-GB" sz="5400" dirty="0">
              <a:solidFill>
                <a:schemeClr val="tx2"/>
              </a:solidFill>
              <a:latin typeface="Barlow" pitchFamily="2" charset="77"/>
            </a:endParaRPr>
          </a:p>
          <a:p>
            <a:endParaRPr lang="en-GB" sz="5400"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8D0FFF86-31C3-0660-4ACC-178B79336E80}"/>
              </a:ext>
            </a:extLst>
          </p:cNvPr>
          <p:cNvSpPr txBox="1"/>
          <p:nvPr/>
        </p:nvSpPr>
        <p:spPr>
          <a:xfrm>
            <a:off x="1028459" y="1002549"/>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78FC64BB-EE37-1911-026B-F65271659062}"/>
              </a:ext>
            </a:extLst>
          </p:cNvPr>
          <p:cNvSpPr/>
          <p:nvPr/>
        </p:nvSpPr>
        <p:spPr>
          <a:xfrm>
            <a:off x="1028458" y="2029893"/>
            <a:ext cx="14862995" cy="6247864"/>
          </a:xfrm>
          <a:prstGeom prst="rect">
            <a:avLst/>
          </a:prstGeom>
        </p:spPr>
        <p:txBody>
          <a:bodyPr wrap="square">
            <a:spAutoFit/>
          </a:bodyPr>
          <a:lstStyle/>
          <a:p>
            <a:pPr marL="342900" indent="-342900" algn="l">
              <a:lnSpc>
                <a:spcPct val="150000"/>
              </a:lnSpc>
              <a:spcAft>
                <a:spcPts val="600"/>
              </a:spcAft>
              <a:buFont typeface="Arial" panose="020B0604020202020204" pitchFamily="34" charset="0"/>
              <a:buChar char="•"/>
              <a:defRPr>
                <a:solidFill>
                  <a:srgbClr val="474C55"/>
                </a:solidFill>
              </a:defRPr>
            </a:pPr>
            <a:r>
              <a:rPr lang="en-GB" sz="2400" b="0" dirty="0">
                <a:solidFill>
                  <a:schemeClr val="tx2"/>
                </a:solidFill>
                <a:latin typeface="Barlow" pitchFamily="2" charset="77"/>
              </a:rPr>
              <a:t>Literary works (and computer programmes)</a:t>
            </a:r>
          </a:p>
          <a:p>
            <a:pPr marL="342900" indent="-342900" algn="l">
              <a:lnSpc>
                <a:spcPct val="150000"/>
              </a:lnSpc>
              <a:spcAft>
                <a:spcPts val="600"/>
              </a:spcAft>
              <a:buFont typeface="Arial" panose="020B0604020202020204" pitchFamily="34" charset="0"/>
              <a:buChar char="•"/>
              <a:defRPr>
                <a:solidFill>
                  <a:srgbClr val="474C55"/>
                </a:solidFill>
              </a:defRPr>
            </a:pPr>
            <a:r>
              <a:rPr lang="en-GB" sz="2400" b="0" dirty="0">
                <a:solidFill>
                  <a:schemeClr val="tx2"/>
                </a:solidFill>
                <a:latin typeface="Barlow" pitchFamily="2" charset="77"/>
              </a:rPr>
              <a:t>Musical works</a:t>
            </a:r>
          </a:p>
          <a:p>
            <a:pPr marL="342900" indent="-342900" algn="l">
              <a:lnSpc>
                <a:spcPct val="150000"/>
              </a:lnSpc>
              <a:spcAft>
                <a:spcPts val="600"/>
              </a:spcAft>
              <a:buFont typeface="Arial" panose="020B0604020202020204" pitchFamily="34" charset="0"/>
              <a:buChar char="•"/>
              <a:defRPr>
                <a:solidFill>
                  <a:srgbClr val="474C55"/>
                </a:solidFill>
              </a:defRPr>
            </a:pPr>
            <a:r>
              <a:rPr lang="en-GB" sz="2400" b="0" dirty="0">
                <a:solidFill>
                  <a:schemeClr val="tx2"/>
                </a:solidFill>
                <a:latin typeface="Barlow" pitchFamily="2" charset="77"/>
              </a:rPr>
              <a:t>Artistic works</a:t>
            </a:r>
          </a:p>
          <a:p>
            <a:pPr marL="342900" indent="-342900" algn="l">
              <a:lnSpc>
                <a:spcPct val="150000"/>
              </a:lnSpc>
              <a:spcAft>
                <a:spcPts val="600"/>
              </a:spcAft>
              <a:buFont typeface="Arial" panose="020B0604020202020204" pitchFamily="34" charset="0"/>
              <a:buChar char="•"/>
              <a:defRPr>
                <a:solidFill>
                  <a:srgbClr val="474C55"/>
                </a:solidFill>
              </a:defRPr>
            </a:pPr>
            <a:r>
              <a:rPr lang="en-GB" sz="2400" b="0" dirty="0">
                <a:solidFill>
                  <a:schemeClr val="tx2"/>
                </a:solidFill>
                <a:latin typeface="Barlow" pitchFamily="2" charset="77"/>
              </a:rPr>
              <a:t>Dramatic works</a:t>
            </a:r>
          </a:p>
          <a:p>
            <a:pPr marL="342900" indent="-342900" algn="l">
              <a:lnSpc>
                <a:spcPct val="150000"/>
              </a:lnSpc>
              <a:spcAft>
                <a:spcPts val="600"/>
              </a:spcAft>
              <a:buFont typeface="Arial" panose="020B0604020202020204" pitchFamily="34" charset="0"/>
              <a:buChar char="•"/>
              <a:defRPr>
                <a:solidFill>
                  <a:srgbClr val="474C55"/>
                </a:solidFill>
              </a:defRPr>
            </a:pPr>
            <a:r>
              <a:rPr lang="en-GB" sz="2400" b="0" dirty="0">
                <a:solidFill>
                  <a:schemeClr val="tx2"/>
                </a:solidFill>
                <a:latin typeface="Barlow" pitchFamily="2" charset="77"/>
              </a:rPr>
              <a:t>Sound recordings</a:t>
            </a:r>
          </a:p>
          <a:p>
            <a:pPr marL="342900" indent="-342900" algn="l">
              <a:lnSpc>
                <a:spcPct val="150000"/>
              </a:lnSpc>
              <a:spcAft>
                <a:spcPts val="600"/>
              </a:spcAft>
              <a:buFont typeface="Arial" panose="020B0604020202020204" pitchFamily="34" charset="0"/>
              <a:buChar char="•"/>
              <a:defRPr>
                <a:solidFill>
                  <a:srgbClr val="474C55"/>
                </a:solidFill>
              </a:defRPr>
            </a:pPr>
            <a:r>
              <a:rPr lang="en-GB" sz="2400" b="0" dirty="0">
                <a:solidFill>
                  <a:schemeClr val="tx2"/>
                </a:solidFill>
                <a:latin typeface="Barlow" pitchFamily="2" charset="77"/>
              </a:rPr>
              <a:t>Films</a:t>
            </a:r>
          </a:p>
          <a:p>
            <a:pPr marL="342900" indent="-342900" algn="l">
              <a:lnSpc>
                <a:spcPct val="150000"/>
              </a:lnSpc>
              <a:spcAft>
                <a:spcPts val="600"/>
              </a:spcAft>
              <a:buFont typeface="Arial" panose="020B0604020202020204" pitchFamily="34" charset="0"/>
              <a:buChar char="•"/>
              <a:defRPr>
                <a:solidFill>
                  <a:srgbClr val="474C55"/>
                </a:solidFill>
              </a:defRPr>
            </a:pPr>
            <a:r>
              <a:rPr lang="en-GB" sz="2400" b="0" dirty="0">
                <a:solidFill>
                  <a:schemeClr val="tx2"/>
                </a:solidFill>
                <a:latin typeface="Barlow" pitchFamily="2" charset="77"/>
              </a:rPr>
              <a:t>Broadcasts</a:t>
            </a:r>
          </a:p>
          <a:p>
            <a:pPr marL="342900" indent="-342900" algn="l">
              <a:lnSpc>
                <a:spcPct val="150000"/>
              </a:lnSpc>
              <a:spcAft>
                <a:spcPts val="600"/>
              </a:spcAft>
              <a:buFont typeface="Arial" panose="020B0604020202020204" pitchFamily="34" charset="0"/>
              <a:buChar char="•"/>
              <a:defRPr>
                <a:solidFill>
                  <a:srgbClr val="474C55"/>
                </a:solidFill>
              </a:defRPr>
            </a:pPr>
            <a:r>
              <a:rPr lang="en-GB" sz="2400" b="0" dirty="0">
                <a:solidFill>
                  <a:schemeClr val="tx2"/>
                </a:solidFill>
                <a:latin typeface="Barlow" pitchFamily="2" charset="77"/>
              </a:rPr>
              <a:t>Typographical arrangements</a:t>
            </a:r>
          </a:p>
          <a:p>
            <a:pPr marL="342900" indent="-342900" algn="l">
              <a:lnSpc>
                <a:spcPct val="150000"/>
              </a:lnSpc>
              <a:spcAft>
                <a:spcPts val="600"/>
              </a:spcAft>
              <a:buFont typeface="Arial" panose="020B0604020202020204" pitchFamily="34" charset="0"/>
              <a:buChar char="•"/>
              <a:defRPr>
                <a:solidFill>
                  <a:srgbClr val="474C55"/>
                </a:solidFill>
              </a:defRPr>
            </a:pPr>
            <a:r>
              <a:rPr lang="en-GB" sz="2400" b="0" dirty="0">
                <a:solidFill>
                  <a:schemeClr val="tx2"/>
                </a:solidFill>
                <a:latin typeface="Barlow" pitchFamily="2" charset="77"/>
              </a:rPr>
              <a:t>Works of artistic craftsmanship</a:t>
            </a:r>
          </a:p>
          <a:p>
            <a:pPr marL="342900" indent="-342900" algn="l">
              <a:lnSpc>
                <a:spcPct val="150000"/>
              </a:lnSpc>
              <a:spcAft>
                <a:spcPts val="600"/>
              </a:spcAft>
              <a:buFont typeface="Arial" panose="020B0604020202020204" pitchFamily="34" charset="0"/>
              <a:buChar char="•"/>
              <a:defRPr>
                <a:solidFill>
                  <a:srgbClr val="474C55"/>
                </a:solidFill>
              </a:defRPr>
            </a:pPr>
            <a:r>
              <a:rPr lang="en-GB" sz="2400" b="0" dirty="0">
                <a:solidFill>
                  <a:schemeClr val="tx2"/>
                </a:solidFill>
                <a:latin typeface="Barlow" pitchFamily="2" charset="77"/>
              </a:rPr>
              <a:t>suis generis Database right (Directive 96/9/EC of 11 March 1996 on the legal protection of databases)</a:t>
            </a:r>
          </a:p>
        </p:txBody>
      </p:sp>
    </p:spTree>
    <p:extLst>
      <p:ext uri="{BB962C8B-B14F-4D97-AF65-F5344CB8AC3E}">
        <p14:creationId xmlns:p14="http://schemas.microsoft.com/office/powerpoint/2010/main" val="2588557939"/>
      </p:ext>
    </p:extLst>
  </p:cSld>
  <p:clrMapOvr>
    <a:masterClrMapping/>
  </p:clrMapOvr>
  <p:transition spd="med" advTm="222639"/>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F1749-7B5A-6FEE-06A0-A66E66F184F6}"/>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8840CC77-E490-B5B3-3CFD-498673F46C64}"/>
              </a:ext>
            </a:extLst>
          </p:cNvPr>
          <p:cNvSpPr txBox="1"/>
          <p:nvPr/>
        </p:nvSpPr>
        <p:spPr>
          <a:xfrm>
            <a:off x="1028458" y="1002549"/>
            <a:ext cx="14368061"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The closed list of subject-matter (CDPA s3-8)</a:t>
            </a:r>
            <a:endParaRPr lang="en-GB" sz="5400" dirty="0">
              <a:solidFill>
                <a:schemeClr val="tx2"/>
              </a:solidFill>
              <a:latin typeface="Barlow" pitchFamily="2" charset="77"/>
            </a:endParaRP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5D91640A-0D96-B1EC-1F57-B2D745804AC4}"/>
              </a:ext>
            </a:extLst>
          </p:cNvPr>
          <p:cNvSpPr txBox="1"/>
          <p:nvPr/>
        </p:nvSpPr>
        <p:spPr>
          <a:xfrm>
            <a:off x="1028459" y="1002549"/>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69883392-74DD-06AD-BE73-404CE39395F4}"/>
              </a:ext>
            </a:extLst>
          </p:cNvPr>
          <p:cNvSpPr/>
          <p:nvPr/>
        </p:nvSpPr>
        <p:spPr>
          <a:xfrm>
            <a:off x="1028458" y="2029893"/>
            <a:ext cx="14862995" cy="6247864"/>
          </a:xfrm>
          <a:prstGeom prst="rect">
            <a:avLst/>
          </a:prstGeom>
        </p:spPr>
        <p:txBody>
          <a:bodyPr wrap="square">
            <a:spAutoFit/>
          </a:bodyPr>
          <a:lstStyle/>
          <a:p>
            <a:pPr marL="342900" indent="-342900" algn="l">
              <a:lnSpc>
                <a:spcPct val="150000"/>
              </a:lnSpc>
              <a:spcAft>
                <a:spcPts val="600"/>
              </a:spcAft>
              <a:buFont typeface="Arial" panose="020B0604020202020204" pitchFamily="34" charset="0"/>
              <a:buChar char="•"/>
              <a:defRPr>
                <a:solidFill>
                  <a:srgbClr val="474C55"/>
                </a:solidFill>
              </a:defRPr>
            </a:pPr>
            <a:r>
              <a:rPr lang="en-GB" sz="2400" b="0" dirty="0">
                <a:solidFill>
                  <a:schemeClr val="tx2"/>
                </a:solidFill>
                <a:latin typeface="Barlow" pitchFamily="2" charset="77"/>
              </a:rPr>
              <a:t>Literary works (and computer programmes)</a:t>
            </a:r>
          </a:p>
          <a:p>
            <a:pPr marL="342900" indent="-342900" algn="l">
              <a:lnSpc>
                <a:spcPct val="150000"/>
              </a:lnSpc>
              <a:spcAft>
                <a:spcPts val="600"/>
              </a:spcAft>
              <a:buFont typeface="Arial" panose="020B0604020202020204" pitchFamily="34" charset="0"/>
              <a:buChar char="•"/>
              <a:defRPr>
                <a:solidFill>
                  <a:srgbClr val="474C55"/>
                </a:solidFill>
              </a:defRPr>
            </a:pPr>
            <a:r>
              <a:rPr lang="en-GB" sz="2400" b="0" dirty="0">
                <a:solidFill>
                  <a:schemeClr val="tx2"/>
                </a:solidFill>
                <a:latin typeface="Barlow" pitchFamily="2" charset="77"/>
              </a:rPr>
              <a:t>Musical works</a:t>
            </a:r>
          </a:p>
          <a:p>
            <a:pPr marL="342900" indent="-342900" algn="l">
              <a:lnSpc>
                <a:spcPct val="150000"/>
              </a:lnSpc>
              <a:spcAft>
                <a:spcPts val="600"/>
              </a:spcAft>
              <a:buFont typeface="Arial" panose="020B0604020202020204" pitchFamily="34" charset="0"/>
              <a:buChar char="•"/>
              <a:defRPr>
                <a:solidFill>
                  <a:srgbClr val="474C55"/>
                </a:solidFill>
              </a:defRPr>
            </a:pPr>
            <a:r>
              <a:rPr lang="en-GB" sz="2400" b="0" dirty="0">
                <a:solidFill>
                  <a:schemeClr val="tx2"/>
                </a:solidFill>
                <a:latin typeface="Barlow" pitchFamily="2" charset="77"/>
              </a:rPr>
              <a:t>Artistic works</a:t>
            </a:r>
          </a:p>
          <a:p>
            <a:pPr marL="342900" indent="-342900" algn="l">
              <a:lnSpc>
                <a:spcPct val="150000"/>
              </a:lnSpc>
              <a:spcAft>
                <a:spcPts val="600"/>
              </a:spcAft>
              <a:buFont typeface="Arial" panose="020B0604020202020204" pitchFamily="34" charset="0"/>
              <a:buChar char="•"/>
              <a:defRPr>
                <a:solidFill>
                  <a:srgbClr val="474C55"/>
                </a:solidFill>
              </a:defRPr>
            </a:pPr>
            <a:r>
              <a:rPr lang="en-GB" sz="2400" b="0" dirty="0">
                <a:solidFill>
                  <a:schemeClr val="tx2"/>
                </a:solidFill>
                <a:latin typeface="Barlow" pitchFamily="2" charset="77"/>
              </a:rPr>
              <a:t>Dramatic works</a:t>
            </a:r>
          </a:p>
          <a:p>
            <a:pPr marL="342900" indent="-342900" algn="l">
              <a:lnSpc>
                <a:spcPct val="150000"/>
              </a:lnSpc>
              <a:spcAft>
                <a:spcPts val="600"/>
              </a:spcAft>
              <a:buFont typeface="Arial" panose="020B0604020202020204" pitchFamily="34" charset="0"/>
              <a:buChar char="•"/>
              <a:defRPr>
                <a:solidFill>
                  <a:srgbClr val="474C55"/>
                </a:solidFill>
              </a:defRPr>
            </a:pPr>
            <a:r>
              <a:rPr lang="en-GB" sz="2400" b="0" dirty="0">
                <a:solidFill>
                  <a:srgbClr val="FF7765"/>
                </a:solidFill>
                <a:latin typeface="Barlow" pitchFamily="2" charset="77"/>
              </a:rPr>
              <a:t>Sound recordings</a:t>
            </a:r>
          </a:p>
          <a:p>
            <a:pPr marL="342900" indent="-342900" algn="l">
              <a:lnSpc>
                <a:spcPct val="150000"/>
              </a:lnSpc>
              <a:spcAft>
                <a:spcPts val="600"/>
              </a:spcAft>
              <a:buFont typeface="Arial" panose="020B0604020202020204" pitchFamily="34" charset="0"/>
              <a:buChar char="•"/>
              <a:defRPr>
                <a:solidFill>
                  <a:srgbClr val="474C55"/>
                </a:solidFill>
              </a:defRPr>
            </a:pPr>
            <a:r>
              <a:rPr lang="en-GB" sz="2400" b="0" dirty="0">
                <a:solidFill>
                  <a:srgbClr val="FF7765"/>
                </a:solidFill>
                <a:latin typeface="Barlow" pitchFamily="2" charset="77"/>
              </a:rPr>
              <a:t>Films</a:t>
            </a:r>
          </a:p>
          <a:p>
            <a:pPr marL="342900" indent="-342900" algn="l">
              <a:lnSpc>
                <a:spcPct val="150000"/>
              </a:lnSpc>
              <a:spcAft>
                <a:spcPts val="600"/>
              </a:spcAft>
              <a:buFont typeface="Arial" panose="020B0604020202020204" pitchFamily="34" charset="0"/>
              <a:buChar char="•"/>
              <a:defRPr>
                <a:solidFill>
                  <a:srgbClr val="474C55"/>
                </a:solidFill>
              </a:defRPr>
            </a:pPr>
            <a:r>
              <a:rPr lang="en-GB" sz="2400" b="0" dirty="0">
                <a:solidFill>
                  <a:srgbClr val="FF7765"/>
                </a:solidFill>
                <a:latin typeface="Barlow" pitchFamily="2" charset="77"/>
              </a:rPr>
              <a:t>Broadcasts</a:t>
            </a:r>
          </a:p>
          <a:p>
            <a:pPr marL="342900" indent="-342900" algn="l">
              <a:lnSpc>
                <a:spcPct val="150000"/>
              </a:lnSpc>
              <a:spcAft>
                <a:spcPts val="600"/>
              </a:spcAft>
              <a:buFont typeface="Arial" panose="020B0604020202020204" pitchFamily="34" charset="0"/>
              <a:buChar char="•"/>
              <a:defRPr>
                <a:solidFill>
                  <a:srgbClr val="474C55"/>
                </a:solidFill>
              </a:defRPr>
            </a:pPr>
            <a:r>
              <a:rPr lang="en-GB" sz="2400" b="0" dirty="0">
                <a:solidFill>
                  <a:srgbClr val="FF7765"/>
                </a:solidFill>
                <a:latin typeface="Barlow" pitchFamily="2" charset="77"/>
              </a:rPr>
              <a:t>Typographical arrangements</a:t>
            </a:r>
          </a:p>
          <a:p>
            <a:pPr marL="342900" indent="-342900" algn="l">
              <a:lnSpc>
                <a:spcPct val="150000"/>
              </a:lnSpc>
              <a:spcAft>
                <a:spcPts val="600"/>
              </a:spcAft>
              <a:buFont typeface="Arial" panose="020B0604020202020204" pitchFamily="34" charset="0"/>
              <a:buChar char="•"/>
              <a:defRPr>
                <a:solidFill>
                  <a:srgbClr val="474C55"/>
                </a:solidFill>
              </a:defRPr>
            </a:pPr>
            <a:r>
              <a:rPr lang="en-GB" sz="2400" b="0" dirty="0">
                <a:solidFill>
                  <a:schemeClr val="tx2"/>
                </a:solidFill>
                <a:latin typeface="Barlow" pitchFamily="2" charset="77"/>
              </a:rPr>
              <a:t>Works of artistic craftsmanship</a:t>
            </a:r>
          </a:p>
          <a:p>
            <a:pPr marL="342900" indent="-342900" algn="l">
              <a:lnSpc>
                <a:spcPct val="150000"/>
              </a:lnSpc>
              <a:spcAft>
                <a:spcPts val="600"/>
              </a:spcAft>
              <a:buFont typeface="Arial" panose="020B0604020202020204" pitchFamily="34" charset="0"/>
              <a:buChar char="•"/>
              <a:defRPr>
                <a:solidFill>
                  <a:srgbClr val="474C55"/>
                </a:solidFill>
              </a:defRPr>
            </a:pPr>
            <a:r>
              <a:rPr lang="en-GB" sz="2400" b="0" dirty="0">
                <a:solidFill>
                  <a:schemeClr val="tx2"/>
                </a:solidFill>
                <a:latin typeface="Barlow" pitchFamily="2" charset="77"/>
              </a:rPr>
              <a:t>suis generis Database right (Directive 96/9/EC of 11 March 1996 on the legal protection of databases)</a:t>
            </a:r>
          </a:p>
        </p:txBody>
      </p:sp>
      <p:sp>
        <p:nvSpPr>
          <p:cNvPr id="2" name="Right Brace 1">
            <a:extLst>
              <a:ext uri="{FF2B5EF4-FFF2-40B4-BE49-F238E27FC236}">
                <a16:creationId xmlns:a16="http://schemas.microsoft.com/office/drawing/2014/main" id="{A3A6C64B-FBC7-D23C-87F4-35C366B0DC18}"/>
              </a:ext>
            </a:extLst>
          </p:cNvPr>
          <p:cNvSpPr/>
          <p:nvPr/>
        </p:nvSpPr>
        <p:spPr>
          <a:xfrm>
            <a:off x="8178148" y="4876800"/>
            <a:ext cx="983969" cy="1828800"/>
          </a:xfrm>
          <a:prstGeom prst="rightBrace">
            <a:avLst/>
          </a:prstGeom>
          <a:noFill/>
          <a:ln w="3175" cap="flat">
            <a:solidFill>
              <a:srgbClr val="0000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algn="l" defTabSz="914400" latinLnBrk="1"/>
            <a:endParaRPr lang="en-GB" b="0" dirty="0"/>
          </a:p>
        </p:txBody>
      </p:sp>
      <p:sp>
        <p:nvSpPr>
          <p:cNvPr id="4" name="TextBox 3">
            <a:extLst>
              <a:ext uri="{FF2B5EF4-FFF2-40B4-BE49-F238E27FC236}">
                <a16:creationId xmlns:a16="http://schemas.microsoft.com/office/drawing/2014/main" id="{C7408540-75C6-E059-3B4C-E0E4752C4B59}"/>
              </a:ext>
            </a:extLst>
          </p:cNvPr>
          <p:cNvSpPr txBox="1"/>
          <p:nvPr/>
        </p:nvSpPr>
        <p:spPr>
          <a:xfrm>
            <a:off x="9162117" y="5444507"/>
            <a:ext cx="5298224" cy="902811"/>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0320" tIns="20320" rIns="20320" bIns="20320" numCol="1" spcCol="38100" rtlCol="0" anchor="ctr">
            <a:spAutoFit/>
          </a:bodyPr>
          <a:lstStyle/>
          <a:p>
            <a:r>
              <a:rPr lang="en-GB" sz="2800" b="0" dirty="0">
                <a:solidFill>
                  <a:schemeClr val="accent5"/>
                </a:solidFill>
                <a:latin typeface="Barlow" pitchFamily="2" charset="77"/>
              </a:rPr>
              <a:t>‘</a:t>
            </a:r>
            <a:r>
              <a:rPr lang="en-GB" sz="2800" b="0" i="1" dirty="0">
                <a:solidFill>
                  <a:schemeClr val="accent5"/>
                </a:solidFill>
                <a:latin typeface="Barlow" pitchFamily="2" charset="77"/>
              </a:rPr>
              <a:t>Secondary’ or ’Entrepreneurial’ works</a:t>
            </a:r>
          </a:p>
        </p:txBody>
      </p:sp>
    </p:spTree>
    <p:extLst>
      <p:ext uri="{BB962C8B-B14F-4D97-AF65-F5344CB8AC3E}">
        <p14:creationId xmlns:p14="http://schemas.microsoft.com/office/powerpoint/2010/main" val="3293448822"/>
      </p:ext>
    </p:extLst>
  </p:cSld>
  <p:clrMapOvr>
    <a:masterClrMapping/>
  </p:clrMapOvr>
  <p:transition spd="med" advTm="222639"/>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ADFC1-97C1-A38D-40C6-D5F8E0A94E21}"/>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34D7CBD3-0E85-8183-7A16-490F9681DFCC}"/>
              </a:ext>
            </a:extLst>
          </p:cNvPr>
          <p:cNvSpPr txBox="1"/>
          <p:nvPr/>
        </p:nvSpPr>
        <p:spPr>
          <a:xfrm>
            <a:off x="1028458" y="1002549"/>
            <a:ext cx="14442201"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The closed list of subject-matter (CDPA s3-8)</a:t>
            </a:r>
            <a:endParaRPr lang="en-GB" sz="5400" dirty="0">
              <a:solidFill>
                <a:schemeClr val="tx2"/>
              </a:solidFill>
              <a:latin typeface="Barlow" pitchFamily="2" charset="77"/>
            </a:endParaRPr>
          </a:p>
          <a:p>
            <a:endParaRPr lang="en-GB" sz="5400"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B6AF5476-652A-3C84-8B70-B19F791013DD}"/>
              </a:ext>
            </a:extLst>
          </p:cNvPr>
          <p:cNvSpPr txBox="1"/>
          <p:nvPr/>
        </p:nvSpPr>
        <p:spPr>
          <a:xfrm>
            <a:off x="1028459" y="1002549"/>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3AC25FB5-BDB6-270C-6A1E-11FACEBC213D}"/>
              </a:ext>
            </a:extLst>
          </p:cNvPr>
          <p:cNvSpPr/>
          <p:nvPr/>
        </p:nvSpPr>
        <p:spPr>
          <a:xfrm>
            <a:off x="1028458" y="2029893"/>
            <a:ext cx="14862995" cy="6247864"/>
          </a:xfrm>
          <a:prstGeom prst="rect">
            <a:avLst/>
          </a:prstGeom>
        </p:spPr>
        <p:txBody>
          <a:bodyPr wrap="square">
            <a:spAutoFit/>
          </a:bodyPr>
          <a:lstStyle/>
          <a:p>
            <a:pPr marL="342900" indent="-342900" algn="l">
              <a:lnSpc>
                <a:spcPct val="150000"/>
              </a:lnSpc>
              <a:spcAft>
                <a:spcPts val="600"/>
              </a:spcAft>
              <a:buFont typeface="Arial" panose="020B0604020202020204" pitchFamily="34" charset="0"/>
              <a:buChar char="•"/>
              <a:defRPr>
                <a:solidFill>
                  <a:srgbClr val="474C55"/>
                </a:solidFill>
              </a:defRPr>
            </a:pPr>
            <a:r>
              <a:rPr lang="en-GB" sz="2400" b="0" dirty="0">
                <a:solidFill>
                  <a:srgbClr val="FF7765"/>
                </a:solidFill>
                <a:latin typeface="Barlow" pitchFamily="2" charset="77"/>
              </a:rPr>
              <a:t>Literary works (and computer programmes)</a:t>
            </a:r>
          </a:p>
          <a:p>
            <a:pPr marL="342900" indent="-342900" algn="l">
              <a:lnSpc>
                <a:spcPct val="150000"/>
              </a:lnSpc>
              <a:spcAft>
                <a:spcPts val="600"/>
              </a:spcAft>
              <a:buFont typeface="Arial" panose="020B0604020202020204" pitchFamily="34" charset="0"/>
              <a:buChar char="•"/>
              <a:defRPr>
                <a:solidFill>
                  <a:srgbClr val="474C55"/>
                </a:solidFill>
              </a:defRPr>
            </a:pPr>
            <a:r>
              <a:rPr lang="en-GB" sz="2400" b="0" dirty="0">
                <a:solidFill>
                  <a:srgbClr val="FF7765"/>
                </a:solidFill>
                <a:latin typeface="Barlow" pitchFamily="2" charset="77"/>
              </a:rPr>
              <a:t>Musical works</a:t>
            </a:r>
          </a:p>
          <a:p>
            <a:pPr marL="342900" indent="-342900" algn="l">
              <a:lnSpc>
                <a:spcPct val="150000"/>
              </a:lnSpc>
              <a:spcAft>
                <a:spcPts val="600"/>
              </a:spcAft>
              <a:buFont typeface="Arial" panose="020B0604020202020204" pitchFamily="34" charset="0"/>
              <a:buChar char="•"/>
              <a:defRPr>
                <a:solidFill>
                  <a:srgbClr val="474C55"/>
                </a:solidFill>
              </a:defRPr>
            </a:pPr>
            <a:r>
              <a:rPr lang="en-GB" sz="2400" b="0" dirty="0">
                <a:solidFill>
                  <a:schemeClr val="tx2"/>
                </a:solidFill>
                <a:latin typeface="Barlow" pitchFamily="2" charset="77"/>
              </a:rPr>
              <a:t>Artistic works</a:t>
            </a:r>
          </a:p>
          <a:p>
            <a:pPr marL="342900" indent="-342900" algn="l">
              <a:lnSpc>
                <a:spcPct val="150000"/>
              </a:lnSpc>
              <a:spcAft>
                <a:spcPts val="600"/>
              </a:spcAft>
              <a:buFont typeface="Arial" panose="020B0604020202020204" pitchFamily="34" charset="0"/>
              <a:buChar char="•"/>
              <a:defRPr>
                <a:solidFill>
                  <a:srgbClr val="474C55"/>
                </a:solidFill>
              </a:defRPr>
            </a:pPr>
            <a:r>
              <a:rPr lang="en-GB" sz="2400" b="0" dirty="0">
                <a:solidFill>
                  <a:srgbClr val="FF7765"/>
                </a:solidFill>
                <a:latin typeface="Barlow" pitchFamily="2" charset="77"/>
              </a:rPr>
              <a:t>Dramatic works</a:t>
            </a:r>
          </a:p>
          <a:p>
            <a:pPr marL="342900" indent="-342900" algn="l">
              <a:lnSpc>
                <a:spcPct val="150000"/>
              </a:lnSpc>
              <a:spcAft>
                <a:spcPts val="600"/>
              </a:spcAft>
              <a:buFont typeface="Arial" panose="020B0604020202020204" pitchFamily="34" charset="0"/>
              <a:buChar char="•"/>
              <a:defRPr>
                <a:solidFill>
                  <a:srgbClr val="474C55"/>
                </a:solidFill>
              </a:defRPr>
            </a:pPr>
            <a:r>
              <a:rPr lang="en-GB" sz="2400" b="0" dirty="0">
                <a:solidFill>
                  <a:schemeClr val="tx2"/>
                </a:solidFill>
                <a:latin typeface="Barlow" pitchFamily="2" charset="77"/>
              </a:rPr>
              <a:t>Sound recordings</a:t>
            </a:r>
          </a:p>
          <a:p>
            <a:pPr marL="342900" indent="-342900" algn="l">
              <a:lnSpc>
                <a:spcPct val="150000"/>
              </a:lnSpc>
              <a:spcAft>
                <a:spcPts val="600"/>
              </a:spcAft>
              <a:buFont typeface="Arial" panose="020B0604020202020204" pitchFamily="34" charset="0"/>
              <a:buChar char="•"/>
              <a:defRPr>
                <a:solidFill>
                  <a:srgbClr val="474C55"/>
                </a:solidFill>
              </a:defRPr>
            </a:pPr>
            <a:r>
              <a:rPr lang="en-GB" sz="2400" b="0" dirty="0">
                <a:solidFill>
                  <a:schemeClr val="tx2"/>
                </a:solidFill>
                <a:latin typeface="Barlow" pitchFamily="2" charset="77"/>
              </a:rPr>
              <a:t>Films</a:t>
            </a:r>
          </a:p>
          <a:p>
            <a:pPr marL="342900" indent="-342900" algn="l">
              <a:lnSpc>
                <a:spcPct val="150000"/>
              </a:lnSpc>
              <a:spcAft>
                <a:spcPts val="600"/>
              </a:spcAft>
              <a:buFont typeface="Arial" panose="020B0604020202020204" pitchFamily="34" charset="0"/>
              <a:buChar char="•"/>
              <a:defRPr>
                <a:solidFill>
                  <a:srgbClr val="474C55"/>
                </a:solidFill>
              </a:defRPr>
            </a:pPr>
            <a:r>
              <a:rPr lang="en-GB" sz="2400" b="0" dirty="0">
                <a:solidFill>
                  <a:schemeClr val="tx2"/>
                </a:solidFill>
                <a:latin typeface="Barlow" pitchFamily="2" charset="77"/>
              </a:rPr>
              <a:t>Broadcasts</a:t>
            </a:r>
          </a:p>
          <a:p>
            <a:pPr marL="342900" indent="-342900" algn="l">
              <a:lnSpc>
                <a:spcPct val="150000"/>
              </a:lnSpc>
              <a:spcAft>
                <a:spcPts val="600"/>
              </a:spcAft>
              <a:buFont typeface="Arial" panose="020B0604020202020204" pitchFamily="34" charset="0"/>
              <a:buChar char="•"/>
              <a:defRPr>
                <a:solidFill>
                  <a:srgbClr val="474C55"/>
                </a:solidFill>
              </a:defRPr>
            </a:pPr>
            <a:r>
              <a:rPr lang="en-GB" sz="2400" b="0" dirty="0">
                <a:solidFill>
                  <a:schemeClr val="tx2"/>
                </a:solidFill>
                <a:latin typeface="Barlow" pitchFamily="2" charset="77"/>
              </a:rPr>
              <a:t>Typographical arrangements</a:t>
            </a:r>
          </a:p>
          <a:p>
            <a:pPr marL="342900" indent="-342900" algn="l">
              <a:lnSpc>
                <a:spcPct val="150000"/>
              </a:lnSpc>
              <a:spcAft>
                <a:spcPts val="600"/>
              </a:spcAft>
              <a:buFont typeface="Arial" panose="020B0604020202020204" pitchFamily="34" charset="0"/>
              <a:buChar char="•"/>
              <a:defRPr>
                <a:solidFill>
                  <a:srgbClr val="474C55"/>
                </a:solidFill>
              </a:defRPr>
            </a:pPr>
            <a:r>
              <a:rPr lang="en-GB" sz="2400" b="0" dirty="0">
                <a:solidFill>
                  <a:schemeClr val="tx2"/>
                </a:solidFill>
                <a:latin typeface="Barlow" pitchFamily="2" charset="77"/>
              </a:rPr>
              <a:t>Works of artistic craftsmanship</a:t>
            </a:r>
          </a:p>
          <a:p>
            <a:pPr marL="342900" indent="-342900" algn="l">
              <a:lnSpc>
                <a:spcPct val="150000"/>
              </a:lnSpc>
              <a:spcAft>
                <a:spcPts val="600"/>
              </a:spcAft>
              <a:buFont typeface="Arial" panose="020B0604020202020204" pitchFamily="34" charset="0"/>
              <a:buChar char="•"/>
              <a:defRPr>
                <a:solidFill>
                  <a:srgbClr val="474C55"/>
                </a:solidFill>
              </a:defRPr>
            </a:pPr>
            <a:r>
              <a:rPr lang="en-GB" sz="2400" b="0" dirty="0">
                <a:solidFill>
                  <a:schemeClr val="tx2"/>
                </a:solidFill>
                <a:latin typeface="Barlow" pitchFamily="2" charset="77"/>
              </a:rPr>
              <a:t>suis generis Database right (Directive 96/9/EC of 11 March 1996 on the legal protection of databases)</a:t>
            </a:r>
          </a:p>
        </p:txBody>
      </p:sp>
      <p:sp>
        <p:nvSpPr>
          <p:cNvPr id="2" name="Right Brace 1">
            <a:extLst>
              <a:ext uri="{FF2B5EF4-FFF2-40B4-BE49-F238E27FC236}">
                <a16:creationId xmlns:a16="http://schemas.microsoft.com/office/drawing/2014/main" id="{E590C24A-A3D9-0E5F-F5F7-5AF3CEC8C4B5}"/>
              </a:ext>
            </a:extLst>
          </p:cNvPr>
          <p:cNvSpPr/>
          <p:nvPr/>
        </p:nvSpPr>
        <p:spPr>
          <a:xfrm>
            <a:off x="8178146" y="2436038"/>
            <a:ext cx="983969" cy="1828800"/>
          </a:xfrm>
          <a:prstGeom prst="rightBrace">
            <a:avLst/>
          </a:prstGeom>
          <a:noFill/>
          <a:ln w="3175" cap="flat">
            <a:solidFill>
              <a:srgbClr val="0000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algn="l" defTabSz="914400" latinLnBrk="1"/>
            <a:endParaRPr lang="en-GB" b="0" dirty="0"/>
          </a:p>
        </p:txBody>
      </p:sp>
      <p:sp>
        <p:nvSpPr>
          <p:cNvPr id="4" name="TextBox 3">
            <a:extLst>
              <a:ext uri="{FF2B5EF4-FFF2-40B4-BE49-F238E27FC236}">
                <a16:creationId xmlns:a16="http://schemas.microsoft.com/office/drawing/2014/main" id="{1A50E8D1-7DCE-EDCE-0B25-B1C2A8BC5702}"/>
              </a:ext>
            </a:extLst>
          </p:cNvPr>
          <p:cNvSpPr txBox="1"/>
          <p:nvPr/>
        </p:nvSpPr>
        <p:spPr>
          <a:xfrm>
            <a:off x="9374705" y="2683589"/>
            <a:ext cx="5298224" cy="1333698"/>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0320" tIns="20320" rIns="20320" bIns="20320" numCol="1" spcCol="38100" rtlCol="0" anchor="ctr">
            <a:spAutoFit/>
          </a:bodyPr>
          <a:lstStyle/>
          <a:p>
            <a:r>
              <a:rPr lang="en-GB" sz="2800" b="0" i="1" dirty="0">
                <a:solidFill>
                  <a:srgbClr val="FF7765"/>
                </a:solidFill>
                <a:latin typeface="Barlow" pitchFamily="2" charset="77"/>
              </a:rPr>
              <a:t>May also include </a:t>
            </a:r>
            <a:r>
              <a:rPr lang="en-GB" sz="2800" b="0" i="1" u="sng" dirty="0">
                <a:solidFill>
                  <a:srgbClr val="FF7765"/>
                </a:solidFill>
                <a:latin typeface="Barlow" pitchFamily="2" charset="77"/>
              </a:rPr>
              <a:t>performers</a:t>
            </a:r>
            <a:r>
              <a:rPr lang="en-GB" sz="2800" b="0" i="1" dirty="0">
                <a:solidFill>
                  <a:srgbClr val="FF7765"/>
                </a:solidFill>
                <a:latin typeface="Barlow" pitchFamily="2" charset="77"/>
              </a:rPr>
              <a:t> with a distinct set of (neighbouring) rights (Seminar 6)</a:t>
            </a:r>
          </a:p>
        </p:txBody>
      </p:sp>
    </p:spTree>
    <p:extLst>
      <p:ext uri="{BB962C8B-B14F-4D97-AF65-F5344CB8AC3E}">
        <p14:creationId xmlns:p14="http://schemas.microsoft.com/office/powerpoint/2010/main" val="3799028749"/>
      </p:ext>
    </p:extLst>
  </p:cSld>
  <p:clrMapOvr>
    <a:masterClrMapping/>
  </p:clrMapOvr>
  <p:transition spd="med" advTm="222639"/>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C9671-74D7-840B-DD69-99D428EA7A8E}"/>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761DFE95-056C-6BFF-3338-D477F4C94782}"/>
              </a:ext>
            </a:extLst>
          </p:cNvPr>
          <p:cNvSpPr txBox="1"/>
          <p:nvPr/>
        </p:nvSpPr>
        <p:spPr>
          <a:xfrm>
            <a:off x="1028459" y="1002549"/>
            <a:ext cx="964162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Fixation</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762B8DD4-5651-27A8-378F-8AF32E32ECDB}"/>
              </a:ext>
            </a:extLst>
          </p:cNvPr>
          <p:cNvSpPr txBox="1"/>
          <p:nvPr/>
        </p:nvSpPr>
        <p:spPr>
          <a:xfrm>
            <a:off x="1028459" y="1002549"/>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5" name="Rectangle 4">
            <a:extLst>
              <a:ext uri="{FF2B5EF4-FFF2-40B4-BE49-F238E27FC236}">
                <a16:creationId xmlns:a16="http://schemas.microsoft.com/office/drawing/2014/main" id="{8F5A8DC8-775B-714D-EEFE-61970B9DBCF7}"/>
              </a:ext>
            </a:extLst>
          </p:cNvPr>
          <p:cNvSpPr/>
          <p:nvPr/>
        </p:nvSpPr>
        <p:spPr>
          <a:xfrm>
            <a:off x="1028460" y="2179242"/>
            <a:ext cx="9051206" cy="6127318"/>
          </a:xfrm>
          <a:prstGeom prst="rect">
            <a:avLst/>
          </a:prstGeom>
        </p:spPr>
        <p:txBody>
          <a:bodyPr wrap="square">
            <a:spAutoFit/>
          </a:bodyPr>
          <a:lstStyle/>
          <a:p>
            <a:pPr marL="342900" indent="-342900" algn="just">
              <a:lnSpc>
                <a:spcPct val="150000"/>
              </a:lnSpc>
              <a:spcAft>
                <a:spcPts val="600"/>
              </a:spcAft>
              <a:buFont typeface="Arial" panose="020B0604020202020204" pitchFamily="34" charset="0"/>
              <a:buChar char="•"/>
              <a:defRPr>
                <a:solidFill>
                  <a:srgbClr val="474C55"/>
                </a:solidFill>
              </a:defRPr>
            </a:pPr>
            <a:r>
              <a:rPr lang="en-GB" sz="2800" b="0" dirty="0">
                <a:solidFill>
                  <a:schemeClr val="tx2"/>
                </a:solidFill>
                <a:latin typeface="Barlow" pitchFamily="2" charset="77"/>
              </a:rPr>
              <a:t>Copyright is intangible property...</a:t>
            </a:r>
          </a:p>
          <a:p>
            <a:pPr marL="342900" indent="-342900" algn="just">
              <a:lnSpc>
                <a:spcPct val="150000"/>
              </a:lnSpc>
              <a:spcAft>
                <a:spcPts val="600"/>
              </a:spcAft>
              <a:buFont typeface="Arial" panose="020B0604020202020204" pitchFamily="34" charset="0"/>
              <a:buChar char="•"/>
              <a:defRPr>
                <a:solidFill>
                  <a:srgbClr val="474C55"/>
                </a:solidFill>
              </a:defRPr>
            </a:pPr>
            <a:r>
              <a:rPr lang="en-GB" sz="2800" b="0" dirty="0">
                <a:solidFill>
                  <a:schemeClr val="tx2"/>
                </a:solidFill>
                <a:latin typeface="Barlow" pitchFamily="2" charset="77"/>
              </a:rPr>
              <a:t> ... but the work must be </a:t>
            </a:r>
            <a:r>
              <a:rPr lang="en-GB" sz="2800" dirty="0">
                <a:solidFill>
                  <a:schemeClr val="tx2"/>
                </a:solidFill>
                <a:latin typeface="Barlow" pitchFamily="2" charset="77"/>
              </a:rPr>
              <a:t>fixed</a:t>
            </a:r>
            <a:r>
              <a:rPr lang="en-GB" sz="2800" b="0" dirty="0">
                <a:solidFill>
                  <a:schemeClr val="tx2"/>
                </a:solidFill>
                <a:latin typeface="Barlow" pitchFamily="2" charset="77"/>
              </a:rPr>
              <a:t> in a permanent record</a:t>
            </a:r>
          </a:p>
          <a:p>
            <a:pPr marL="342900" indent="-342900" algn="just">
              <a:lnSpc>
                <a:spcPct val="150000"/>
              </a:lnSpc>
              <a:spcAft>
                <a:spcPts val="600"/>
              </a:spcAft>
              <a:buFont typeface="Arial" panose="020B0604020202020204" pitchFamily="34" charset="0"/>
              <a:buChar char="•"/>
              <a:defRPr>
                <a:solidFill>
                  <a:srgbClr val="474C55"/>
                </a:solidFill>
              </a:defRPr>
            </a:pPr>
            <a:r>
              <a:rPr lang="en-GB" sz="2800" b="0" dirty="0">
                <a:solidFill>
                  <a:schemeClr val="tx2"/>
                </a:solidFill>
                <a:latin typeface="Barlow" pitchFamily="2" charset="77"/>
              </a:rPr>
              <a:t>Note: principle of digital equivalence</a:t>
            </a:r>
          </a:p>
          <a:p>
            <a:pPr marL="342900" indent="-342900" algn="just">
              <a:lnSpc>
                <a:spcPct val="150000"/>
              </a:lnSpc>
              <a:spcAft>
                <a:spcPts val="600"/>
              </a:spcAft>
              <a:buFont typeface="Arial" panose="020B0604020202020204" pitchFamily="34" charset="0"/>
              <a:buChar char="•"/>
              <a:defRPr>
                <a:solidFill>
                  <a:srgbClr val="474C55"/>
                </a:solidFill>
              </a:defRPr>
            </a:pPr>
            <a:r>
              <a:rPr lang="en-GB" sz="2800" b="0" dirty="0">
                <a:solidFill>
                  <a:schemeClr val="tx2"/>
                </a:solidFill>
                <a:latin typeface="Barlow" pitchFamily="2" charset="77"/>
              </a:rPr>
              <a:t>The key question is whether it existed long enough for it ‘to be perceived, reproduced, or otherwise communicated for a period of more than transitory duration’  (</a:t>
            </a:r>
            <a:r>
              <a:rPr lang="en-GB" sz="2800" b="0" i="1" dirty="0" err="1">
                <a:solidFill>
                  <a:schemeClr val="tx2"/>
                </a:solidFill>
                <a:latin typeface="Barlow" pitchFamily="2" charset="77"/>
              </a:rPr>
              <a:t>Metix</a:t>
            </a:r>
            <a:r>
              <a:rPr lang="en-GB" sz="2800" b="0" i="1" dirty="0">
                <a:solidFill>
                  <a:schemeClr val="tx2"/>
                </a:solidFill>
                <a:latin typeface="Barlow" pitchFamily="2" charset="77"/>
              </a:rPr>
              <a:t> v GH Maughan</a:t>
            </a:r>
            <a:r>
              <a:rPr lang="en-GB" sz="2800" b="0" dirty="0">
                <a:solidFill>
                  <a:schemeClr val="tx2"/>
                </a:solidFill>
                <a:latin typeface="Barlow" pitchFamily="2" charset="77"/>
              </a:rPr>
              <a:t>)</a:t>
            </a:r>
          </a:p>
          <a:p>
            <a:pPr marL="342900" indent="-342900" algn="just">
              <a:lnSpc>
                <a:spcPct val="150000"/>
              </a:lnSpc>
              <a:spcAft>
                <a:spcPts val="600"/>
              </a:spcAft>
              <a:buFont typeface="Arial" panose="020B0604020202020204" pitchFamily="34" charset="0"/>
              <a:buChar char="•"/>
              <a:defRPr>
                <a:solidFill>
                  <a:srgbClr val="474C55"/>
                </a:solidFill>
              </a:defRPr>
            </a:pPr>
            <a:r>
              <a:rPr lang="en-GB" sz="2800" b="0" dirty="0">
                <a:solidFill>
                  <a:schemeClr val="tx2"/>
                </a:solidFill>
                <a:latin typeface="Barlow" pitchFamily="2" charset="77"/>
              </a:rPr>
              <a:t>Fixation doesn’t necessarily require permanent materialisation</a:t>
            </a:r>
          </a:p>
        </p:txBody>
      </p:sp>
      <p:pic>
        <p:nvPicPr>
          <p:cNvPr id="2" name="Picture 1" descr="Kazuki Yamamoto latte art">
            <a:extLst>
              <a:ext uri="{FF2B5EF4-FFF2-40B4-BE49-F238E27FC236}">
                <a16:creationId xmlns:a16="http://schemas.microsoft.com/office/drawing/2014/main" id="{68A260C6-3569-1B9B-C3A3-DF49A7EA63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70475" y="1640698"/>
            <a:ext cx="6163599" cy="616359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E3275A8-4B60-DF03-0627-D43D835B7021}"/>
              </a:ext>
            </a:extLst>
          </p:cNvPr>
          <p:cNvSpPr txBox="1"/>
          <p:nvPr/>
        </p:nvSpPr>
        <p:spPr>
          <a:xfrm>
            <a:off x="12928839" y="7988524"/>
            <a:ext cx="1446870" cy="318036"/>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20320" tIns="20320" rIns="20320" bIns="20320" numCol="1" spcCol="38100" rtlCol="0" anchor="ctr">
            <a:spAutoFit/>
          </a:bodyPr>
          <a:lstStyle/>
          <a:p>
            <a:r>
              <a:rPr lang="en-GB" dirty="0">
                <a:solidFill>
                  <a:schemeClr val="tx2"/>
                </a:solidFill>
                <a:latin typeface="Barlow" pitchFamily="2" charset="77"/>
                <a:hlinkClick r:id="rId3">
                  <a:extLst>
                    <a:ext uri="{A12FA001-AC4F-418D-AE19-62706E023703}">
                      <ahyp:hlinkClr xmlns:ahyp="http://schemas.microsoft.com/office/drawing/2018/hyperlinkcolor" val="tx"/>
                    </a:ext>
                  </a:extLst>
                </a:hlinkClick>
              </a:rPr>
              <a:t>Image Source</a:t>
            </a:r>
            <a:endParaRPr lang="en-GB" dirty="0">
              <a:solidFill>
                <a:schemeClr val="tx2"/>
              </a:solidFill>
              <a:latin typeface="Barlow" pitchFamily="2" charset="77"/>
            </a:endParaRPr>
          </a:p>
        </p:txBody>
      </p:sp>
    </p:spTree>
    <p:extLst>
      <p:ext uri="{BB962C8B-B14F-4D97-AF65-F5344CB8AC3E}">
        <p14:creationId xmlns:p14="http://schemas.microsoft.com/office/powerpoint/2010/main" val="1202086267"/>
      </p:ext>
    </p:extLst>
  </p:cSld>
  <p:clrMapOvr>
    <a:masterClrMapping/>
  </p:clrMapOvr>
  <p:transition spd="med" advTm="222639"/>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6A35C-5722-ACEA-443E-37E77A5A8B1C}"/>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D210025D-363E-B126-AF0D-82375CC7C05C}"/>
              </a:ext>
            </a:extLst>
          </p:cNvPr>
          <p:cNvSpPr txBox="1"/>
          <p:nvPr/>
        </p:nvSpPr>
        <p:spPr>
          <a:xfrm>
            <a:off x="1028459" y="1002549"/>
            <a:ext cx="964162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Originality</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1C621D69-2F68-376F-E96C-BD87560A7CA5}"/>
              </a:ext>
            </a:extLst>
          </p:cNvPr>
          <p:cNvSpPr txBox="1"/>
          <p:nvPr/>
        </p:nvSpPr>
        <p:spPr>
          <a:xfrm>
            <a:off x="1028459" y="1002549"/>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pic>
        <p:nvPicPr>
          <p:cNvPr id="2050" name="Picture 2" descr="QR code">
            <a:extLst>
              <a:ext uri="{FF2B5EF4-FFF2-40B4-BE49-F238E27FC236}">
                <a16:creationId xmlns:a16="http://schemas.microsoft.com/office/drawing/2014/main" id="{EDCB3E8A-B2EB-E31B-6DAA-94F16DF1A0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09466" y="1986568"/>
            <a:ext cx="5780463" cy="578046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F2820F5-BF63-6316-6CDC-CA530B3CE970}"/>
              </a:ext>
            </a:extLst>
          </p:cNvPr>
          <p:cNvSpPr txBox="1"/>
          <p:nvPr/>
        </p:nvSpPr>
        <p:spPr>
          <a:xfrm>
            <a:off x="9581908" y="7883132"/>
            <a:ext cx="6635578" cy="461665"/>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sz="2400" b="0" dirty="0">
                <a:latin typeface="Barlow" pitchFamily="2" charset="77"/>
              </a:rPr>
              <a:t>https://</a:t>
            </a:r>
            <a:r>
              <a:rPr lang="en-GB" sz="2400" b="0" dirty="0" err="1">
                <a:latin typeface="Barlow" pitchFamily="2" charset="77"/>
              </a:rPr>
              <a:t>forms.cloud.microsoft</a:t>
            </a:r>
            <a:r>
              <a:rPr lang="en-GB" sz="2400" b="0" dirty="0">
                <a:latin typeface="Barlow" pitchFamily="2" charset="77"/>
              </a:rPr>
              <a:t>/e/ymfhAFFx0S</a:t>
            </a:r>
          </a:p>
        </p:txBody>
      </p:sp>
      <p:sp>
        <p:nvSpPr>
          <p:cNvPr id="4" name="Rectangle 3">
            <a:extLst>
              <a:ext uri="{FF2B5EF4-FFF2-40B4-BE49-F238E27FC236}">
                <a16:creationId xmlns:a16="http://schemas.microsoft.com/office/drawing/2014/main" id="{F5246109-E707-4332-CB53-FAD191827050}"/>
              </a:ext>
            </a:extLst>
          </p:cNvPr>
          <p:cNvSpPr/>
          <p:nvPr/>
        </p:nvSpPr>
        <p:spPr>
          <a:xfrm>
            <a:off x="1028460" y="2179242"/>
            <a:ext cx="8189681" cy="1295226"/>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GB" sz="2800" b="0" i="1" dirty="0">
                <a:solidFill>
                  <a:schemeClr val="tx2"/>
                </a:solidFill>
                <a:latin typeface="Barlow" pitchFamily="2" charset="77"/>
              </a:rPr>
              <a:t>What is the correct legal test for whether something is ‘original’ in UK copyright law?</a:t>
            </a:r>
          </a:p>
        </p:txBody>
      </p:sp>
    </p:spTree>
    <p:extLst>
      <p:ext uri="{BB962C8B-B14F-4D97-AF65-F5344CB8AC3E}">
        <p14:creationId xmlns:p14="http://schemas.microsoft.com/office/powerpoint/2010/main" val="2681943157"/>
      </p:ext>
    </p:extLst>
  </p:cSld>
  <p:clrMapOvr>
    <a:masterClrMapping/>
  </p:clrMapOvr>
  <p:transition spd="med" advTm="222639"/>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ED494-9E50-5838-DDB1-F77557B5FF40}"/>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2688F702-9900-96C0-2A1C-8FC111537F8C}"/>
              </a:ext>
            </a:extLst>
          </p:cNvPr>
          <p:cNvSpPr txBox="1"/>
          <p:nvPr/>
        </p:nvSpPr>
        <p:spPr>
          <a:xfrm>
            <a:off x="1028459" y="1002549"/>
            <a:ext cx="964162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Originality</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66D51DAF-0BE2-57C6-9142-8150A538A341}"/>
              </a:ext>
            </a:extLst>
          </p:cNvPr>
          <p:cNvSpPr txBox="1"/>
          <p:nvPr/>
        </p:nvSpPr>
        <p:spPr>
          <a:xfrm>
            <a:off x="1028459" y="1002549"/>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5" name="Rectangle 4">
            <a:extLst>
              <a:ext uri="{FF2B5EF4-FFF2-40B4-BE49-F238E27FC236}">
                <a16:creationId xmlns:a16="http://schemas.microsoft.com/office/drawing/2014/main" id="{35ED3AC9-7643-EE5E-A112-066D587B5670}"/>
              </a:ext>
            </a:extLst>
          </p:cNvPr>
          <p:cNvSpPr/>
          <p:nvPr/>
        </p:nvSpPr>
        <p:spPr>
          <a:xfrm>
            <a:off x="1028459" y="2179242"/>
            <a:ext cx="14336727" cy="6017032"/>
          </a:xfrm>
          <a:prstGeom prst="rect">
            <a:avLst/>
          </a:prstGeom>
        </p:spPr>
        <p:txBody>
          <a:bodyPr wrap="square">
            <a:spAutoFit/>
          </a:bodyPr>
          <a:lstStyle/>
          <a:p>
            <a:pPr marL="342900" indent="-342900" algn="just">
              <a:lnSpc>
                <a:spcPct val="150000"/>
              </a:lnSpc>
              <a:spcAft>
                <a:spcPts val="600"/>
              </a:spcAft>
              <a:buFont typeface="Arial" panose="020B0604020202020204" pitchFamily="34" charset="0"/>
              <a:buChar char="•"/>
              <a:defRPr>
                <a:solidFill>
                  <a:srgbClr val="474C55"/>
                </a:solidFill>
              </a:defRPr>
            </a:pPr>
            <a:r>
              <a:rPr lang="en-GB" sz="2400" b="0" dirty="0">
                <a:solidFill>
                  <a:schemeClr val="tx2"/>
                </a:solidFill>
                <a:latin typeface="Barlow" pitchFamily="2" charset="77"/>
              </a:rPr>
              <a:t>Literary and artistic works are only protected by copyright if they are </a:t>
            </a:r>
            <a:r>
              <a:rPr lang="en-GB" sz="2400" dirty="0">
                <a:solidFill>
                  <a:schemeClr val="tx2"/>
                </a:solidFill>
                <a:latin typeface="Barlow" pitchFamily="2" charset="77"/>
              </a:rPr>
              <a:t>original</a:t>
            </a:r>
            <a:r>
              <a:rPr lang="en-GB" sz="2400" b="0" dirty="0">
                <a:solidFill>
                  <a:schemeClr val="tx2"/>
                </a:solidFill>
                <a:latin typeface="Barlow" pitchFamily="2" charset="77"/>
              </a:rPr>
              <a:t> (Berne Convention, art 2)</a:t>
            </a:r>
          </a:p>
          <a:p>
            <a:pPr marL="342900" indent="-342900" algn="just">
              <a:lnSpc>
                <a:spcPct val="150000"/>
              </a:lnSpc>
              <a:spcAft>
                <a:spcPts val="600"/>
              </a:spcAft>
              <a:buFont typeface="Arial" panose="020B0604020202020204" pitchFamily="34" charset="0"/>
              <a:buChar char="•"/>
              <a:defRPr>
                <a:solidFill>
                  <a:srgbClr val="474C55"/>
                </a:solidFill>
              </a:defRPr>
            </a:pPr>
            <a:r>
              <a:rPr lang="en-GB" sz="2400" b="0" dirty="0">
                <a:solidFill>
                  <a:schemeClr val="tx2"/>
                </a:solidFill>
                <a:latin typeface="Barlow" pitchFamily="2" charset="77"/>
              </a:rPr>
              <a:t>Note: does not apply to entrepreneurial works</a:t>
            </a:r>
          </a:p>
          <a:p>
            <a:pPr marL="342900" indent="-342900" algn="just">
              <a:lnSpc>
                <a:spcPct val="150000"/>
              </a:lnSpc>
              <a:spcAft>
                <a:spcPts val="600"/>
              </a:spcAft>
              <a:buFont typeface="Arial" panose="020B0604020202020204" pitchFamily="34" charset="0"/>
              <a:buChar char="•"/>
              <a:defRPr>
                <a:solidFill>
                  <a:srgbClr val="474C55"/>
                </a:solidFill>
              </a:defRPr>
            </a:pPr>
            <a:r>
              <a:rPr lang="en-GB" sz="2400" b="0" dirty="0">
                <a:solidFill>
                  <a:schemeClr val="tx2"/>
                </a:solidFill>
                <a:latin typeface="Barlow" pitchFamily="2" charset="77"/>
              </a:rPr>
              <a:t>‘Originality’ is not defined in statute</a:t>
            </a:r>
          </a:p>
          <a:p>
            <a:pPr marL="342900" indent="-342900" algn="just">
              <a:lnSpc>
                <a:spcPct val="150000"/>
              </a:lnSpc>
              <a:spcAft>
                <a:spcPts val="600"/>
              </a:spcAft>
              <a:buFont typeface="Arial" panose="020B0604020202020204" pitchFamily="34" charset="0"/>
              <a:buChar char="•"/>
              <a:defRPr>
                <a:solidFill>
                  <a:srgbClr val="474C55"/>
                </a:solidFill>
              </a:defRPr>
            </a:pPr>
            <a:r>
              <a:rPr lang="en-GB" sz="2400" b="0" dirty="0">
                <a:solidFill>
                  <a:schemeClr val="tx2"/>
                </a:solidFill>
                <a:latin typeface="Barlow" pitchFamily="2" charset="77"/>
              </a:rPr>
              <a:t>UK (the ‘old’ test): a work is original if it shows ‘</a:t>
            </a:r>
            <a:r>
              <a:rPr lang="en-GB" sz="2400" dirty="0">
                <a:solidFill>
                  <a:schemeClr val="tx2"/>
                </a:solidFill>
                <a:latin typeface="Barlow" pitchFamily="2" charset="77"/>
              </a:rPr>
              <a:t>skill, labour and judgement</a:t>
            </a:r>
            <a:r>
              <a:rPr lang="en-GB" sz="2400" b="0" dirty="0">
                <a:solidFill>
                  <a:schemeClr val="tx2"/>
                </a:solidFill>
                <a:latin typeface="Barlow" pitchFamily="2" charset="77"/>
              </a:rPr>
              <a:t>’ (see: </a:t>
            </a:r>
            <a:r>
              <a:rPr lang="en-GB" sz="2400" b="0" i="1" dirty="0">
                <a:solidFill>
                  <a:schemeClr val="tx2"/>
                </a:solidFill>
                <a:latin typeface="Barlow" pitchFamily="2" charset="77"/>
              </a:rPr>
              <a:t>University of London Press v. University Tutorial Press</a:t>
            </a:r>
            <a:r>
              <a:rPr lang="en-GB" sz="2400" b="0" dirty="0">
                <a:solidFill>
                  <a:schemeClr val="tx2"/>
                </a:solidFill>
                <a:latin typeface="Barlow" pitchFamily="2" charset="77"/>
              </a:rPr>
              <a:t>)</a:t>
            </a:r>
          </a:p>
          <a:p>
            <a:pPr marL="342900" indent="-342900" algn="just">
              <a:lnSpc>
                <a:spcPct val="150000"/>
              </a:lnSpc>
              <a:spcAft>
                <a:spcPts val="600"/>
              </a:spcAft>
              <a:buFont typeface="Arial" panose="020B0604020202020204" pitchFamily="34" charset="0"/>
              <a:buChar char="•"/>
              <a:defRPr>
                <a:solidFill>
                  <a:srgbClr val="474C55"/>
                </a:solidFill>
              </a:defRPr>
            </a:pPr>
            <a:r>
              <a:rPr lang="en-GB" sz="2400" b="0" dirty="0">
                <a:solidFill>
                  <a:schemeClr val="tx2"/>
                </a:solidFill>
                <a:latin typeface="Barlow" pitchFamily="2" charset="77"/>
              </a:rPr>
              <a:t>EU (the ‘new test’): a work is original if it is the ‘</a:t>
            </a:r>
            <a:r>
              <a:rPr lang="en-GB" sz="2400" dirty="0">
                <a:solidFill>
                  <a:schemeClr val="tx2"/>
                </a:solidFill>
                <a:latin typeface="Barlow" pitchFamily="2" charset="77"/>
              </a:rPr>
              <a:t>author’s own intellectual creation</a:t>
            </a:r>
            <a:r>
              <a:rPr lang="en-GB" sz="2400" b="0" dirty="0">
                <a:solidFill>
                  <a:schemeClr val="tx2"/>
                </a:solidFill>
                <a:latin typeface="Barlow" pitchFamily="2" charset="77"/>
              </a:rPr>
              <a:t>’</a:t>
            </a:r>
          </a:p>
          <a:p>
            <a:pPr marL="342900" indent="-342900" algn="just">
              <a:lnSpc>
                <a:spcPct val="150000"/>
              </a:lnSpc>
              <a:spcAft>
                <a:spcPts val="600"/>
              </a:spcAft>
              <a:buFont typeface="Arial" panose="020B0604020202020204" pitchFamily="34" charset="0"/>
              <a:buChar char="•"/>
              <a:defRPr>
                <a:solidFill>
                  <a:srgbClr val="474C55"/>
                </a:solidFill>
              </a:defRPr>
            </a:pPr>
            <a:r>
              <a:rPr lang="en-GB" sz="2400" b="0" i="1" dirty="0">
                <a:solidFill>
                  <a:schemeClr val="tx2"/>
                </a:solidFill>
                <a:latin typeface="Barlow" pitchFamily="2" charset="77"/>
              </a:rPr>
              <a:t>Eva-Maria Painer v Standard </a:t>
            </a:r>
            <a:r>
              <a:rPr lang="en-GB" sz="2400" b="0" i="1" dirty="0" err="1">
                <a:solidFill>
                  <a:schemeClr val="tx2"/>
                </a:solidFill>
                <a:latin typeface="Barlow" pitchFamily="2" charset="77"/>
              </a:rPr>
              <a:t>Verlags</a:t>
            </a:r>
            <a:r>
              <a:rPr lang="en-GB" sz="2400" b="0" i="1" dirty="0">
                <a:solidFill>
                  <a:schemeClr val="tx2"/>
                </a:solidFill>
                <a:latin typeface="Barlow" pitchFamily="2" charset="77"/>
              </a:rPr>
              <a:t> GmbH</a:t>
            </a:r>
            <a:r>
              <a:rPr lang="en-GB" sz="2400" b="0" dirty="0">
                <a:solidFill>
                  <a:schemeClr val="tx2"/>
                </a:solidFill>
                <a:latin typeface="Barlow" pitchFamily="2" charset="77"/>
              </a:rPr>
              <a:t>: an author’s ‘formative freedom’ and ability to make ‘free and creative choices’</a:t>
            </a:r>
          </a:p>
          <a:p>
            <a:pPr marL="342900" indent="-342900" algn="just">
              <a:lnSpc>
                <a:spcPct val="150000"/>
              </a:lnSpc>
              <a:spcAft>
                <a:spcPts val="600"/>
              </a:spcAft>
              <a:buFont typeface="Arial" panose="020B0604020202020204" pitchFamily="34" charset="0"/>
              <a:buChar char="•"/>
              <a:defRPr>
                <a:solidFill>
                  <a:srgbClr val="474C55"/>
                </a:solidFill>
              </a:defRPr>
            </a:pPr>
            <a:r>
              <a:rPr lang="en-GB" sz="2400" i="1" dirty="0">
                <a:solidFill>
                  <a:schemeClr val="accent5"/>
                </a:solidFill>
                <a:latin typeface="Barlow" pitchFamily="2" charset="77"/>
              </a:rPr>
              <a:t>THJ v Sheridan</a:t>
            </a:r>
            <a:r>
              <a:rPr lang="en-GB" sz="2400" dirty="0">
                <a:solidFill>
                  <a:schemeClr val="accent5"/>
                </a:solidFill>
                <a:latin typeface="Barlow" pitchFamily="2" charset="77"/>
              </a:rPr>
              <a:t>: affirmed (post-Brexit) that the ‘author’s own intellectual creation’ is the correct test of originality in the UK</a:t>
            </a:r>
          </a:p>
        </p:txBody>
      </p:sp>
    </p:spTree>
    <p:extLst>
      <p:ext uri="{BB962C8B-B14F-4D97-AF65-F5344CB8AC3E}">
        <p14:creationId xmlns:p14="http://schemas.microsoft.com/office/powerpoint/2010/main" val="2900303065"/>
      </p:ext>
    </p:extLst>
  </p:cSld>
  <p:clrMapOvr>
    <a:masterClrMapping/>
  </p:clrMapOvr>
  <p:transition spd="med" advTm="222639"/>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C26BE-6646-12ED-966C-BDB8CCC1E511}"/>
            </a:ext>
          </a:extLst>
        </p:cNvPr>
        <p:cNvGrpSpPr/>
        <p:nvPr/>
      </p:nvGrpSpPr>
      <p:grpSpPr>
        <a:xfrm>
          <a:off x="0" y="0"/>
          <a:ext cx="0" cy="0"/>
          <a:chOff x="0" y="0"/>
          <a:chExt cx="0" cy="0"/>
        </a:xfrm>
      </p:grpSpPr>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9C57DC5A-A474-0DB3-8E7B-3D42DCCF183A}"/>
              </a:ext>
            </a:extLst>
          </p:cNvPr>
          <p:cNvSpPr txBox="1"/>
          <p:nvPr/>
        </p:nvSpPr>
        <p:spPr>
          <a:xfrm>
            <a:off x="1028459" y="1002549"/>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CF7C08A7-AEF9-AA9E-F1FC-13296647CF8E}"/>
              </a:ext>
            </a:extLst>
          </p:cNvPr>
          <p:cNvSpPr/>
          <p:nvPr/>
        </p:nvSpPr>
        <p:spPr>
          <a:xfrm>
            <a:off x="2666532" y="5072390"/>
            <a:ext cx="6714427" cy="3570208"/>
          </a:xfrm>
          <a:prstGeom prst="rect">
            <a:avLst/>
          </a:prstGeom>
        </p:spPr>
        <p:txBody>
          <a:bodyPr wrap="square">
            <a:spAutoFit/>
          </a:bodyPr>
          <a:lstStyle/>
          <a:p>
            <a:pPr algn="just">
              <a:lnSpc>
                <a:spcPct val="150000"/>
              </a:lnSpc>
              <a:spcAft>
                <a:spcPts val="600"/>
              </a:spcAft>
              <a:defRPr>
                <a:solidFill>
                  <a:srgbClr val="474C55"/>
                </a:solidFill>
              </a:defRPr>
            </a:pPr>
            <a:r>
              <a:rPr lang="en-GB" sz="2400" b="0" i="1" dirty="0">
                <a:solidFill>
                  <a:schemeClr val="tx2"/>
                </a:solidFill>
                <a:latin typeface="Barlow" pitchFamily="2" charset="77"/>
              </a:rPr>
              <a:t>Lidl v Tesco </a:t>
            </a:r>
            <a:r>
              <a:rPr lang="en-GB" sz="2400" b="0" dirty="0">
                <a:solidFill>
                  <a:schemeClr val="tx2"/>
                </a:solidFill>
                <a:latin typeface="Barlow" pitchFamily="2" charset="77"/>
              </a:rPr>
              <a:t>[2024]</a:t>
            </a:r>
          </a:p>
          <a:p>
            <a:pPr marL="342900" indent="-342900" algn="just">
              <a:lnSpc>
                <a:spcPct val="150000"/>
              </a:lnSpc>
              <a:spcAft>
                <a:spcPts val="600"/>
              </a:spcAft>
              <a:buFont typeface="Arial" panose="020B0604020202020204" pitchFamily="34" charset="0"/>
              <a:buChar char="•"/>
              <a:defRPr>
                <a:solidFill>
                  <a:srgbClr val="474C55"/>
                </a:solidFill>
              </a:defRPr>
            </a:pPr>
            <a:r>
              <a:rPr lang="en-GB" sz="2400" b="0" dirty="0">
                <a:solidFill>
                  <a:schemeClr val="tx2"/>
                </a:solidFill>
                <a:latin typeface="Barlow" pitchFamily="2" charset="77"/>
              </a:rPr>
              <a:t>‘The shade of blue and the distance between the circle and the square’ [194]</a:t>
            </a:r>
          </a:p>
          <a:p>
            <a:pPr marL="342900" indent="-342900" algn="just">
              <a:lnSpc>
                <a:spcPct val="150000"/>
              </a:lnSpc>
              <a:spcAft>
                <a:spcPts val="600"/>
              </a:spcAft>
              <a:buFont typeface="Arial" panose="020B0604020202020204" pitchFamily="34" charset="0"/>
              <a:buChar char="•"/>
              <a:defRPr>
                <a:solidFill>
                  <a:srgbClr val="474C55"/>
                </a:solidFill>
              </a:defRPr>
            </a:pPr>
            <a:r>
              <a:rPr lang="en-GB" sz="2400" b="0" dirty="0">
                <a:solidFill>
                  <a:schemeClr val="tx2"/>
                </a:solidFill>
                <a:latin typeface="Barlow" pitchFamily="2" charset="77"/>
              </a:rPr>
              <a:t>No requirement for artistic merit</a:t>
            </a:r>
          </a:p>
          <a:p>
            <a:pPr marL="342900" indent="-342900" algn="just">
              <a:lnSpc>
                <a:spcPct val="150000"/>
              </a:lnSpc>
              <a:spcAft>
                <a:spcPts val="600"/>
              </a:spcAft>
              <a:buFont typeface="Arial" panose="020B0604020202020204" pitchFamily="34" charset="0"/>
              <a:buChar char="•"/>
              <a:defRPr>
                <a:solidFill>
                  <a:srgbClr val="474C55"/>
                </a:solidFill>
              </a:defRPr>
            </a:pPr>
            <a:r>
              <a:rPr lang="en-GB" sz="2400" b="0" dirty="0">
                <a:solidFill>
                  <a:schemeClr val="tx2"/>
                </a:solidFill>
                <a:latin typeface="Barlow" pitchFamily="2" charset="77"/>
              </a:rPr>
              <a:t>Simplicity of design doesn’t preclude originality </a:t>
            </a:r>
          </a:p>
        </p:txBody>
      </p:sp>
      <p:pic>
        <p:nvPicPr>
          <p:cNvPr id="3" name="Picture 4">
            <a:extLst>
              <a:ext uri="{FF2B5EF4-FFF2-40B4-BE49-F238E27FC236}">
                <a16:creationId xmlns:a16="http://schemas.microsoft.com/office/drawing/2014/main" id="{459E8686-0E17-F8D2-B9A3-CDDDA5C36D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5045" y="550524"/>
            <a:ext cx="12930171" cy="452186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47B83C42-A532-53EC-777D-8F6BF5ED9F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19032" y="5072390"/>
            <a:ext cx="3667608" cy="3735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4468927"/>
      </p:ext>
    </p:extLst>
  </p:cSld>
  <p:clrMapOvr>
    <a:masterClrMapping/>
  </p:clrMapOvr>
  <p:transition spd="med" advTm="222639"/>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p:cNvSpPr txBox="1"/>
          <p:nvPr/>
        </p:nvSpPr>
        <p:spPr>
          <a:xfrm>
            <a:off x="2939052" y="1971201"/>
            <a:ext cx="11261352" cy="3521727"/>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0320" tIns="20320" rIns="20320" bIns="20320">
            <a:noAutofit/>
          </a:bodyPr>
          <a:lstStyle/>
          <a:p>
            <a:pPr marL="285750" indent="-285750" algn="l"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2400" dirty="0">
              <a:solidFill>
                <a:schemeClr val="tx2"/>
              </a:solidFill>
            </a:endParaRPr>
          </a:p>
        </p:txBody>
      </p:sp>
      <p:sp>
        <p:nvSpPr>
          <p:cNvPr id="2" name="Rectangle 1">
            <a:extLst>
              <a:ext uri="{FF2B5EF4-FFF2-40B4-BE49-F238E27FC236}">
                <a16:creationId xmlns:a16="http://schemas.microsoft.com/office/drawing/2014/main" id="{0589387A-0B28-2406-071D-7D405E578C4F}"/>
              </a:ext>
            </a:extLst>
          </p:cNvPr>
          <p:cNvSpPr/>
          <p:nvPr/>
        </p:nvSpPr>
        <p:spPr>
          <a:xfrm>
            <a:off x="1414678" y="4057345"/>
            <a:ext cx="14510905" cy="1638910"/>
          </a:xfrm>
          <a:prstGeom prst="rect">
            <a:avLst/>
          </a:prstGeom>
        </p:spPr>
        <p:txBody>
          <a:bodyPr wrap="square">
            <a:spAutoFit/>
          </a:bodyPr>
          <a:lstStyle/>
          <a:p>
            <a:pPr>
              <a:lnSpc>
                <a:spcPct val="150000"/>
              </a:lnSpc>
              <a:spcAft>
                <a:spcPts val="600"/>
              </a:spcAft>
              <a:defRPr>
                <a:solidFill>
                  <a:srgbClr val="474C55"/>
                </a:solidFill>
              </a:defRPr>
            </a:pPr>
            <a:r>
              <a:rPr lang="en-GB" sz="3600" b="0" dirty="0">
                <a:solidFill>
                  <a:schemeClr val="tx2"/>
                </a:solidFill>
                <a:latin typeface="Barlow" pitchFamily="2" charset="77"/>
              </a:rPr>
              <a:t>Work falls within list of copyrightable </a:t>
            </a:r>
            <a:r>
              <a:rPr lang="en-GB" sz="3600" dirty="0">
                <a:solidFill>
                  <a:schemeClr val="tx2"/>
                </a:solidFill>
                <a:latin typeface="Barlow" pitchFamily="2" charset="77"/>
              </a:rPr>
              <a:t>subject-matter</a:t>
            </a:r>
            <a:r>
              <a:rPr lang="en-GB" sz="3600" b="0" dirty="0">
                <a:solidFill>
                  <a:schemeClr val="tx2"/>
                </a:solidFill>
                <a:latin typeface="Barlow" pitchFamily="2" charset="77"/>
              </a:rPr>
              <a:t> + </a:t>
            </a:r>
            <a:r>
              <a:rPr lang="en-GB" sz="3600" dirty="0">
                <a:solidFill>
                  <a:schemeClr val="tx2"/>
                </a:solidFill>
                <a:latin typeface="Barlow" pitchFamily="2" charset="77"/>
              </a:rPr>
              <a:t>fixed</a:t>
            </a:r>
            <a:br>
              <a:rPr lang="en-GB" sz="3600" b="0" dirty="0">
                <a:solidFill>
                  <a:schemeClr val="tx2"/>
                </a:solidFill>
                <a:latin typeface="Barlow" pitchFamily="2" charset="77"/>
              </a:rPr>
            </a:br>
            <a:r>
              <a:rPr lang="en-GB" sz="3600" b="0" dirty="0">
                <a:solidFill>
                  <a:schemeClr val="tx2"/>
                </a:solidFill>
                <a:latin typeface="Barlow" pitchFamily="2" charset="77"/>
              </a:rPr>
              <a:t>permanently + meets the </a:t>
            </a:r>
            <a:r>
              <a:rPr lang="en-GB" sz="3600" dirty="0">
                <a:solidFill>
                  <a:schemeClr val="tx2"/>
                </a:solidFill>
                <a:latin typeface="Barlow" pitchFamily="2" charset="77"/>
              </a:rPr>
              <a:t>originality</a:t>
            </a:r>
            <a:r>
              <a:rPr lang="en-GB" sz="3600" b="0" dirty="0">
                <a:solidFill>
                  <a:schemeClr val="tx2"/>
                </a:solidFill>
                <a:latin typeface="Barlow" pitchFamily="2" charset="77"/>
              </a:rPr>
              <a:t> standard = copyright work = </a:t>
            </a:r>
            <a:r>
              <a:rPr lang="en-GB" sz="3600" dirty="0">
                <a:solidFill>
                  <a:schemeClr val="tx2"/>
                </a:solidFill>
                <a:latin typeface="Barlow" pitchFamily="2" charset="77"/>
              </a:rPr>
              <a:t>author</a:t>
            </a:r>
          </a:p>
        </p:txBody>
      </p:sp>
    </p:spTree>
    <p:extLst>
      <p:ext uri="{BB962C8B-B14F-4D97-AF65-F5344CB8AC3E}">
        <p14:creationId xmlns:p14="http://schemas.microsoft.com/office/powerpoint/2010/main" val="3703152860"/>
      </p:ext>
    </p:extLst>
  </p:cSld>
  <p:clrMapOvr>
    <a:masterClrMapping/>
  </p:clrMapOvr>
  <p:transition spd="med" advTm="222639"/>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DB5E2-2F68-4FDF-1266-5B95DB68C02C}"/>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CEEDC374-9900-0DEA-E419-2E809AAAC45E}"/>
              </a:ext>
            </a:extLst>
          </p:cNvPr>
          <p:cNvSpPr txBox="1"/>
          <p:nvPr/>
        </p:nvSpPr>
        <p:spPr>
          <a:xfrm>
            <a:off x="1028459" y="1002549"/>
            <a:ext cx="964162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Authorship/ownership</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1CD4B5FA-FA17-0C34-0194-218F80AF2428}"/>
              </a:ext>
            </a:extLst>
          </p:cNvPr>
          <p:cNvSpPr txBox="1"/>
          <p:nvPr/>
        </p:nvSpPr>
        <p:spPr>
          <a:xfrm>
            <a:off x="1028459" y="1002549"/>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B24C34BD-B509-FD5A-36A8-5A5890639CF1}"/>
              </a:ext>
            </a:extLst>
          </p:cNvPr>
          <p:cNvSpPr/>
          <p:nvPr/>
        </p:nvSpPr>
        <p:spPr>
          <a:xfrm>
            <a:off x="1028459" y="2179242"/>
            <a:ext cx="14862995" cy="1941557"/>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GB" sz="2800" b="0" dirty="0">
                <a:solidFill>
                  <a:schemeClr val="tx2"/>
                </a:solidFill>
                <a:latin typeface="Barlow" pitchFamily="2" charset="77"/>
              </a:rPr>
              <a:t>General rule: </a:t>
            </a:r>
            <a:r>
              <a:rPr lang="en-GB" sz="2800" dirty="0">
                <a:solidFill>
                  <a:schemeClr val="tx2"/>
                </a:solidFill>
                <a:latin typeface="Barlow" pitchFamily="2" charset="77"/>
              </a:rPr>
              <a:t>first owner is the author </a:t>
            </a:r>
            <a:r>
              <a:rPr lang="en-GB" sz="2800" b="0" dirty="0">
                <a:solidFill>
                  <a:schemeClr val="tx2"/>
                </a:solidFill>
                <a:latin typeface="Barlow" pitchFamily="2" charset="77"/>
              </a:rPr>
              <a:t>(CDPA s9 and s11)</a:t>
            </a:r>
          </a:p>
          <a:p>
            <a:pPr marL="342900" indent="-342900" algn="just">
              <a:lnSpc>
                <a:spcPct val="150000"/>
              </a:lnSpc>
              <a:buFont typeface="Arial" panose="020B0604020202020204" pitchFamily="34" charset="0"/>
              <a:buChar char="•"/>
            </a:pPr>
            <a:r>
              <a:rPr lang="en-GB" sz="2800" b="0" dirty="0">
                <a:solidFill>
                  <a:schemeClr val="tx2"/>
                </a:solidFill>
                <a:latin typeface="Barlow" pitchFamily="2" charset="77"/>
              </a:rPr>
              <a:t>… but authorship and ownership are different concepts, and…</a:t>
            </a:r>
          </a:p>
          <a:p>
            <a:pPr marL="342900" indent="-342900" algn="just">
              <a:lnSpc>
                <a:spcPct val="150000"/>
              </a:lnSpc>
              <a:buFont typeface="Arial" panose="020B0604020202020204" pitchFamily="34" charset="0"/>
              <a:buChar char="•"/>
            </a:pPr>
            <a:r>
              <a:rPr lang="en-US" sz="2800" b="0" dirty="0">
                <a:solidFill>
                  <a:schemeClr val="tx2"/>
                </a:solidFill>
                <a:latin typeface="Barlow" pitchFamily="2" charset="77"/>
              </a:rPr>
              <a:t>… depending on the subject-matter, there may be different rules and automatic allocation.</a:t>
            </a:r>
            <a:endParaRPr lang="en-GB" sz="2800" b="0" dirty="0">
              <a:solidFill>
                <a:schemeClr val="tx2"/>
              </a:solidFill>
              <a:latin typeface="Barlow" pitchFamily="2" charset="77"/>
            </a:endParaRPr>
          </a:p>
        </p:txBody>
      </p:sp>
    </p:spTree>
    <p:extLst>
      <p:ext uri="{BB962C8B-B14F-4D97-AF65-F5344CB8AC3E}">
        <p14:creationId xmlns:p14="http://schemas.microsoft.com/office/powerpoint/2010/main" val="3286877817"/>
      </p:ext>
    </p:extLst>
  </p:cSld>
  <p:clrMapOvr>
    <a:masterClrMapping/>
  </p:clrMapOvr>
  <p:transition spd="med" advTm="222639"/>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CCED4-468B-728B-64B2-89BA4ACCE514}"/>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AB688C02-AE6C-5055-FE21-C1AA72730E57}"/>
              </a:ext>
            </a:extLst>
          </p:cNvPr>
          <p:cNvSpPr txBox="1"/>
          <p:nvPr/>
        </p:nvSpPr>
        <p:spPr>
          <a:xfrm>
            <a:off x="1028459" y="1002549"/>
            <a:ext cx="964162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Authorship/ownership</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124DE2DE-E992-1F88-4BD8-9622162A5D9D}"/>
              </a:ext>
            </a:extLst>
          </p:cNvPr>
          <p:cNvSpPr txBox="1"/>
          <p:nvPr/>
        </p:nvSpPr>
        <p:spPr>
          <a:xfrm>
            <a:off x="1028459" y="1002549"/>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graphicFrame>
        <p:nvGraphicFramePr>
          <p:cNvPr id="2" name="Table 1">
            <a:extLst>
              <a:ext uri="{FF2B5EF4-FFF2-40B4-BE49-F238E27FC236}">
                <a16:creationId xmlns:a16="http://schemas.microsoft.com/office/drawing/2014/main" id="{538B83F0-D0E5-A6CF-5B0E-B7C85B4EACA5}"/>
              </a:ext>
            </a:extLst>
          </p:cNvPr>
          <p:cNvGraphicFramePr>
            <a:graphicFrameLocks noGrp="1"/>
          </p:cNvGraphicFramePr>
          <p:nvPr>
            <p:extLst>
              <p:ext uri="{D42A27DB-BD31-4B8C-83A1-F6EECF244321}">
                <p14:modId xmlns:p14="http://schemas.microsoft.com/office/powerpoint/2010/main" val="615942546"/>
              </p:ext>
            </p:extLst>
          </p:nvPr>
        </p:nvGraphicFramePr>
        <p:xfrm>
          <a:off x="1028458" y="2297769"/>
          <a:ext cx="15015592" cy="6835266"/>
        </p:xfrm>
        <a:graphic>
          <a:graphicData uri="http://schemas.openxmlformats.org/drawingml/2006/table">
            <a:tbl>
              <a:tblPr firstRow="1" bandRow="1">
                <a:tableStyleId>{5940675A-B579-460E-94D1-54222C63F5DA}</a:tableStyleId>
              </a:tblPr>
              <a:tblGrid>
                <a:gridCol w="7507796">
                  <a:extLst>
                    <a:ext uri="{9D8B030D-6E8A-4147-A177-3AD203B41FA5}">
                      <a16:colId xmlns:a16="http://schemas.microsoft.com/office/drawing/2014/main" val="2729305582"/>
                    </a:ext>
                  </a:extLst>
                </a:gridCol>
                <a:gridCol w="7507796">
                  <a:extLst>
                    <a:ext uri="{9D8B030D-6E8A-4147-A177-3AD203B41FA5}">
                      <a16:colId xmlns:a16="http://schemas.microsoft.com/office/drawing/2014/main" val="493708467"/>
                    </a:ext>
                  </a:extLst>
                </a:gridCol>
              </a:tblGrid>
              <a:tr h="871752">
                <a:tc>
                  <a:txBody>
                    <a:bodyPr/>
                    <a:lstStyle/>
                    <a:p>
                      <a:r>
                        <a:rPr lang="en-GB" sz="2800" b="0" dirty="0">
                          <a:solidFill>
                            <a:schemeClr val="bg1"/>
                          </a:solidFill>
                          <a:latin typeface="Barlow" pitchFamily="2" charset="77"/>
                        </a:rPr>
                        <a:t>Type of work</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solidFill>
                  </a:tcPr>
                </a:tc>
                <a:tc>
                  <a:txBody>
                    <a:bodyPr/>
                    <a:lstStyle/>
                    <a:p>
                      <a:r>
                        <a:rPr lang="en-GB" sz="2800" b="0" dirty="0">
                          <a:solidFill>
                            <a:schemeClr val="bg1"/>
                          </a:solidFill>
                          <a:latin typeface="Barlow" pitchFamily="2" charset="77"/>
                        </a:rPr>
                        <a:t>Author/first owner</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708765662"/>
                  </a:ext>
                </a:extLst>
              </a:tr>
              <a:tr h="1116086">
                <a:tc>
                  <a:txBody>
                    <a:bodyPr/>
                    <a:lstStyle/>
                    <a:p>
                      <a:r>
                        <a:rPr lang="en-GB" sz="2800" b="0" dirty="0">
                          <a:solidFill>
                            <a:schemeClr val="tx2"/>
                          </a:solidFill>
                          <a:latin typeface="Barlow" pitchFamily="2" charset="77"/>
                        </a:rPr>
                        <a:t>Literary, dramatic, musical and artistic work</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2800" b="0" dirty="0">
                          <a:solidFill>
                            <a:schemeClr val="tx2"/>
                          </a:solidFill>
                          <a:latin typeface="Barlow" pitchFamily="2" charset="77"/>
                        </a:rPr>
                        <a:t>Author</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60949361"/>
                  </a:ext>
                </a:extLst>
              </a:tr>
              <a:tr h="871752">
                <a:tc>
                  <a:txBody>
                    <a:bodyPr/>
                    <a:lstStyle/>
                    <a:p>
                      <a:r>
                        <a:rPr lang="en-GB" sz="2800" b="0" dirty="0">
                          <a:solidFill>
                            <a:schemeClr val="tx2"/>
                          </a:solidFill>
                          <a:latin typeface="Barlow" pitchFamily="2" charset="77"/>
                        </a:rPr>
                        <a:t>Sound recordings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2800" b="0" dirty="0">
                          <a:solidFill>
                            <a:schemeClr val="tx2"/>
                          </a:solidFill>
                          <a:latin typeface="Barlow" pitchFamily="2" charset="77"/>
                        </a:rPr>
                        <a:t>Producer</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73834005"/>
                  </a:ext>
                </a:extLst>
              </a:tr>
              <a:tr h="871752">
                <a:tc>
                  <a:txBody>
                    <a:bodyPr/>
                    <a:lstStyle/>
                    <a:p>
                      <a:r>
                        <a:rPr lang="en-GB" sz="2800" b="0" dirty="0">
                          <a:solidFill>
                            <a:schemeClr val="tx2"/>
                          </a:solidFill>
                          <a:latin typeface="Barlow" pitchFamily="2" charset="77"/>
                        </a:rPr>
                        <a:t>Film</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2800" b="0" dirty="0">
                          <a:solidFill>
                            <a:schemeClr val="tx2"/>
                          </a:solidFill>
                          <a:latin typeface="Barlow" pitchFamily="2" charset="77"/>
                        </a:rPr>
                        <a:t>Producer and Principal Director</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48060895"/>
                  </a:ext>
                </a:extLst>
              </a:tr>
              <a:tr h="871752">
                <a:tc>
                  <a:txBody>
                    <a:bodyPr/>
                    <a:lstStyle/>
                    <a:p>
                      <a:r>
                        <a:rPr lang="en-GB" sz="2800" b="0" dirty="0">
                          <a:solidFill>
                            <a:schemeClr val="tx2"/>
                          </a:solidFill>
                          <a:latin typeface="Barlow" pitchFamily="2" charset="77"/>
                        </a:rPr>
                        <a:t>Broadcast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2800" b="0" dirty="0">
                          <a:solidFill>
                            <a:schemeClr val="tx2"/>
                          </a:solidFill>
                          <a:latin typeface="Barlow" pitchFamily="2" charset="77"/>
                        </a:rPr>
                        <a:t>Person making the broadcast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05994875"/>
                  </a:ext>
                </a:extLst>
              </a:tr>
              <a:tr h="1116086">
                <a:tc>
                  <a:txBody>
                    <a:bodyPr/>
                    <a:lstStyle/>
                    <a:p>
                      <a:r>
                        <a:rPr lang="en-GB" sz="2800" b="0" dirty="0">
                          <a:solidFill>
                            <a:schemeClr val="tx2"/>
                          </a:solidFill>
                          <a:latin typeface="Barlow" pitchFamily="2" charset="77"/>
                        </a:rPr>
                        <a:t>Typographical arrangements of published editions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2800" b="0" dirty="0">
                          <a:solidFill>
                            <a:schemeClr val="tx2"/>
                          </a:solidFill>
                          <a:latin typeface="Barlow" pitchFamily="2" charset="77"/>
                        </a:rPr>
                        <a:t>Publisher</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02918896"/>
                  </a:ext>
                </a:extLst>
              </a:tr>
              <a:tr h="1116086">
                <a:tc>
                  <a:txBody>
                    <a:bodyPr/>
                    <a:lstStyle/>
                    <a:p>
                      <a:r>
                        <a:rPr lang="en-GB" sz="2800" b="0" dirty="0">
                          <a:solidFill>
                            <a:schemeClr val="tx2"/>
                          </a:solidFill>
                          <a:latin typeface="Barlow" pitchFamily="2" charset="77"/>
                        </a:rPr>
                        <a:t>Computer generated works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2800" b="0" dirty="0">
                          <a:solidFill>
                            <a:schemeClr val="tx2"/>
                          </a:solidFill>
                          <a:latin typeface="Barlow" pitchFamily="2" charset="77"/>
                        </a:rPr>
                        <a:t>“person by whom the arrangements necessary for the creation of the work are undertaken”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83501759"/>
                  </a:ext>
                </a:extLst>
              </a:tr>
            </a:tbl>
          </a:graphicData>
        </a:graphic>
      </p:graphicFrame>
    </p:spTree>
    <p:extLst>
      <p:ext uri="{BB962C8B-B14F-4D97-AF65-F5344CB8AC3E}">
        <p14:creationId xmlns:p14="http://schemas.microsoft.com/office/powerpoint/2010/main" val="2069590671"/>
      </p:ext>
    </p:extLst>
  </p:cSld>
  <p:clrMapOvr>
    <a:masterClrMapping/>
  </p:clrMapOvr>
  <p:transition spd="med" advTm="222639"/>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A1CD6-7E67-300A-2F94-69C4B6A067F0}"/>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7EB21782-AA63-6AD8-6191-30A1C7569856}"/>
              </a:ext>
            </a:extLst>
          </p:cNvPr>
          <p:cNvSpPr txBox="1"/>
          <p:nvPr/>
        </p:nvSpPr>
        <p:spPr>
          <a:xfrm>
            <a:off x="1028459" y="1002549"/>
            <a:ext cx="964162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Authorship/ownership</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6C6593E9-F005-CA2F-F04C-C02B661B0E79}"/>
              </a:ext>
            </a:extLst>
          </p:cNvPr>
          <p:cNvSpPr txBox="1"/>
          <p:nvPr/>
        </p:nvSpPr>
        <p:spPr>
          <a:xfrm>
            <a:off x="1028459" y="1002549"/>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3C76BB99-FB22-F79C-D11C-285179558F97}"/>
              </a:ext>
            </a:extLst>
          </p:cNvPr>
          <p:cNvSpPr/>
          <p:nvPr/>
        </p:nvSpPr>
        <p:spPr>
          <a:xfrm>
            <a:off x="1028459" y="2179242"/>
            <a:ext cx="14862995" cy="6465873"/>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GB" sz="2800" b="0" dirty="0">
                <a:solidFill>
                  <a:schemeClr val="tx2"/>
                </a:solidFill>
                <a:latin typeface="Barlow" pitchFamily="2" charset="77"/>
              </a:rPr>
              <a:t>Works of </a:t>
            </a:r>
            <a:r>
              <a:rPr lang="en-GB" sz="2800" dirty="0">
                <a:solidFill>
                  <a:schemeClr val="tx2"/>
                </a:solidFill>
                <a:latin typeface="Barlow" pitchFamily="2" charset="77"/>
              </a:rPr>
              <a:t>joint authorship </a:t>
            </a:r>
            <a:r>
              <a:rPr lang="en-GB" sz="2800" b="0" dirty="0">
                <a:solidFill>
                  <a:schemeClr val="tx2"/>
                </a:solidFill>
                <a:latin typeface="Barlow" pitchFamily="2" charset="77"/>
              </a:rPr>
              <a:t>– ‘a work produced by the collaboration of two or more authors in which the contribution of each author is not distinct from that of the other author or authors’. (s10(1) CDPA)</a:t>
            </a:r>
          </a:p>
          <a:p>
            <a:pPr marL="342900" indent="-342900" algn="just">
              <a:lnSpc>
                <a:spcPct val="150000"/>
              </a:lnSpc>
              <a:buFont typeface="Arial" panose="020B0604020202020204" pitchFamily="34" charset="0"/>
              <a:buChar char="•"/>
            </a:pPr>
            <a:r>
              <a:rPr lang="en-GB" sz="2800" dirty="0">
                <a:solidFill>
                  <a:schemeClr val="tx2"/>
                </a:solidFill>
                <a:latin typeface="Barlow" pitchFamily="2" charset="77"/>
              </a:rPr>
              <a:t>Employment </a:t>
            </a:r>
            <a:r>
              <a:rPr lang="en-GB" sz="2800" b="0" dirty="0">
                <a:solidFill>
                  <a:schemeClr val="tx2"/>
                </a:solidFill>
                <a:latin typeface="Barlow" pitchFamily="2" charset="77"/>
              </a:rPr>
              <a:t>– ‘if the work is made by an employee in the course of his</a:t>
            </a:r>
            <a:br>
              <a:rPr lang="en-GB" sz="2800" b="0" dirty="0">
                <a:solidFill>
                  <a:schemeClr val="tx2"/>
                </a:solidFill>
                <a:latin typeface="Barlow" pitchFamily="2" charset="77"/>
              </a:rPr>
            </a:br>
            <a:r>
              <a:rPr lang="en-GB" sz="2800" b="0" dirty="0">
                <a:solidFill>
                  <a:schemeClr val="tx2"/>
                </a:solidFill>
                <a:latin typeface="Barlow" pitchFamily="2" charset="77"/>
              </a:rPr>
              <a:t>employment, his employer is the first owner of any copyright in the work subject to any agreement to the contrary.’ (s11(2) CDPA) see - </a:t>
            </a:r>
            <a:r>
              <a:rPr lang="en-GB" sz="2800" b="0" i="1" dirty="0">
                <a:solidFill>
                  <a:schemeClr val="tx2"/>
                </a:solidFill>
                <a:latin typeface="Barlow" pitchFamily="2" charset="77"/>
              </a:rPr>
              <a:t>Missing Link Software v. Magee</a:t>
            </a:r>
            <a:r>
              <a:rPr lang="en-GB" sz="2800" b="0" dirty="0">
                <a:solidFill>
                  <a:schemeClr val="tx2"/>
                </a:solidFill>
                <a:latin typeface="Barlow" pitchFamily="2" charset="77"/>
              </a:rPr>
              <a:t>)</a:t>
            </a:r>
            <a:endParaRPr lang="en-GB" sz="2800" b="0" i="1" dirty="0">
              <a:solidFill>
                <a:schemeClr val="tx2"/>
              </a:solidFill>
              <a:latin typeface="Barlow" pitchFamily="2" charset="77"/>
            </a:endParaRPr>
          </a:p>
          <a:p>
            <a:pPr marL="342900" indent="-342900" algn="just">
              <a:lnSpc>
                <a:spcPct val="150000"/>
              </a:lnSpc>
              <a:buFont typeface="Arial" panose="020B0604020202020204" pitchFamily="34" charset="0"/>
              <a:buChar char="•"/>
            </a:pPr>
            <a:r>
              <a:rPr lang="en-GB" sz="2800" dirty="0">
                <a:solidFill>
                  <a:schemeClr val="tx2"/>
                </a:solidFill>
                <a:latin typeface="Barlow" pitchFamily="2" charset="77"/>
              </a:rPr>
              <a:t>Commissioned works </a:t>
            </a:r>
            <a:r>
              <a:rPr lang="en-GB" sz="2800" b="0" dirty="0">
                <a:solidFill>
                  <a:schemeClr val="tx2"/>
                </a:solidFill>
                <a:latin typeface="Barlow" pitchFamily="2" charset="77"/>
              </a:rPr>
              <a:t>– absent any agreement to the contrary, the first owner of a commissioned work is the person who carried out the work, not the person who commissioned it (note: difference in US position)</a:t>
            </a:r>
          </a:p>
          <a:p>
            <a:pPr marL="342900" indent="-342900" algn="just">
              <a:lnSpc>
                <a:spcPct val="150000"/>
              </a:lnSpc>
              <a:buFont typeface="Arial" panose="020B0604020202020204" pitchFamily="34" charset="0"/>
              <a:buChar char="•"/>
            </a:pPr>
            <a:r>
              <a:rPr lang="en-GB" sz="2800" b="0" i="1" dirty="0">
                <a:solidFill>
                  <a:schemeClr val="tx2"/>
                </a:solidFill>
                <a:latin typeface="Barlow" pitchFamily="2" charset="77"/>
              </a:rPr>
              <a:t>What about students and their work?</a:t>
            </a:r>
            <a:endParaRPr lang="en-US" sz="2800" b="0" i="1" dirty="0">
              <a:solidFill>
                <a:schemeClr val="tx2"/>
              </a:solidFill>
              <a:latin typeface="Barlow" pitchFamily="2" charset="77"/>
            </a:endParaRPr>
          </a:p>
        </p:txBody>
      </p:sp>
    </p:spTree>
    <p:extLst>
      <p:ext uri="{BB962C8B-B14F-4D97-AF65-F5344CB8AC3E}">
        <p14:creationId xmlns:p14="http://schemas.microsoft.com/office/powerpoint/2010/main" val="2225061726"/>
      </p:ext>
    </p:extLst>
  </p:cSld>
  <p:clrMapOvr>
    <a:masterClrMapping/>
  </p:clrMapOvr>
  <p:transition spd="med" advTm="222639"/>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1430E-3C22-C327-68EA-352D4F292428}"/>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BD7A953E-3CA9-B592-36B6-6480CB09E828}"/>
              </a:ext>
            </a:extLst>
          </p:cNvPr>
          <p:cNvSpPr txBox="1"/>
          <p:nvPr/>
        </p:nvSpPr>
        <p:spPr>
          <a:xfrm>
            <a:off x="1028459" y="1002549"/>
            <a:ext cx="964162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Taylor Swift</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F2BE83B2-D044-3655-29D5-EF5550CB9578}"/>
              </a:ext>
            </a:extLst>
          </p:cNvPr>
          <p:cNvSpPr txBox="1"/>
          <p:nvPr/>
        </p:nvSpPr>
        <p:spPr>
          <a:xfrm>
            <a:off x="1028459" y="1002549"/>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5" name="Rectangle 4">
            <a:extLst>
              <a:ext uri="{FF2B5EF4-FFF2-40B4-BE49-F238E27FC236}">
                <a16:creationId xmlns:a16="http://schemas.microsoft.com/office/drawing/2014/main" id="{A0CA829F-481A-139D-3C6E-64629A03063B}"/>
              </a:ext>
            </a:extLst>
          </p:cNvPr>
          <p:cNvSpPr/>
          <p:nvPr/>
        </p:nvSpPr>
        <p:spPr>
          <a:xfrm>
            <a:off x="1028459" y="2179242"/>
            <a:ext cx="8229841" cy="6050374"/>
          </a:xfrm>
          <a:prstGeom prst="rect">
            <a:avLst/>
          </a:prstGeom>
        </p:spPr>
        <p:txBody>
          <a:bodyPr wrap="square">
            <a:spAutoFit/>
          </a:bodyPr>
          <a:lstStyle/>
          <a:p>
            <a:pPr algn="just">
              <a:lnSpc>
                <a:spcPct val="150000"/>
              </a:lnSpc>
              <a:spcAft>
                <a:spcPts val="600"/>
              </a:spcAft>
              <a:defRPr>
                <a:solidFill>
                  <a:srgbClr val="474C55"/>
                </a:solidFill>
              </a:defRPr>
            </a:pPr>
            <a:r>
              <a:rPr lang="en-GB" sz="2800" b="0" dirty="0">
                <a:solidFill>
                  <a:schemeClr val="tx2"/>
                </a:solidFill>
                <a:latin typeface="Barlow" pitchFamily="2" charset="77"/>
              </a:rPr>
              <a:t>Following a dispute with the owner of a record company (Scooter Braun – Big Machine Records), Taylor Swift has re-recorded many of her older songs and is re-releasing them.</a:t>
            </a:r>
          </a:p>
          <a:p>
            <a:pPr algn="just">
              <a:lnSpc>
                <a:spcPct val="150000"/>
              </a:lnSpc>
              <a:spcAft>
                <a:spcPts val="600"/>
              </a:spcAft>
              <a:defRPr>
                <a:solidFill>
                  <a:srgbClr val="474C55"/>
                </a:solidFill>
              </a:defRPr>
            </a:pPr>
            <a:endParaRPr lang="en-GB" sz="2800" b="0" i="1" dirty="0">
              <a:solidFill>
                <a:schemeClr val="tx2"/>
              </a:solidFill>
              <a:latin typeface="Barlow" pitchFamily="2" charset="77"/>
            </a:endParaRPr>
          </a:p>
          <a:p>
            <a:pPr marL="457200" indent="-457200" algn="just">
              <a:lnSpc>
                <a:spcPct val="150000"/>
              </a:lnSpc>
              <a:spcAft>
                <a:spcPts val="600"/>
              </a:spcAft>
              <a:buFont typeface="Arial" panose="020B0604020202020204" pitchFamily="34" charset="0"/>
              <a:buChar char="•"/>
              <a:defRPr>
                <a:solidFill>
                  <a:srgbClr val="474C55"/>
                </a:solidFill>
              </a:defRPr>
            </a:pPr>
            <a:r>
              <a:rPr lang="en-GB" sz="2800" b="0" i="1" dirty="0">
                <a:solidFill>
                  <a:schemeClr val="tx2"/>
                </a:solidFill>
                <a:latin typeface="Barlow" pitchFamily="2" charset="77"/>
              </a:rPr>
              <a:t>How is Taylor (legally) able to do this under copyright law?</a:t>
            </a:r>
          </a:p>
          <a:p>
            <a:pPr marL="457200" indent="-457200" algn="just">
              <a:lnSpc>
                <a:spcPct val="150000"/>
              </a:lnSpc>
              <a:spcAft>
                <a:spcPts val="600"/>
              </a:spcAft>
              <a:buFont typeface="Arial" panose="020B0604020202020204" pitchFamily="34" charset="0"/>
              <a:buChar char="•"/>
              <a:defRPr>
                <a:solidFill>
                  <a:srgbClr val="474C55"/>
                </a:solidFill>
              </a:defRPr>
            </a:pPr>
            <a:r>
              <a:rPr lang="en-GB" sz="2800" b="0" i="1" dirty="0">
                <a:solidFill>
                  <a:schemeClr val="tx2"/>
                </a:solidFill>
                <a:latin typeface="Barlow" pitchFamily="2" charset="77"/>
              </a:rPr>
              <a:t>Is there any </a:t>
            </a:r>
            <a:r>
              <a:rPr lang="en-GB" sz="2800" b="0" i="1" u="sng" dirty="0">
                <a:solidFill>
                  <a:schemeClr val="tx2"/>
                </a:solidFill>
                <a:latin typeface="Barlow" pitchFamily="2" charset="77"/>
              </a:rPr>
              <a:t>value</a:t>
            </a:r>
            <a:r>
              <a:rPr lang="en-GB" sz="2800" b="0" i="1" dirty="0">
                <a:solidFill>
                  <a:schemeClr val="tx2"/>
                </a:solidFill>
                <a:latin typeface="Barlow" pitchFamily="2" charset="77"/>
              </a:rPr>
              <a:t> in her being able to do this (for her as an author/performer and for her fans)?</a:t>
            </a:r>
          </a:p>
        </p:txBody>
      </p:sp>
      <p:pic>
        <p:nvPicPr>
          <p:cNvPr id="6" name="Picture 2" descr="Scooter Braun says he 'learned an important lesson' after Taylor Swift feud">
            <a:extLst>
              <a:ext uri="{FF2B5EF4-FFF2-40B4-BE49-F238E27FC236}">
                <a16:creationId xmlns:a16="http://schemas.microsoft.com/office/drawing/2014/main" id="{EC11DA0F-819A-1FF9-219A-BA961E2B38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94605" y="1832307"/>
            <a:ext cx="6317199" cy="631719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4AE9CE7-EBC6-38A2-87A2-36E33A26EB69}"/>
              </a:ext>
            </a:extLst>
          </p:cNvPr>
          <p:cNvSpPr txBox="1"/>
          <p:nvPr/>
        </p:nvSpPr>
        <p:spPr>
          <a:xfrm>
            <a:off x="12429769" y="8229616"/>
            <a:ext cx="1446870" cy="318036"/>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20320" tIns="20320" rIns="20320" bIns="20320" numCol="1" spcCol="38100" rtlCol="0" anchor="ctr">
            <a:spAutoFit/>
          </a:bodyPr>
          <a:lstStyle/>
          <a:p>
            <a:r>
              <a:rPr lang="en-GB" dirty="0">
                <a:solidFill>
                  <a:schemeClr val="tx2"/>
                </a:solidFill>
                <a:latin typeface="Barlow" pitchFamily="2" charset="77"/>
                <a:hlinkClick r:id="rId3">
                  <a:extLst>
                    <a:ext uri="{A12FA001-AC4F-418D-AE19-62706E023703}">
                      <ahyp:hlinkClr xmlns:ahyp="http://schemas.microsoft.com/office/drawing/2018/hyperlinkcolor" val="tx"/>
                    </a:ext>
                  </a:extLst>
                </a:hlinkClick>
              </a:rPr>
              <a:t>Image Source</a:t>
            </a:r>
            <a:endParaRPr lang="en-GB" dirty="0">
              <a:solidFill>
                <a:schemeClr val="tx2"/>
              </a:solidFill>
              <a:latin typeface="Barlow" pitchFamily="2" charset="77"/>
            </a:endParaRPr>
          </a:p>
        </p:txBody>
      </p:sp>
    </p:spTree>
    <p:extLst>
      <p:ext uri="{BB962C8B-B14F-4D97-AF65-F5344CB8AC3E}">
        <p14:creationId xmlns:p14="http://schemas.microsoft.com/office/powerpoint/2010/main" val="964794339"/>
      </p:ext>
    </p:extLst>
  </p:cSld>
  <p:clrMapOvr>
    <a:masterClrMapping/>
  </p:clrMapOvr>
  <p:transition spd="med" advTm="222639"/>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TEXT"/>
          <p:cNvSpPr txBox="1"/>
          <p:nvPr/>
        </p:nvSpPr>
        <p:spPr>
          <a:xfrm>
            <a:off x="2939052" y="1186668"/>
            <a:ext cx="7830812" cy="622300"/>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0320" tIns="20320" rIns="20320" bIns="20320">
            <a:noAutofit/>
          </a:bodyPr>
          <a:lstStyle>
            <a:lvl1pPr algn="l">
              <a:defRPr sz="4000" b="0">
                <a:solidFill>
                  <a:srgbClr val="F47A63"/>
                </a:solidFill>
                <a:latin typeface="Barlow ExtraBold"/>
                <a:ea typeface="Barlow ExtraBold"/>
                <a:cs typeface="Barlow ExtraBold"/>
                <a:sym typeface="Barlow ExtraBold"/>
              </a:defRPr>
            </a:lvl1pPr>
          </a:lstStyle>
          <a:p>
            <a:endParaRPr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p:cNvSpPr txBox="1"/>
          <p:nvPr/>
        </p:nvSpPr>
        <p:spPr>
          <a:xfrm>
            <a:off x="2939052" y="1971201"/>
            <a:ext cx="11261352" cy="3521727"/>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0320" tIns="20320" rIns="20320" bIns="20320">
            <a:noAutofit/>
          </a:bodyPr>
          <a:lstStyle/>
          <a:p>
            <a:pPr marL="285750" indent="-285750" algn="l"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2400" dirty="0">
              <a:solidFill>
                <a:schemeClr val="tx2"/>
              </a:solidFill>
            </a:endParaRPr>
          </a:p>
        </p:txBody>
      </p:sp>
      <p:sp>
        <p:nvSpPr>
          <p:cNvPr id="2" name="Rectangle 1">
            <a:extLst>
              <a:ext uri="{FF2B5EF4-FFF2-40B4-BE49-F238E27FC236}">
                <a16:creationId xmlns:a16="http://schemas.microsoft.com/office/drawing/2014/main" id="{3E56E474-0812-B3A6-B41A-658B9EBB72AF}"/>
              </a:ext>
            </a:extLst>
          </p:cNvPr>
          <p:cNvSpPr/>
          <p:nvPr/>
        </p:nvSpPr>
        <p:spPr>
          <a:xfrm>
            <a:off x="1223781" y="1497818"/>
            <a:ext cx="14892699" cy="4265270"/>
          </a:xfrm>
          <a:prstGeom prst="rect">
            <a:avLst/>
          </a:prstGeom>
        </p:spPr>
        <p:txBody>
          <a:bodyPr wrap="square">
            <a:spAutoFit/>
          </a:bodyPr>
          <a:lstStyle/>
          <a:p>
            <a:pPr algn="just">
              <a:lnSpc>
                <a:spcPct val="150000"/>
              </a:lnSpc>
              <a:spcAft>
                <a:spcPts val="600"/>
              </a:spcAft>
              <a:defRPr>
                <a:solidFill>
                  <a:srgbClr val="474C55"/>
                </a:solidFill>
              </a:defRPr>
            </a:pPr>
            <a:r>
              <a:rPr lang="en-GB" sz="2800" b="0" i="1" dirty="0">
                <a:solidFill>
                  <a:schemeClr val="tx2"/>
                </a:solidFill>
                <a:latin typeface="Barlow" pitchFamily="2" charset="77"/>
              </a:rPr>
              <a:t>Based on this formula, which of the following do you think has copyright subsistence?</a:t>
            </a:r>
          </a:p>
          <a:p>
            <a:pPr algn="just">
              <a:lnSpc>
                <a:spcPct val="150000"/>
              </a:lnSpc>
              <a:spcAft>
                <a:spcPts val="600"/>
              </a:spcAft>
              <a:defRPr>
                <a:solidFill>
                  <a:srgbClr val="474C55"/>
                </a:solidFill>
              </a:defRPr>
            </a:pPr>
            <a:endParaRPr lang="en-GB" sz="2800" b="0" i="1" dirty="0">
              <a:solidFill>
                <a:schemeClr val="tx2"/>
              </a:solidFill>
              <a:latin typeface="Barlow" pitchFamily="2" charset="77"/>
            </a:endParaRPr>
          </a:p>
          <a:p>
            <a:pPr marL="457200" indent="-457200" algn="just">
              <a:lnSpc>
                <a:spcPct val="150000"/>
              </a:lnSpc>
              <a:spcAft>
                <a:spcPts val="600"/>
              </a:spcAft>
              <a:buFont typeface="Arial" panose="020B0604020202020204" pitchFamily="34" charset="0"/>
              <a:buChar char="•"/>
              <a:defRPr>
                <a:solidFill>
                  <a:srgbClr val="474C55"/>
                </a:solidFill>
              </a:defRPr>
            </a:pPr>
            <a:r>
              <a:rPr lang="en-GB" sz="2800" b="0" i="1" dirty="0">
                <a:solidFill>
                  <a:schemeClr val="tx2"/>
                </a:solidFill>
                <a:latin typeface="Barlow" pitchFamily="2" charset="77"/>
              </a:rPr>
              <a:t>A very short, viral TikTok dance</a:t>
            </a:r>
          </a:p>
          <a:p>
            <a:pPr marL="457200" indent="-457200" algn="just">
              <a:lnSpc>
                <a:spcPct val="150000"/>
              </a:lnSpc>
              <a:spcAft>
                <a:spcPts val="600"/>
              </a:spcAft>
              <a:buFont typeface="Arial" panose="020B0604020202020204" pitchFamily="34" charset="0"/>
              <a:buChar char="•"/>
              <a:defRPr>
                <a:solidFill>
                  <a:srgbClr val="474C55"/>
                </a:solidFill>
              </a:defRPr>
            </a:pPr>
            <a:r>
              <a:rPr lang="en-GB" sz="2800" b="0" i="1" dirty="0">
                <a:solidFill>
                  <a:schemeClr val="tx2"/>
                </a:solidFill>
                <a:latin typeface="Barlow" pitchFamily="2" charset="77"/>
              </a:rPr>
              <a:t>Art styles and aesthetics (e.g., the ‘Studio Ghibli’ aesthetic)</a:t>
            </a:r>
          </a:p>
          <a:p>
            <a:pPr marL="457200" indent="-457200" algn="just">
              <a:lnSpc>
                <a:spcPct val="150000"/>
              </a:lnSpc>
              <a:spcAft>
                <a:spcPts val="600"/>
              </a:spcAft>
              <a:buFont typeface="Arial" panose="020B0604020202020204" pitchFamily="34" charset="0"/>
              <a:buChar char="•"/>
              <a:defRPr>
                <a:solidFill>
                  <a:srgbClr val="474C55"/>
                </a:solidFill>
              </a:defRPr>
            </a:pPr>
            <a:r>
              <a:rPr lang="en-GB" sz="2800" b="0" i="1" dirty="0">
                <a:solidFill>
                  <a:schemeClr val="tx2"/>
                </a:solidFill>
                <a:latin typeface="Barlow" pitchFamily="2" charset="77"/>
              </a:rPr>
              <a:t>Game mechanics (e.g., press x to jump)</a:t>
            </a:r>
          </a:p>
          <a:p>
            <a:pPr marL="457200" indent="-457200" algn="just">
              <a:lnSpc>
                <a:spcPct val="150000"/>
              </a:lnSpc>
              <a:spcAft>
                <a:spcPts val="600"/>
              </a:spcAft>
              <a:buFont typeface="Arial" panose="020B0604020202020204" pitchFamily="34" charset="0"/>
              <a:buChar char="•"/>
              <a:defRPr>
                <a:solidFill>
                  <a:srgbClr val="474C55"/>
                </a:solidFill>
              </a:defRPr>
            </a:pPr>
            <a:r>
              <a:rPr lang="en-GB" sz="2800" b="0" i="1" dirty="0">
                <a:solidFill>
                  <a:schemeClr val="tx2"/>
                </a:solidFill>
                <a:latin typeface="Barlow" pitchFamily="2" charset="77"/>
              </a:rPr>
              <a:t>Your own face! (Danish proposal to tackle deepfakes)</a:t>
            </a:r>
          </a:p>
        </p:txBody>
      </p:sp>
      <p:sp>
        <p:nvSpPr>
          <p:cNvPr id="6" name="TextBox 5">
            <a:extLst>
              <a:ext uri="{FF2B5EF4-FFF2-40B4-BE49-F238E27FC236}">
                <a16:creationId xmlns:a16="http://schemas.microsoft.com/office/drawing/2014/main" id="{92E4B4C0-F790-062E-31FB-EDAD8572BE1A}"/>
              </a:ext>
            </a:extLst>
          </p:cNvPr>
          <p:cNvSpPr txBox="1"/>
          <p:nvPr/>
        </p:nvSpPr>
        <p:spPr>
          <a:xfrm>
            <a:off x="11392234" y="7392548"/>
            <a:ext cx="4523441" cy="779701"/>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0320" tIns="20320" rIns="20320" bIns="20320" numCol="1" spcCol="38100" rtlCol="0" anchor="ctr">
            <a:spAutoFit/>
          </a:bodyPr>
          <a:lstStyle/>
          <a:p>
            <a:r>
              <a:rPr lang="en-GB" sz="2400" b="0" dirty="0">
                <a:solidFill>
                  <a:schemeClr val="tx2"/>
                </a:solidFill>
                <a:latin typeface="Barlow" pitchFamily="2" charset="77"/>
              </a:rPr>
              <a:t>https://</a:t>
            </a:r>
            <a:r>
              <a:rPr lang="en-GB" sz="2400" b="0" dirty="0" err="1">
                <a:solidFill>
                  <a:schemeClr val="tx2"/>
                </a:solidFill>
                <a:latin typeface="Barlow" pitchFamily="2" charset="77"/>
              </a:rPr>
              <a:t>forms.cloud.microsoft</a:t>
            </a:r>
            <a:r>
              <a:rPr lang="en-GB" sz="2400" b="0" dirty="0">
                <a:solidFill>
                  <a:schemeClr val="tx2"/>
                </a:solidFill>
                <a:latin typeface="Barlow" pitchFamily="2" charset="77"/>
              </a:rPr>
              <a:t>/e/cf3uZgtdHP</a:t>
            </a:r>
            <a:endParaRPr kumimoji="0" lang="en-GB" sz="2400" b="0" i="0" u="none" strike="noStrike" cap="none" spc="0" normalizeH="0" baseline="0" dirty="0">
              <a:ln>
                <a:noFill/>
              </a:ln>
              <a:solidFill>
                <a:schemeClr val="tx2"/>
              </a:solidFill>
              <a:effectLst/>
              <a:uFillTx/>
              <a:latin typeface="Barlow" pitchFamily="2" charset="77"/>
              <a:sym typeface="Helvetica Neue"/>
            </a:endParaRPr>
          </a:p>
        </p:txBody>
      </p:sp>
      <p:pic>
        <p:nvPicPr>
          <p:cNvPr id="4098" name="Picture 2" descr="QR code">
            <a:extLst>
              <a:ext uri="{FF2B5EF4-FFF2-40B4-BE49-F238E27FC236}">
                <a16:creationId xmlns:a16="http://schemas.microsoft.com/office/drawing/2014/main" id="{4E0DAFC4-2289-42E1-AA11-F8DC36419E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92235" y="2615080"/>
            <a:ext cx="4523440" cy="4523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2318283"/>
      </p:ext>
    </p:extLst>
  </p:cSld>
  <p:clrMapOvr>
    <a:masterClrMapping/>
  </p:clrMapOvr>
  <p:transition spd="med" advTm="222639"/>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E8227-CF17-0887-0DB3-071B9369067A}"/>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5E2CE8D3-F6D7-E09C-1B45-B34B4EC92C04}"/>
              </a:ext>
            </a:extLst>
          </p:cNvPr>
          <p:cNvSpPr txBox="1"/>
          <p:nvPr/>
        </p:nvSpPr>
        <p:spPr>
          <a:xfrm>
            <a:off x="1028459" y="1002549"/>
            <a:ext cx="964162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Viral TikTok dance</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D9F07CB4-7616-0BD0-B563-9414996146D8}"/>
              </a:ext>
            </a:extLst>
          </p:cNvPr>
          <p:cNvSpPr txBox="1"/>
          <p:nvPr/>
        </p:nvSpPr>
        <p:spPr>
          <a:xfrm>
            <a:off x="1028459" y="1002549"/>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5" name="Rectangle 4">
            <a:extLst>
              <a:ext uri="{FF2B5EF4-FFF2-40B4-BE49-F238E27FC236}">
                <a16:creationId xmlns:a16="http://schemas.microsoft.com/office/drawing/2014/main" id="{DC2798E9-E9D4-20D2-054C-6ACFF632B026}"/>
              </a:ext>
            </a:extLst>
          </p:cNvPr>
          <p:cNvSpPr/>
          <p:nvPr/>
        </p:nvSpPr>
        <p:spPr>
          <a:xfrm>
            <a:off x="1028459" y="2179242"/>
            <a:ext cx="7456322" cy="6465873"/>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800" b="0" dirty="0">
                <a:solidFill>
                  <a:schemeClr val="tx2"/>
                </a:solidFill>
                <a:latin typeface="Barlow" pitchFamily="2" charset="77"/>
              </a:rPr>
              <a:t>Subject-matter: Maybe – is it a ‘dramatic work’? (</a:t>
            </a:r>
            <a:r>
              <a:rPr lang="en-US" sz="2800" b="0" i="1" dirty="0" err="1">
                <a:solidFill>
                  <a:schemeClr val="tx2"/>
                </a:solidFill>
                <a:latin typeface="Barlow" pitchFamily="2" charset="77"/>
              </a:rPr>
              <a:t>Norowzian</a:t>
            </a:r>
            <a:r>
              <a:rPr lang="en-US" sz="2800" b="0" i="1" dirty="0">
                <a:solidFill>
                  <a:schemeClr val="tx2"/>
                </a:solidFill>
                <a:latin typeface="Barlow" pitchFamily="2" charset="77"/>
              </a:rPr>
              <a:t> v Arks</a:t>
            </a:r>
            <a:r>
              <a:rPr lang="en-US" sz="2800" b="0" dirty="0">
                <a:solidFill>
                  <a:schemeClr val="tx2"/>
                </a:solidFill>
                <a:latin typeface="Barlow" pitchFamily="2" charset="77"/>
              </a:rPr>
              <a:t>) Was it choreographed? Or is it a ‘building block’?</a:t>
            </a:r>
          </a:p>
          <a:p>
            <a:pPr marL="342900" indent="-342900" algn="just">
              <a:lnSpc>
                <a:spcPct val="150000"/>
              </a:lnSpc>
              <a:buFont typeface="Arial" panose="020B0604020202020204" pitchFamily="34" charset="0"/>
              <a:buChar char="•"/>
            </a:pPr>
            <a:r>
              <a:rPr lang="en-US" sz="2800" b="0" dirty="0">
                <a:solidFill>
                  <a:schemeClr val="tx2"/>
                </a:solidFill>
                <a:latin typeface="Barlow" pitchFamily="2" charset="77"/>
              </a:rPr>
              <a:t>Fixation: The recording will be; choreography may be written down too</a:t>
            </a:r>
          </a:p>
          <a:p>
            <a:pPr marL="342900" indent="-342900" algn="just">
              <a:lnSpc>
                <a:spcPct val="150000"/>
              </a:lnSpc>
              <a:buFont typeface="Arial" panose="020B0604020202020204" pitchFamily="34" charset="0"/>
              <a:buChar char="•"/>
            </a:pPr>
            <a:r>
              <a:rPr lang="en-US" sz="2800" b="0" dirty="0">
                <a:solidFill>
                  <a:schemeClr val="tx2"/>
                </a:solidFill>
                <a:latin typeface="Barlow" pitchFamily="2" charset="77"/>
              </a:rPr>
              <a:t>Originality: Yes (</a:t>
            </a:r>
            <a:r>
              <a:rPr lang="en-US" sz="2800" b="0" i="1" dirty="0" err="1">
                <a:solidFill>
                  <a:schemeClr val="tx2"/>
                </a:solidFill>
                <a:latin typeface="Barlow" pitchFamily="2" charset="77"/>
              </a:rPr>
              <a:t>Infopaq</a:t>
            </a:r>
            <a:r>
              <a:rPr lang="en-US" sz="2800" b="0" i="1" dirty="0">
                <a:solidFill>
                  <a:schemeClr val="tx2"/>
                </a:solidFill>
                <a:latin typeface="Barlow" pitchFamily="2" charset="77"/>
              </a:rPr>
              <a:t>/</a:t>
            </a:r>
            <a:r>
              <a:rPr lang="en-US" sz="2800" b="0" i="1" dirty="0" err="1">
                <a:solidFill>
                  <a:schemeClr val="tx2"/>
                </a:solidFill>
                <a:latin typeface="Barlow" pitchFamily="2" charset="77"/>
              </a:rPr>
              <a:t>Tixdaq</a:t>
            </a:r>
            <a:r>
              <a:rPr lang="en-US" sz="2800" b="0" i="1" dirty="0">
                <a:solidFill>
                  <a:schemeClr val="tx2"/>
                </a:solidFill>
                <a:latin typeface="Barlow" pitchFamily="2" charset="77"/>
              </a:rPr>
              <a:t> </a:t>
            </a:r>
            <a:r>
              <a:rPr lang="en-US" sz="2800" b="0" dirty="0">
                <a:solidFill>
                  <a:schemeClr val="tx2"/>
                </a:solidFill>
                <a:latin typeface="Barlow" pitchFamily="2" charset="77"/>
              </a:rPr>
              <a:t>cases – length/duration </a:t>
            </a:r>
            <a:r>
              <a:rPr lang="en-GB" sz="2800" b="0" dirty="0">
                <a:solidFill>
                  <a:schemeClr val="tx2"/>
                </a:solidFill>
                <a:latin typeface="Barlow" pitchFamily="2" charset="77"/>
              </a:rPr>
              <a:t>≠ originality)</a:t>
            </a:r>
          </a:p>
          <a:p>
            <a:pPr marL="342900" indent="-342900" algn="just">
              <a:lnSpc>
                <a:spcPct val="150000"/>
              </a:lnSpc>
              <a:buFont typeface="Arial" panose="020B0604020202020204" pitchFamily="34" charset="0"/>
              <a:buChar char="•"/>
            </a:pPr>
            <a:endParaRPr lang="en-GB" sz="2800" b="0" dirty="0">
              <a:solidFill>
                <a:schemeClr val="tx2"/>
              </a:solidFill>
              <a:latin typeface="Barlow" pitchFamily="2" charset="77"/>
            </a:endParaRPr>
          </a:p>
          <a:p>
            <a:pPr marL="342900" indent="-342900" algn="just">
              <a:lnSpc>
                <a:spcPct val="150000"/>
              </a:lnSpc>
              <a:buFont typeface="Arial" panose="020B0604020202020204" pitchFamily="34" charset="0"/>
              <a:buChar char="•"/>
            </a:pPr>
            <a:r>
              <a:rPr lang="en-GB" sz="2800" b="0" dirty="0">
                <a:solidFill>
                  <a:schemeClr val="tx2"/>
                </a:solidFill>
                <a:latin typeface="Barlow" pitchFamily="2" charset="77"/>
              </a:rPr>
              <a:t>Addison Rae/Jimmy Fallon (US): critical race theory</a:t>
            </a:r>
            <a:endParaRPr lang="en-US" sz="2800" b="0" dirty="0">
              <a:solidFill>
                <a:schemeClr val="tx2"/>
              </a:solidFill>
              <a:latin typeface="Barlow" pitchFamily="2" charset="77"/>
            </a:endParaRPr>
          </a:p>
        </p:txBody>
      </p:sp>
      <p:pic>
        <p:nvPicPr>
          <p:cNvPr id="4" name="Online Media 3" descr="The Story of Renegade | Episode 2 | I AM: JALAIAH | TOGETHXR">
            <a:hlinkClick r:id="" action="ppaction://media"/>
            <a:extLst>
              <a:ext uri="{FF2B5EF4-FFF2-40B4-BE49-F238E27FC236}">
                <a16:creationId xmlns:a16="http://schemas.microsoft.com/office/drawing/2014/main" id="{C89AEC78-26C7-E09D-CEBD-451FDF380C6B}"/>
              </a:ext>
            </a:extLst>
          </p:cNvPr>
          <p:cNvPicPr>
            <a:picLocks noRot="1" noChangeAspect="1"/>
          </p:cNvPicPr>
          <p:nvPr>
            <a:videoFile r:link="rId1"/>
          </p:nvPr>
        </p:nvPicPr>
        <p:blipFill>
          <a:blip r:embed="rId3"/>
          <a:stretch>
            <a:fillRect/>
          </a:stretch>
        </p:blipFill>
        <p:spPr>
          <a:xfrm>
            <a:off x="9221551" y="2685784"/>
            <a:ext cx="7456322" cy="4212822"/>
          </a:xfrm>
          <a:prstGeom prst="rect">
            <a:avLst/>
          </a:prstGeom>
        </p:spPr>
      </p:pic>
      <p:sp>
        <p:nvSpPr>
          <p:cNvPr id="6" name="TextBox 5">
            <a:hlinkClick r:id="rId4"/>
            <a:extLst>
              <a:ext uri="{FF2B5EF4-FFF2-40B4-BE49-F238E27FC236}">
                <a16:creationId xmlns:a16="http://schemas.microsoft.com/office/drawing/2014/main" id="{CC470C31-876B-A2A7-29F3-CF4A9725BFA7}"/>
              </a:ext>
            </a:extLst>
          </p:cNvPr>
          <p:cNvSpPr txBox="1"/>
          <p:nvPr/>
        </p:nvSpPr>
        <p:spPr>
          <a:xfrm>
            <a:off x="12226277" y="7063527"/>
            <a:ext cx="1446870" cy="318036"/>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0320" tIns="20320" rIns="20320" bIns="20320" numCol="1" spcCol="38100" rtlCol="0" anchor="ctr">
            <a:spAutoFit/>
          </a:bodyPr>
          <a:lstStyle/>
          <a:p>
            <a:r>
              <a:rPr lang="en-GB" dirty="0">
                <a:solidFill>
                  <a:schemeClr val="tx2"/>
                </a:solidFill>
                <a:latin typeface="Barlow" pitchFamily="2" charset="77"/>
                <a:hlinkClick r:id="rId5">
                  <a:extLst>
                    <a:ext uri="{A12FA001-AC4F-418D-AE19-62706E023703}">
                      <ahyp:hlinkClr xmlns:ahyp="http://schemas.microsoft.com/office/drawing/2018/hyperlinkcolor" val="tx"/>
                    </a:ext>
                  </a:extLst>
                </a:hlinkClick>
              </a:rPr>
              <a:t>Image Source</a:t>
            </a:r>
            <a:endParaRPr lang="en-GB" dirty="0">
              <a:solidFill>
                <a:schemeClr val="tx2"/>
              </a:solidFill>
              <a:latin typeface="Barlow" pitchFamily="2" charset="77"/>
            </a:endParaRPr>
          </a:p>
        </p:txBody>
      </p:sp>
    </p:spTree>
    <p:extLst>
      <p:ext uri="{BB962C8B-B14F-4D97-AF65-F5344CB8AC3E}">
        <p14:creationId xmlns:p14="http://schemas.microsoft.com/office/powerpoint/2010/main" val="3276417592"/>
      </p:ext>
    </p:extLst>
  </p:cSld>
  <p:clrMapOvr>
    <a:masterClrMapping/>
  </p:clrMapOvr>
  <p:transition spd="med" advTm="222639"/>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745F1-4177-71F8-B409-FE111D42EEDF}"/>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3A59171A-EA4A-6E67-2C14-15B0A1543472}"/>
              </a:ext>
            </a:extLst>
          </p:cNvPr>
          <p:cNvSpPr txBox="1"/>
          <p:nvPr/>
        </p:nvSpPr>
        <p:spPr>
          <a:xfrm>
            <a:off x="1028459" y="1002549"/>
            <a:ext cx="964162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Art aesthetics</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9B949C8E-761F-616E-FA73-18FEE3C16697}"/>
              </a:ext>
            </a:extLst>
          </p:cNvPr>
          <p:cNvSpPr txBox="1"/>
          <p:nvPr/>
        </p:nvSpPr>
        <p:spPr>
          <a:xfrm>
            <a:off x="1028459" y="1002549"/>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5" name="Rectangle 4">
            <a:extLst>
              <a:ext uri="{FF2B5EF4-FFF2-40B4-BE49-F238E27FC236}">
                <a16:creationId xmlns:a16="http://schemas.microsoft.com/office/drawing/2014/main" id="{E9AB78EC-8217-CF3C-9E6B-5D4121F048E9}"/>
              </a:ext>
            </a:extLst>
          </p:cNvPr>
          <p:cNvSpPr/>
          <p:nvPr/>
        </p:nvSpPr>
        <p:spPr>
          <a:xfrm>
            <a:off x="1028459" y="2179242"/>
            <a:ext cx="7201141" cy="4526880"/>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800" b="0" dirty="0">
                <a:solidFill>
                  <a:schemeClr val="tx2"/>
                </a:solidFill>
                <a:latin typeface="Barlow" pitchFamily="2" charset="77"/>
              </a:rPr>
              <a:t>Subject-matter: Only the expressive elements in the specific artistic work – not the technique, method, or impression (though </a:t>
            </a:r>
            <a:r>
              <a:rPr lang="en-US" sz="2800" b="0" i="1" dirty="0">
                <a:solidFill>
                  <a:schemeClr val="tx2"/>
                </a:solidFill>
                <a:latin typeface="Barlow" pitchFamily="2" charset="77"/>
              </a:rPr>
              <a:t>Temple Island </a:t>
            </a:r>
            <a:r>
              <a:rPr lang="en-US" sz="2800" b="0" dirty="0">
                <a:solidFill>
                  <a:schemeClr val="tx2"/>
                </a:solidFill>
                <a:latin typeface="Barlow" pitchFamily="2" charset="77"/>
              </a:rPr>
              <a:t>case might bring this into some doubt)</a:t>
            </a:r>
          </a:p>
          <a:p>
            <a:pPr marL="342900" indent="-342900" algn="just">
              <a:lnSpc>
                <a:spcPct val="150000"/>
              </a:lnSpc>
              <a:buFont typeface="Arial" panose="020B0604020202020204" pitchFamily="34" charset="0"/>
              <a:buChar char="•"/>
            </a:pPr>
            <a:r>
              <a:rPr lang="en-US" sz="2800" b="0" dirty="0">
                <a:solidFill>
                  <a:schemeClr val="tx2"/>
                </a:solidFill>
                <a:latin typeface="Barlow" pitchFamily="2" charset="77"/>
              </a:rPr>
              <a:t>Fixation: As above</a:t>
            </a:r>
          </a:p>
          <a:p>
            <a:pPr marL="342900" indent="-342900" algn="just">
              <a:lnSpc>
                <a:spcPct val="150000"/>
              </a:lnSpc>
              <a:buFont typeface="Arial" panose="020B0604020202020204" pitchFamily="34" charset="0"/>
              <a:buChar char="•"/>
            </a:pPr>
            <a:r>
              <a:rPr lang="en-US" sz="2800" b="0" dirty="0">
                <a:solidFill>
                  <a:schemeClr val="tx2"/>
                </a:solidFill>
                <a:latin typeface="Barlow" pitchFamily="2" charset="77"/>
              </a:rPr>
              <a:t>Originality: As above</a:t>
            </a:r>
          </a:p>
        </p:txBody>
      </p:sp>
      <p:pic>
        <p:nvPicPr>
          <p:cNvPr id="2050" name="Picture 2" descr="The Internet Goes Crazy Over Studio Ghibli Style AI Generated Memes">
            <a:extLst>
              <a:ext uri="{FF2B5EF4-FFF2-40B4-BE49-F238E27FC236}">
                <a16:creationId xmlns:a16="http://schemas.microsoft.com/office/drawing/2014/main" id="{90D7DF78-BDBD-81C5-5B9D-9BDD3B1E4F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58144" y="2402959"/>
            <a:ext cx="7591647" cy="506109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hlinkClick r:id="rId3"/>
            <a:extLst>
              <a:ext uri="{FF2B5EF4-FFF2-40B4-BE49-F238E27FC236}">
                <a16:creationId xmlns:a16="http://schemas.microsoft.com/office/drawing/2014/main" id="{65453DFE-746F-9705-8B44-85B7F3F101F0}"/>
              </a:ext>
            </a:extLst>
          </p:cNvPr>
          <p:cNvSpPr txBox="1"/>
          <p:nvPr/>
        </p:nvSpPr>
        <p:spPr>
          <a:xfrm>
            <a:off x="11830532" y="7716672"/>
            <a:ext cx="1446870" cy="318036"/>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20320" tIns="20320" rIns="20320" bIns="20320" numCol="1" spcCol="38100" rtlCol="0" anchor="ctr">
            <a:spAutoFit/>
          </a:bodyPr>
          <a:lstStyle/>
          <a:p>
            <a:r>
              <a:rPr lang="en-GB" dirty="0">
                <a:solidFill>
                  <a:schemeClr val="tx2"/>
                </a:solidFill>
                <a:latin typeface="Barlow" pitchFamily="2" charset="77"/>
                <a:hlinkClick r:id="rId4">
                  <a:extLst>
                    <a:ext uri="{A12FA001-AC4F-418D-AE19-62706E023703}">
                      <ahyp:hlinkClr xmlns:ahyp="http://schemas.microsoft.com/office/drawing/2018/hyperlinkcolor" val="tx"/>
                    </a:ext>
                  </a:extLst>
                </a:hlinkClick>
              </a:rPr>
              <a:t>Image Source</a:t>
            </a:r>
            <a:endParaRPr lang="en-GB" dirty="0">
              <a:solidFill>
                <a:schemeClr val="tx2"/>
              </a:solidFill>
              <a:latin typeface="Barlow" pitchFamily="2" charset="77"/>
            </a:endParaRPr>
          </a:p>
        </p:txBody>
      </p:sp>
    </p:spTree>
    <p:extLst>
      <p:ext uri="{BB962C8B-B14F-4D97-AF65-F5344CB8AC3E}">
        <p14:creationId xmlns:p14="http://schemas.microsoft.com/office/powerpoint/2010/main" val="3573700274"/>
      </p:ext>
    </p:extLst>
  </p:cSld>
  <p:clrMapOvr>
    <a:masterClrMapping/>
  </p:clrMapOvr>
  <p:transition spd="med" advTm="222639"/>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F231-D848-521B-7820-35B79429EFDB}"/>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DB2B63D8-F099-38FE-4EF6-3E49FBF92A58}"/>
              </a:ext>
            </a:extLst>
          </p:cNvPr>
          <p:cNvSpPr txBox="1"/>
          <p:nvPr/>
        </p:nvSpPr>
        <p:spPr>
          <a:xfrm>
            <a:off x="1028459" y="1002549"/>
            <a:ext cx="964162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Game mechanics</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B32EEF98-7E19-DEB8-9BDC-71FDA3343171}"/>
              </a:ext>
            </a:extLst>
          </p:cNvPr>
          <p:cNvSpPr txBox="1"/>
          <p:nvPr/>
        </p:nvSpPr>
        <p:spPr>
          <a:xfrm>
            <a:off x="1028459" y="1002549"/>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5" name="Rectangle 4">
            <a:extLst>
              <a:ext uri="{FF2B5EF4-FFF2-40B4-BE49-F238E27FC236}">
                <a16:creationId xmlns:a16="http://schemas.microsoft.com/office/drawing/2014/main" id="{59F4BE9F-93B2-6D09-232C-056535CE3788}"/>
              </a:ext>
            </a:extLst>
          </p:cNvPr>
          <p:cNvSpPr/>
          <p:nvPr/>
        </p:nvSpPr>
        <p:spPr>
          <a:xfrm>
            <a:off x="1028459" y="2179242"/>
            <a:ext cx="6459736" cy="5555367"/>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400" b="0" dirty="0">
                <a:solidFill>
                  <a:schemeClr val="tx2"/>
                </a:solidFill>
                <a:latin typeface="Barlow" pitchFamily="2" charset="77"/>
              </a:rPr>
              <a:t>Subject-matter: Computer-</a:t>
            </a:r>
            <a:r>
              <a:rPr lang="en-US" sz="2400" b="0" dirty="0" err="1">
                <a:solidFill>
                  <a:schemeClr val="tx2"/>
                </a:solidFill>
                <a:latin typeface="Barlow" pitchFamily="2" charset="77"/>
              </a:rPr>
              <a:t>programme</a:t>
            </a:r>
            <a:r>
              <a:rPr lang="en-US" sz="2400" b="0" dirty="0">
                <a:solidFill>
                  <a:schemeClr val="tx2"/>
                </a:solidFill>
                <a:latin typeface="Barlow" pitchFamily="2" charset="77"/>
              </a:rPr>
              <a:t>/audiovisual elements</a:t>
            </a:r>
          </a:p>
          <a:p>
            <a:pPr marL="342900" indent="-342900" algn="just">
              <a:lnSpc>
                <a:spcPct val="150000"/>
              </a:lnSpc>
              <a:buFont typeface="Arial" panose="020B0604020202020204" pitchFamily="34" charset="0"/>
              <a:buChar char="•"/>
            </a:pPr>
            <a:r>
              <a:rPr lang="en-US" sz="2400" b="0" dirty="0">
                <a:solidFill>
                  <a:schemeClr val="tx2"/>
                </a:solidFill>
                <a:latin typeface="Barlow" pitchFamily="2" charset="77"/>
              </a:rPr>
              <a:t>Fixation: Yes – recorded, written as code etc.</a:t>
            </a:r>
          </a:p>
          <a:p>
            <a:pPr marL="342900" indent="-342900" algn="just">
              <a:lnSpc>
                <a:spcPct val="150000"/>
              </a:lnSpc>
              <a:buFont typeface="Arial" panose="020B0604020202020204" pitchFamily="34" charset="0"/>
              <a:buChar char="•"/>
            </a:pPr>
            <a:r>
              <a:rPr lang="en-US" sz="2400" b="0" dirty="0">
                <a:solidFill>
                  <a:schemeClr val="tx2"/>
                </a:solidFill>
                <a:latin typeface="Barlow" pitchFamily="2" charset="77"/>
              </a:rPr>
              <a:t>Originality: Only for the expressive elements (incl. characters – see </a:t>
            </a:r>
            <a:r>
              <a:rPr lang="en-US" sz="2400" b="0" i="1" dirty="0">
                <a:solidFill>
                  <a:schemeClr val="tx2"/>
                </a:solidFill>
                <a:latin typeface="Barlow" pitchFamily="2" charset="77"/>
              </a:rPr>
              <a:t>Shazam v Only Fools</a:t>
            </a:r>
            <a:r>
              <a:rPr lang="en-US" sz="2400" b="0" dirty="0">
                <a:solidFill>
                  <a:schemeClr val="tx2"/>
                </a:solidFill>
                <a:latin typeface="Barlow" pitchFamily="2" charset="77"/>
              </a:rPr>
              <a:t>) not methods or processes</a:t>
            </a:r>
          </a:p>
          <a:p>
            <a:pPr marL="342900" indent="-342900" algn="just">
              <a:lnSpc>
                <a:spcPct val="150000"/>
              </a:lnSpc>
              <a:buFont typeface="Arial" panose="020B0604020202020204" pitchFamily="34" charset="0"/>
              <a:buChar char="•"/>
            </a:pPr>
            <a:r>
              <a:rPr lang="en-US" sz="2400" b="0" dirty="0">
                <a:solidFill>
                  <a:schemeClr val="tx2"/>
                </a:solidFill>
                <a:latin typeface="Barlow" pitchFamily="2" charset="77"/>
              </a:rPr>
              <a:t>But - ‘merger’ doctrine: where do the lines between idea and expression blur in interactive works?</a:t>
            </a:r>
          </a:p>
          <a:p>
            <a:pPr marL="342900" indent="-342900" algn="just">
              <a:lnSpc>
                <a:spcPct val="150000"/>
              </a:lnSpc>
              <a:buFont typeface="Arial" panose="020B0604020202020204" pitchFamily="34" charset="0"/>
              <a:buChar char="•"/>
            </a:pPr>
            <a:r>
              <a:rPr lang="en-US" sz="2400" b="0" dirty="0">
                <a:solidFill>
                  <a:schemeClr val="tx2"/>
                </a:solidFill>
                <a:latin typeface="Barlow" pitchFamily="2" charset="77"/>
              </a:rPr>
              <a:t>Role of TM/patent</a:t>
            </a:r>
          </a:p>
        </p:txBody>
      </p:sp>
      <p:pic>
        <p:nvPicPr>
          <p:cNvPr id="3" name="Picture 2" descr="Palworld v The Pokémon Company: Comparisons, 'investigation' explained |  Radio Times">
            <a:extLst>
              <a:ext uri="{FF2B5EF4-FFF2-40B4-BE49-F238E27FC236}">
                <a16:creationId xmlns:a16="http://schemas.microsoft.com/office/drawing/2014/main" id="{DC818423-CF9A-9D7D-257E-AC6323CB51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264" y="2087777"/>
            <a:ext cx="8358540" cy="55780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4188327"/>
      </p:ext>
    </p:extLst>
  </p:cSld>
  <p:clrMapOvr>
    <a:masterClrMapping/>
  </p:clrMapOvr>
  <p:transition spd="med" advTm="222639"/>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E8227-CF17-0887-0DB3-071B9369067A}"/>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5E2CE8D3-F6D7-E09C-1B45-B34B4EC92C04}"/>
              </a:ext>
            </a:extLst>
          </p:cNvPr>
          <p:cNvSpPr txBox="1"/>
          <p:nvPr/>
        </p:nvSpPr>
        <p:spPr>
          <a:xfrm>
            <a:off x="1028459" y="1002549"/>
            <a:ext cx="964162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Your own face!</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D9F07CB4-7616-0BD0-B563-9414996146D8}"/>
              </a:ext>
            </a:extLst>
          </p:cNvPr>
          <p:cNvSpPr txBox="1"/>
          <p:nvPr/>
        </p:nvSpPr>
        <p:spPr>
          <a:xfrm>
            <a:off x="1028459" y="1002549"/>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5" name="Rectangle 4">
            <a:extLst>
              <a:ext uri="{FF2B5EF4-FFF2-40B4-BE49-F238E27FC236}">
                <a16:creationId xmlns:a16="http://schemas.microsoft.com/office/drawing/2014/main" id="{DC2798E9-E9D4-20D2-054C-6ACFF632B026}"/>
              </a:ext>
            </a:extLst>
          </p:cNvPr>
          <p:cNvSpPr/>
          <p:nvPr/>
        </p:nvSpPr>
        <p:spPr>
          <a:xfrm>
            <a:off x="1028458" y="2179242"/>
            <a:ext cx="7243195" cy="5819542"/>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800" b="0" dirty="0">
                <a:solidFill>
                  <a:schemeClr val="tx2"/>
                </a:solidFill>
                <a:latin typeface="Barlow" pitchFamily="2" charset="77"/>
              </a:rPr>
              <a:t>Subject-matter: Not in the UK (an artistic work? A sculpture?)</a:t>
            </a:r>
          </a:p>
          <a:p>
            <a:pPr marL="342900" indent="-342900" algn="just">
              <a:lnSpc>
                <a:spcPct val="150000"/>
              </a:lnSpc>
              <a:buFont typeface="Arial" panose="020B0604020202020204" pitchFamily="34" charset="0"/>
              <a:buChar char="•"/>
            </a:pPr>
            <a:r>
              <a:rPr lang="en-US" sz="2800" b="0" dirty="0">
                <a:solidFill>
                  <a:schemeClr val="tx2"/>
                </a:solidFill>
                <a:latin typeface="Barlow" pitchFamily="2" charset="77"/>
              </a:rPr>
              <a:t>Fixation: I guess?</a:t>
            </a:r>
          </a:p>
          <a:p>
            <a:pPr marL="342900" indent="-342900" algn="just">
              <a:lnSpc>
                <a:spcPct val="150000"/>
              </a:lnSpc>
              <a:buFont typeface="Arial" panose="020B0604020202020204" pitchFamily="34" charset="0"/>
              <a:buChar char="•"/>
            </a:pPr>
            <a:r>
              <a:rPr lang="en-US" sz="2800" b="0" dirty="0">
                <a:solidFill>
                  <a:schemeClr val="tx2"/>
                </a:solidFill>
                <a:latin typeface="Barlow" pitchFamily="2" charset="77"/>
              </a:rPr>
              <a:t>Originality: Is it a process of ‘intellectual creation’?</a:t>
            </a:r>
          </a:p>
          <a:p>
            <a:pPr marL="342900" indent="-342900" algn="just">
              <a:lnSpc>
                <a:spcPct val="150000"/>
              </a:lnSpc>
              <a:buFont typeface="Arial" panose="020B0604020202020204" pitchFamily="34" charset="0"/>
              <a:buChar char="•"/>
            </a:pPr>
            <a:endParaRPr lang="en-US" sz="2800" b="0" dirty="0">
              <a:solidFill>
                <a:schemeClr val="tx2"/>
              </a:solidFill>
              <a:latin typeface="Barlow" pitchFamily="2" charset="77"/>
            </a:endParaRPr>
          </a:p>
          <a:p>
            <a:pPr marL="342900" indent="-342900" algn="just">
              <a:lnSpc>
                <a:spcPct val="150000"/>
              </a:lnSpc>
              <a:buFont typeface="Arial" panose="020B0604020202020204" pitchFamily="34" charset="0"/>
              <a:buChar char="•"/>
            </a:pPr>
            <a:r>
              <a:rPr lang="en-US" sz="2800" b="0" dirty="0">
                <a:solidFill>
                  <a:schemeClr val="tx2"/>
                </a:solidFill>
                <a:latin typeface="Barlow" pitchFamily="2" charset="77"/>
              </a:rPr>
              <a:t>Significance of ‘the closed list’ approach – not every jurisdiction sets limits on what is eligible for protection</a:t>
            </a:r>
          </a:p>
        </p:txBody>
      </p:sp>
      <p:pic>
        <p:nvPicPr>
          <p:cNvPr id="3" name="Picture 2" descr="A person in a white coat&#10;&#10;AI-generated content may be incorrect.">
            <a:extLst>
              <a:ext uri="{FF2B5EF4-FFF2-40B4-BE49-F238E27FC236}">
                <a16:creationId xmlns:a16="http://schemas.microsoft.com/office/drawing/2014/main" id="{D3EE54C8-CCF2-3E26-76D8-A10A0DD3B5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70131" y="753414"/>
            <a:ext cx="7772400" cy="8246771"/>
          </a:xfrm>
          <a:prstGeom prst="rect">
            <a:avLst/>
          </a:prstGeom>
        </p:spPr>
      </p:pic>
    </p:spTree>
    <p:extLst>
      <p:ext uri="{BB962C8B-B14F-4D97-AF65-F5344CB8AC3E}">
        <p14:creationId xmlns:p14="http://schemas.microsoft.com/office/powerpoint/2010/main" val="2106730236"/>
      </p:ext>
    </p:extLst>
  </p:cSld>
  <p:clrMapOvr>
    <a:masterClrMapping/>
  </p:clrMapOvr>
  <p:transition spd="med" advTm="222639"/>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9BBA0-3C46-9734-1521-0CFD7FA54818}"/>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82253935-D12D-5F7D-10C2-2681F27E4E5E}"/>
              </a:ext>
            </a:extLst>
          </p:cNvPr>
          <p:cNvSpPr txBox="1"/>
          <p:nvPr/>
        </p:nvSpPr>
        <p:spPr>
          <a:xfrm>
            <a:off x="1028459" y="1002549"/>
            <a:ext cx="964162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Key points of critique</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F165B671-DC51-7849-7710-59D13D0862AE}"/>
              </a:ext>
            </a:extLst>
          </p:cNvPr>
          <p:cNvSpPr txBox="1"/>
          <p:nvPr/>
        </p:nvSpPr>
        <p:spPr>
          <a:xfrm>
            <a:off x="1028459" y="1002549"/>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5" name="Rectangle 4">
            <a:extLst>
              <a:ext uri="{FF2B5EF4-FFF2-40B4-BE49-F238E27FC236}">
                <a16:creationId xmlns:a16="http://schemas.microsoft.com/office/drawing/2014/main" id="{E059BCE8-AEF8-204C-0794-D693B62D11CF}"/>
              </a:ext>
            </a:extLst>
          </p:cNvPr>
          <p:cNvSpPr/>
          <p:nvPr/>
        </p:nvSpPr>
        <p:spPr>
          <a:xfrm>
            <a:off x="1028458" y="2179242"/>
            <a:ext cx="15015593" cy="1941557"/>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800" b="0" dirty="0">
                <a:solidFill>
                  <a:schemeClr val="tx2"/>
                </a:solidFill>
                <a:latin typeface="Barlow" pitchFamily="2" charset="77"/>
              </a:rPr>
              <a:t>Not all forms of creativity are ‘protected’: the law legitimates and gives exclusive rights to some forms of works and their authors and not others</a:t>
            </a:r>
          </a:p>
          <a:p>
            <a:pPr marL="342900" indent="-342900" algn="just">
              <a:lnSpc>
                <a:spcPct val="150000"/>
              </a:lnSpc>
              <a:buFont typeface="Arial" panose="020B0604020202020204" pitchFamily="34" charset="0"/>
              <a:buChar char="•"/>
            </a:pPr>
            <a:r>
              <a:rPr lang="en-US" sz="2800" b="0" dirty="0">
                <a:solidFill>
                  <a:schemeClr val="tx2"/>
                </a:solidFill>
                <a:latin typeface="Barlow" pitchFamily="2" charset="77"/>
              </a:rPr>
              <a:t>This may impact their ability to be commodified or exploited by their creators</a:t>
            </a:r>
          </a:p>
        </p:txBody>
      </p:sp>
    </p:spTree>
    <p:extLst>
      <p:ext uri="{BB962C8B-B14F-4D97-AF65-F5344CB8AC3E}">
        <p14:creationId xmlns:p14="http://schemas.microsoft.com/office/powerpoint/2010/main" val="1705552332"/>
      </p:ext>
    </p:extLst>
  </p:cSld>
  <p:clrMapOvr>
    <a:masterClrMapping/>
  </p:clrMapOvr>
  <p:transition spd="med" advTm="222639"/>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E2788-EC82-3501-5D3D-22EB5D6A53E5}"/>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51150DF3-899C-5523-EFB8-0BA7F4FCF92E}"/>
              </a:ext>
            </a:extLst>
          </p:cNvPr>
          <p:cNvSpPr txBox="1"/>
          <p:nvPr/>
        </p:nvSpPr>
        <p:spPr>
          <a:xfrm>
            <a:off x="1028459" y="1002549"/>
            <a:ext cx="964162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Next week…</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2B630D99-0670-0A14-9C4E-B97D409DB69B}"/>
              </a:ext>
            </a:extLst>
          </p:cNvPr>
          <p:cNvSpPr txBox="1"/>
          <p:nvPr/>
        </p:nvSpPr>
        <p:spPr>
          <a:xfrm>
            <a:off x="1028459" y="1002549"/>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5" name="Rectangle 4">
            <a:extLst>
              <a:ext uri="{FF2B5EF4-FFF2-40B4-BE49-F238E27FC236}">
                <a16:creationId xmlns:a16="http://schemas.microsoft.com/office/drawing/2014/main" id="{C6755823-25EA-AE5A-08FF-258717351676}"/>
              </a:ext>
            </a:extLst>
          </p:cNvPr>
          <p:cNvSpPr/>
          <p:nvPr/>
        </p:nvSpPr>
        <p:spPr>
          <a:xfrm>
            <a:off x="1028459" y="2179242"/>
            <a:ext cx="14336727" cy="1295226"/>
          </a:xfrm>
          <a:prstGeom prst="rect">
            <a:avLst/>
          </a:prstGeom>
        </p:spPr>
        <p:txBody>
          <a:bodyPr wrap="square">
            <a:spAutoFit/>
          </a:bodyPr>
          <a:lstStyle/>
          <a:p>
            <a:pPr marL="285750" indent="-285750" algn="l"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Readings/preparation for next week (Exclusive Rights)</a:t>
            </a:r>
          </a:p>
          <a:p>
            <a:pPr marL="285750" indent="-285750" algn="l"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Office hours: Wednesday 1:30 – 2:30pm (</a:t>
            </a:r>
            <a:r>
              <a:rPr lang="en-GB" sz="2800" dirty="0" err="1">
                <a:solidFill>
                  <a:schemeClr val="tx2"/>
                </a:solidFill>
                <a:latin typeface="Barlow" pitchFamily="2" charset="77"/>
              </a:rPr>
              <a:t>amy.thomas@glasgow.ac.uk</a:t>
            </a:r>
            <a:r>
              <a:rPr lang="en-GB" sz="2800" dirty="0">
                <a:solidFill>
                  <a:schemeClr val="tx2"/>
                </a:solidFill>
                <a:latin typeface="Barlow" pitchFamily="2" charset="77"/>
              </a:rPr>
              <a:t>)</a:t>
            </a:r>
          </a:p>
        </p:txBody>
      </p:sp>
    </p:spTree>
    <p:extLst>
      <p:ext uri="{BB962C8B-B14F-4D97-AF65-F5344CB8AC3E}">
        <p14:creationId xmlns:p14="http://schemas.microsoft.com/office/powerpoint/2010/main" val="4205761403"/>
      </p:ext>
    </p:extLst>
  </p:cSld>
  <p:clrMapOvr>
    <a:masterClrMapping/>
  </p:clrMapOvr>
  <p:transition spd="med" advTm="222639"/>
</p:sld>
</file>

<file path=ppt/theme/theme1.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3175"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587022"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175"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20320" tIns="20320" rIns="20320" bIns="20320" numCol="1" spcCol="38100" rtlCol="0" anchor="ctr">
        <a:spAutoFit/>
      </a:bodyPr>
      <a:lstStyle>
        <a:defPPr marL="0" marR="0" indent="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3175"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587022"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175"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20320" tIns="20320" rIns="20320" bIns="20320" numCol="1" spcCol="38100" rtlCol="0" anchor="ctr">
        <a:spAutoFit/>
      </a:bodyPr>
      <a:lstStyle>
        <a:defPPr marL="0" marR="0" indent="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5293</TotalTime>
  <Words>1693</Words>
  <Application>Microsoft Macintosh PowerPoint</Application>
  <PresentationFormat>Custom</PresentationFormat>
  <Paragraphs>184</Paragraphs>
  <Slides>28</Slides>
  <Notes>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Barlow</vt:lpstr>
      <vt:lpstr>Helvetica Neue</vt:lpstr>
      <vt:lpstr>Helvetica Neue Light</vt:lpstr>
      <vt:lpstr>Helvetica Neue Medium</vt:lpstr>
      <vt:lpstr>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MEMES AND PARASITES: ANALYSING DISCOURSE ON THE COPYRIGHT DIRECTIVE  Ula Furgal Amy Thomas Gikii 2020</dc:title>
  <dc:creator>Amy Thomas (student)</dc:creator>
  <cp:lastModifiedBy>Amy Thomas</cp:lastModifiedBy>
  <cp:revision>140</cp:revision>
  <dcterms:created xsi:type="dcterms:W3CDTF">2020-07-21T13:40:18Z</dcterms:created>
  <dcterms:modified xsi:type="dcterms:W3CDTF">2026-01-20T19:31:05Z</dcterms:modified>
</cp:coreProperties>
</file>