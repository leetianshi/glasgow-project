
<file path=[Content_Types].xml><?xml version="1.0" encoding="utf-8"?>
<Types xmlns="http://schemas.openxmlformats.org/package/2006/content-types">
  <Default Extension="docx" ContentType="application/vnd.openxmlformats-officedocument.wordprocessingml.document"/>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698" r:id="rId2"/>
    <p:sldMasterId id="2147483776" r:id="rId3"/>
    <p:sldMasterId id="2147483788" r:id="rId4"/>
    <p:sldMasterId id="2147483887" r:id="rId5"/>
  </p:sldMasterIdLst>
  <p:notesMasterIdLst>
    <p:notesMasterId r:id="rId42"/>
  </p:notesMasterIdLst>
  <p:sldIdLst>
    <p:sldId id="270" r:id="rId6"/>
    <p:sldId id="801" r:id="rId7"/>
    <p:sldId id="626" r:id="rId8"/>
    <p:sldId id="627" r:id="rId9"/>
    <p:sldId id="593" r:id="rId10"/>
    <p:sldId id="624" r:id="rId11"/>
    <p:sldId id="823" r:id="rId12"/>
    <p:sldId id="821" r:id="rId13"/>
    <p:sldId id="810" r:id="rId14"/>
    <p:sldId id="605" r:id="rId15"/>
    <p:sldId id="818" r:id="rId16"/>
    <p:sldId id="824" r:id="rId17"/>
    <p:sldId id="608" r:id="rId18"/>
    <p:sldId id="606" r:id="rId19"/>
    <p:sldId id="266" r:id="rId20"/>
    <p:sldId id="819" r:id="rId21"/>
    <p:sldId id="847" r:id="rId22"/>
    <p:sldId id="848" r:id="rId23"/>
    <p:sldId id="849" r:id="rId24"/>
    <p:sldId id="850" r:id="rId25"/>
    <p:sldId id="845" r:id="rId26"/>
    <p:sldId id="846" r:id="rId27"/>
    <p:sldId id="851" r:id="rId28"/>
    <p:sldId id="852" r:id="rId29"/>
    <p:sldId id="853" r:id="rId30"/>
    <p:sldId id="294" r:id="rId31"/>
    <p:sldId id="295" r:id="rId32"/>
    <p:sldId id="296" r:id="rId33"/>
    <p:sldId id="297" r:id="rId34"/>
    <p:sldId id="854" r:id="rId35"/>
    <p:sldId id="855" r:id="rId36"/>
    <p:sldId id="856" r:id="rId37"/>
    <p:sldId id="857" r:id="rId38"/>
    <p:sldId id="858" r:id="rId39"/>
    <p:sldId id="859" r:id="rId40"/>
    <p:sldId id="447"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E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781" autoAdjust="0"/>
    <p:restoredTop sz="94660"/>
  </p:normalViewPr>
  <p:slideViewPr>
    <p:cSldViewPr snapToGrid="0">
      <p:cViewPr varScale="1">
        <p:scale>
          <a:sx n="103" d="100"/>
          <a:sy n="103" d="100"/>
        </p:scale>
        <p:origin x="184"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36A33-3272-4952-92BA-B3BF9538AEFC}" type="datetimeFigureOut">
              <a:rPr lang="en-GB" smtClean="0"/>
              <a:t>01/03/2026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1EC0B0-41F8-4CBD-ABE8-28AB8C38E7A1}" type="slidenum">
              <a:rPr lang="en-GB" smtClean="0"/>
              <a:t>‹#›</a:t>
            </a:fld>
            <a:endParaRPr lang="en-GB"/>
          </a:p>
        </p:txBody>
      </p:sp>
    </p:spTree>
    <p:extLst>
      <p:ext uri="{BB962C8B-B14F-4D97-AF65-F5344CB8AC3E}">
        <p14:creationId xmlns:p14="http://schemas.microsoft.com/office/powerpoint/2010/main" val="1456738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4A02F00-C535-204F-B4B5-528FB2DC4FE2}" type="slidenum">
              <a:rPr lang="en-US" smtClean="0"/>
              <a:t>1</a:t>
            </a:fld>
            <a:endParaRPr lang="en-US"/>
          </a:p>
        </p:txBody>
      </p:sp>
    </p:spTree>
    <p:extLst>
      <p:ext uri="{BB962C8B-B14F-4D97-AF65-F5344CB8AC3E}">
        <p14:creationId xmlns:p14="http://schemas.microsoft.com/office/powerpoint/2010/main" val="374738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26960791-956E-D93C-F43C-09CE4841D655}"/>
            </a:ext>
          </a:extLst>
        </p:cNvPr>
        <p:cNvGrpSpPr/>
        <p:nvPr/>
      </p:nvGrpSpPr>
      <p:grpSpPr>
        <a:xfrm>
          <a:off x="0" y="0"/>
          <a:ext cx="0" cy="0"/>
          <a:chOff x="0" y="0"/>
          <a:chExt cx="0" cy="0"/>
        </a:xfrm>
      </p:grpSpPr>
      <p:sp>
        <p:nvSpPr>
          <p:cNvPr id="232" name="Google Shape;232;p13:notes">
            <a:extLst>
              <a:ext uri="{FF2B5EF4-FFF2-40B4-BE49-F238E27FC236}">
                <a16:creationId xmlns:a16="http://schemas.microsoft.com/office/drawing/2014/main" id="{60E9E190-2682-6DCF-4184-A1C195D93C7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13:notes">
            <a:extLst>
              <a:ext uri="{FF2B5EF4-FFF2-40B4-BE49-F238E27FC236}">
                <a16:creationId xmlns:a16="http://schemas.microsoft.com/office/drawing/2014/main" id="{FBBAEC00-F44A-613D-713D-4270C015D4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157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F9A37084-C80C-5E6B-6978-126BB09ECE1F}"/>
            </a:ext>
          </a:extLst>
        </p:cNvPr>
        <p:cNvGrpSpPr/>
        <p:nvPr/>
      </p:nvGrpSpPr>
      <p:grpSpPr>
        <a:xfrm>
          <a:off x="0" y="0"/>
          <a:ext cx="0" cy="0"/>
          <a:chOff x="0" y="0"/>
          <a:chExt cx="0" cy="0"/>
        </a:xfrm>
      </p:grpSpPr>
      <p:sp>
        <p:nvSpPr>
          <p:cNvPr id="238" name="Google Shape;238;p14:notes">
            <a:extLst>
              <a:ext uri="{FF2B5EF4-FFF2-40B4-BE49-F238E27FC236}">
                <a16:creationId xmlns:a16="http://schemas.microsoft.com/office/drawing/2014/main" id="{8322603B-FB5B-1C3C-3C16-7D394651E2B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4:notes">
            <a:extLst>
              <a:ext uri="{FF2B5EF4-FFF2-40B4-BE49-F238E27FC236}">
                <a16:creationId xmlns:a16="http://schemas.microsoft.com/office/drawing/2014/main" id="{46F80CB7-77EB-0D17-82B5-768DFEE479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69522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2" name="Google Shape;352;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a:extLst>
            <a:ext uri="{FF2B5EF4-FFF2-40B4-BE49-F238E27FC236}">
              <a16:creationId xmlns:a16="http://schemas.microsoft.com/office/drawing/2014/main" id="{58C720BB-1DB0-A87F-5C15-2D4777A70379}"/>
            </a:ext>
          </a:extLst>
        </p:cNvPr>
        <p:cNvGrpSpPr/>
        <p:nvPr/>
      </p:nvGrpSpPr>
      <p:grpSpPr>
        <a:xfrm>
          <a:off x="0" y="0"/>
          <a:ext cx="0" cy="0"/>
          <a:chOff x="0" y="0"/>
          <a:chExt cx="0" cy="0"/>
        </a:xfrm>
      </p:grpSpPr>
      <p:sp>
        <p:nvSpPr>
          <p:cNvPr id="674" name="Google Shape;674;p39:notes">
            <a:extLst>
              <a:ext uri="{FF2B5EF4-FFF2-40B4-BE49-F238E27FC236}">
                <a16:creationId xmlns:a16="http://schemas.microsoft.com/office/drawing/2014/main" id="{CBE752E3-A32B-5BC3-A603-07447194808A}"/>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5" name="Google Shape;675;p39:notes">
            <a:extLst>
              <a:ext uri="{FF2B5EF4-FFF2-40B4-BE49-F238E27FC236}">
                <a16:creationId xmlns:a16="http://schemas.microsoft.com/office/drawing/2014/main" id="{19E1A81E-7B70-91B8-6C3A-A139EFEBA0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52146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a:extLst>
            <a:ext uri="{FF2B5EF4-FFF2-40B4-BE49-F238E27FC236}">
              <a16:creationId xmlns:a16="http://schemas.microsoft.com/office/drawing/2014/main" id="{0DE1AA83-2010-EFBF-3647-47D3D4CCE9CC}"/>
            </a:ext>
          </a:extLst>
        </p:cNvPr>
        <p:cNvGrpSpPr/>
        <p:nvPr/>
      </p:nvGrpSpPr>
      <p:grpSpPr>
        <a:xfrm>
          <a:off x="0" y="0"/>
          <a:ext cx="0" cy="0"/>
          <a:chOff x="0" y="0"/>
          <a:chExt cx="0" cy="0"/>
        </a:xfrm>
      </p:grpSpPr>
      <p:sp>
        <p:nvSpPr>
          <p:cNvPr id="726" name="Google Shape;726;p40:notes">
            <a:extLst>
              <a:ext uri="{FF2B5EF4-FFF2-40B4-BE49-F238E27FC236}">
                <a16:creationId xmlns:a16="http://schemas.microsoft.com/office/drawing/2014/main" id="{2338437E-5D9F-5C38-4385-079C0FBDA03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7" name="Google Shape;727;p40:notes">
            <a:extLst>
              <a:ext uri="{FF2B5EF4-FFF2-40B4-BE49-F238E27FC236}">
                <a16:creationId xmlns:a16="http://schemas.microsoft.com/office/drawing/2014/main" id="{35E92154-B8F8-B9CD-6446-190504B785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07835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a:extLst>
            <a:ext uri="{FF2B5EF4-FFF2-40B4-BE49-F238E27FC236}">
              <a16:creationId xmlns:a16="http://schemas.microsoft.com/office/drawing/2014/main" id="{B6E706EB-BFE0-C4FB-8272-0EC03D13FE40}"/>
            </a:ext>
          </a:extLst>
        </p:cNvPr>
        <p:cNvGrpSpPr/>
        <p:nvPr/>
      </p:nvGrpSpPr>
      <p:grpSpPr>
        <a:xfrm>
          <a:off x="0" y="0"/>
          <a:ext cx="0" cy="0"/>
          <a:chOff x="0" y="0"/>
          <a:chExt cx="0" cy="0"/>
        </a:xfrm>
      </p:grpSpPr>
      <p:sp>
        <p:nvSpPr>
          <p:cNvPr id="733" name="Google Shape;733;p41:notes">
            <a:extLst>
              <a:ext uri="{FF2B5EF4-FFF2-40B4-BE49-F238E27FC236}">
                <a16:creationId xmlns:a16="http://schemas.microsoft.com/office/drawing/2014/main" id="{858CF9AD-5C60-6F1A-6273-18165A506D5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4" name="Google Shape;734;p41:notes">
            <a:extLst>
              <a:ext uri="{FF2B5EF4-FFF2-40B4-BE49-F238E27FC236}">
                <a16:creationId xmlns:a16="http://schemas.microsoft.com/office/drawing/2014/main" id="{4329BB6D-14C0-7CC7-E154-13B535620E5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59070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a:extLst>
            <a:ext uri="{FF2B5EF4-FFF2-40B4-BE49-F238E27FC236}">
              <a16:creationId xmlns:a16="http://schemas.microsoft.com/office/drawing/2014/main" id="{A84C24F0-5519-9359-126F-E49C5CD9D043}"/>
            </a:ext>
          </a:extLst>
        </p:cNvPr>
        <p:cNvGrpSpPr/>
        <p:nvPr/>
      </p:nvGrpSpPr>
      <p:grpSpPr>
        <a:xfrm>
          <a:off x="0" y="0"/>
          <a:ext cx="0" cy="0"/>
          <a:chOff x="0" y="0"/>
          <a:chExt cx="0" cy="0"/>
        </a:xfrm>
      </p:grpSpPr>
      <p:sp>
        <p:nvSpPr>
          <p:cNvPr id="738" name="Google Shape;738;p42:notes">
            <a:extLst>
              <a:ext uri="{FF2B5EF4-FFF2-40B4-BE49-F238E27FC236}">
                <a16:creationId xmlns:a16="http://schemas.microsoft.com/office/drawing/2014/main" id="{566305B2-B1D3-B789-2191-F2085001BAB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9" name="Google Shape;739;p42:notes">
            <a:extLst>
              <a:ext uri="{FF2B5EF4-FFF2-40B4-BE49-F238E27FC236}">
                <a16:creationId xmlns:a16="http://schemas.microsoft.com/office/drawing/2014/main" id="{77A95D46-4CCA-33E3-9652-98508A23DA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95407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57347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3C04E684-10F4-4CC3-A0B9-F03AA7BE37CF}"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45F5A-061D-4825-9AE9-D7794091C6CF}"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3187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056775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45F5A-061D-4825-9AE9-D7794091C6CF}"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6430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04E684-10F4-4CC3-A0B9-F03AA7BE37CF}" type="datetimeFigureOut">
              <a:rPr lang="en-US" smtClean="0"/>
              <a:t>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196862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04E684-10F4-4CC3-A0B9-F03AA7BE37CF}" type="datetimeFigureOut">
              <a:rPr lang="en-US" smtClean="0"/>
              <a:t>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150215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04E684-10F4-4CC3-A0B9-F03AA7BE37CF}" type="datetimeFigureOut">
              <a:rPr lang="en-US" smtClean="0"/>
              <a:t>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69828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04E684-10F4-4CC3-A0B9-F03AA7BE37CF}" type="datetimeFigureOut">
              <a:rPr lang="en-US" smtClean="0"/>
              <a:t>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59146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04E684-10F4-4CC3-A0B9-F03AA7BE37CF}" type="datetimeFigureOut">
              <a:rPr lang="en-US" smtClean="0"/>
              <a:t>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025060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04E684-10F4-4CC3-A0B9-F03AA7BE37CF}" type="datetimeFigureOut">
              <a:rPr lang="en-US" smtClean="0"/>
              <a:t>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45F5A-061D-4825-9AE9-D7794091C6CF}"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1601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629929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45F5A-061D-4825-9AE9-D7794091C6CF}"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6668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AA89F-6255-458D-AB8A-5A14FC31F5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96CFC49-4E02-4FF9-9EF7-FA1DF7F73A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32FE8AE-0572-472C-B644-044327C51B23}"/>
              </a:ext>
            </a:extLst>
          </p:cNvPr>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a:extLst>
              <a:ext uri="{FF2B5EF4-FFF2-40B4-BE49-F238E27FC236}">
                <a16:creationId xmlns:a16="http://schemas.microsoft.com/office/drawing/2014/main" id="{99430566-9F5F-4671-A7F5-BBAFC171E5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7EBA86-65C0-4C8E-94A1-1F65EECE436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002403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171F4-E89F-4648-A8D2-E6B4207A050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0062D09-ED86-4BDA-B0C6-C7B7EB7906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85B5DF7-7677-46C2-ACB8-E91D0A5A5D2D}"/>
              </a:ext>
            </a:extLst>
          </p:cNvPr>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a:extLst>
              <a:ext uri="{FF2B5EF4-FFF2-40B4-BE49-F238E27FC236}">
                <a16:creationId xmlns:a16="http://schemas.microsoft.com/office/drawing/2014/main" id="{9F97FD01-2793-447C-B8AC-D428F3B43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CA3A08-143B-4900-AF99-75EF4BD72014}"/>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0354394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73888-F78E-4723-8BB2-CFB361C994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48133BD-19FD-4378-9B28-148D4AC265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9ABB46-5574-42B1-96CA-27676A95A139}"/>
              </a:ext>
            </a:extLst>
          </p:cNvPr>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a:extLst>
              <a:ext uri="{FF2B5EF4-FFF2-40B4-BE49-F238E27FC236}">
                <a16:creationId xmlns:a16="http://schemas.microsoft.com/office/drawing/2014/main" id="{22AAC969-8F10-4A58-AC74-A004C0AE7E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680405-0A50-4DD8-B9F1-B9B0175A063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0722376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61B87-02AD-4B6F-A2B6-C18E0B782D4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163BCC6-0372-44B2-87F3-E7A00C0EEE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55DAF5F-7993-49DD-A4F5-6D7470D238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87127AC-97FB-4EDE-90FA-23718F6B454B}"/>
              </a:ext>
            </a:extLst>
          </p:cNvPr>
          <p:cNvSpPr>
            <a:spLocks noGrp="1"/>
          </p:cNvSpPr>
          <p:nvPr>
            <p:ph type="dt" sz="half" idx="10"/>
          </p:nvPr>
        </p:nvSpPr>
        <p:spPr/>
        <p:txBody>
          <a:bodyPr/>
          <a:lstStyle/>
          <a:p>
            <a:fld id="{3C04E684-10F4-4CC3-A0B9-F03AA7BE37CF}" type="datetimeFigureOut">
              <a:rPr lang="en-US" smtClean="0"/>
              <a:t>3/1/26</a:t>
            </a:fld>
            <a:endParaRPr lang="en-US"/>
          </a:p>
        </p:txBody>
      </p:sp>
      <p:sp>
        <p:nvSpPr>
          <p:cNvPr id="6" name="Footer Placeholder 5">
            <a:extLst>
              <a:ext uri="{FF2B5EF4-FFF2-40B4-BE49-F238E27FC236}">
                <a16:creationId xmlns:a16="http://schemas.microsoft.com/office/drawing/2014/main" id="{A41B33E1-5477-47A3-A209-AC66DFCBD5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E33ED7-8721-4240-8E54-AAFC0E2863CB}"/>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6998853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778FD-37FC-47A3-AFA1-ED33F5CA209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F63A796-8136-4727-963A-E9E73B6547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455B6D-0858-4F7E-B575-EB0DA07EAD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13B081B-3B80-4788-96B3-C7DFB64DDE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CFC685-8021-4836-BF90-C6B7895BC1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8C089E1-BDB9-4DD2-8048-AEBC8D709B7E}"/>
              </a:ext>
            </a:extLst>
          </p:cNvPr>
          <p:cNvSpPr>
            <a:spLocks noGrp="1"/>
          </p:cNvSpPr>
          <p:nvPr>
            <p:ph type="dt" sz="half" idx="10"/>
          </p:nvPr>
        </p:nvSpPr>
        <p:spPr/>
        <p:txBody>
          <a:bodyPr/>
          <a:lstStyle/>
          <a:p>
            <a:fld id="{3C04E684-10F4-4CC3-A0B9-F03AA7BE37CF}" type="datetimeFigureOut">
              <a:rPr lang="en-US" smtClean="0"/>
              <a:t>3/1/26</a:t>
            </a:fld>
            <a:endParaRPr lang="en-US"/>
          </a:p>
        </p:txBody>
      </p:sp>
      <p:sp>
        <p:nvSpPr>
          <p:cNvPr id="8" name="Footer Placeholder 7">
            <a:extLst>
              <a:ext uri="{FF2B5EF4-FFF2-40B4-BE49-F238E27FC236}">
                <a16:creationId xmlns:a16="http://schemas.microsoft.com/office/drawing/2014/main" id="{2A31C9F9-FF67-443D-832F-621CCD88F5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B262B4-FCA4-4AE5-AA15-158804105830}"/>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6257732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8C9CE-43A4-4FF4-A323-B44A42B63F0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16E0FA0-D084-4D68-B60A-2BA9F74D75EE}"/>
              </a:ext>
            </a:extLst>
          </p:cNvPr>
          <p:cNvSpPr>
            <a:spLocks noGrp="1"/>
          </p:cNvSpPr>
          <p:nvPr>
            <p:ph type="dt" sz="half" idx="10"/>
          </p:nvPr>
        </p:nvSpPr>
        <p:spPr/>
        <p:txBody>
          <a:bodyPr/>
          <a:lstStyle/>
          <a:p>
            <a:fld id="{3C04E684-10F4-4CC3-A0B9-F03AA7BE37CF}" type="datetimeFigureOut">
              <a:rPr lang="en-US" smtClean="0"/>
              <a:t>3/1/26</a:t>
            </a:fld>
            <a:endParaRPr lang="en-US"/>
          </a:p>
        </p:txBody>
      </p:sp>
      <p:sp>
        <p:nvSpPr>
          <p:cNvPr id="4" name="Footer Placeholder 3">
            <a:extLst>
              <a:ext uri="{FF2B5EF4-FFF2-40B4-BE49-F238E27FC236}">
                <a16:creationId xmlns:a16="http://schemas.microsoft.com/office/drawing/2014/main" id="{22BFCA3E-637F-44E0-AE04-DB3541D454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E7B022-EE1A-407F-BFE6-9B5DEC5D59C9}"/>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5300449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94FB4A-E8E4-4B52-A34A-92DFBCF72EC6}"/>
              </a:ext>
            </a:extLst>
          </p:cNvPr>
          <p:cNvSpPr>
            <a:spLocks noGrp="1"/>
          </p:cNvSpPr>
          <p:nvPr>
            <p:ph type="dt" sz="half" idx="10"/>
          </p:nvPr>
        </p:nvSpPr>
        <p:spPr/>
        <p:txBody>
          <a:bodyPr/>
          <a:lstStyle/>
          <a:p>
            <a:fld id="{3C04E684-10F4-4CC3-A0B9-F03AA7BE37CF}" type="datetimeFigureOut">
              <a:rPr lang="en-US" smtClean="0"/>
              <a:t>3/1/26</a:t>
            </a:fld>
            <a:endParaRPr lang="en-US"/>
          </a:p>
        </p:txBody>
      </p:sp>
      <p:sp>
        <p:nvSpPr>
          <p:cNvPr id="3" name="Footer Placeholder 2">
            <a:extLst>
              <a:ext uri="{FF2B5EF4-FFF2-40B4-BE49-F238E27FC236}">
                <a16:creationId xmlns:a16="http://schemas.microsoft.com/office/drawing/2014/main" id="{30A5D888-3A3E-4739-80CB-2907E333581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CD0E9D-A31A-40F0-AC01-3E5631F4CCC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17731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FBC13-3CB0-4C70-BC65-219084CC5E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74E7D2A-32E3-473F-B46E-9FEC703477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E8C7924-E43C-4575-98AC-EBC03ADF8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9BE0DA-982C-4206-A724-12AFDA3E356E}"/>
              </a:ext>
            </a:extLst>
          </p:cNvPr>
          <p:cNvSpPr>
            <a:spLocks noGrp="1"/>
          </p:cNvSpPr>
          <p:nvPr>
            <p:ph type="dt" sz="half" idx="10"/>
          </p:nvPr>
        </p:nvSpPr>
        <p:spPr/>
        <p:txBody>
          <a:bodyPr/>
          <a:lstStyle/>
          <a:p>
            <a:fld id="{3C04E684-10F4-4CC3-A0B9-F03AA7BE37CF}" type="datetimeFigureOut">
              <a:rPr lang="en-US" smtClean="0"/>
              <a:t>3/1/26</a:t>
            </a:fld>
            <a:endParaRPr lang="en-US"/>
          </a:p>
        </p:txBody>
      </p:sp>
      <p:sp>
        <p:nvSpPr>
          <p:cNvPr id="6" name="Footer Placeholder 5">
            <a:extLst>
              <a:ext uri="{FF2B5EF4-FFF2-40B4-BE49-F238E27FC236}">
                <a16:creationId xmlns:a16="http://schemas.microsoft.com/office/drawing/2014/main" id="{360C5C78-7D88-448F-A5FB-E8B94D9A3E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997C1A-C751-44FA-9FD9-4E1B17069C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5248194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59826-A5BB-4C1C-A0E2-50AEA1D8FC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39307D4-3C94-44F8-B16D-8A27EC40B8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93AE7358-0809-4A43-A943-222F0A3945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E36DB8-843C-4686-A44A-E36FDF3B6BB0}"/>
              </a:ext>
            </a:extLst>
          </p:cNvPr>
          <p:cNvSpPr>
            <a:spLocks noGrp="1"/>
          </p:cNvSpPr>
          <p:nvPr>
            <p:ph type="dt" sz="half" idx="10"/>
          </p:nvPr>
        </p:nvSpPr>
        <p:spPr/>
        <p:txBody>
          <a:bodyPr/>
          <a:lstStyle/>
          <a:p>
            <a:fld id="{3C04E684-10F4-4CC3-A0B9-F03AA7BE37CF}" type="datetimeFigureOut">
              <a:rPr lang="en-US" smtClean="0"/>
              <a:t>3/1/26</a:t>
            </a:fld>
            <a:endParaRPr lang="en-US"/>
          </a:p>
        </p:txBody>
      </p:sp>
      <p:sp>
        <p:nvSpPr>
          <p:cNvPr id="6" name="Footer Placeholder 5">
            <a:extLst>
              <a:ext uri="{FF2B5EF4-FFF2-40B4-BE49-F238E27FC236}">
                <a16:creationId xmlns:a16="http://schemas.microsoft.com/office/drawing/2014/main" id="{0C8BADBB-914F-4AEA-A91D-A505375793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D0F6C3-3015-4830-961E-FE67EE984BB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5474894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A957D-4E07-48CD-A9F3-AAB4D828923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1D9F768-C227-4E14-8B1C-41571E06CC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5F01E65-4E18-45FA-B14E-682E2A21BBA2}"/>
              </a:ext>
            </a:extLst>
          </p:cNvPr>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a:extLst>
              <a:ext uri="{FF2B5EF4-FFF2-40B4-BE49-F238E27FC236}">
                <a16:creationId xmlns:a16="http://schemas.microsoft.com/office/drawing/2014/main" id="{FE3897A7-8D1E-4943-B96E-EA07D67832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7B9B13-ECEF-447E-BC3B-B5B466999CE4}"/>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8000177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95FEAE-1954-4C6A-A352-92F72B8029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8CD24C-346A-4581-B195-D32598CD53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BE1B61-FF40-450B-9E05-64E76E0E1A89}"/>
              </a:ext>
            </a:extLst>
          </p:cNvPr>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a:extLst>
              <a:ext uri="{FF2B5EF4-FFF2-40B4-BE49-F238E27FC236}">
                <a16:creationId xmlns:a16="http://schemas.microsoft.com/office/drawing/2014/main" id="{B73E8486-3481-49A2-9BEF-9DB8F465B5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8AD842-2607-412E-A3E8-E57DD245DFB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5521886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Rectangle 8"/>
          <p:cNvSpPr/>
          <p:nvPr/>
        </p:nvSpPr>
        <p:spPr bwMode="auto">
          <a:xfrm>
            <a:off x="753165" y="1604799"/>
            <a:ext cx="4958792" cy="4954149"/>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7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4" name="Title 1"/>
          <p:cNvSpPr>
            <a:spLocks noGrp="1"/>
          </p:cNvSpPr>
          <p:nvPr>
            <p:ph type="title" hasCustomPrompt="1"/>
          </p:nvPr>
        </p:nvSpPr>
        <p:spPr>
          <a:xfrm>
            <a:off x="719402" y="1604800"/>
            <a:ext cx="4992556" cy="672073"/>
          </a:xfrm>
          <a:prstGeom prst="rect">
            <a:avLst/>
          </a:prstGeom>
        </p:spPr>
        <p:txBody>
          <a:bodyPr/>
          <a:lstStyle>
            <a:lvl1pPr>
              <a:defRPr>
                <a:solidFill>
                  <a:srgbClr val="003560"/>
                </a:solidFill>
                <a:latin typeface="Arial" charset="0"/>
                <a:ea typeface="Arial" charset="0"/>
                <a:cs typeface="Arial" charset="0"/>
              </a:defRPr>
            </a:lvl1pPr>
          </a:lstStyle>
          <a:p>
            <a:r>
              <a:rPr lang="en-US" sz="3200" dirty="0"/>
              <a:t>Title: Font size 24</a:t>
            </a:r>
          </a:p>
        </p:txBody>
      </p:sp>
      <p:sp>
        <p:nvSpPr>
          <p:cNvPr id="5" name="Content Placeholder 2"/>
          <p:cNvSpPr>
            <a:spLocks noGrp="1"/>
          </p:cNvSpPr>
          <p:nvPr>
            <p:ph idx="1" hasCustomPrompt="1"/>
          </p:nvPr>
        </p:nvSpPr>
        <p:spPr>
          <a:xfrm>
            <a:off x="719402" y="2468896"/>
            <a:ext cx="4992556" cy="4128457"/>
          </a:xfrm>
          <a:prstGeom prst="rect">
            <a:avLst/>
          </a:prstGeom>
        </p:spPr>
        <p:txBody>
          <a:bodyPr/>
          <a:lstStyle>
            <a:lvl1pPr>
              <a:defRPr sz="2133">
                <a:solidFill>
                  <a:srgbClr val="003560"/>
                </a:solidFill>
                <a:latin typeface="Arial" charset="0"/>
                <a:ea typeface="Arial" charset="0"/>
                <a:cs typeface="Arial" charset="0"/>
              </a:defRPr>
            </a:lvl1pPr>
          </a:lstStyle>
          <a:p>
            <a:r>
              <a:rPr lang="en-US" sz="1867" dirty="0"/>
              <a:t>Click to add text</a:t>
            </a:r>
          </a:p>
        </p:txBody>
      </p:sp>
    </p:spTree>
    <p:extLst>
      <p:ext uri="{BB962C8B-B14F-4D97-AF65-F5344CB8AC3E}">
        <p14:creationId xmlns:p14="http://schemas.microsoft.com/office/powerpoint/2010/main" val="11014021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Content 2">
    <p:spTree>
      <p:nvGrpSpPr>
        <p:cNvPr id="1" name=""/>
        <p:cNvGrpSpPr/>
        <p:nvPr/>
      </p:nvGrpSpPr>
      <p:grpSpPr>
        <a:xfrm>
          <a:off x="0" y="0"/>
          <a:ext cx="0" cy="0"/>
          <a:chOff x="0" y="0"/>
          <a:chExt cx="0" cy="0"/>
        </a:xfrm>
      </p:grpSpPr>
      <p:sp>
        <p:nvSpPr>
          <p:cNvPr id="6" name="Rectangle 5"/>
          <p:cNvSpPr/>
          <p:nvPr/>
        </p:nvSpPr>
        <p:spPr bwMode="auto">
          <a:xfrm>
            <a:off x="753165" y="1604799"/>
            <a:ext cx="4958792" cy="4954149"/>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7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4" name="Title 1"/>
          <p:cNvSpPr>
            <a:spLocks noGrp="1"/>
          </p:cNvSpPr>
          <p:nvPr>
            <p:ph type="title" hasCustomPrompt="1"/>
          </p:nvPr>
        </p:nvSpPr>
        <p:spPr>
          <a:xfrm>
            <a:off x="719402" y="1604800"/>
            <a:ext cx="4992556" cy="672073"/>
          </a:xfrm>
          <a:prstGeom prst="rect">
            <a:avLst/>
          </a:prstGeom>
        </p:spPr>
        <p:txBody>
          <a:bodyPr/>
          <a:lstStyle>
            <a:lvl1pPr>
              <a:defRPr>
                <a:solidFill>
                  <a:srgbClr val="003560"/>
                </a:solidFill>
                <a:latin typeface="Arial" charset="0"/>
                <a:ea typeface="Arial" charset="0"/>
                <a:cs typeface="Arial" charset="0"/>
              </a:defRPr>
            </a:lvl1pPr>
          </a:lstStyle>
          <a:p>
            <a:r>
              <a:rPr lang="en-US" sz="3200" dirty="0"/>
              <a:t>Title: Font size 24</a:t>
            </a:r>
          </a:p>
        </p:txBody>
      </p:sp>
      <p:sp>
        <p:nvSpPr>
          <p:cNvPr id="5" name="Content Placeholder 2"/>
          <p:cNvSpPr>
            <a:spLocks noGrp="1"/>
          </p:cNvSpPr>
          <p:nvPr>
            <p:ph idx="1" hasCustomPrompt="1"/>
          </p:nvPr>
        </p:nvSpPr>
        <p:spPr>
          <a:xfrm>
            <a:off x="719402" y="2468896"/>
            <a:ext cx="4992556" cy="4128457"/>
          </a:xfrm>
          <a:prstGeom prst="rect">
            <a:avLst/>
          </a:prstGeom>
        </p:spPr>
        <p:txBody>
          <a:bodyPr/>
          <a:lstStyle>
            <a:lvl1pPr>
              <a:defRPr sz="2133">
                <a:solidFill>
                  <a:srgbClr val="003560"/>
                </a:solidFill>
                <a:latin typeface="Arial" charset="0"/>
                <a:ea typeface="Arial" charset="0"/>
                <a:cs typeface="Arial" charset="0"/>
              </a:defRPr>
            </a:lvl1pPr>
          </a:lstStyle>
          <a:p>
            <a:r>
              <a:rPr lang="en-US" sz="1867" dirty="0"/>
              <a:t>Click to add text</a:t>
            </a:r>
          </a:p>
        </p:txBody>
      </p:sp>
    </p:spTree>
    <p:extLst>
      <p:ext uri="{BB962C8B-B14F-4D97-AF65-F5344CB8AC3E}">
        <p14:creationId xmlns:p14="http://schemas.microsoft.com/office/powerpoint/2010/main" val="621110356"/>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45F5A-061D-4825-9AE9-D7794091C6C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02890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9615811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45F5A-061D-4825-9AE9-D7794091C6C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48815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04E684-10F4-4CC3-A0B9-F03AA7BE37CF}" type="datetimeFigureOut">
              <a:rPr lang="en-US" smtClean="0"/>
              <a:t>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5574987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04E684-10F4-4CC3-A0B9-F03AA7BE37CF}" type="datetimeFigureOut">
              <a:rPr lang="en-US" smtClean="0"/>
              <a:t>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780147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04E684-10F4-4CC3-A0B9-F03AA7BE37CF}" type="datetimeFigureOut">
              <a:rPr lang="en-US" smtClean="0"/>
              <a:t>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8027267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C04E684-10F4-4CC3-A0B9-F03AA7BE37CF}" type="datetimeFigureOut">
              <a:rPr lang="en-US" smtClean="0"/>
              <a:t>3/1/26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521806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C04E684-10F4-4CC3-A0B9-F03AA7BE37CF}" type="datetimeFigureOut">
              <a:rPr lang="en-US" smtClean="0"/>
              <a:t>3/1/26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30044285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04E684-10F4-4CC3-A0B9-F03AA7BE37CF}" type="datetimeFigureOut">
              <a:rPr lang="en-US" smtClean="0"/>
              <a:t>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933446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4330393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04E684-10F4-4CC3-A0B9-F03AA7BE37CF}"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9944320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Rectangle 6"/>
          <p:cNvSpPr>
            <a:spLocks noGrp="1" noChangeArrowheads="1"/>
          </p:cNvSpPr>
          <p:nvPr>
            <p:ph type="dt" sz="half" idx="10"/>
          </p:nvPr>
        </p:nvSpPr>
        <p:spPr>
          <a:ln/>
        </p:spPr>
        <p:txBody>
          <a:bodyPr/>
          <a:lstStyle>
            <a:lvl1pPr>
              <a:defRPr/>
            </a:lvl1pPr>
          </a:lstStyle>
          <a:p>
            <a:endParaRPr lang="en-US"/>
          </a:p>
        </p:txBody>
      </p:sp>
      <p:sp>
        <p:nvSpPr>
          <p:cNvPr id="4" name="Rectangle 7"/>
          <p:cNvSpPr>
            <a:spLocks noGrp="1" noChangeArrowheads="1"/>
          </p:cNvSpPr>
          <p:nvPr>
            <p:ph type="ftr" sz="quarter" idx="11"/>
          </p:nvPr>
        </p:nvSpPr>
        <p:spPr>
          <a:ln/>
        </p:spPr>
        <p:txBody>
          <a:bodyPr/>
          <a:lstStyle>
            <a:lvl1pPr>
              <a:defRPr/>
            </a:lvl1pPr>
          </a:lstStyle>
          <a:p>
            <a:endParaRPr lang="en-US"/>
          </a:p>
        </p:txBody>
      </p:sp>
      <p:sp>
        <p:nvSpPr>
          <p:cNvPr id="5" name="Rectangle 8"/>
          <p:cNvSpPr>
            <a:spLocks noGrp="1" noChangeArrowheads="1"/>
          </p:cNvSpPr>
          <p:nvPr>
            <p:ph type="sldNum" sz="quarter" idx="12"/>
          </p:nvPr>
        </p:nvSpPr>
        <p:spPr>
          <a:ln/>
        </p:spPr>
        <p:txBody>
          <a:bodyPr/>
          <a:lstStyle>
            <a:lvl1pPr>
              <a:defRPr/>
            </a:lvl1pPr>
          </a:lstStyle>
          <a:p>
            <a:fld id="{607684DB-6886-4AF1-AFB4-82F63D10489D}" type="slidenum">
              <a:rPr lang="en-US"/>
              <a:pPr/>
              <a:t>‹#›</a:t>
            </a:fld>
            <a:endParaRPr lang="en-US"/>
          </a:p>
        </p:txBody>
      </p:sp>
    </p:spTree>
    <p:extLst>
      <p:ext uri="{BB962C8B-B14F-4D97-AF65-F5344CB8AC3E}">
        <p14:creationId xmlns:p14="http://schemas.microsoft.com/office/powerpoint/2010/main" val="3150874728"/>
      </p:ext>
    </p:extLst>
  </p:cSld>
  <p:clrMapOvr>
    <a:masterClrMapping/>
  </p:clrMapOvr>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5.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3/1/26</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1541978727"/>
      </p:ext>
    </p:extLst>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C04E684-10F4-4CC3-A0B9-F03AA7BE37CF}" type="datetimeFigureOut">
              <a:rPr lang="en-US" smtClean="0"/>
              <a:t>3/1/26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1845F5A-061D-4825-9AE9-D7794091C6CF}"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7575868"/>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390B7B-CBB0-466F-8F1E-DE53493D36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F9F8497-02C8-45C1-B92D-48ECE1077E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448597-8EEF-4692-913D-DB2555236A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3/1/26</a:t>
            </a:fld>
            <a:endParaRPr lang="en-US"/>
          </a:p>
        </p:txBody>
      </p:sp>
      <p:sp>
        <p:nvSpPr>
          <p:cNvPr id="5" name="Footer Placeholder 4">
            <a:extLst>
              <a:ext uri="{FF2B5EF4-FFF2-40B4-BE49-F238E27FC236}">
                <a16:creationId xmlns:a16="http://schemas.microsoft.com/office/drawing/2014/main" id="{46035460-58ED-4F83-96E5-C3B3E97784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55A0D14-7EB0-48B9-909B-896EB3008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1439802326"/>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bwMode="auto">
          <a:xfrm>
            <a:off x="753165" y="1604799"/>
            <a:ext cx="4958792" cy="4954149"/>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7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4" name="Rectangle 3"/>
          <p:cNvSpPr/>
          <p:nvPr/>
        </p:nvSpPr>
        <p:spPr bwMode="auto">
          <a:xfrm>
            <a:off x="753165" y="1604799"/>
            <a:ext cx="4958792" cy="4954149"/>
          </a:xfrm>
          <a:prstGeom prst="rect">
            <a:avLst/>
          </a:prstGeom>
          <a:solidFill>
            <a:schemeClr val="bg1">
              <a:alpha val="80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prstTxWarp prst="textNoShape">
              <a:avLst/>
            </a:prstTxWarp>
          </a:bodyPr>
          <a:lstStyle/>
          <a:p>
            <a:pPr marL="0" marR="0" indent="0" algn="l" defTabSz="121917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charset="0"/>
              <a:ea typeface="ＭＳ Ｐゴシック" charset="-128"/>
              <a:cs typeface="ＭＳ Ｐゴシック" charset="-128"/>
            </a:endParaRPr>
          </a:p>
        </p:txBody>
      </p:sp>
    </p:spTree>
    <p:extLst>
      <p:ext uri="{BB962C8B-B14F-4D97-AF65-F5344CB8AC3E}">
        <p14:creationId xmlns:p14="http://schemas.microsoft.com/office/powerpoint/2010/main" val="886203018"/>
      </p:ext>
    </p:extLst>
  </p:cSld>
  <p:clrMap bg1="lt1" tx1="dk1" bg2="lt2" tx2="dk2" accent1="accent1" accent2="accent2" accent3="accent3" accent4="accent4" accent5="accent5" accent6="accent6" hlink="hlink" folHlink="folHlink"/>
  <p:sldLayoutIdLst>
    <p:sldLayoutId id="2147483789" r:id="rId1"/>
    <p:sldLayoutId id="2147483790" r:id="rId2"/>
  </p:sldLayoutIdLst>
  <p:txStyles>
    <p:titleStyle>
      <a:lvl1pPr algn="l" rtl="0" eaLnBrk="1" fontAlgn="base" hangingPunct="1">
        <a:lnSpc>
          <a:spcPct val="90000"/>
        </a:lnSpc>
        <a:spcBef>
          <a:spcPct val="0"/>
        </a:spcBef>
        <a:spcAft>
          <a:spcPct val="0"/>
        </a:spcAft>
        <a:defRPr sz="3733" b="1" spc="-13">
          <a:solidFill>
            <a:srgbClr val="483F6A"/>
          </a:solidFill>
          <a:latin typeface="Times New Roman"/>
          <a:ea typeface="ヒラギノ角ゴ Pro W3" charset="0"/>
          <a:cs typeface="Times New Roman"/>
        </a:defRPr>
      </a:lvl1pPr>
      <a:lvl2pPr algn="l" rtl="0" eaLnBrk="1" fontAlgn="base" hangingPunct="1">
        <a:lnSpc>
          <a:spcPct val="90000"/>
        </a:lnSpc>
        <a:spcBef>
          <a:spcPct val="0"/>
        </a:spcBef>
        <a:spcAft>
          <a:spcPct val="0"/>
        </a:spcAft>
        <a:defRPr sz="3733" b="1">
          <a:solidFill>
            <a:srgbClr val="483F6A"/>
          </a:solidFill>
          <a:latin typeface="Times New Roman" charset="0"/>
          <a:ea typeface="ヒラギノ角ゴ Pro W3" charset="0"/>
          <a:cs typeface="Times New Roman" pitchFamily="18" charset="0"/>
        </a:defRPr>
      </a:lvl2pPr>
      <a:lvl3pPr algn="l" rtl="0" eaLnBrk="1" fontAlgn="base" hangingPunct="1">
        <a:lnSpc>
          <a:spcPct val="90000"/>
        </a:lnSpc>
        <a:spcBef>
          <a:spcPct val="0"/>
        </a:spcBef>
        <a:spcAft>
          <a:spcPct val="0"/>
        </a:spcAft>
        <a:defRPr sz="3733" b="1">
          <a:solidFill>
            <a:srgbClr val="483F6A"/>
          </a:solidFill>
          <a:latin typeface="Times New Roman" charset="0"/>
          <a:ea typeface="ヒラギノ角ゴ Pro W3" charset="0"/>
          <a:cs typeface="Times New Roman" pitchFamily="18" charset="0"/>
        </a:defRPr>
      </a:lvl3pPr>
      <a:lvl4pPr algn="l" rtl="0" eaLnBrk="1" fontAlgn="base" hangingPunct="1">
        <a:lnSpc>
          <a:spcPct val="90000"/>
        </a:lnSpc>
        <a:spcBef>
          <a:spcPct val="0"/>
        </a:spcBef>
        <a:spcAft>
          <a:spcPct val="0"/>
        </a:spcAft>
        <a:defRPr sz="3733" b="1">
          <a:solidFill>
            <a:srgbClr val="483F6A"/>
          </a:solidFill>
          <a:latin typeface="Times New Roman" charset="0"/>
          <a:ea typeface="ヒラギノ角ゴ Pro W3" charset="0"/>
          <a:cs typeface="Times New Roman" pitchFamily="18" charset="0"/>
        </a:defRPr>
      </a:lvl4pPr>
      <a:lvl5pPr algn="l" rtl="0" eaLnBrk="1" fontAlgn="base" hangingPunct="1">
        <a:lnSpc>
          <a:spcPct val="90000"/>
        </a:lnSpc>
        <a:spcBef>
          <a:spcPct val="0"/>
        </a:spcBef>
        <a:spcAft>
          <a:spcPct val="0"/>
        </a:spcAft>
        <a:defRPr sz="3733" b="1">
          <a:solidFill>
            <a:srgbClr val="483F6A"/>
          </a:solidFill>
          <a:latin typeface="Times New Roman" charset="0"/>
          <a:ea typeface="ヒラギノ角ゴ Pro W3" charset="0"/>
          <a:cs typeface="Times New Roman" pitchFamily="18" charset="0"/>
        </a:defRPr>
      </a:lvl5pPr>
      <a:lvl6pPr marL="609585" algn="l" rtl="0" eaLnBrk="1" fontAlgn="base" hangingPunct="1">
        <a:spcBef>
          <a:spcPct val="0"/>
        </a:spcBef>
        <a:spcAft>
          <a:spcPct val="0"/>
        </a:spcAft>
        <a:defRPr sz="3733" b="1">
          <a:solidFill>
            <a:srgbClr val="00213B"/>
          </a:solidFill>
          <a:latin typeface="Arial" charset="0"/>
          <a:ea typeface="ＭＳ Ｐゴシック" charset="-128"/>
          <a:cs typeface="ＭＳ Ｐゴシック" charset="-128"/>
        </a:defRPr>
      </a:lvl6pPr>
      <a:lvl7pPr marL="1219170" algn="l" rtl="0" eaLnBrk="1" fontAlgn="base" hangingPunct="1">
        <a:spcBef>
          <a:spcPct val="0"/>
        </a:spcBef>
        <a:spcAft>
          <a:spcPct val="0"/>
        </a:spcAft>
        <a:defRPr sz="3733" b="1">
          <a:solidFill>
            <a:srgbClr val="00213B"/>
          </a:solidFill>
          <a:latin typeface="Arial" charset="0"/>
          <a:ea typeface="ＭＳ Ｐゴシック" charset="-128"/>
          <a:cs typeface="ＭＳ Ｐゴシック" charset="-128"/>
        </a:defRPr>
      </a:lvl7pPr>
      <a:lvl8pPr marL="1828754" algn="l" rtl="0" eaLnBrk="1" fontAlgn="base" hangingPunct="1">
        <a:spcBef>
          <a:spcPct val="0"/>
        </a:spcBef>
        <a:spcAft>
          <a:spcPct val="0"/>
        </a:spcAft>
        <a:defRPr sz="3733" b="1">
          <a:solidFill>
            <a:srgbClr val="00213B"/>
          </a:solidFill>
          <a:latin typeface="Arial" charset="0"/>
          <a:ea typeface="ＭＳ Ｐゴシック" charset="-128"/>
          <a:cs typeface="ＭＳ Ｐゴシック" charset="-128"/>
        </a:defRPr>
      </a:lvl8pPr>
      <a:lvl9pPr marL="2438339" algn="l" rtl="0" eaLnBrk="1" fontAlgn="base" hangingPunct="1">
        <a:spcBef>
          <a:spcPct val="0"/>
        </a:spcBef>
        <a:spcAft>
          <a:spcPct val="0"/>
        </a:spcAft>
        <a:defRPr sz="3733" b="1">
          <a:solidFill>
            <a:srgbClr val="00213B"/>
          </a:solidFill>
          <a:latin typeface="Arial" charset="0"/>
          <a:ea typeface="ＭＳ Ｐゴシック" charset="-128"/>
          <a:cs typeface="ＭＳ Ｐゴシック" charset="-128"/>
        </a:defRPr>
      </a:lvl9pPr>
    </p:titleStyle>
    <p:bodyStyle>
      <a:lvl1pPr marL="457189" indent="-457189" algn="l" rtl="0" eaLnBrk="1" fontAlgn="base" hangingPunct="1">
        <a:spcBef>
          <a:spcPct val="20000"/>
        </a:spcBef>
        <a:spcAft>
          <a:spcPct val="0"/>
        </a:spcAft>
        <a:defRPr sz="2133">
          <a:solidFill>
            <a:srgbClr val="4F5961"/>
          </a:solidFill>
          <a:latin typeface="+mn-lt"/>
          <a:ea typeface="ヒラギノ角ゴ Pro W3" charset="0"/>
          <a:cs typeface="ヒラギノ角ゴ Pro W3" charset="0"/>
        </a:defRPr>
      </a:lvl1pPr>
      <a:lvl2pPr marL="609585" algn="l" rtl="0" eaLnBrk="1" fontAlgn="base" hangingPunct="1">
        <a:spcBef>
          <a:spcPct val="20000"/>
        </a:spcBef>
        <a:spcAft>
          <a:spcPct val="0"/>
        </a:spcAft>
        <a:defRPr sz="1600">
          <a:solidFill>
            <a:srgbClr val="00213B"/>
          </a:solidFill>
          <a:latin typeface="+mn-lt"/>
          <a:ea typeface="ヒラギノ角ゴ Pro W3" charset="0"/>
          <a:cs typeface="ＭＳ Ｐゴシック" charset="0"/>
        </a:defRPr>
      </a:lvl2pPr>
      <a:lvl3pPr marL="1219170" algn="l" rtl="0" eaLnBrk="1" fontAlgn="base" hangingPunct="1">
        <a:spcBef>
          <a:spcPct val="20000"/>
        </a:spcBef>
        <a:spcAft>
          <a:spcPct val="0"/>
        </a:spcAft>
        <a:defRPr sz="1600" b="1">
          <a:solidFill>
            <a:srgbClr val="00213B"/>
          </a:solidFill>
          <a:latin typeface="+mn-lt"/>
          <a:ea typeface="ＭＳ Ｐゴシック" charset="0"/>
          <a:cs typeface="ＭＳ Ｐゴシック" charset="0"/>
        </a:defRPr>
      </a:lvl3pPr>
      <a:lvl4pPr marL="1828754" algn="l" rtl="0" eaLnBrk="1" fontAlgn="base" hangingPunct="1">
        <a:spcBef>
          <a:spcPct val="20000"/>
        </a:spcBef>
        <a:spcAft>
          <a:spcPct val="0"/>
        </a:spcAft>
        <a:defRPr sz="1600">
          <a:solidFill>
            <a:srgbClr val="00213B"/>
          </a:solidFill>
          <a:latin typeface="+mn-lt"/>
          <a:ea typeface="ＭＳ Ｐゴシック" charset="0"/>
          <a:cs typeface="ＭＳ Ｐゴシック" charset="0"/>
        </a:defRPr>
      </a:lvl4pPr>
      <a:lvl5pPr marL="2438339" algn="l" rtl="0" eaLnBrk="1" fontAlgn="base" hangingPunct="1">
        <a:spcBef>
          <a:spcPct val="20000"/>
        </a:spcBef>
        <a:spcAft>
          <a:spcPct val="0"/>
        </a:spcAft>
        <a:defRPr sz="1600">
          <a:solidFill>
            <a:srgbClr val="00213B"/>
          </a:solidFill>
          <a:latin typeface="+mn-lt"/>
          <a:ea typeface="ＭＳ Ｐゴシック" charset="0"/>
          <a:cs typeface="ＭＳ Ｐゴシック" charset="0"/>
        </a:defRPr>
      </a:lvl5pPr>
      <a:lvl6pPr marL="3352716" indent="-304792" algn="l" rtl="0" eaLnBrk="1" fontAlgn="base" hangingPunct="1">
        <a:spcBef>
          <a:spcPct val="20000"/>
        </a:spcBef>
        <a:spcAft>
          <a:spcPct val="0"/>
        </a:spcAft>
        <a:buChar char="»"/>
        <a:defRPr sz="2133">
          <a:solidFill>
            <a:srgbClr val="00213B"/>
          </a:solidFill>
          <a:latin typeface="+mn-lt"/>
          <a:ea typeface="+mn-ea"/>
        </a:defRPr>
      </a:lvl6pPr>
      <a:lvl7pPr marL="3962301" indent="-304792" algn="l" rtl="0" eaLnBrk="1" fontAlgn="base" hangingPunct="1">
        <a:spcBef>
          <a:spcPct val="20000"/>
        </a:spcBef>
        <a:spcAft>
          <a:spcPct val="0"/>
        </a:spcAft>
        <a:buChar char="»"/>
        <a:defRPr sz="2133">
          <a:solidFill>
            <a:srgbClr val="00213B"/>
          </a:solidFill>
          <a:latin typeface="+mn-lt"/>
          <a:ea typeface="+mn-ea"/>
        </a:defRPr>
      </a:lvl7pPr>
      <a:lvl8pPr marL="4571886" indent="-304792" algn="l" rtl="0" eaLnBrk="1" fontAlgn="base" hangingPunct="1">
        <a:spcBef>
          <a:spcPct val="20000"/>
        </a:spcBef>
        <a:spcAft>
          <a:spcPct val="0"/>
        </a:spcAft>
        <a:buChar char="»"/>
        <a:defRPr sz="2133">
          <a:solidFill>
            <a:srgbClr val="00213B"/>
          </a:solidFill>
          <a:latin typeface="+mn-lt"/>
          <a:ea typeface="+mn-ea"/>
        </a:defRPr>
      </a:lvl8pPr>
      <a:lvl9pPr marL="5181470" indent="-304792" algn="l" rtl="0" eaLnBrk="1" fontAlgn="base" hangingPunct="1">
        <a:spcBef>
          <a:spcPct val="20000"/>
        </a:spcBef>
        <a:spcAft>
          <a:spcPct val="0"/>
        </a:spcAft>
        <a:buChar char="»"/>
        <a:defRPr sz="2133">
          <a:solidFill>
            <a:srgbClr val="00213B"/>
          </a:solidFill>
          <a:latin typeface="+mn-lt"/>
          <a:ea typeface="+mn-ea"/>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C04E684-10F4-4CC3-A0B9-F03AA7BE37CF}" type="datetimeFigureOut">
              <a:rPr lang="en-US" smtClean="0"/>
              <a:t>3/1/26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1845F5A-061D-4825-9AE9-D7794091C6C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7931127"/>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 id="2147483899"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4.jpeg"/><Relationship Id="rId4" Type="http://schemas.openxmlformats.org/officeDocument/2006/relationships/hyperlink" Target="mailto:Kristofer.Erickson@Glasgow.ac.u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32.xml"/><Relationship Id="rId5" Type="http://schemas.openxmlformats.org/officeDocument/2006/relationships/image" Target="../media/image10.jpeg"/><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0.jpeg"/><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hyperlink" Target="http://212.14.97.2:8021/" TargetMode="External"/><Relationship Id="rId2" Type="http://schemas.openxmlformats.org/officeDocument/2006/relationships/notesSlide" Target="../notesSlides/notesSlide4.xml"/><Relationship Id="rId1" Type="http://schemas.openxmlformats.org/officeDocument/2006/relationships/slideLayout" Target="../slideLayouts/slideLayout2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6.xml"/><Relationship Id="rId1" Type="http://schemas.openxmlformats.org/officeDocument/2006/relationships/slideLayout" Target="../slideLayouts/slideLayout27.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notesSlide" Target="../notesSlides/notesSlide7.xml"/><Relationship Id="rId1" Type="http://schemas.openxmlformats.org/officeDocument/2006/relationships/slideLayout" Target="../slideLayouts/slideLayout27.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32.xml"/><Relationship Id="rId4" Type="http://schemas.openxmlformats.org/officeDocument/2006/relationships/image" Target="../media/image21.jp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395" y="5297462"/>
            <a:ext cx="12192000" cy="1803400"/>
          </a:xfrm>
          <a:prstGeom prst="rect">
            <a:avLst/>
          </a:prstGeom>
        </p:spPr>
      </p:pic>
      <p:sp>
        <p:nvSpPr>
          <p:cNvPr id="9" name="Content Placeholder 2">
            <a:extLst>
              <a:ext uri="{FF2B5EF4-FFF2-40B4-BE49-F238E27FC236}">
                <a16:creationId xmlns:a16="http://schemas.microsoft.com/office/drawing/2014/main" id="{1650459D-5F1E-5640-87B5-00F2D9510815}"/>
              </a:ext>
            </a:extLst>
          </p:cNvPr>
          <p:cNvSpPr txBox="1">
            <a:spLocks/>
          </p:cNvSpPr>
          <p:nvPr/>
        </p:nvSpPr>
        <p:spPr bwMode="auto">
          <a:xfrm>
            <a:off x="623395" y="2948947"/>
            <a:ext cx="7200900" cy="134408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121920" tIns="60960" rIns="121920" bIns="60960" numCol="1" anchor="t" anchorCtr="0" compatLnSpc="1">
            <a:prstTxWarp prst="textNoShape">
              <a:avLst/>
            </a:prstTxWarp>
          </a:bodyPr>
          <a:lstStyle>
            <a:lvl1pPr marL="342900" indent="-342900" algn="l" rtl="0" eaLnBrk="1" fontAlgn="base" hangingPunct="1">
              <a:spcBef>
                <a:spcPct val="20000"/>
              </a:spcBef>
              <a:spcAft>
                <a:spcPct val="0"/>
              </a:spcAft>
              <a:defRPr sz="1600">
                <a:solidFill>
                  <a:srgbClr val="4F5961"/>
                </a:solidFill>
                <a:latin typeface="+mn-lt"/>
                <a:ea typeface="ヒラギノ角ゴ Pro W3" charset="0"/>
                <a:cs typeface="ヒラギノ角ゴ Pro W3" charset="0"/>
              </a:defRPr>
            </a:lvl1pPr>
            <a:lvl2pPr marL="457200" algn="l" rtl="0" eaLnBrk="1" fontAlgn="base" hangingPunct="1">
              <a:spcBef>
                <a:spcPct val="20000"/>
              </a:spcBef>
              <a:spcAft>
                <a:spcPct val="0"/>
              </a:spcAft>
              <a:defRPr sz="1200">
                <a:solidFill>
                  <a:srgbClr val="00213B"/>
                </a:solidFill>
                <a:latin typeface="+mn-lt"/>
                <a:ea typeface="ヒラギノ角ゴ Pro W3" charset="0"/>
                <a:cs typeface="ＭＳ Ｐゴシック" charset="0"/>
              </a:defRPr>
            </a:lvl2pPr>
            <a:lvl3pPr marL="914400" algn="l" rtl="0" eaLnBrk="1" fontAlgn="base" hangingPunct="1">
              <a:spcBef>
                <a:spcPct val="20000"/>
              </a:spcBef>
              <a:spcAft>
                <a:spcPct val="0"/>
              </a:spcAft>
              <a:defRPr sz="1200" b="1">
                <a:solidFill>
                  <a:srgbClr val="00213B"/>
                </a:solidFill>
                <a:latin typeface="+mn-lt"/>
                <a:ea typeface="ＭＳ Ｐゴシック" charset="0"/>
                <a:cs typeface="ＭＳ Ｐゴシック" charset="0"/>
              </a:defRPr>
            </a:lvl3pPr>
            <a:lvl4pPr marL="13716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4pPr>
            <a:lvl5pPr marL="1828800" algn="l" rtl="0" eaLnBrk="1" fontAlgn="base" hangingPunct="1">
              <a:spcBef>
                <a:spcPct val="20000"/>
              </a:spcBef>
              <a:spcAft>
                <a:spcPct val="0"/>
              </a:spcAft>
              <a:defRPr sz="1200">
                <a:solidFill>
                  <a:srgbClr val="00213B"/>
                </a:solidFill>
                <a:latin typeface="+mn-lt"/>
                <a:ea typeface="ＭＳ Ｐゴシック" charset="0"/>
                <a:cs typeface="ＭＳ Ｐゴシック" charset="0"/>
              </a:defRPr>
            </a:lvl5pPr>
            <a:lvl6pPr marL="2514600" indent="-228600" algn="l" rtl="0" eaLnBrk="1" fontAlgn="base" hangingPunct="1">
              <a:spcBef>
                <a:spcPct val="20000"/>
              </a:spcBef>
              <a:spcAft>
                <a:spcPct val="0"/>
              </a:spcAft>
              <a:buChar char="»"/>
              <a:defRPr sz="1600">
                <a:solidFill>
                  <a:srgbClr val="00213B"/>
                </a:solidFill>
                <a:latin typeface="+mn-lt"/>
                <a:ea typeface="+mn-ea"/>
              </a:defRPr>
            </a:lvl6pPr>
            <a:lvl7pPr marL="2971800" indent="-228600" algn="l" rtl="0" eaLnBrk="1" fontAlgn="base" hangingPunct="1">
              <a:spcBef>
                <a:spcPct val="20000"/>
              </a:spcBef>
              <a:spcAft>
                <a:spcPct val="0"/>
              </a:spcAft>
              <a:buChar char="»"/>
              <a:defRPr sz="1600">
                <a:solidFill>
                  <a:srgbClr val="00213B"/>
                </a:solidFill>
                <a:latin typeface="+mn-lt"/>
                <a:ea typeface="+mn-ea"/>
              </a:defRPr>
            </a:lvl7pPr>
            <a:lvl8pPr marL="3429000" indent="-228600" algn="l" rtl="0" eaLnBrk="1" fontAlgn="base" hangingPunct="1">
              <a:spcBef>
                <a:spcPct val="20000"/>
              </a:spcBef>
              <a:spcAft>
                <a:spcPct val="0"/>
              </a:spcAft>
              <a:buChar char="»"/>
              <a:defRPr sz="1600">
                <a:solidFill>
                  <a:srgbClr val="00213B"/>
                </a:solidFill>
                <a:latin typeface="+mn-lt"/>
                <a:ea typeface="+mn-ea"/>
              </a:defRPr>
            </a:lvl8pPr>
            <a:lvl9pPr marL="3886200" indent="-228600" algn="l" rtl="0" eaLnBrk="1" fontAlgn="base" hangingPunct="1">
              <a:spcBef>
                <a:spcPct val="20000"/>
              </a:spcBef>
              <a:spcAft>
                <a:spcPct val="0"/>
              </a:spcAft>
              <a:buChar char="»"/>
              <a:defRPr sz="1600">
                <a:solidFill>
                  <a:srgbClr val="00213B"/>
                </a:solidFill>
                <a:latin typeface="+mn-lt"/>
                <a:ea typeface="+mn-ea"/>
              </a:defRPr>
            </a:lvl9pPr>
          </a:lstStyle>
          <a:p>
            <a:r>
              <a:rPr lang="en-US" altLang="en-US" sz="2667" kern="0" dirty="0">
                <a:solidFill>
                  <a:srgbClr val="003560"/>
                </a:solidFill>
                <a:latin typeface="Arial"/>
                <a:ea typeface="ヒラギノ角ゴ Pro W3"/>
                <a:cs typeface="ヒラギノ角ゴ Pro W3" charset="-128"/>
              </a:rPr>
              <a:t>Prof Kristofer Erickson</a:t>
            </a:r>
          </a:p>
          <a:p>
            <a:r>
              <a:rPr lang="en-US" altLang="en-US" sz="2400" kern="0" dirty="0">
                <a:solidFill>
                  <a:schemeClr val="accent1">
                    <a:lumMod val="50000"/>
                  </a:schemeClr>
                </a:solidFill>
                <a:latin typeface="Arial"/>
                <a:ea typeface="ヒラギノ角ゴ Pro W3"/>
                <a:cs typeface="ヒラギノ角ゴ Pro W3" charset="-128"/>
                <a:hlinkClick r:id="rId4">
                  <a:extLst>
                    <a:ext uri="{A12FA001-AC4F-418D-AE19-62706E023703}">
                      <ahyp:hlinkClr xmlns:ahyp="http://schemas.microsoft.com/office/drawing/2018/hyperlinkcolor" val="tx"/>
                    </a:ext>
                  </a:extLst>
                </a:hlinkClick>
              </a:rPr>
              <a:t>Kristofer.Erickson@Glasgow.ac.uk</a:t>
            </a:r>
            <a:endParaRPr lang="en-US" altLang="en-US" sz="2400" kern="0" dirty="0">
              <a:solidFill>
                <a:schemeClr val="accent1">
                  <a:lumMod val="50000"/>
                </a:schemeClr>
              </a:solidFill>
              <a:latin typeface="Arial"/>
              <a:ea typeface="ヒラギノ角ゴ Pro W3"/>
              <a:cs typeface="ヒラギノ角ゴ Pro W3" charset="-128"/>
            </a:endParaRPr>
          </a:p>
          <a:p>
            <a:r>
              <a:rPr lang="en-US" altLang="en-US" sz="2667" kern="0" dirty="0">
                <a:solidFill>
                  <a:srgbClr val="003560"/>
                </a:solidFill>
                <a:latin typeface="Arial"/>
                <a:ea typeface="ヒラギノ角ゴ Pro W3"/>
                <a:cs typeface="ヒラギノ角ゴ Pro W3" charset="-128"/>
              </a:rPr>
              <a:t> </a:t>
            </a:r>
          </a:p>
          <a:p>
            <a:r>
              <a:rPr lang="en-US" altLang="en-US" sz="2667" kern="0" dirty="0">
                <a:solidFill>
                  <a:srgbClr val="003560"/>
                </a:solidFill>
                <a:latin typeface="Arial"/>
                <a:ea typeface="ヒラギノ角ゴ Pro W3"/>
                <a:cs typeface="ヒラギノ角ゴ Pro W3" charset="-128"/>
              </a:rPr>
              <a:t>4 March 2026</a:t>
            </a:r>
          </a:p>
          <a:p>
            <a:endParaRPr lang="en-US" altLang="en-US" sz="2667" kern="0" dirty="0">
              <a:solidFill>
                <a:srgbClr val="003560"/>
              </a:solidFill>
              <a:latin typeface="Arial"/>
              <a:ea typeface="ヒラギノ角ゴ Pro W3"/>
              <a:cs typeface="ヒラギノ角ゴ Pro W3" charset="-128"/>
            </a:endParaRPr>
          </a:p>
          <a:p>
            <a:endParaRPr lang="en-US" altLang="en-US" sz="2667" kern="0" dirty="0">
              <a:solidFill>
                <a:srgbClr val="003560"/>
              </a:solidFill>
              <a:latin typeface="Arial"/>
              <a:ea typeface="ヒラギノ角ゴ Pro W3"/>
              <a:cs typeface="ヒラギノ角ゴ Pro W3" charset="-128"/>
            </a:endParaRPr>
          </a:p>
        </p:txBody>
      </p:sp>
      <p:sp>
        <p:nvSpPr>
          <p:cNvPr id="2" name="Title 1">
            <a:extLst>
              <a:ext uri="{FF2B5EF4-FFF2-40B4-BE49-F238E27FC236}">
                <a16:creationId xmlns:a16="http://schemas.microsoft.com/office/drawing/2014/main" id="{0B1097D8-51E9-3CF7-5708-6981C03CEAA4}"/>
              </a:ext>
            </a:extLst>
          </p:cNvPr>
          <p:cNvSpPr txBox="1">
            <a:spLocks/>
          </p:cNvSpPr>
          <p:nvPr/>
        </p:nvSpPr>
        <p:spPr>
          <a:xfrm>
            <a:off x="1046477" y="835419"/>
            <a:ext cx="7602671" cy="1377024"/>
          </a:xfrm>
          <a:prstGeom prst="rect">
            <a:avLst/>
          </a:prstGeom>
        </p:spPr>
        <p:txBody>
          <a:bodyPr vert="horz" lIns="91440" tIns="45720" rIns="91440" bIns="45720" rtlCol="0" anchor="ctr">
            <a:normAutofit fontScale="97500"/>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pPr>
              <a:defRPr/>
            </a:pPr>
            <a:r>
              <a:rPr lang="en-US" dirty="0">
                <a:latin typeface="Calibri" panose="020F0502020204030204" pitchFamily="34" charset="0"/>
                <a:cs typeface="Calibri" panose="020F0502020204030204" pitchFamily="34" charset="0"/>
              </a:rPr>
              <a:t>OPEN Business Models and User Innovation</a:t>
            </a:r>
          </a:p>
        </p:txBody>
      </p:sp>
      <p:sp>
        <p:nvSpPr>
          <p:cNvPr id="3" name="TextBox 2">
            <a:extLst>
              <a:ext uri="{FF2B5EF4-FFF2-40B4-BE49-F238E27FC236}">
                <a16:creationId xmlns:a16="http://schemas.microsoft.com/office/drawing/2014/main" id="{804B7D29-00F3-490D-8AF4-135F395A8760}"/>
              </a:ext>
            </a:extLst>
          </p:cNvPr>
          <p:cNvSpPr txBox="1"/>
          <p:nvPr/>
        </p:nvSpPr>
        <p:spPr>
          <a:xfrm>
            <a:off x="9037150" y="6100995"/>
            <a:ext cx="3664585" cy="369332"/>
          </a:xfrm>
          <a:prstGeom prst="rect">
            <a:avLst/>
          </a:prstGeom>
          <a:noFill/>
        </p:spPr>
        <p:txBody>
          <a:bodyPr wrap="square" rtlCol="0">
            <a:spAutoFit/>
          </a:bodyPr>
          <a:lstStyle/>
          <a:p>
            <a:r>
              <a:rPr lang="en-GB" dirty="0"/>
              <a:t>Photo: </a:t>
            </a:r>
            <a:r>
              <a:rPr lang="en-GB" i="1" dirty="0"/>
              <a:t>@</a:t>
            </a:r>
            <a:r>
              <a:rPr lang="en-GB" i="1" dirty="0" err="1"/>
              <a:t>levelsix</a:t>
            </a:r>
            <a:r>
              <a:rPr lang="en-GB" i="1" dirty="0"/>
              <a:t> @</a:t>
            </a:r>
            <a:r>
              <a:rPr lang="en-GB" i="1" dirty="0" err="1"/>
              <a:t>jlitzphoto</a:t>
            </a:r>
            <a:endParaRPr lang="en-GB" dirty="0"/>
          </a:p>
        </p:txBody>
      </p:sp>
      <p:pic>
        <p:nvPicPr>
          <p:cNvPr id="2050" name="Picture 2" descr="Don't Say This to Beginning Whitewater Kayakers… – Aqua Bound">
            <a:extLst>
              <a:ext uri="{FF2B5EF4-FFF2-40B4-BE49-F238E27FC236}">
                <a16:creationId xmlns:a16="http://schemas.microsoft.com/office/drawing/2014/main" id="{194B6B0C-4223-B312-361E-5FB8E7C57D6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650" t="12408"/>
          <a:stretch/>
        </p:blipFill>
        <p:spPr bwMode="auto">
          <a:xfrm>
            <a:off x="6910106" y="2852000"/>
            <a:ext cx="4843851" cy="3165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7772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FA58E-85E2-E056-F908-CE991BC4EF9A}"/>
              </a:ext>
            </a:extLst>
          </p:cNvPr>
          <p:cNvSpPr>
            <a:spLocks noGrp="1"/>
          </p:cNvSpPr>
          <p:nvPr>
            <p:ph type="title"/>
          </p:nvPr>
        </p:nvSpPr>
        <p:spPr/>
        <p:txBody>
          <a:bodyPr/>
          <a:lstStyle/>
          <a:p>
            <a:r>
              <a:rPr lang="en-GB" dirty="0">
                <a:solidFill>
                  <a:srgbClr val="EB8067"/>
                </a:solidFill>
                <a:effectLst/>
                <a:latin typeface="Helvetica" pitchFamily="2" charset="0"/>
              </a:rPr>
              <a:t>Schedule</a:t>
            </a:r>
            <a:br>
              <a:rPr lang="en-GB" dirty="0">
                <a:solidFill>
                  <a:srgbClr val="EB8067"/>
                </a:solidFill>
                <a:effectLst/>
                <a:latin typeface="Helvetica" pitchFamily="2" charset="0"/>
              </a:rPr>
            </a:br>
            <a:endParaRPr lang="en-GB" dirty="0"/>
          </a:p>
        </p:txBody>
      </p:sp>
      <p:graphicFrame>
        <p:nvGraphicFramePr>
          <p:cNvPr id="4" name="Table 3">
            <a:extLst>
              <a:ext uri="{FF2B5EF4-FFF2-40B4-BE49-F238E27FC236}">
                <a16:creationId xmlns:a16="http://schemas.microsoft.com/office/drawing/2014/main" id="{33F567F3-060A-7240-F30A-A1C7C3F43C0F}"/>
              </a:ext>
            </a:extLst>
          </p:cNvPr>
          <p:cNvGraphicFramePr>
            <a:graphicFrameLocks noGrp="1"/>
          </p:cNvGraphicFramePr>
          <p:nvPr>
            <p:extLst>
              <p:ext uri="{D42A27DB-BD31-4B8C-83A1-F6EECF244321}">
                <p14:modId xmlns:p14="http://schemas.microsoft.com/office/powerpoint/2010/main" val="2040015996"/>
              </p:ext>
            </p:extLst>
          </p:nvPr>
        </p:nvGraphicFramePr>
        <p:xfrm>
          <a:off x="1469444" y="2297226"/>
          <a:ext cx="8829440" cy="2579880"/>
        </p:xfrm>
        <a:graphic>
          <a:graphicData uri="http://schemas.openxmlformats.org/drawingml/2006/table">
            <a:tbl>
              <a:tblPr firstRow="1" firstCol="1" bandRow="1">
                <a:tableStyleId>{69CF1AB2-1976-4502-BF36-3FF5EA218861}</a:tableStyleId>
              </a:tblPr>
              <a:tblGrid>
                <a:gridCol w="686495">
                  <a:extLst>
                    <a:ext uri="{9D8B030D-6E8A-4147-A177-3AD203B41FA5}">
                      <a16:colId xmlns:a16="http://schemas.microsoft.com/office/drawing/2014/main" val="635431759"/>
                    </a:ext>
                  </a:extLst>
                </a:gridCol>
                <a:gridCol w="2053608">
                  <a:extLst>
                    <a:ext uri="{9D8B030D-6E8A-4147-A177-3AD203B41FA5}">
                      <a16:colId xmlns:a16="http://schemas.microsoft.com/office/drawing/2014/main" val="2335168617"/>
                    </a:ext>
                  </a:extLst>
                </a:gridCol>
                <a:gridCol w="3918212">
                  <a:extLst>
                    <a:ext uri="{9D8B030D-6E8A-4147-A177-3AD203B41FA5}">
                      <a16:colId xmlns:a16="http://schemas.microsoft.com/office/drawing/2014/main" val="4160286532"/>
                    </a:ext>
                  </a:extLst>
                </a:gridCol>
                <a:gridCol w="2171125">
                  <a:extLst>
                    <a:ext uri="{9D8B030D-6E8A-4147-A177-3AD203B41FA5}">
                      <a16:colId xmlns:a16="http://schemas.microsoft.com/office/drawing/2014/main" val="4045281883"/>
                    </a:ext>
                  </a:extLst>
                </a:gridCol>
              </a:tblGrid>
              <a:tr h="584156">
                <a:tc gridSpan="4">
                  <a:txBody>
                    <a:bodyPr/>
                    <a:lstStyle/>
                    <a:p>
                      <a:pPr algn="ct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07977512"/>
                  </a:ext>
                </a:extLst>
              </a:tr>
              <a:tr h="511359">
                <a:tc>
                  <a:txBody>
                    <a:bodyPr/>
                    <a:lstStyle/>
                    <a:p>
                      <a:pPr algn="ctr"/>
                      <a:r>
                        <a:rPr lang="en-GB" sz="1800" b="1" kern="100">
                          <a:effectLst/>
                        </a:rPr>
                        <a:t>(6)</a:t>
                      </a:r>
                      <a:endParaRPr lang="en-GB" sz="1800" b="1"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800" b="1" kern="100" dirty="0">
                          <a:effectLst/>
                        </a:rPr>
                        <a:t>4 March</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r>
                        <a:rPr lang="en-GB" sz="1800" b="1" kern="100" dirty="0">
                          <a:effectLst/>
                          <a:latin typeface="Aptos" panose="020B0004020202020204" pitchFamily="34" charset="0"/>
                          <a:ea typeface="Aptos" panose="020B0004020202020204" pitchFamily="34" charset="0"/>
                          <a:cs typeface="Times New Roman" panose="02020603050405020304" pitchFamily="18" charset="0"/>
                        </a:rPr>
                        <a:t>Open Business Models</a:t>
                      </a:r>
                    </a:p>
                  </a:txBody>
                  <a:tcPr marL="68580" marR="68580" marT="0" marB="0" anchor="ctr"/>
                </a:tc>
                <a:tc>
                  <a:txBody>
                    <a:bodyPr/>
                    <a:lstStyle/>
                    <a:p>
                      <a:r>
                        <a:rPr lang="en-GB" sz="1800" b="1" kern="100" dirty="0">
                          <a:effectLst/>
                        </a:rPr>
                        <a:t>Erickson</a:t>
                      </a:r>
                      <a:endParaRPr lang="en-GB" sz="18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75769918"/>
                  </a:ext>
                </a:extLst>
              </a:tr>
              <a:tr h="365764">
                <a:tc>
                  <a:txBody>
                    <a:bodyPr/>
                    <a:lstStyle/>
                    <a:p>
                      <a:pPr algn="ctr"/>
                      <a:r>
                        <a:rPr lang="en-GB" sz="1800" kern="100">
                          <a:effectLst/>
                        </a:rPr>
                        <a:t>(7)</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800" kern="100" dirty="0">
                          <a:effectLst/>
                        </a:rPr>
                        <a:t>11 March</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r>
                        <a:rPr lang="en-GB" sz="1800" kern="100" dirty="0">
                          <a:effectLst/>
                          <a:latin typeface="Aptos" panose="020B0004020202020204" pitchFamily="34" charset="0"/>
                          <a:ea typeface="Aptos" panose="020B0004020202020204" pitchFamily="34" charset="0"/>
                          <a:cs typeface="Times New Roman" panose="02020603050405020304" pitchFamily="18" charset="0"/>
                        </a:rPr>
                        <a:t>GLAM, Preservation and TPMs</a:t>
                      </a:r>
                    </a:p>
                  </a:txBody>
                  <a:tcPr marL="68580" marR="68580" marT="0" marB="0"/>
                </a:tc>
                <a:tc>
                  <a:txBody>
                    <a:bodyPr/>
                    <a:lstStyle/>
                    <a:p>
                      <a:r>
                        <a:rPr lang="en-GB" sz="1800" kern="100" dirty="0">
                          <a:effectLst/>
                        </a:rPr>
                        <a:t>Erickson</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5105087"/>
                  </a:ext>
                </a:extLst>
              </a:tr>
              <a:tr h="371979">
                <a:tc>
                  <a:txBody>
                    <a:bodyPr/>
                    <a:lstStyle/>
                    <a:p>
                      <a:pPr algn="ctr"/>
                      <a:r>
                        <a:rPr lang="en-GB" sz="1800" kern="100">
                          <a:effectLst/>
                        </a:rPr>
                        <a:t>(8)</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800" kern="100" dirty="0">
                          <a:effectLst/>
                        </a:rPr>
                        <a:t>18 March</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r>
                        <a:rPr lang="en-GB" sz="1800" kern="100" dirty="0">
                          <a:effectLst/>
                        </a:rPr>
                        <a:t>NFTs and Virtual Worlds (Metaverse)</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r>
                        <a:rPr lang="en-GB" sz="1800" kern="100" dirty="0">
                          <a:effectLst/>
                        </a:rPr>
                        <a:t>Erickson</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4443784"/>
                  </a:ext>
                </a:extLst>
              </a:tr>
              <a:tr h="364877">
                <a:tc>
                  <a:txBody>
                    <a:bodyPr/>
                    <a:lstStyle/>
                    <a:p>
                      <a:pPr algn="ctr"/>
                      <a:r>
                        <a:rPr lang="en-GB" sz="1800" kern="100">
                          <a:effectLst/>
                        </a:rPr>
                        <a:t>(9)</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r>
                        <a:rPr lang="en-GB" sz="1800" kern="100">
                          <a:effectLst/>
                        </a:rPr>
                        <a:t>19 March</a:t>
                      </a:r>
                      <a:endParaRPr lang="en-GB"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r>
                        <a:rPr lang="en-GB" sz="1800" kern="100" dirty="0">
                          <a:effectLst/>
                        </a:rPr>
                        <a:t>Traditional Knowledge</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r>
                        <a:rPr lang="en-GB" sz="1800" kern="100" dirty="0">
                          <a:effectLst/>
                          <a:latin typeface="Aptos" panose="020B0004020202020204" pitchFamily="34" charset="0"/>
                          <a:ea typeface="Aptos" panose="020B0004020202020204" pitchFamily="34" charset="0"/>
                          <a:cs typeface="Times New Roman" panose="02020603050405020304" pitchFamily="18" charset="0"/>
                        </a:rPr>
                        <a:t>TBD</a:t>
                      </a:r>
                    </a:p>
                  </a:txBody>
                  <a:tcPr marL="68580" marR="68580" marT="0" marB="0"/>
                </a:tc>
                <a:extLst>
                  <a:ext uri="{0D108BD9-81ED-4DB2-BD59-A6C34878D82A}">
                    <a16:rowId xmlns:a16="http://schemas.microsoft.com/office/drawing/2014/main" val="706080507"/>
                  </a:ext>
                </a:extLst>
              </a:tr>
              <a:tr h="381745">
                <a:tc>
                  <a:txBody>
                    <a:bodyPr/>
                    <a:lstStyle/>
                    <a:p>
                      <a:pPr algn="ct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endParaRPr lang="en-GB"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91285100"/>
                  </a:ext>
                </a:extLst>
              </a:tr>
            </a:tbl>
          </a:graphicData>
        </a:graphic>
      </p:graphicFrame>
    </p:spTree>
    <p:extLst>
      <p:ext uri="{BB962C8B-B14F-4D97-AF65-F5344CB8AC3E}">
        <p14:creationId xmlns:p14="http://schemas.microsoft.com/office/powerpoint/2010/main" val="623529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1F010E2-0B09-B563-C571-87A2F32E7C03}"/>
              </a:ext>
            </a:extLst>
          </p:cNvPr>
          <p:cNvSpPr txBox="1"/>
          <p:nvPr/>
        </p:nvSpPr>
        <p:spPr>
          <a:xfrm>
            <a:off x="814388" y="1228725"/>
            <a:ext cx="10429875" cy="3170099"/>
          </a:xfrm>
          <a:prstGeom prst="rect">
            <a:avLst/>
          </a:prstGeom>
          <a:noFill/>
        </p:spPr>
        <p:txBody>
          <a:bodyPr wrap="square" rtlCol="0">
            <a:spAutoFit/>
          </a:bodyPr>
          <a:lstStyle/>
          <a:p>
            <a:r>
              <a:rPr lang="en-GB" sz="3200" u="sng" dirty="0">
                <a:solidFill>
                  <a:schemeClr val="accent2"/>
                </a:solidFill>
              </a:rPr>
              <a:t>IP may be “Open” because:</a:t>
            </a:r>
          </a:p>
          <a:p>
            <a:endParaRPr lang="en-GB" sz="2800" dirty="0"/>
          </a:p>
          <a:p>
            <a:pPr marL="342900" indent="-342900">
              <a:buAutoNum type="arabicParenR"/>
            </a:pPr>
            <a:r>
              <a:rPr lang="en-GB" sz="2800" dirty="0"/>
              <a:t>The legal scope of IP protection doesn’t cover the thing owners want to protect;</a:t>
            </a:r>
          </a:p>
          <a:p>
            <a:pPr marL="342900" indent="-342900">
              <a:buAutoNum type="arabicParenR"/>
            </a:pPr>
            <a:endParaRPr lang="en-GB" sz="2800" dirty="0"/>
          </a:p>
          <a:p>
            <a:pPr marL="342900" indent="-342900">
              <a:buAutoNum type="arabicParenR"/>
            </a:pPr>
            <a:r>
              <a:rPr lang="en-GB" sz="2800" dirty="0"/>
              <a:t>Because applying IP law would negatively impact the activity participants are trying to undertake.</a:t>
            </a:r>
          </a:p>
        </p:txBody>
      </p:sp>
    </p:spTree>
    <p:extLst>
      <p:ext uri="{BB962C8B-B14F-4D97-AF65-F5344CB8AC3E}">
        <p14:creationId xmlns:p14="http://schemas.microsoft.com/office/powerpoint/2010/main" val="1880710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719401" y="486562"/>
            <a:ext cx="10907739" cy="947956"/>
          </a:xfrm>
          <a:prstGeom prst="rect">
            <a:avLst/>
          </a:prstGeom>
        </p:spPr>
        <p:txBody>
          <a:bodyPr>
            <a:normAutofit/>
          </a:bodyPr>
          <a:lstStyle/>
          <a:p>
            <a:r>
              <a:rPr lang="en-US" sz="4800" dirty="0"/>
              <a:t>This session</a:t>
            </a:r>
          </a:p>
        </p:txBody>
      </p:sp>
      <p:sp>
        <p:nvSpPr>
          <p:cNvPr id="6" name="Content Placeholder 2"/>
          <p:cNvSpPr>
            <a:spLocks noGrp="1"/>
          </p:cNvSpPr>
          <p:nvPr>
            <p:ph idx="1"/>
          </p:nvPr>
        </p:nvSpPr>
        <p:spPr>
          <a:xfrm>
            <a:off x="719402" y="1870745"/>
            <a:ext cx="11041228" cy="4726609"/>
          </a:xfrm>
          <a:prstGeom prst="rect">
            <a:avLst/>
          </a:prstGeom>
        </p:spPr>
        <p:txBody>
          <a:bodyPr vert="horz" lIns="121920" tIns="60960" rIns="121920" bIns="60960" rtlCol="0" anchor="t">
            <a:noAutofit/>
          </a:bodyPr>
          <a:lstStyle/>
          <a:p>
            <a:pPr marL="0" indent="0">
              <a:spcBef>
                <a:spcPts val="0"/>
              </a:spcBef>
              <a:spcAft>
                <a:spcPts val="0"/>
              </a:spcAft>
              <a:buNone/>
            </a:pPr>
            <a:r>
              <a:rPr lang="en-GB" b="1" u="sng" dirty="0">
                <a:solidFill>
                  <a:schemeClr val="accent2"/>
                </a:solidFill>
              </a:rPr>
              <a:t>Part 1: Negative spaces</a:t>
            </a:r>
          </a:p>
          <a:p>
            <a:pPr marL="0" indent="0">
              <a:spcBef>
                <a:spcPts val="0"/>
              </a:spcBef>
              <a:spcAft>
                <a:spcPts val="0"/>
              </a:spcAft>
              <a:buNone/>
            </a:pPr>
            <a:endParaRPr lang="en-GB" b="1" dirty="0"/>
          </a:p>
          <a:p>
            <a:pPr>
              <a:spcBef>
                <a:spcPts val="0"/>
              </a:spcBef>
              <a:spcAft>
                <a:spcPts val="0"/>
              </a:spcAft>
              <a:buFont typeface="Arial" panose="020B0604020202020204" pitchFamily="34" charset="0"/>
              <a:buChar char="•"/>
            </a:pPr>
            <a:r>
              <a:rPr lang="en-GB" b="1" dirty="0"/>
              <a:t> When copyright doesn’t apply</a:t>
            </a:r>
          </a:p>
          <a:p>
            <a:pPr>
              <a:spcBef>
                <a:spcPts val="0"/>
              </a:spcBef>
              <a:spcAft>
                <a:spcPts val="0"/>
              </a:spcAft>
              <a:buFont typeface="Arial" panose="020B0604020202020204" pitchFamily="34" charset="0"/>
              <a:buChar char="•"/>
            </a:pPr>
            <a:endParaRPr lang="en-GB" b="1" dirty="0"/>
          </a:p>
          <a:p>
            <a:pPr>
              <a:spcBef>
                <a:spcPts val="0"/>
              </a:spcBef>
              <a:spcAft>
                <a:spcPts val="0"/>
              </a:spcAft>
              <a:buFont typeface="Arial" panose="020B0604020202020204" pitchFamily="34" charset="0"/>
              <a:buChar char="•"/>
            </a:pPr>
            <a:r>
              <a:rPr lang="en-GB" b="1" dirty="0"/>
              <a:t> When both cases are true: Law vs. social norms</a:t>
            </a:r>
          </a:p>
          <a:p>
            <a:pPr marL="0" indent="0">
              <a:spcBef>
                <a:spcPts val="0"/>
              </a:spcBef>
              <a:spcAft>
                <a:spcPts val="0"/>
              </a:spcAft>
              <a:buNone/>
            </a:pPr>
            <a:endParaRPr lang="en-GB" b="1" dirty="0"/>
          </a:p>
          <a:p>
            <a:pPr>
              <a:spcBef>
                <a:spcPts val="0"/>
              </a:spcBef>
              <a:spcAft>
                <a:spcPts val="0"/>
              </a:spcAft>
              <a:buFont typeface="Arial" panose="020B0604020202020204" pitchFamily="34" charset="0"/>
              <a:buChar char="•"/>
            </a:pPr>
            <a:r>
              <a:rPr lang="en-GB" b="1" dirty="0"/>
              <a:t> Commons and anti-commons</a:t>
            </a:r>
          </a:p>
          <a:p>
            <a:pPr marL="0" indent="0">
              <a:spcBef>
                <a:spcPts val="0"/>
              </a:spcBef>
              <a:spcAft>
                <a:spcPts val="0"/>
              </a:spcAft>
              <a:buNone/>
            </a:pPr>
            <a:endParaRPr lang="en-GB" b="1" dirty="0"/>
          </a:p>
          <a:p>
            <a:pPr marL="0" indent="0">
              <a:spcBef>
                <a:spcPts val="0"/>
              </a:spcBef>
              <a:spcAft>
                <a:spcPts val="0"/>
              </a:spcAft>
              <a:buNone/>
            </a:pPr>
            <a:endParaRPr lang="en-GB" b="1" dirty="0"/>
          </a:p>
          <a:p>
            <a:pPr marL="0" indent="0">
              <a:spcBef>
                <a:spcPts val="0"/>
              </a:spcBef>
              <a:spcAft>
                <a:spcPts val="0"/>
              </a:spcAft>
              <a:buNone/>
            </a:pPr>
            <a:r>
              <a:rPr lang="en-GB" b="1" u="sng" dirty="0">
                <a:solidFill>
                  <a:schemeClr val="accent2"/>
                </a:solidFill>
              </a:rPr>
              <a:t>Part 2: Examples of open innovation</a:t>
            </a:r>
          </a:p>
          <a:p>
            <a:pPr marL="0" indent="0">
              <a:spcBef>
                <a:spcPts val="0"/>
              </a:spcBef>
              <a:spcAft>
                <a:spcPts val="0"/>
              </a:spcAft>
              <a:buNone/>
            </a:pPr>
            <a:endParaRPr lang="en-GB" b="1" dirty="0"/>
          </a:p>
          <a:p>
            <a:pPr>
              <a:spcBef>
                <a:spcPts val="0"/>
              </a:spcBef>
              <a:spcAft>
                <a:spcPts val="0"/>
              </a:spcAft>
              <a:buFont typeface="Arial" panose="020B0604020202020204" pitchFamily="34" charset="0"/>
              <a:buChar char="•"/>
            </a:pPr>
            <a:r>
              <a:rPr lang="en-GB" b="1" dirty="0"/>
              <a:t> How creative firms can profit without copyright or IP ownership</a:t>
            </a:r>
          </a:p>
          <a:p>
            <a:pPr>
              <a:spcBef>
                <a:spcPts val="0"/>
              </a:spcBef>
              <a:spcAft>
                <a:spcPts val="0"/>
              </a:spcAft>
              <a:buFont typeface="Arial" panose="020B0604020202020204" pitchFamily="34" charset="0"/>
              <a:buChar char="•"/>
            </a:pPr>
            <a:endParaRPr lang="en-GB" b="1" dirty="0"/>
          </a:p>
          <a:p>
            <a:pPr>
              <a:spcBef>
                <a:spcPts val="0"/>
              </a:spcBef>
              <a:spcAft>
                <a:spcPts val="0"/>
              </a:spcAft>
              <a:buFont typeface="Arial" panose="020B0604020202020204" pitchFamily="34" charset="0"/>
              <a:buChar char="•"/>
            </a:pPr>
            <a:r>
              <a:rPr lang="en-GB" b="1" dirty="0"/>
              <a:t> Group Business Model Challenge</a:t>
            </a:r>
          </a:p>
          <a:p>
            <a:pPr>
              <a:spcBef>
                <a:spcPts val="0"/>
              </a:spcBef>
              <a:spcAft>
                <a:spcPts val="0"/>
              </a:spcAft>
              <a:buFont typeface="Arial" panose="020B0604020202020204" pitchFamily="34" charset="0"/>
              <a:buChar char="•"/>
            </a:pPr>
            <a:endParaRPr lang="en-GB" b="1" dirty="0"/>
          </a:p>
          <a:p>
            <a:pPr>
              <a:spcBef>
                <a:spcPts val="0"/>
              </a:spcBef>
              <a:spcAft>
                <a:spcPts val="0"/>
              </a:spcAft>
              <a:buFont typeface="Arial" panose="020B0604020202020204" pitchFamily="34" charset="0"/>
              <a:buChar char="•"/>
            </a:pPr>
            <a:endParaRPr lang="en-GB" b="1" dirty="0"/>
          </a:p>
          <a:p>
            <a:pPr marL="0" indent="0">
              <a:spcBef>
                <a:spcPts val="0"/>
              </a:spcBef>
              <a:spcAft>
                <a:spcPts val="0"/>
              </a:spcAft>
              <a:buNone/>
            </a:pPr>
            <a:endParaRPr lang="en-GB" b="1" dirty="0"/>
          </a:p>
          <a:p>
            <a:pPr>
              <a:spcBef>
                <a:spcPts val="0"/>
              </a:spcBef>
              <a:spcAft>
                <a:spcPts val="0"/>
              </a:spcAft>
              <a:buFont typeface="Arial" panose="020B0604020202020204" pitchFamily="34" charset="0"/>
              <a:buChar char="•"/>
            </a:pPr>
            <a:endParaRPr lang="en-GB" b="1" dirty="0"/>
          </a:p>
          <a:p>
            <a:pPr marL="0" indent="0" algn="r">
              <a:spcBef>
                <a:spcPts val="0"/>
              </a:spcBef>
              <a:spcAft>
                <a:spcPts val="0"/>
              </a:spcAft>
              <a:buNone/>
            </a:pPr>
            <a:endParaRPr lang="en-GB" sz="1600" dirty="0"/>
          </a:p>
        </p:txBody>
      </p:sp>
    </p:spTree>
    <p:extLst>
      <p:ext uri="{BB962C8B-B14F-4D97-AF65-F5344CB8AC3E}">
        <p14:creationId xmlns:p14="http://schemas.microsoft.com/office/powerpoint/2010/main" val="212329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dissolv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dissolve">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dissolve">
                                      <p:cBhvr>
                                        <p:cTn id="22" dur="500"/>
                                        <p:tgtEl>
                                          <p:spTgt spid="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animEffect transition="in" filter="dissolve">
                                      <p:cBhvr>
                                        <p:cTn id="27" dur="500"/>
                                        <p:tgtEl>
                                          <p:spTgt spid="6">
                                            <p:txEl>
                                              <p:pRg st="9" end="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
                                            <p:txEl>
                                              <p:pRg st="11" end="11"/>
                                            </p:txEl>
                                          </p:spTgt>
                                        </p:tgtEl>
                                        <p:attrNameLst>
                                          <p:attrName>style.visibility</p:attrName>
                                        </p:attrNameLst>
                                      </p:cBhvr>
                                      <p:to>
                                        <p:strVal val="visible"/>
                                      </p:to>
                                    </p:set>
                                    <p:animEffect transition="in" filter="dissolve">
                                      <p:cBhvr>
                                        <p:cTn id="32" dur="500"/>
                                        <p:tgtEl>
                                          <p:spTgt spid="6">
                                            <p:txEl>
                                              <p:pRg st="11" end="1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6">
                                            <p:txEl>
                                              <p:pRg st="13" end="13"/>
                                            </p:txEl>
                                          </p:spTgt>
                                        </p:tgtEl>
                                        <p:attrNameLst>
                                          <p:attrName>style.visibility</p:attrName>
                                        </p:attrNameLst>
                                      </p:cBhvr>
                                      <p:to>
                                        <p:strVal val="visible"/>
                                      </p:to>
                                    </p:set>
                                    <p:animEffect transition="in" filter="dissolve">
                                      <p:cBhvr>
                                        <p:cTn id="37" dur="500"/>
                                        <p:tgtEl>
                                          <p:spTgt spid="6">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1. Lack of protection: subject matter &amp; idea/expression dichotomy</a:t>
            </a:r>
          </a:p>
        </p:txBody>
      </p:sp>
      <p:sp>
        <p:nvSpPr>
          <p:cNvPr id="11" name="Content Placeholder 2">
            <a:extLst>
              <a:ext uri="{FF2B5EF4-FFF2-40B4-BE49-F238E27FC236}">
                <a16:creationId xmlns:a16="http://schemas.microsoft.com/office/drawing/2014/main" id="{7BD1126C-E2E0-9257-F180-46728A16205F}"/>
              </a:ext>
            </a:extLst>
          </p:cNvPr>
          <p:cNvSpPr>
            <a:spLocks noGrp="1"/>
          </p:cNvSpPr>
          <p:nvPr>
            <p:ph idx="1"/>
          </p:nvPr>
        </p:nvSpPr>
        <p:spPr>
          <a:xfrm>
            <a:off x="1066800" y="2111343"/>
            <a:ext cx="10058400" cy="4023360"/>
          </a:xfrm>
        </p:spPr>
        <p:txBody>
          <a:bodyPr>
            <a:normAutofit lnSpcReduction="10000"/>
          </a:bodyPr>
          <a:lstStyle/>
          <a:p>
            <a:r>
              <a:rPr lang="en-GB" b="1" dirty="0"/>
              <a:t>CDPA (1988)</a:t>
            </a:r>
          </a:p>
          <a:p>
            <a:pPr>
              <a:lnSpc>
                <a:spcPct val="100000"/>
              </a:lnSpc>
            </a:pPr>
            <a:r>
              <a:rPr lang="en-GB" dirty="0"/>
              <a:t>(</a:t>
            </a:r>
            <a:r>
              <a:rPr lang="en-GB" dirty="0" err="1"/>
              <a:t>i</a:t>
            </a:r>
            <a:r>
              <a:rPr lang="en-GB" dirty="0"/>
              <a:t>) literary works; </a:t>
            </a:r>
          </a:p>
          <a:p>
            <a:pPr>
              <a:lnSpc>
                <a:spcPct val="100000"/>
              </a:lnSpc>
            </a:pPr>
            <a:r>
              <a:rPr lang="en-GB" dirty="0"/>
              <a:t>(ii) dramatic works;</a:t>
            </a:r>
          </a:p>
          <a:p>
            <a:pPr>
              <a:lnSpc>
                <a:spcPct val="100000"/>
              </a:lnSpc>
            </a:pPr>
            <a:r>
              <a:rPr lang="en-GB" dirty="0"/>
              <a:t>(iii) musical works; </a:t>
            </a:r>
          </a:p>
          <a:p>
            <a:pPr>
              <a:lnSpc>
                <a:spcPct val="100000"/>
              </a:lnSpc>
            </a:pPr>
            <a:r>
              <a:rPr lang="en-GB" dirty="0"/>
              <a:t>(iv) artistic works;</a:t>
            </a:r>
          </a:p>
          <a:p>
            <a:pPr>
              <a:lnSpc>
                <a:spcPct val="100000"/>
              </a:lnSpc>
            </a:pPr>
            <a:r>
              <a:rPr lang="en-GB" dirty="0"/>
              <a:t>(v) films; </a:t>
            </a:r>
          </a:p>
          <a:p>
            <a:pPr>
              <a:lnSpc>
                <a:spcPct val="100000"/>
              </a:lnSpc>
            </a:pPr>
            <a:r>
              <a:rPr lang="en-GB" dirty="0"/>
              <a:t>(vi) sound recordings; </a:t>
            </a:r>
          </a:p>
          <a:p>
            <a:pPr>
              <a:lnSpc>
                <a:spcPct val="100000"/>
              </a:lnSpc>
            </a:pPr>
            <a:r>
              <a:rPr lang="en-GB" dirty="0"/>
              <a:t>(vii) broadcasts; </a:t>
            </a:r>
          </a:p>
          <a:p>
            <a:r>
              <a:rPr lang="en-GB" dirty="0"/>
              <a:t>(viii) published editions (or typographical works).</a:t>
            </a:r>
          </a:p>
        </p:txBody>
      </p:sp>
      <p:sp>
        <p:nvSpPr>
          <p:cNvPr id="12" name="TextBox 11">
            <a:extLst>
              <a:ext uri="{FF2B5EF4-FFF2-40B4-BE49-F238E27FC236}">
                <a16:creationId xmlns:a16="http://schemas.microsoft.com/office/drawing/2014/main" id="{1B78AC36-534D-75F1-CE1D-4AB1DCE795D9}"/>
              </a:ext>
            </a:extLst>
          </p:cNvPr>
          <p:cNvSpPr txBox="1"/>
          <p:nvPr/>
        </p:nvSpPr>
        <p:spPr>
          <a:xfrm>
            <a:off x="8526780" y="2148115"/>
            <a:ext cx="3724366" cy="1200329"/>
          </a:xfrm>
          <a:prstGeom prst="rect">
            <a:avLst/>
          </a:prstGeom>
          <a:noFill/>
        </p:spPr>
        <p:txBody>
          <a:bodyPr wrap="square" rtlCol="0">
            <a:spAutoFit/>
          </a:bodyPr>
          <a:lstStyle/>
          <a:p>
            <a:r>
              <a:rPr lang="en-GB" dirty="0"/>
              <a:t>What counts as a “work”?</a:t>
            </a:r>
          </a:p>
          <a:p>
            <a:r>
              <a:rPr lang="en-GB" dirty="0"/>
              <a:t>e.g. </a:t>
            </a:r>
            <a:r>
              <a:rPr lang="en-GB" i="1" dirty="0"/>
              <a:t>Creation records</a:t>
            </a:r>
          </a:p>
          <a:p>
            <a:endParaRPr lang="en-GB" dirty="0"/>
          </a:p>
          <a:p>
            <a:endParaRPr lang="en-GB" dirty="0"/>
          </a:p>
        </p:txBody>
      </p:sp>
      <p:pic>
        <p:nvPicPr>
          <p:cNvPr id="13" name="Picture 2" descr="Be Here Now (Remastered)&quot;. Album of Oasis buy or stream. | HIGHRESAUDIO">
            <a:extLst>
              <a:ext uri="{FF2B5EF4-FFF2-40B4-BE49-F238E27FC236}">
                <a16:creationId xmlns:a16="http://schemas.microsoft.com/office/drawing/2014/main" id="{B681E422-4EC3-E36F-8B52-2AAD2F0732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8700" y="3122263"/>
            <a:ext cx="3060700" cy="306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630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BA569-7553-F052-16A9-D5E7D48BC9AA}"/>
              </a:ext>
            </a:extLst>
          </p:cNvPr>
          <p:cNvSpPr>
            <a:spLocks noGrp="1"/>
          </p:cNvSpPr>
          <p:nvPr>
            <p:ph type="title"/>
          </p:nvPr>
        </p:nvSpPr>
        <p:spPr/>
        <p:txBody>
          <a:bodyPr/>
          <a:lstStyle/>
          <a:p>
            <a:r>
              <a:rPr lang="en-GB" dirty="0"/>
              <a:t>Dramatic works</a:t>
            </a:r>
          </a:p>
        </p:txBody>
      </p:sp>
      <p:sp>
        <p:nvSpPr>
          <p:cNvPr id="3" name="Content Placeholder 2">
            <a:extLst>
              <a:ext uri="{FF2B5EF4-FFF2-40B4-BE49-F238E27FC236}">
                <a16:creationId xmlns:a16="http://schemas.microsoft.com/office/drawing/2014/main" id="{97C5106D-DB4B-9F89-F07B-8616FD5BA55D}"/>
              </a:ext>
            </a:extLst>
          </p:cNvPr>
          <p:cNvSpPr>
            <a:spLocks noGrp="1"/>
          </p:cNvSpPr>
          <p:nvPr>
            <p:ph idx="1"/>
          </p:nvPr>
        </p:nvSpPr>
        <p:spPr>
          <a:xfrm>
            <a:off x="1097280" y="2138774"/>
            <a:ext cx="10058400" cy="4023360"/>
          </a:xfrm>
        </p:spPr>
        <p:txBody>
          <a:bodyPr/>
          <a:lstStyle/>
          <a:p>
            <a:r>
              <a:rPr lang="en-GB" dirty="0"/>
              <a:t>CDPA 1988: “Capable of being performed”</a:t>
            </a:r>
          </a:p>
          <a:p>
            <a:r>
              <a:rPr lang="en-GB" dirty="0"/>
              <a:t>Must be a unitary performance ,e.g. not only the conditions to perform (</a:t>
            </a:r>
            <a:r>
              <a:rPr lang="en-GB" dirty="0" err="1"/>
              <a:t>Bently</a:t>
            </a:r>
            <a:r>
              <a:rPr lang="en-GB" dirty="0"/>
              <a:t> et al p. 75)</a:t>
            </a:r>
          </a:p>
          <a:p>
            <a:r>
              <a:rPr lang="en-GB" dirty="0"/>
              <a:t>-A diet or exercise routine?</a:t>
            </a:r>
          </a:p>
          <a:p>
            <a:r>
              <a:rPr lang="en-GB" dirty="0"/>
              <a:t>-A TV game show format?</a:t>
            </a:r>
          </a:p>
          <a:p>
            <a:r>
              <a:rPr lang="en-GB" dirty="0"/>
              <a:t>-A video game mechanic? (See</a:t>
            </a:r>
            <a:r>
              <a:rPr lang="en-GB" i="1" dirty="0"/>
              <a:t> Nova Prod v </a:t>
            </a:r>
            <a:r>
              <a:rPr lang="en-GB" i="1" dirty="0" err="1"/>
              <a:t>Mazooma</a:t>
            </a:r>
            <a:r>
              <a:rPr lang="en-GB" i="1" dirty="0"/>
              <a:t> Games</a:t>
            </a:r>
            <a:r>
              <a:rPr lang="en-GB" dirty="0"/>
              <a:t>)</a:t>
            </a:r>
          </a:p>
          <a:p>
            <a:endParaRPr lang="en-GB" dirty="0"/>
          </a:p>
        </p:txBody>
      </p:sp>
      <p:pic>
        <p:nvPicPr>
          <p:cNvPr id="9218" name="Picture 2" descr="Opportunity Knocks (TV Series 1956–1990) - IMDb">
            <a:extLst>
              <a:ext uri="{FF2B5EF4-FFF2-40B4-BE49-F238E27FC236}">
                <a16:creationId xmlns:a16="http://schemas.microsoft.com/office/drawing/2014/main" id="{733A39B6-6F6E-A15C-5372-AFA6CA7C8F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5800" y="3250892"/>
            <a:ext cx="3606800" cy="25527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2E13ED4-3101-B6A9-0A3D-354087589D7A}"/>
              </a:ext>
            </a:extLst>
          </p:cNvPr>
          <p:cNvSpPr txBox="1"/>
          <p:nvPr/>
        </p:nvSpPr>
        <p:spPr>
          <a:xfrm>
            <a:off x="8305800" y="5736686"/>
            <a:ext cx="3505200" cy="646331"/>
          </a:xfrm>
          <a:prstGeom prst="rect">
            <a:avLst/>
          </a:prstGeom>
          <a:noFill/>
        </p:spPr>
        <p:txBody>
          <a:bodyPr wrap="square" rtlCol="0">
            <a:spAutoFit/>
          </a:bodyPr>
          <a:lstStyle/>
          <a:p>
            <a:r>
              <a:rPr lang="en-GB" b="1" i="1" dirty="0"/>
              <a:t>Green v Broadcasting Corp. Of NZ </a:t>
            </a:r>
            <a:r>
              <a:rPr lang="en-GB" b="1" dirty="0"/>
              <a:t>[1989]</a:t>
            </a:r>
          </a:p>
        </p:txBody>
      </p:sp>
    </p:spTree>
    <p:extLst>
      <p:ext uri="{BB962C8B-B14F-4D97-AF65-F5344CB8AC3E}">
        <p14:creationId xmlns:p14="http://schemas.microsoft.com/office/powerpoint/2010/main" val="2087862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n Châlons, Street Art is everywhere | Châlons-en-Champagne – The Tourist  Parenthesis">
            <a:extLst>
              <a:ext uri="{FF2B5EF4-FFF2-40B4-BE49-F238E27FC236}">
                <a16:creationId xmlns:a16="http://schemas.microsoft.com/office/drawing/2014/main" id="{DB05422A-404F-07FB-51C7-52599B0B18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68"/>
          <a:stretch/>
        </p:blipFill>
        <p:spPr bwMode="auto">
          <a:xfrm>
            <a:off x="6299198" y="3635496"/>
            <a:ext cx="5293361" cy="288036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Sword Box Magic Illusion Lady Lydia with Shade Flamewater at Proud Cabaret  - YouTube">
            <a:extLst>
              <a:ext uri="{FF2B5EF4-FFF2-40B4-BE49-F238E27FC236}">
                <a16:creationId xmlns:a16="http://schemas.microsoft.com/office/drawing/2014/main" id="{694EEA43-75C3-D74B-F951-A8456A3E54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750" b="31250"/>
          <a:stretch/>
        </p:blipFill>
        <p:spPr bwMode="auto">
          <a:xfrm>
            <a:off x="680721" y="342144"/>
            <a:ext cx="5119972" cy="2991486"/>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Divine Comedy: 25 Best Stand-Up Specials and Movies">
            <a:extLst>
              <a:ext uri="{FF2B5EF4-FFF2-40B4-BE49-F238E27FC236}">
                <a16:creationId xmlns:a16="http://schemas.microsoft.com/office/drawing/2014/main" id="{9E151687-7283-1FDE-E7F0-F318531887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9198" y="356114"/>
            <a:ext cx="5293361" cy="2977516"/>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The fascinating reason why clowns paint their faces on eggs">
            <a:extLst>
              <a:ext uri="{FF2B5EF4-FFF2-40B4-BE49-F238E27FC236}">
                <a16:creationId xmlns:a16="http://schemas.microsoft.com/office/drawing/2014/main" id="{8AF627D7-52F4-1993-D8B8-549D1E4B56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0721" y="3635495"/>
            <a:ext cx="5120641" cy="2880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5243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F2EB6-5E79-A3BB-64ED-3C9A3DBAEC1B}"/>
              </a:ext>
            </a:extLst>
          </p:cNvPr>
          <p:cNvSpPr>
            <a:spLocks noGrp="1"/>
          </p:cNvSpPr>
          <p:nvPr>
            <p:ph type="title"/>
          </p:nvPr>
        </p:nvSpPr>
        <p:spPr/>
        <p:txBody>
          <a:bodyPr/>
          <a:lstStyle/>
          <a:p>
            <a:r>
              <a:rPr lang="en-GB" dirty="0"/>
              <a:t>Legal means of plugging IP protection gaps</a:t>
            </a:r>
          </a:p>
        </p:txBody>
      </p:sp>
      <p:sp>
        <p:nvSpPr>
          <p:cNvPr id="4" name="Rounded Rectangle 3">
            <a:extLst>
              <a:ext uri="{FF2B5EF4-FFF2-40B4-BE49-F238E27FC236}">
                <a16:creationId xmlns:a16="http://schemas.microsoft.com/office/drawing/2014/main" id="{02AF5451-257D-3954-7D0E-F670382D14AC}"/>
              </a:ext>
            </a:extLst>
          </p:cNvPr>
          <p:cNvSpPr/>
          <p:nvPr/>
        </p:nvSpPr>
        <p:spPr>
          <a:xfrm>
            <a:off x="629920" y="4267200"/>
            <a:ext cx="10789920" cy="1991360"/>
          </a:xfrm>
          <a:prstGeom prst="roundRect">
            <a:avLst/>
          </a:prstGeom>
          <a:solidFill>
            <a:schemeClr val="accent1">
              <a:lumMod val="60000"/>
              <a:lumOff val="40000"/>
              <a:alpha val="6077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A5F76EA0-A8BD-C12A-5404-9665FBCF7D2B}"/>
              </a:ext>
            </a:extLst>
          </p:cNvPr>
          <p:cNvSpPr>
            <a:spLocks noGrp="1"/>
          </p:cNvSpPr>
          <p:nvPr>
            <p:ph idx="1"/>
          </p:nvPr>
        </p:nvSpPr>
        <p:spPr>
          <a:xfrm>
            <a:off x="1097280" y="1744134"/>
            <a:ext cx="10058400" cy="4473786"/>
          </a:xfrm>
        </p:spPr>
        <p:txBody>
          <a:bodyPr>
            <a:normAutofit/>
          </a:bodyPr>
          <a:lstStyle/>
          <a:p>
            <a:endParaRPr lang="en-GB" b="1" dirty="0"/>
          </a:p>
          <a:p>
            <a:r>
              <a:rPr lang="en-GB" b="1" dirty="0"/>
              <a:t>Neighbouring IP rights, e.g. trade mark</a:t>
            </a:r>
          </a:p>
          <a:p>
            <a:r>
              <a:rPr lang="en-GB" b="1" dirty="0"/>
              <a:t>Contracts (e.g. with upstream suppliers / downstream distributors)</a:t>
            </a:r>
          </a:p>
          <a:p>
            <a:r>
              <a:rPr lang="en-GB" b="1" dirty="0"/>
              <a:t>Trade secrecy (legally protected confidential information)</a:t>
            </a:r>
          </a:p>
          <a:p>
            <a:r>
              <a:rPr lang="en-GB" b="1" dirty="0"/>
              <a:t>Bluffing / deterrence</a:t>
            </a:r>
          </a:p>
          <a:p>
            <a:endParaRPr lang="en-GB" b="1" dirty="0"/>
          </a:p>
          <a:p>
            <a:r>
              <a:rPr lang="en-GB" b="1" dirty="0"/>
              <a:t>Speed-to-market</a:t>
            </a:r>
          </a:p>
          <a:p>
            <a:r>
              <a:rPr lang="en-GB" b="1" dirty="0"/>
              <a:t>Complementarity</a:t>
            </a:r>
          </a:p>
          <a:p>
            <a:r>
              <a:rPr lang="en-GB" b="1" dirty="0"/>
              <a:t>Bundling</a:t>
            </a:r>
          </a:p>
          <a:p>
            <a:r>
              <a:rPr lang="en-GB" b="1" dirty="0"/>
              <a:t>Know-how, tacit knowledge</a:t>
            </a:r>
          </a:p>
          <a:p>
            <a:endParaRPr lang="en-GB" b="1" dirty="0"/>
          </a:p>
          <a:p>
            <a:endParaRPr lang="en-GB" b="1" dirty="0"/>
          </a:p>
          <a:p>
            <a:endParaRPr lang="en-GB" b="1" dirty="0"/>
          </a:p>
          <a:p>
            <a:endParaRPr lang="en-GB" b="1" dirty="0"/>
          </a:p>
        </p:txBody>
      </p:sp>
      <p:sp>
        <p:nvSpPr>
          <p:cNvPr id="5" name="TextBox 4">
            <a:extLst>
              <a:ext uri="{FF2B5EF4-FFF2-40B4-BE49-F238E27FC236}">
                <a16:creationId xmlns:a16="http://schemas.microsoft.com/office/drawing/2014/main" id="{22487C38-26A1-E978-1ECD-52BE950E6645}"/>
              </a:ext>
            </a:extLst>
          </p:cNvPr>
          <p:cNvSpPr txBox="1"/>
          <p:nvPr/>
        </p:nvSpPr>
        <p:spPr>
          <a:xfrm>
            <a:off x="7843520" y="5078214"/>
            <a:ext cx="4734560" cy="523220"/>
          </a:xfrm>
          <a:prstGeom prst="rect">
            <a:avLst/>
          </a:prstGeom>
          <a:noFill/>
        </p:spPr>
        <p:txBody>
          <a:bodyPr wrap="square" rtlCol="0">
            <a:spAutoFit/>
          </a:bodyPr>
          <a:lstStyle/>
          <a:p>
            <a:r>
              <a:rPr lang="en-GB" sz="2800" dirty="0"/>
              <a:t>Business strategy</a:t>
            </a:r>
          </a:p>
        </p:txBody>
      </p:sp>
    </p:spTree>
    <p:extLst>
      <p:ext uri="{BB962C8B-B14F-4D97-AF65-F5344CB8AC3E}">
        <p14:creationId xmlns:p14="http://schemas.microsoft.com/office/powerpoint/2010/main" val="1726255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FB19D-D9A1-D323-B033-3ED231A9BDFF}"/>
              </a:ext>
            </a:extLst>
          </p:cNvPr>
          <p:cNvSpPr>
            <a:spLocks noGrp="1"/>
          </p:cNvSpPr>
          <p:nvPr>
            <p:ph type="title" idx="4294967295"/>
          </p:nvPr>
        </p:nvSpPr>
        <p:spPr>
          <a:xfrm>
            <a:off x="72570" y="-365125"/>
            <a:ext cx="10058400" cy="1450975"/>
          </a:xfrm>
        </p:spPr>
        <p:txBody>
          <a:bodyPr>
            <a:normAutofit/>
          </a:bodyPr>
          <a:lstStyle/>
          <a:p>
            <a:r>
              <a:rPr lang="en-GB" sz="4400" dirty="0"/>
              <a:t>Commons and its tragedy</a:t>
            </a:r>
          </a:p>
        </p:txBody>
      </p:sp>
      <p:sp>
        <p:nvSpPr>
          <p:cNvPr id="5" name="TextBox 4">
            <a:extLst>
              <a:ext uri="{FF2B5EF4-FFF2-40B4-BE49-F238E27FC236}">
                <a16:creationId xmlns:a16="http://schemas.microsoft.com/office/drawing/2014/main" id="{1035D931-ADD0-FF04-F0BB-B3F18429235A}"/>
              </a:ext>
            </a:extLst>
          </p:cNvPr>
          <p:cNvSpPr txBox="1"/>
          <p:nvPr/>
        </p:nvSpPr>
        <p:spPr>
          <a:xfrm>
            <a:off x="3384730" y="3425037"/>
            <a:ext cx="6096000" cy="369332"/>
          </a:xfrm>
          <a:prstGeom prst="rect">
            <a:avLst/>
          </a:prstGeom>
          <a:noFill/>
        </p:spPr>
        <p:txBody>
          <a:bodyPr wrap="square">
            <a:spAutoFit/>
          </a:bodyPr>
          <a:lstStyle/>
          <a:p>
            <a:r>
              <a:rPr lang="en-GB" dirty="0"/>
              <a:t> </a:t>
            </a:r>
          </a:p>
        </p:txBody>
      </p:sp>
      <p:sp>
        <p:nvSpPr>
          <p:cNvPr id="7" name="TextBox 6">
            <a:extLst>
              <a:ext uri="{FF2B5EF4-FFF2-40B4-BE49-F238E27FC236}">
                <a16:creationId xmlns:a16="http://schemas.microsoft.com/office/drawing/2014/main" id="{AA1854F4-E3BE-E85F-1575-E31B5A72D66B}"/>
              </a:ext>
            </a:extLst>
          </p:cNvPr>
          <p:cNvSpPr txBox="1"/>
          <p:nvPr/>
        </p:nvSpPr>
        <p:spPr>
          <a:xfrm>
            <a:off x="3384730" y="3425037"/>
            <a:ext cx="6096000" cy="369332"/>
          </a:xfrm>
          <a:prstGeom prst="rect">
            <a:avLst/>
          </a:prstGeom>
          <a:noFill/>
        </p:spPr>
        <p:txBody>
          <a:bodyPr wrap="square">
            <a:spAutoFit/>
          </a:bodyPr>
          <a:lstStyle/>
          <a:p>
            <a:r>
              <a:rPr lang="en-GB" dirty="0"/>
              <a:t> </a:t>
            </a:r>
          </a:p>
        </p:txBody>
      </p:sp>
      <p:sp>
        <p:nvSpPr>
          <p:cNvPr id="10" name="Google Shape;140;p8">
            <a:extLst>
              <a:ext uri="{FF2B5EF4-FFF2-40B4-BE49-F238E27FC236}">
                <a16:creationId xmlns:a16="http://schemas.microsoft.com/office/drawing/2014/main" id="{13DC9370-0BE5-BD64-E747-1E5219917939}"/>
              </a:ext>
            </a:extLst>
          </p:cNvPr>
          <p:cNvSpPr/>
          <p:nvPr/>
        </p:nvSpPr>
        <p:spPr>
          <a:xfrm>
            <a:off x="2535601" y="1556767"/>
            <a:ext cx="5997208" cy="4475203"/>
          </a:xfrm>
          <a:custGeom>
            <a:avLst/>
            <a:gdLst/>
            <a:ahLst/>
            <a:cxnLst/>
            <a:rect l="l" t="t" r="r" b="b"/>
            <a:pathLst>
              <a:path w="6554326" h="4786313" extrusionOk="0">
                <a:moveTo>
                  <a:pt x="4265088" y="14288"/>
                </a:moveTo>
                <a:lnTo>
                  <a:pt x="4265088" y="14288"/>
                </a:lnTo>
                <a:cubicBezTo>
                  <a:pt x="3730170" y="73721"/>
                  <a:pt x="4080168" y="40115"/>
                  <a:pt x="2879200" y="14288"/>
                </a:cubicBezTo>
                <a:cubicBezTo>
                  <a:pt x="2854922" y="13766"/>
                  <a:pt x="2831575" y="4763"/>
                  <a:pt x="2807763" y="0"/>
                </a:cubicBezTo>
                <a:cubicBezTo>
                  <a:pt x="2588688" y="4763"/>
                  <a:pt x="2369315" y="1904"/>
                  <a:pt x="2150538" y="14288"/>
                </a:cubicBezTo>
                <a:cubicBezTo>
                  <a:pt x="2080667" y="18243"/>
                  <a:pt x="2050440" y="46076"/>
                  <a:pt x="1993375" y="71438"/>
                </a:cubicBezTo>
                <a:cubicBezTo>
                  <a:pt x="1966188" y="83521"/>
                  <a:pt x="1912072" y="104872"/>
                  <a:pt x="1879075" y="114300"/>
                </a:cubicBezTo>
                <a:cubicBezTo>
                  <a:pt x="1831225" y="127971"/>
                  <a:pt x="1781465" y="134530"/>
                  <a:pt x="1736200" y="157163"/>
                </a:cubicBezTo>
                <a:cubicBezTo>
                  <a:pt x="1717150" y="166688"/>
                  <a:pt x="1698825" y="177828"/>
                  <a:pt x="1679050" y="185738"/>
                </a:cubicBezTo>
                <a:cubicBezTo>
                  <a:pt x="1651084" y="196925"/>
                  <a:pt x="1618387" y="197605"/>
                  <a:pt x="1593325" y="214313"/>
                </a:cubicBezTo>
                <a:cubicBezTo>
                  <a:pt x="1579038" y="223838"/>
                  <a:pt x="1566600" y="237020"/>
                  <a:pt x="1550463" y="242888"/>
                </a:cubicBezTo>
                <a:cubicBezTo>
                  <a:pt x="1513555" y="256309"/>
                  <a:pt x="1436163" y="271463"/>
                  <a:pt x="1436163" y="271463"/>
                </a:cubicBezTo>
                <a:cubicBezTo>
                  <a:pt x="1309815" y="366224"/>
                  <a:pt x="1367044" y="342128"/>
                  <a:pt x="1279000" y="371475"/>
                </a:cubicBezTo>
                <a:cubicBezTo>
                  <a:pt x="1078337" y="572143"/>
                  <a:pt x="1395637" y="245800"/>
                  <a:pt x="1207563" y="471488"/>
                </a:cubicBezTo>
                <a:cubicBezTo>
                  <a:pt x="1173069" y="512881"/>
                  <a:pt x="1129810" y="546196"/>
                  <a:pt x="1093263" y="585788"/>
                </a:cubicBezTo>
                <a:cubicBezTo>
                  <a:pt x="993077" y="694323"/>
                  <a:pt x="1085655" y="627500"/>
                  <a:pt x="964675" y="700088"/>
                </a:cubicBezTo>
                <a:cubicBezTo>
                  <a:pt x="940863" y="728663"/>
                  <a:pt x="917950" y="758012"/>
                  <a:pt x="893238" y="785813"/>
                </a:cubicBezTo>
                <a:cubicBezTo>
                  <a:pt x="844016" y="841187"/>
                  <a:pt x="850148" y="817608"/>
                  <a:pt x="807513" y="885825"/>
                </a:cubicBezTo>
                <a:cubicBezTo>
                  <a:pt x="796225" y="903886"/>
                  <a:pt x="789505" y="924483"/>
                  <a:pt x="778938" y="942975"/>
                </a:cubicBezTo>
                <a:cubicBezTo>
                  <a:pt x="770419" y="957884"/>
                  <a:pt x="758042" y="970479"/>
                  <a:pt x="750363" y="985838"/>
                </a:cubicBezTo>
                <a:cubicBezTo>
                  <a:pt x="743628" y="999308"/>
                  <a:pt x="744057" y="1015929"/>
                  <a:pt x="736075" y="1028700"/>
                </a:cubicBezTo>
                <a:cubicBezTo>
                  <a:pt x="719913" y="1054560"/>
                  <a:pt x="694290" y="1073797"/>
                  <a:pt x="678925" y="1100138"/>
                </a:cubicBezTo>
                <a:cubicBezTo>
                  <a:pt x="660650" y="1131467"/>
                  <a:pt x="651072" y="1167131"/>
                  <a:pt x="636063" y="1200150"/>
                </a:cubicBezTo>
                <a:cubicBezTo>
                  <a:pt x="627250" y="1219539"/>
                  <a:pt x="617013" y="1238250"/>
                  <a:pt x="607488" y="1257300"/>
                </a:cubicBezTo>
                <a:cubicBezTo>
                  <a:pt x="574997" y="1419752"/>
                  <a:pt x="618856" y="1220354"/>
                  <a:pt x="550338" y="1443038"/>
                </a:cubicBezTo>
                <a:cubicBezTo>
                  <a:pt x="539933" y="1476855"/>
                  <a:pt x="528633" y="1569286"/>
                  <a:pt x="521763" y="1600200"/>
                </a:cubicBezTo>
                <a:cubicBezTo>
                  <a:pt x="518496" y="1614902"/>
                  <a:pt x="512238" y="1628775"/>
                  <a:pt x="507475" y="1643063"/>
                </a:cubicBezTo>
                <a:cubicBezTo>
                  <a:pt x="502713" y="1685925"/>
                  <a:pt x="499287" y="1728957"/>
                  <a:pt x="493188" y="1771650"/>
                </a:cubicBezTo>
                <a:cubicBezTo>
                  <a:pt x="484994" y="1829006"/>
                  <a:pt x="471800" y="1885609"/>
                  <a:pt x="464613" y="1943100"/>
                </a:cubicBezTo>
                <a:cubicBezTo>
                  <a:pt x="459850" y="1981200"/>
                  <a:pt x="454811" y="2019266"/>
                  <a:pt x="450325" y="2057400"/>
                </a:cubicBezTo>
                <a:cubicBezTo>
                  <a:pt x="445286" y="2100231"/>
                  <a:pt x="441387" y="2143195"/>
                  <a:pt x="436038" y="2185988"/>
                </a:cubicBezTo>
                <a:cubicBezTo>
                  <a:pt x="431861" y="2219404"/>
                  <a:pt x="428354" y="2252978"/>
                  <a:pt x="421750" y="2286000"/>
                </a:cubicBezTo>
                <a:cubicBezTo>
                  <a:pt x="417627" y="2306613"/>
                  <a:pt x="381937" y="2394202"/>
                  <a:pt x="378888" y="2400300"/>
                </a:cubicBezTo>
                <a:cubicBezTo>
                  <a:pt x="371209" y="2415659"/>
                  <a:pt x="359414" y="2428602"/>
                  <a:pt x="350313" y="2443163"/>
                </a:cubicBezTo>
                <a:cubicBezTo>
                  <a:pt x="335595" y="2466712"/>
                  <a:pt x="323591" y="2492003"/>
                  <a:pt x="307450" y="2514600"/>
                </a:cubicBezTo>
                <a:cubicBezTo>
                  <a:pt x="293389" y="2534285"/>
                  <a:pt x="207045" y="2636731"/>
                  <a:pt x="178863" y="2686050"/>
                </a:cubicBezTo>
                <a:cubicBezTo>
                  <a:pt x="168296" y="2704542"/>
                  <a:pt x="156641" y="2722871"/>
                  <a:pt x="150288" y="2743200"/>
                </a:cubicBezTo>
                <a:cubicBezTo>
                  <a:pt x="132717" y="2799427"/>
                  <a:pt x="121713" y="2857500"/>
                  <a:pt x="107425" y="2914650"/>
                </a:cubicBezTo>
                <a:lnTo>
                  <a:pt x="93138" y="2971800"/>
                </a:lnTo>
                <a:cubicBezTo>
                  <a:pt x="88375" y="2990850"/>
                  <a:pt x="82701" y="3009695"/>
                  <a:pt x="78850" y="3028950"/>
                </a:cubicBezTo>
                <a:cubicBezTo>
                  <a:pt x="74088" y="3052763"/>
                  <a:pt x="69831" y="3076682"/>
                  <a:pt x="64563" y="3100388"/>
                </a:cubicBezTo>
                <a:cubicBezTo>
                  <a:pt x="60303" y="3119557"/>
                  <a:pt x="53788" y="3138218"/>
                  <a:pt x="50275" y="3157538"/>
                </a:cubicBezTo>
                <a:cubicBezTo>
                  <a:pt x="16146" y="3345247"/>
                  <a:pt x="54107" y="3185079"/>
                  <a:pt x="21700" y="3314700"/>
                </a:cubicBezTo>
                <a:cubicBezTo>
                  <a:pt x="-8492" y="3616631"/>
                  <a:pt x="-5949" y="3531389"/>
                  <a:pt x="21700" y="4029075"/>
                </a:cubicBezTo>
                <a:cubicBezTo>
                  <a:pt x="25436" y="4096323"/>
                  <a:pt x="15623" y="4171346"/>
                  <a:pt x="50275" y="4229100"/>
                </a:cubicBezTo>
                <a:cubicBezTo>
                  <a:pt x="52187" y="4232286"/>
                  <a:pt x="108518" y="4328739"/>
                  <a:pt x="121713" y="4343400"/>
                </a:cubicBezTo>
                <a:cubicBezTo>
                  <a:pt x="153252" y="4378444"/>
                  <a:pt x="195573" y="4404185"/>
                  <a:pt x="221725" y="4443413"/>
                </a:cubicBezTo>
                <a:cubicBezTo>
                  <a:pt x="269505" y="4515082"/>
                  <a:pt x="316185" y="4597245"/>
                  <a:pt x="393175" y="4643438"/>
                </a:cubicBezTo>
                <a:cubicBezTo>
                  <a:pt x="529501" y="4725232"/>
                  <a:pt x="393533" y="4653082"/>
                  <a:pt x="578913" y="4714875"/>
                </a:cubicBezTo>
                <a:cubicBezTo>
                  <a:pt x="816596" y="4794103"/>
                  <a:pt x="632838" y="4757199"/>
                  <a:pt x="807513" y="4786313"/>
                </a:cubicBezTo>
                <a:cubicBezTo>
                  <a:pt x="1117075" y="4757738"/>
                  <a:pt x="1428510" y="4744997"/>
                  <a:pt x="1736200" y="4700588"/>
                </a:cubicBezTo>
                <a:cubicBezTo>
                  <a:pt x="1891679" y="4678148"/>
                  <a:pt x="2042354" y="4629444"/>
                  <a:pt x="2193400" y="4586288"/>
                </a:cubicBezTo>
                <a:cubicBezTo>
                  <a:pt x="2200070" y="4584382"/>
                  <a:pt x="2323335" y="4547963"/>
                  <a:pt x="2350563" y="4543425"/>
                </a:cubicBezTo>
                <a:cubicBezTo>
                  <a:pt x="2388437" y="4537113"/>
                  <a:pt x="2426591" y="4532224"/>
                  <a:pt x="2464863" y="4529138"/>
                </a:cubicBezTo>
                <a:lnTo>
                  <a:pt x="3236388" y="4471988"/>
                </a:lnTo>
                <a:cubicBezTo>
                  <a:pt x="3607486" y="4375180"/>
                  <a:pt x="3454493" y="4410820"/>
                  <a:pt x="3693588" y="4357688"/>
                </a:cubicBezTo>
                <a:cubicBezTo>
                  <a:pt x="3788838" y="4371975"/>
                  <a:pt x="3887493" y="4371546"/>
                  <a:pt x="3979338" y="4400550"/>
                </a:cubicBezTo>
                <a:cubicBezTo>
                  <a:pt x="4070733" y="4429411"/>
                  <a:pt x="4156766" y="4475974"/>
                  <a:pt x="4236513" y="4529138"/>
                </a:cubicBezTo>
                <a:cubicBezTo>
                  <a:pt x="4300364" y="4571706"/>
                  <a:pt x="4304745" y="4585486"/>
                  <a:pt x="4365100" y="4600575"/>
                </a:cubicBezTo>
                <a:cubicBezTo>
                  <a:pt x="4500730" y="4634483"/>
                  <a:pt x="4607859" y="4622311"/>
                  <a:pt x="4765150" y="4629150"/>
                </a:cubicBezTo>
                <a:cubicBezTo>
                  <a:pt x="4922793" y="4660679"/>
                  <a:pt x="4861949" y="4642366"/>
                  <a:pt x="4950888" y="4672013"/>
                </a:cubicBezTo>
                <a:cubicBezTo>
                  <a:pt x="5050900" y="4667250"/>
                  <a:pt x="5153022" y="4678704"/>
                  <a:pt x="5250925" y="4657725"/>
                </a:cubicBezTo>
                <a:cubicBezTo>
                  <a:pt x="5290984" y="4649141"/>
                  <a:pt x="5316588" y="4608615"/>
                  <a:pt x="5350938" y="4586288"/>
                </a:cubicBezTo>
                <a:cubicBezTo>
                  <a:pt x="5411890" y="4546669"/>
                  <a:pt x="5474645" y="4509896"/>
                  <a:pt x="5536675" y="4471988"/>
                </a:cubicBezTo>
                <a:cubicBezTo>
                  <a:pt x="5560371" y="4457507"/>
                  <a:pt x="5583275" y="4441544"/>
                  <a:pt x="5608113" y="4429125"/>
                </a:cubicBezTo>
                <a:cubicBezTo>
                  <a:pt x="5680621" y="4392871"/>
                  <a:pt x="5647542" y="4412364"/>
                  <a:pt x="5708125" y="4371975"/>
                </a:cubicBezTo>
                <a:cubicBezTo>
                  <a:pt x="5739011" y="4279322"/>
                  <a:pt x="5698924" y="4383114"/>
                  <a:pt x="5779563" y="4257675"/>
                </a:cubicBezTo>
                <a:cubicBezTo>
                  <a:pt x="5806078" y="4216430"/>
                  <a:pt x="5824817" y="4170545"/>
                  <a:pt x="5851000" y="4129088"/>
                </a:cubicBezTo>
                <a:cubicBezTo>
                  <a:pt x="5882043" y="4079937"/>
                  <a:pt x="5923176" y="4037248"/>
                  <a:pt x="5951013" y="3986213"/>
                </a:cubicBezTo>
                <a:cubicBezTo>
                  <a:pt x="6009155" y="3879618"/>
                  <a:pt x="6056828" y="3767629"/>
                  <a:pt x="6108175" y="3657600"/>
                </a:cubicBezTo>
                <a:cubicBezTo>
                  <a:pt x="6123513" y="3624733"/>
                  <a:pt x="6139569" y="3591997"/>
                  <a:pt x="6151038" y="3557588"/>
                </a:cubicBezTo>
                <a:cubicBezTo>
                  <a:pt x="6165325" y="3514725"/>
                  <a:pt x="6177120" y="3470950"/>
                  <a:pt x="6193900" y="3429000"/>
                </a:cubicBezTo>
                <a:cubicBezTo>
                  <a:pt x="6205765" y="3399337"/>
                  <a:pt x="6225121" y="3373026"/>
                  <a:pt x="6236763" y="3343275"/>
                </a:cubicBezTo>
                <a:cubicBezTo>
                  <a:pt x="6268049" y="3263321"/>
                  <a:pt x="6293913" y="3181350"/>
                  <a:pt x="6322488" y="3100388"/>
                </a:cubicBezTo>
                <a:cubicBezTo>
                  <a:pt x="6341538" y="2990850"/>
                  <a:pt x="6361723" y="2881504"/>
                  <a:pt x="6379638" y="2771775"/>
                </a:cubicBezTo>
                <a:cubicBezTo>
                  <a:pt x="6440859" y="2396798"/>
                  <a:pt x="6464823" y="2340153"/>
                  <a:pt x="6493938" y="2157413"/>
                </a:cubicBezTo>
                <a:cubicBezTo>
                  <a:pt x="6523053" y="1974673"/>
                  <a:pt x="6542959" y="1970095"/>
                  <a:pt x="6554326" y="1675332"/>
                </a:cubicBezTo>
                <a:cubicBezTo>
                  <a:pt x="6483018" y="1486669"/>
                  <a:pt x="6447028" y="1313415"/>
                  <a:pt x="6395403" y="1157289"/>
                </a:cubicBezTo>
                <a:cubicBezTo>
                  <a:pt x="6343778" y="1001163"/>
                  <a:pt x="6304354" y="840971"/>
                  <a:pt x="6244576" y="738577"/>
                </a:cubicBezTo>
                <a:cubicBezTo>
                  <a:pt x="6184799" y="636183"/>
                  <a:pt x="6086451" y="591473"/>
                  <a:pt x="6036738" y="542925"/>
                </a:cubicBezTo>
                <a:cubicBezTo>
                  <a:pt x="5987025" y="494377"/>
                  <a:pt x="5978245" y="489883"/>
                  <a:pt x="5946297" y="447286"/>
                </a:cubicBezTo>
                <a:cubicBezTo>
                  <a:pt x="5926091" y="420345"/>
                  <a:pt x="5931177" y="388873"/>
                  <a:pt x="5908150" y="371475"/>
                </a:cubicBezTo>
                <a:cubicBezTo>
                  <a:pt x="5885124" y="354077"/>
                  <a:pt x="5841030" y="353864"/>
                  <a:pt x="5808138" y="342900"/>
                </a:cubicBezTo>
                <a:cubicBezTo>
                  <a:pt x="5769535" y="330033"/>
                  <a:pt x="5732441" y="312906"/>
                  <a:pt x="5693838" y="300038"/>
                </a:cubicBezTo>
                <a:cubicBezTo>
                  <a:pt x="5629714" y="278663"/>
                  <a:pt x="5543837" y="260756"/>
                  <a:pt x="5479525" y="228600"/>
                </a:cubicBezTo>
                <a:cubicBezTo>
                  <a:pt x="5454687" y="216181"/>
                  <a:pt x="5430920" y="201545"/>
                  <a:pt x="5408088" y="185738"/>
                </a:cubicBezTo>
                <a:cubicBezTo>
                  <a:pt x="5368931" y="158629"/>
                  <a:pt x="5341217" y="104325"/>
                  <a:pt x="5293788" y="100013"/>
                </a:cubicBezTo>
                <a:lnTo>
                  <a:pt x="4979463" y="71438"/>
                </a:lnTo>
                <a:lnTo>
                  <a:pt x="4836588" y="42863"/>
                </a:lnTo>
                <a:cubicBezTo>
                  <a:pt x="4808115" y="37524"/>
                  <a:pt x="4779270" y="34256"/>
                  <a:pt x="4750863" y="28575"/>
                </a:cubicBezTo>
                <a:cubicBezTo>
                  <a:pt x="4537727" y="-14052"/>
                  <a:pt x="4901744" y="48961"/>
                  <a:pt x="4607988" y="0"/>
                </a:cubicBezTo>
                <a:cubicBezTo>
                  <a:pt x="4507975" y="4763"/>
                  <a:pt x="4406595" y="-2868"/>
                  <a:pt x="4307950" y="14288"/>
                </a:cubicBezTo>
                <a:cubicBezTo>
                  <a:pt x="4291033" y="17230"/>
                  <a:pt x="4272232" y="14288"/>
                  <a:pt x="4265088" y="14288"/>
                </a:cubicBezTo>
                <a:close/>
              </a:path>
            </a:pathLst>
          </a:custGeom>
          <a:gradFill>
            <a:gsLst>
              <a:gs pos="0">
                <a:srgbClr val="9FC3FF"/>
              </a:gs>
              <a:gs pos="35000">
                <a:srgbClr val="BDD5FF"/>
              </a:gs>
              <a:gs pos="100000">
                <a:srgbClr val="E4EEFF"/>
              </a:gs>
            </a:gsLst>
            <a:lin ang="16200000" scaled="0"/>
          </a:gradFill>
          <a:ln w="28575"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just" rtl="0">
              <a:spcBef>
                <a:spcPts val="0"/>
              </a:spcBef>
              <a:spcAft>
                <a:spcPts val="0"/>
              </a:spcAft>
              <a:buNone/>
            </a:pPr>
            <a:endParaRPr sz="1800">
              <a:solidFill>
                <a:schemeClr val="dk1"/>
              </a:solidFill>
              <a:latin typeface="Calibri"/>
              <a:ea typeface="Calibri"/>
              <a:cs typeface="Calibri"/>
              <a:sym typeface="Calibri"/>
            </a:endParaRPr>
          </a:p>
        </p:txBody>
      </p:sp>
      <p:grpSp>
        <p:nvGrpSpPr>
          <p:cNvPr id="11" name="Google Shape;142;p8">
            <a:extLst>
              <a:ext uri="{FF2B5EF4-FFF2-40B4-BE49-F238E27FC236}">
                <a16:creationId xmlns:a16="http://schemas.microsoft.com/office/drawing/2014/main" id="{26D4DAB1-9663-15B9-2807-DD6707F5AE8F}"/>
              </a:ext>
            </a:extLst>
          </p:cNvPr>
          <p:cNvGrpSpPr/>
          <p:nvPr/>
        </p:nvGrpSpPr>
        <p:grpSpPr>
          <a:xfrm rot="18076159">
            <a:off x="2212607" y="1692286"/>
            <a:ext cx="1268829" cy="897676"/>
            <a:chOff x="554108" y="590862"/>
            <a:chExt cx="1268856" cy="897696"/>
          </a:xfrm>
        </p:grpSpPr>
        <p:sp>
          <p:nvSpPr>
            <p:cNvPr id="12" name="Google Shape;143;p8">
              <a:extLst>
                <a:ext uri="{FF2B5EF4-FFF2-40B4-BE49-F238E27FC236}">
                  <a16:creationId xmlns:a16="http://schemas.microsoft.com/office/drawing/2014/main" id="{AD32BF16-0034-ECDC-2F50-B3BBDF0759B2}"/>
                </a:ext>
              </a:extLst>
            </p:cNvPr>
            <p:cNvSpPr/>
            <p:nvPr/>
          </p:nvSpPr>
          <p:spPr>
            <a:xfrm>
              <a:off x="701749" y="913939"/>
              <a:ext cx="382772" cy="574619"/>
            </a:xfrm>
            <a:prstGeom prst="downArrow">
              <a:avLst>
                <a:gd name="adj1" fmla="val 50000"/>
                <a:gd name="adj2" fmla="val 50000"/>
              </a:avLst>
            </a:prstGeom>
            <a:solidFill>
              <a:schemeClr val="accent2"/>
            </a:solidFill>
            <a:ln w="9525" cap="flat" cmpd="sng">
              <a:solidFill>
                <a:srgbClr val="7C5F9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 name="Google Shape;144;p8">
              <a:extLst>
                <a:ext uri="{FF2B5EF4-FFF2-40B4-BE49-F238E27FC236}">
                  <a16:creationId xmlns:a16="http://schemas.microsoft.com/office/drawing/2014/main" id="{EDBAE9EA-3F3D-5F76-B9CE-2E5D8E097157}"/>
                </a:ext>
              </a:extLst>
            </p:cNvPr>
            <p:cNvSpPr/>
            <p:nvPr/>
          </p:nvSpPr>
          <p:spPr>
            <a:xfrm rot="10800000">
              <a:off x="1105786" y="913938"/>
              <a:ext cx="382772" cy="574619"/>
            </a:xfrm>
            <a:prstGeom prst="downArrow">
              <a:avLst>
                <a:gd name="adj1" fmla="val 50000"/>
                <a:gd name="adj2" fmla="val 50000"/>
              </a:avLst>
            </a:prstGeom>
            <a:solidFill>
              <a:schemeClr val="accent2"/>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 name="Google Shape;145;p8">
              <a:extLst>
                <a:ext uri="{FF2B5EF4-FFF2-40B4-BE49-F238E27FC236}">
                  <a16:creationId xmlns:a16="http://schemas.microsoft.com/office/drawing/2014/main" id="{2AA7FCCE-DED9-A783-1502-482196C8F36E}"/>
                </a:ext>
              </a:extLst>
            </p:cNvPr>
            <p:cNvSpPr txBox="1"/>
            <p:nvPr/>
          </p:nvSpPr>
          <p:spPr>
            <a:xfrm>
              <a:off x="554108" y="590862"/>
              <a:ext cx="1268856" cy="3769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50" b="1" dirty="0">
                  <a:solidFill>
                    <a:schemeClr val="dk1"/>
                  </a:solidFill>
                  <a:latin typeface="Avenir"/>
                  <a:ea typeface="Avenir"/>
                  <a:cs typeface="Avenir"/>
                  <a:sym typeface="Avenir"/>
                </a:rPr>
                <a:t>Free rider</a:t>
              </a:r>
              <a:endParaRPr sz="1850" b="1" dirty="0">
                <a:solidFill>
                  <a:schemeClr val="dk1"/>
                </a:solidFill>
                <a:latin typeface="Avenir"/>
                <a:ea typeface="Avenir"/>
                <a:cs typeface="Avenir"/>
                <a:sym typeface="Avenir"/>
              </a:endParaRPr>
            </a:p>
          </p:txBody>
        </p:sp>
      </p:grpSp>
      <p:grpSp>
        <p:nvGrpSpPr>
          <p:cNvPr id="15" name="Google Shape;146;p8">
            <a:extLst>
              <a:ext uri="{FF2B5EF4-FFF2-40B4-BE49-F238E27FC236}">
                <a16:creationId xmlns:a16="http://schemas.microsoft.com/office/drawing/2014/main" id="{B96A17F6-E624-DF33-A5D5-94E768A3A81C}"/>
              </a:ext>
            </a:extLst>
          </p:cNvPr>
          <p:cNvGrpSpPr/>
          <p:nvPr/>
        </p:nvGrpSpPr>
        <p:grpSpPr>
          <a:xfrm rot="3896660">
            <a:off x="8236332" y="1963547"/>
            <a:ext cx="1344242" cy="935612"/>
            <a:chOff x="701749" y="552949"/>
            <a:chExt cx="1344237" cy="935609"/>
          </a:xfrm>
        </p:grpSpPr>
        <p:sp>
          <p:nvSpPr>
            <p:cNvPr id="16" name="Google Shape;147;p8">
              <a:extLst>
                <a:ext uri="{FF2B5EF4-FFF2-40B4-BE49-F238E27FC236}">
                  <a16:creationId xmlns:a16="http://schemas.microsoft.com/office/drawing/2014/main" id="{AD9B716C-F963-48EA-ED55-E2795E463830}"/>
                </a:ext>
              </a:extLst>
            </p:cNvPr>
            <p:cNvSpPr/>
            <p:nvPr/>
          </p:nvSpPr>
          <p:spPr>
            <a:xfrm>
              <a:off x="701749" y="913939"/>
              <a:ext cx="382772" cy="574619"/>
            </a:xfrm>
            <a:prstGeom prst="downArrow">
              <a:avLst>
                <a:gd name="adj1" fmla="val 50000"/>
                <a:gd name="adj2" fmla="val 50000"/>
              </a:avLst>
            </a:prstGeom>
            <a:solidFill>
              <a:schemeClr val="accent2"/>
            </a:solidFill>
            <a:ln w="9525" cap="flat" cmpd="sng">
              <a:solidFill>
                <a:srgbClr val="7C5F9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 name="Google Shape;148;p8">
              <a:extLst>
                <a:ext uri="{FF2B5EF4-FFF2-40B4-BE49-F238E27FC236}">
                  <a16:creationId xmlns:a16="http://schemas.microsoft.com/office/drawing/2014/main" id="{24B0EA9C-FAAA-9556-AF58-358039139A1C}"/>
                </a:ext>
              </a:extLst>
            </p:cNvPr>
            <p:cNvSpPr/>
            <p:nvPr/>
          </p:nvSpPr>
          <p:spPr>
            <a:xfrm rot="10800000">
              <a:off x="1105786" y="913938"/>
              <a:ext cx="382772" cy="574619"/>
            </a:xfrm>
            <a:prstGeom prst="downArrow">
              <a:avLst>
                <a:gd name="adj1" fmla="val 50000"/>
                <a:gd name="adj2" fmla="val 50000"/>
              </a:avLst>
            </a:prstGeom>
            <a:solidFill>
              <a:schemeClr val="accent2"/>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 name="Google Shape;149;p8">
              <a:extLst>
                <a:ext uri="{FF2B5EF4-FFF2-40B4-BE49-F238E27FC236}">
                  <a16:creationId xmlns:a16="http://schemas.microsoft.com/office/drawing/2014/main" id="{6E1E90C4-FF16-9967-3F5E-FC8807B4A122}"/>
                </a:ext>
              </a:extLst>
            </p:cNvPr>
            <p:cNvSpPr txBox="1"/>
            <p:nvPr/>
          </p:nvSpPr>
          <p:spPr>
            <a:xfrm>
              <a:off x="744278" y="552949"/>
              <a:ext cx="1301708" cy="3769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50" b="1" dirty="0">
                  <a:solidFill>
                    <a:schemeClr val="dk1"/>
                  </a:solidFill>
                  <a:latin typeface="Avenir"/>
                  <a:ea typeface="Avenir"/>
                  <a:cs typeface="Avenir"/>
                  <a:sym typeface="Avenir"/>
                </a:rPr>
                <a:t>Free rider</a:t>
              </a:r>
              <a:endParaRPr sz="1850" b="1" dirty="0">
                <a:solidFill>
                  <a:schemeClr val="dk1"/>
                </a:solidFill>
                <a:latin typeface="Avenir"/>
                <a:ea typeface="Avenir"/>
                <a:cs typeface="Avenir"/>
                <a:sym typeface="Avenir"/>
              </a:endParaRPr>
            </a:p>
          </p:txBody>
        </p:sp>
      </p:grpSp>
      <p:grpSp>
        <p:nvGrpSpPr>
          <p:cNvPr id="19" name="Google Shape;150;p8">
            <a:extLst>
              <a:ext uri="{FF2B5EF4-FFF2-40B4-BE49-F238E27FC236}">
                <a16:creationId xmlns:a16="http://schemas.microsoft.com/office/drawing/2014/main" id="{64DAE956-07F0-DD58-4736-36A39D1763E8}"/>
              </a:ext>
            </a:extLst>
          </p:cNvPr>
          <p:cNvGrpSpPr/>
          <p:nvPr/>
        </p:nvGrpSpPr>
        <p:grpSpPr>
          <a:xfrm rot="-6076101">
            <a:off x="1370189" y="4750706"/>
            <a:ext cx="1279544" cy="929955"/>
            <a:chOff x="699448" y="558581"/>
            <a:chExt cx="1279574" cy="929977"/>
          </a:xfrm>
        </p:grpSpPr>
        <p:sp>
          <p:nvSpPr>
            <p:cNvPr id="20" name="Google Shape;151;p8">
              <a:extLst>
                <a:ext uri="{FF2B5EF4-FFF2-40B4-BE49-F238E27FC236}">
                  <a16:creationId xmlns:a16="http://schemas.microsoft.com/office/drawing/2014/main" id="{9BEF8170-A655-12A3-26A3-5D12F127E0A9}"/>
                </a:ext>
              </a:extLst>
            </p:cNvPr>
            <p:cNvSpPr/>
            <p:nvPr/>
          </p:nvSpPr>
          <p:spPr>
            <a:xfrm>
              <a:off x="701749" y="913939"/>
              <a:ext cx="382772" cy="574619"/>
            </a:xfrm>
            <a:prstGeom prst="downArrow">
              <a:avLst>
                <a:gd name="adj1" fmla="val 50000"/>
                <a:gd name="adj2" fmla="val 50000"/>
              </a:avLst>
            </a:prstGeom>
            <a:solidFill>
              <a:schemeClr val="accent2"/>
            </a:solidFill>
            <a:ln w="9525" cap="flat" cmpd="sng">
              <a:solidFill>
                <a:srgbClr val="7C5F9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 name="Google Shape;152;p8">
              <a:extLst>
                <a:ext uri="{FF2B5EF4-FFF2-40B4-BE49-F238E27FC236}">
                  <a16:creationId xmlns:a16="http://schemas.microsoft.com/office/drawing/2014/main" id="{F21CA558-68EE-623E-6929-977E1CBD1567}"/>
                </a:ext>
              </a:extLst>
            </p:cNvPr>
            <p:cNvSpPr/>
            <p:nvPr/>
          </p:nvSpPr>
          <p:spPr>
            <a:xfrm rot="10800000">
              <a:off x="1105786" y="913938"/>
              <a:ext cx="382772" cy="574619"/>
            </a:xfrm>
            <a:prstGeom prst="downArrow">
              <a:avLst>
                <a:gd name="adj1" fmla="val 50000"/>
                <a:gd name="adj2" fmla="val 50000"/>
              </a:avLst>
            </a:prstGeom>
            <a:solidFill>
              <a:schemeClr val="accent2"/>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 name="Google Shape;153;p8">
              <a:extLst>
                <a:ext uri="{FF2B5EF4-FFF2-40B4-BE49-F238E27FC236}">
                  <a16:creationId xmlns:a16="http://schemas.microsoft.com/office/drawing/2014/main" id="{7AC42DF0-30EB-BF98-B36A-AD28391851CF}"/>
                </a:ext>
              </a:extLst>
            </p:cNvPr>
            <p:cNvSpPr txBox="1"/>
            <p:nvPr/>
          </p:nvSpPr>
          <p:spPr>
            <a:xfrm>
              <a:off x="699448" y="558581"/>
              <a:ext cx="1279574" cy="3769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50" b="1" dirty="0">
                  <a:solidFill>
                    <a:schemeClr val="dk1"/>
                  </a:solidFill>
                  <a:latin typeface="Avenir"/>
                  <a:ea typeface="Avenir"/>
                  <a:cs typeface="Avenir"/>
                  <a:sym typeface="Avenir"/>
                </a:rPr>
                <a:t>Free rider</a:t>
              </a:r>
              <a:endParaRPr sz="1850" b="1" dirty="0">
                <a:solidFill>
                  <a:schemeClr val="dk1"/>
                </a:solidFill>
                <a:latin typeface="Avenir"/>
                <a:ea typeface="Avenir"/>
                <a:cs typeface="Avenir"/>
                <a:sym typeface="Avenir"/>
              </a:endParaRPr>
            </a:p>
          </p:txBody>
        </p:sp>
      </p:grpSp>
      <p:grpSp>
        <p:nvGrpSpPr>
          <p:cNvPr id="23" name="Google Shape;154;p8">
            <a:extLst>
              <a:ext uri="{FF2B5EF4-FFF2-40B4-BE49-F238E27FC236}">
                <a16:creationId xmlns:a16="http://schemas.microsoft.com/office/drawing/2014/main" id="{CB4C17AB-03C1-A7F9-127C-F880EADB0B7B}"/>
              </a:ext>
            </a:extLst>
          </p:cNvPr>
          <p:cNvGrpSpPr/>
          <p:nvPr/>
        </p:nvGrpSpPr>
        <p:grpSpPr>
          <a:xfrm rot="7068779">
            <a:off x="7711007" y="5133209"/>
            <a:ext cx="1333184" cy="935666"/>
            <a:chOff x="391103" y="552918"/>
            <a:chExt cx="1333146" cy="935640"/>
          </a:xfrm>
        </p:grpSpPr>
        <p:sp>
          <p:nvSpPr>
            <p:cNvPr id="24" name="Google Shape;155;p8">
              <a:extLst>
                <a:ext uri="{FF2B5EF4-FFF2-40B4-BE49-F238E27FC236}">
                  <a16:creationId xmlns:a16="http://schemas.microsoft.com/office/drawing/2014/main" id="{04F4169D-A34C-19BD-C456-5831BB06FFB9}"/>
                </a:ext>
              </a:extLst>
            </p:cNvPr>
            <p:cNvSpPr/>
            <p:nvPr/>
          </p:nvSpPr>
          <p:spPr>
            <a:xfrm>
              <a:off x="701749" y="913939"/>
              <a:ext cx="382772" cy="574619"/>
            </a:xfrm>
            <a:prstGeom prst="downArrow">
              <a:avLst>
                <a:gd name="adj1" fmla="val 50000"/>
                <a:gd name="adj2" fmla="val 50000"/>
              </a:avLst>
            </a:prstGeom>
            <a:solidFill>
              <a:schemeClr val="accent2"/>
            </a:solidFill>
            <a:ln w="9525" cap="flat" cmpd="sng">
              <a:solidFill>
                <a:srgbClr val="7C5F9F"/>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 name="Google Shape;156;p8">
              <a:extLst>
                <a:ext uri="{FF2B5EF4-FFF2-40B4-BE49-F238E27FC236}">
                  <a16:creationId xmlns:a16="http://schemas.microsoft.com/office/drawing/2014/main" id="{4104D94E-558C-36F1-7128-4BBB9DEB4792}"/>
                </a:ext>
              </a:extLst>
            </p:cNvPr>
            <p:cNvSpPr/>
            <p:nvPr/>
          </p:nvSpPr>
          <p:spPr>
            <a:xfrm rot="10800000">
              <a:off x="1105786" y="913938"/>
              <a:ext cx="382772" cy="574619"/>
            </a:xfrm>
            <a:prstGeom prst="downArrow">
              <a:avLst>
                <a:gd name="adj1" fmla="val 50000"/>
                <a:gd name="adj2" fmla="val 50000"/>
              </a:avLst>
            </a:prstGeom>
            <a:solidFill>
              <a:schemeClr val="accent2"/>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 name="Google Shape;157;p8">
              <a:extLst>
                <a:ext uri="{FF2B5EF4-FFF2-40B4-BE49-F238E27FC236}">
                  <a16:creationId xmlns:a16="http://schemas.microsoft.com/office/drawing/2014/main" id="{84B49B69-A297-5C5D-0400-7BF7C4BBCAA2}"/>
                </a:ext>
              </a:extLst>
            </p:cNvPr>
            <p:cNvSpPr txBox="1"/>
            <p:nvPr/>
          </p:nvSpPr>
          <p:spPr>
            <a:xfrm>
              <a:off x="391103" y="552918"/>
              <a:ext cx="1333146" cy="37697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50" b="1" dirty="0">
                  <a:solidFill>
                    <a:schemeClr val="dk1"/>
                  </a:solidFill>
                  <a:latin typeface="Avenir"/>
                  <a:ea typeface="Avenir"/>
                  <a:cs typeface="Avenir"/>
                  <a:sym typeface="Avenir"/>
                </a:rPr>
                <a:t>Free rider</a:t>
              </a:r>
              <a:endParaRPr sz="1850" b="1" dirty="0">
                <a:solidFill>
                  <a:schemeClr val="dk1"/>
                </a:solidFill>
                <a:latin typeface="Avenir"/>
                <a:ea typeface="Avenir"/>
                <a:cs typeface="Avenir"/>
                <a:sym typeface="Avenir"/>
              </a:endParaRPr>
            </a:p>
          </p:txBody>
        </p:sp>
      </p:grpSp>
      <p:sp>
        <p:nvSpPr>
          <p:cNvPr id="27" name="Google Shape;158;p8">
            <a:extLst>
              <a:ext uri="{FF2B5EF4-FFF2-40B4-BE49-F238E27FC236}">
                <a16:creationId xmlns:a16="http://schemas.microsoft.com/office/drawing/2014/main" id="{C6C63632-A44C-7AF3-8818-D5F91FBAFD0A}"/>
              </a:ext>
            </a:extLst>
          </p:cNvPr>
          <p:cNvSpPr txBox="1"/>
          <p:nvPr/>
        </p:nvSpPr>
        <p:spPr>
          <a:xfrm>
            <a:off x="4224939" y="3028242"/>
            <a:ext cx="3492300" cy="132339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Font typeface="Arial" panose="020B0604020202020204" pitchFamily="34" charset="0"/>
              <a:buChar char="•"/>
            </a:pPr>
            <a:r>
              <a:rPr lang="en-US" sz="2000" dirty="0">
                <a:solidFill>
                  <a:schemeClr val="dk1"/>
                </a:solidFill>
                <a:latin typeface="Calibri"/>
                <a:ea typeface="Calibri"/>
                <a:cs typeface="Calibri"/>
                <a:sym typeface="Calibri"/>
              </a:rPr>
              <a:t>Nonexcludable</a:t>
            </a:r>
            <a:endParaRPr sz="2000" dirty="0">
              <a:solidFill>
                <a:schemeClr val="dk1"/>
              </a:solidFill>
              <a:latin typeface="Calibri"/>
              <a:ea typeface="Calibri"/>
              <a:cs typeface="Calibri"/>
              <a:sym typeface="Calibri"/>
            </a:endParaRPr>
          </a:p>
          <a:p>
            <a:pPr marL="285750" marR="0" lvl="0" indent="-285750" algn="l" rtl="0">
              <a:spcBef>
                <a:spcPts val="0"/>
              </a:spcBef>
              <a:spcAft>
                <a:spcPts val="0"/>
              </a:spcAft>
              <a:buFont typeface="Arial" panose="020B0604020202020204" pitchFamily="34" charset="0"/>
              <a:buChar char="•"/>
            </a:pPr>
            <a:r>
              <a:rPr lang="en-US" sz="2000" dirty="0">
                <a:solidFill>
                  <a:schemeClr val="dk1"/>
                </a:solidFill>
                <a:latin typeface="Calibri"/>
                <a:ea typeface="Calibri"/>
                <a:cs typeface="Calibri"/>
                <a:sym typeface="Calibri"/>
              </a:rPr>
              <a:t>Nonrival</a:t>
            </a:r>
            <a:endParaRPr sz="2000" dirty="0">
              <a:solidFill>
                <a:schemeClr val="dk1"/>
              </a:solidFill>
              <a:latin typeface="Calibri"/>
              <a:ea typeface="Calibri"/>
              <a:cs typeface="Calibri"/>
              <a:sym typeface="Calibri"/>
            </a:endParaRPr>
          </a:p>
          <a:p>
            <a:pPr marL="285750" marR="0" lvl="0" indent="-285750" algn="l" rtl="0">
              <a:spcBef>
                <a:spcPts val="0"/>
              </a:spcBef>
              <a:spcAft>
                <a:spcPts val="0"/>
              </a:spcAft>
              <a:buFont typeface="Arial" panose="020B0604020202020204" pitchFamily="34" charset="0"/>
              <a:buChar char="•"/>
            </a:pPr>
            <a:r>
              <a:rPr lang="en-US" sz="2000" dirty="0">
                <a:solidFill>
                  <a:schemeClr val="dk1"/>
                </a:solidFill>
                <a:latin typeface="Calibri"/>
                <a:ea typeface="Calibri"/>
                <a:cs typeface="Calibri"/>
                <a:sym typeface="Calibri"/>
              </a:rPr>
              <a:t>Open to undifferentiated public</a:t>
            </a:r>
            <a:endParaRPr sz="2000" dirty="0">
              <a:solidFill>
                <a:schemeClr val="dk1"/>
              </a:solidFill>
              <a:latin typeface="Calibri"/>
              <a:ea typeface="Calibri"/>
              <a:cs typeface="Calibri"/>
              <a:sym typeface="Calibri"/>
            </a:endParaRPr>
          </a:p>
        </p:txBody>
      </p:sp>
      <p:pic>
        <p:nvPicPr>
          <p:cNvPr id="4098" name="Picture 2" descr="mage result for sheep">
            <a:extLst>
              <a:ext uri="{FF2B5EF4-FFF2-40B4-BE49-F238E27FC236}">
                <a16:creationId xmlns:a16="http://schemas.microsoft.com/office/drawing/2014/main" id="{31BA063F-2281-EDB7-3D25-E4772EF4FF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057" r="12168"/>
          <a:stretch/>
        </p:blipFill>
        <p:spPr bwMode="auto">
          <a:xfrm>
            <a:off x="9244097" y="3154462"/>
            <a:ext cx="1937438" cy="1450976"/>
          </a:xfrm>
          <a:prstGeom prst="rect">
            <a:avLst/>
          </a:prstGeom>
          <a:noFill/>
          <a:effectLst>
            <a:softEdge rad="44294"/>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0583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solution?</a:t>
            </a:r>
          </a:p>
        </p:txBody>
      </p:sp>
      <p:cxnSp>
        <p:nvCxnSpPr>
          <p:cNvPr id="11" name="Straight Connector 10"/>
          <p:cNvCxnSpPr/>
          <p:nvPr/>
        </p:nvCxnSpPr>
        <p:spPr>
          <a:xfrm flipV="1">
            <a:off x="3006760" y="3094480"/>
            <a:ext cx="989418" cy="168408"/>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4149450" y="3910960"/>
            <a:ext cx="196950" cy="618426"/>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flipH="1" flipV="1">
            <a:off x="2358689" y="4154587"/>
            <a:ext cx="468459" cy="729061"/>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bwMode="auto">
          <a:xfrm>
            <a:off x="1480033" y="2764635"/>
            <a:ext cx="1224136" cy="1245185"/>
          </a:xfrm>
          <a:prstGeom prst="ellipse">
            <a:avLst/>
          </a:prstGeom>
          <a:solidFill>
            <a:schemeClr val="hlink"/>
          </a:solidFill>
          <a:ln w="317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914400" fontAlgn="base">
              <a:spcBef>
                <a:spcPct val="20000"/>
              </a:spcBef>
              <a:spcAft>
                <a:spcPct val="0"/>
              </a:spcAft>
            </a:pPr>
            <a:endParaRPr lang="en-US" sz="2000">
              <a:solidFill>
                <a:sysClr val="windowText" lastClr="000000"/>
              </a:solidFill>
              <a:latin typeface="Palatino" pitchFamily="-109" charset="0"/>
            </a:endParaRPr>
          </a:p>
        </p:txBody>
      </p:sp>
      <p:sp>
        <p:nvSpPr>
          <p:cNvPr id="26" name="TextBox 25"/>
          <p:cNvSpPr txBox="1"/>
          <p:nvPr/>
        </p:nvSpPr>
        <p:spPr>
          <a:xfrm>
            <a:off x="1539212" y="3094480"/>
            <a:ext cx="1105781" cy="523220"/>
          </a:xfrm>
          <a:prstGeom prst="rect">
            <a:avLst/>
          </a:prstGeom>
          <a:noFill/>
        </p:spPr>
        <p:txBody>
          <a:bodyPr wrap="square" rtlCol="0">
            <a:spAutoFit/>
          </a:bodyPr>
          <a:lstStyle/>
          <a:p>
            <a:pPr algn="ctr"/>
            <a:r>
              <a:rPr lang="en-US" sz="1400" b="1" dirty="0">
                <a:solidFill>
                  <a:schemeClr val="bg2">
                    <a:lumMod val="20000"/>
                    <a:lumOff val="80000"/>
                  </a:schemeClr>
                </a:solidFill>
                <a:latin typeface="+mj-lt"/>
              </a:rPr>
              <a:t>Person A</a:t>
            </a:r>
          </a:p>
          <a:p>
            <a:pPr algn="ctr"/>
            <a:r>
              <a:rPr lang="en-US" sz="1400" b="1" dirty="0">
                <a:solidFill>
                  <a:schemeClr val="bg2">
                    <a:lumMod val="20000"/>
                    <a:lumOff val="80000"/>
                  </a:schemeClr>
                </a:solidFill>
                <a:latin typeface="+mj-lt"/>
              </a:rPr>
              <a:t>(resource)</a:t>
            </a:r>
          </a:p>
        </p:txBody>
      </p:sp>
      <p:sp>
        <p:nvSpPr>
          <p:cNvPr id="27" name="Oval 26"/>
          <p:cNvSpPr/>
          <p:nvPr/>
        </p:nvSpPr>
        <p:spPr bwMode="auto">
          <a:xfrm>
            <a:off x="4309491" y="2496304"/>
            <a:ext cx="1224136" cy="1245185"/>
          </a:xfrm>
          <a:prstGeom prst="ellipse">
            <a:avLst/>
          </a:prstGeom>
          <a:solidFill>
            <a:schemeClr val="bg2">
              <a:lumMod val="75000"/>
            </a:schemeClr>
          </a:solidFill>
          <a:ln w="317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914400" fontAlgn="base">
              <a:spcBef>
                <a:spcPct val="20000"/>
              </a:spcBef>
              <a:spcAft>
                <a:spcPct val="0"/>
              </a:spcAft>
            </a:pPr>
            <a:endParaRPr lang="en-US" sz="2000">
              <a:solidFill>
                <a:sysClr val="windowText" lastClr="000000"/>
              </a:solidFill>
              <a:latin typeface="Palatino" pitchFamily="-109" charset="0"/>
            </a:endParaRPr>
          </a:p>
        </p:txBody>
      </p:sp>
      <p:sp>
        <p:nvSpPr>
          <p:cNvPr id="28" name="TextBox 27"/>
          <p:cNvSpPr txBox="1"/>
          <p:nvPr/>
        </p:nvSpPr>
        <p:spPr>
          <a:xfrm>
            <a:off x="4346401" y="2820918"/>
            <a:ext cx="1105781" cy="523220"/>
          </a:xfrm>
          <a:prstGeom prst="rect">
            <a:avLst/>
          </a:prstGeom>
          <a:noFill/>
        </p:spPr>
        <p:txBody>
          <a:bodyPr wrap="square" rtlCol="0">
            <a:spAutoFit/>
          </a:bodyPr>
          <a:lstStyle/>
          <a:p>
            <a:pPr algn="ctr"/>
            <a:r>
              <a:rPr lang="en-US" sz="1400" b="1" dirty="0">
                <a:solidFill>
                  <a:schemeClr val="bg2">
                    <a:lumMod val="20000"/>
                    <a:lumOff val="80000"/>
                  </a:schemeClr>
                </a:solidFill>
                <a:latin typeface="+mj-lt"/>
              </a:rPr>
              <a:t>Person B</a:t>
            </a:r>
          </a:p>
          <a:p>
            <a:pPr algn="ctr"/>
            <a:r>
              <a:rPr lang="en-US" sz="1400" b="1" dirty="0">
                <a:solidFill>
                  <a:schemeClr val="bg2">
                    <a:lumMod val="20000"/>
                    <a:lumOff val="80000"/>
                  </a:schemeClr>
                </a:solidFill>
                <a:latin typeface="+mj-lt"/>
              </a:rPr>
              <a:t>(resource)</a:t>
            </a:r>
          </a:p>
        </p:txBody>
      </p:sp>
      <p:sp>
        <p:nvSpPr>
          <p:cNvPr id="29" name="Oval 28"/>
          <p:cNvSpPr/>
          <p:nvPr/>
        </p:nvSpPr>
        <p:spPr bwMode="auto">
          <a:xfrm>
            <a:off x="3006760" y="4559033"/>
            <a:ext cx="1224136" cy="1245185"/>
          </a:xfrm>
          <a:prstGeom prst="ellipse">
            <a:avLst/>
          </a:prstGeom>
          <a:solidFill>
            <a:srgbClr val="0070C0"/>
          </a:solidFill>
          <a:ln w="317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914400" fontAlgn="base">
              <a:spcBef>
                <a:spcPct val="20000"/>
              </a:spcBef>
              <a:spcAft>
                <a:spcPct val="0"/>
              </a:spcAft>
            </a:pPr>
            <a:endParaRPr lang="en-US" sz="2000">
              <a:solidFill>
                <a:sysClr val="windowText" lastClr="000000"/>
              </a:solidFill>
              <a:latin typeface="Palatino" pitchFamily="-109" charset="0"/>
            </a:endParaRPr>
          </a:p>
        </p:txBody>
      </p:sp>
      <p:sp>
        <p:nvSpPr>
          <p:cNvPr id="30" name="TextBox 29"/>
          <p:cNvSpPr txBox="1"/>
          <p:nvPr/>
        </p:nvSpPr>
        <p:spPr>
          <a:xfrm>
            <a:off x="3043670" y="4883647"/>
            <a:ext cx="1105781" cy="523220"/>
          </a:xfrm>
          <a:prstGeom prst="rect">
            <a:avLst/>
          </a:prstGeom>
          <a:noFill/>
        </p:spPr>
        <p:txBody>
          <a:bodyPr wrap="square" rtlCol="0">
            <a:spAutoFit/>
          </a:bodyPr>
          <a:lstStyle/>
          <a:p>
            <a:pPr algn="ctr"/>
            <a:r>
              <a:rPr lang="en-US" sz="1400" b="1" dirty="0">
                <a:solidFill>
                  <a:schemeClr val="bg2">
                    <a:lumMod val="20000"/>
                    <a:lumOff val="80000"/>
                  </a:schemeClr>
                </a:solidFill>
                <a:latin typeface="+mj-lt"/>
              </a:rPr>
              <a:t>Person C</a:t>
            </a:r>
          </a:p>
          <a:p>
            <a:pPr algn="ctr"/>
            <a:r>
              <a:rPr lang="en-US" sz="1400" b="1" dirty="0">
                <a:solidFill>
                  <a:schemeClr val="bg2">
                    <a:lumMod val="20000"/>
                    <a:lumOff val="80000"/>
                  </a:schemeClr>
                </a:solidFill>
                <a:latin typeface="+mj-lt"/>
              </a:rPr>
              <a:t>(resource)</a:t>
            </a:r>
          </a:p>
        </p:txBody>
      </p:sp>
      <p:sp>
        <p:nvSpPr>
          <p:cNvPr id="36" name="TextBox 35"/>
          <p:cNvSpPr txBox="1"/>
          <p:nvPr/>
        </p:nvSpPr>
        <p:spPr>
          <a:xfrm>
            <a:off x="6661016" y="1902232"/>
            <a:ext cx="3960440" cy="4678204"/>
          </a:xfrm>
          <a:prstGeom prst="rect">
            <a:avLst/>
          </a:prstGeom>
          <a:noFill/>
        </p:spPr>
        <p:txBody>
          <a:bodyPr wrap="square" rtlCol="0">
            <a:spAutoFit/>
          </a:bodyPr>
          <a:lstStyle/>
          <a:p>
            <a:r>
              <a:rPr lang="en-US" sz="2000" dirty="0"/>
              <a:t>We could give everyone private rights over a portion of the resource.</a:t>
            </a:r>
          </a:p>
          <a:p>
            <a:endParaRPr lang="en-US" sz="2000" dirty="0"/>
          </a:p>
          <a:p>
            <a:r>
              <a:rPr lang="en-US" sz="2000" dirty="0"/>
              <a:t>How will they coordinate use?</a:t>
            </a:r>
          </a:p>
          <a:p>
            <a:pPr marL="342900" indent="-342900">
              <a:buClr>
                <a:schemeClr val="accent2"/>
              </a:buClr>
              <a:buFont typeface="Wingdings" charset="2"/>
              <a:buChar char="Ø"/>
            </a:pPr>
            <a:r>
              <a:rPr lang="en-US" sz="2000" dirty="0"/>
              <a:t>Free market will allocate efficiently (Ronald Coase).</a:t>
            </a:r>
          </a:p>
          <a:p>
            <a:endParaRPr lang="en-US" sz="2000" dirty="0"/>
          </a:p>
          <a:p>
            <a:r>
              <a:rPr lang="en-US" sz="2000" dirty="0"/>
              <a:t>What are some reasons it might not work out?</a:t>
            </a:r>
          </a:p>
          <a:p>
            <a:endParaRPr lang="en-US" sz="2000" dirty="0"/>
          </a:p>
          <a:p>
            <a:pPr marL="342900" indent="-342900">
              <a:buClr>
                <a:schemeClr val="accent2"/>
              </a:buClr>
              <a:buFont typeface="Wingdings" charset="2"/>
              <a:buChar char="Ø"/>
            </a:pPr>
            <a:r>
              <a:rPr lang="en-US" sz="2000" dirty="0"/>
              <a:t>Difficult to partition resource</a:t>
            </a:r>
          </a:p>
          <a:p>
            <a:pPr marL="342900" indent="-342900">
              <a:buClr>
                <a:schemeClr val="accent2"/>
              </a:buClr>
              <a:buFont typeface="Wingdings" charset="2"/>
              <a:buChar char="Ø"/>
            </a:pPr>
            <a:r>
              <a:rPr lang="en-US" sz="2000" dirty="0"/>
              <a:t>Impossibility to contract</a:t>
            </a:r>
          </a:p>
          <a:p>
            <a:pPr marL="342900" indent="-342900">
              <a:buClr>
                <a:schemeClr val="accent2"/>
              </a:buClr>
              <a:buFont typeface="Wingdings" charset="2"/>
              <a:buChar char="Ø"/>
            </a:pPr>
            <a:r>
              <a:rPr lang="en-US" sz="2000" dirty="0"/>
              <a:t>Transaction costs</a:t>
            </a:r>
          </a:p>
          <a:p>
            <a:endParaRPr lang="en-US" sz="2000" dirty="0"/>
          </a:p>
        </p:txBody>
      </p:sp>
      <p:sp>
        <p:nvSpPr>
          <p:cNvPr id="3" name="TextBox 2">
            <a:extLst>
              <a:ext uri="{FF2B5EF4-FFF2-40B4-BE49-F238E27FC236}">
                <a16:creationId xmlns:a16="http://schemas.microsoft.com/office/drawing/2014/main" id="{DFE1F3F0-2727-82BE-E3E7-B5074A73A77E}"/>
              </a:ext>
            </a:extLst>
          </p:cNvPr>
          <p:cNvSpPr txBox="1"/>
          <p:nvPr/>
        </p:nvSpPr>
        <p:spPr>
          <a:xfrm rot="20988044">
            <a:off x="2969388" y="2841238"/>
            <a:ext cx="1322302" cy="369332"/>
          </a:xfrm>
          <a:prstGeom prst="rect">
            <a:avLst/>
          </a:prstGeom>
          <a:noFill/>
        </p:spPr>
        <p:txBody>
          <a:bodyPr wrap="square" rtlCol="0">
            <a:spAutoFit/>
          </a:bodyPr>
          <a:lstStyle/>
          <a:p>
            <a:r>
              <a:rPr lang="en-GB" dirty="0"/>
              <a:t>transact</a:t>
            </a:r>
          </a:p>
        </p:txBody>
      </p:sp>
    </p:spTree>
    <p:extLst>
      <p:ext uri="{BB962C8B-B14F-4D97-AF65-F5344CB8AC3E}">
        <p14:creationId xmlns:p14="http://schemas.microsoft.com/office/powerpoint/2010/main" val="209999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6">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8F259-2EE4-DF38-143A-2B53AD749C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2F390-0335-1000-526D-B376AFEA6A06}"/>
              </a:ext>
            </a:extLst>
          </p:cNvPr>
          <p:cNvSpPr>
            <a:spLocks noGrp="1"/>
          </p:cNvSpPr>
          <p:nvPr>
            <p:ph type="title" idx="4294967295"/>
          </p:nvPr>
        </p:nvSpPr>
        <p:spPr>
          <a:xfrm>
            <a:off x="116112" y="-452210"/>
            <a:ext cx="10058400" cy="1450975"/>
          </a:xfrm>
        </p:spPr>
        <p:txBody>
          <a:bodyPr>
            <a:normAutofit/>
          </a:bodyPr>
          <a:lstStyle/>
          <a:p>
            <a:r>
              <a:rPr lang="en-GB" sz="3200" u="none" strike="noStrike" dirty="0">
                <a:solidFill>
                  <a:srgbClr val="000000"/>
                </a:solidFill>
                <a:effectLst/>
                <a:latin typeface="Avenir" panose="02000503020000020003" pitchFamily="2" charset="0"/>
              </a:rPr>
              <a:t>Common-Pool Resources (Elinor Ostrom 1990)</a:t>
            </a:r>
            <a:endParaRPr lang="en-GB" sz="6600" dirty="0"/>
          </a:p>
        </p:txBody>
      </p:sp>
      <p:sp>
        <p:nvSpPr>
          <p:cNvPr id="5" name="TextBox 4">
            <a:extLst>
              <a:ext uri="{FF2B5EF4-FFF2-40B4-BE49-F238E27FC236}">
                <a16:creationId xmlns:a16="http://schemas.microsoft.com/office/drawing/2014/main" id="{19A124F9-8AF1-1254-E7E3-3CFCC2DC2989}"/>
              </a:ext>
            </a:extLst>
          </p:cNvPr>
          <p:cNvSpPr txBox="1"/>
          <p:nvPr/>
        </p:nvSpPr>
        <p:spPr>
          <a:xfrm>
            <a:off x="4034970" y="3465677"/>
            <a:ext cx="6096000" cy="369332"/>
          </a:xfrm>
          <a:prstGeom prst="rect">
            <a:avLst/>
          </a:prstGeom>
          <a:noFill/>
        </p:spPr>
        <p:txBody>
          <a:bodyPr wrap="square">
            <a:spAutoFit/>
          </a:bodyPr>
          <a:lstStyle/>
          <a:p>
            <a:r>
              <a:rPr lang="en-GB" dirty="0"/>
              <a:t> </a:t>
            </a:r>
          </a:p>
        </p:txBody>
      </p:sp>
      <p:sp>
        <p:nvSpPr>
          <p:cNvPr id="7" name="TextBox 6">
            <a:extLst>
              <a:ext uri="{FF2B5EF4-FFF2-40B4-BE49-F238E27FC236}">
                <a16:creationId xmlns:a16="http://schemas.microsoft.com/office/drawing/2014/main" id="{56CC1BE0-F1F5-0ACB-F827-04CA82C79269}"/>
              </a:ext>
            </a:extLst>
          </p:cNvPr>
          <p:cNvSpPr txBox="1"/>
          <p:nvPr/>
        </p:nvSpPr>
        <p:spPr>
          <a:xfrm>
            <a:off x="4034970" y="3465677"/>
            <a:ext cx="6096000" cy="369332"/>
          </a:xfrm>
          <a:prstGeom prst="rect">
            <a:avLst/>
          </a:prstGeom>
          <a:noFill/>
        </p:spPr>
        <p:txBody>
          <a:bodyPr wrap="square">
            <a:spAutoFit/>
          </a:bodyPr>
          <a:lstStyle/>
          <a:p>
            <a:r>
              <a:rPr lang="en-GB" dirty="0"/>
              <a:t> </a:t>
            </a:r>
          </a:p>
        </p:txBody>
      </p:sp>
      <p:sp>
        <p:nvSpPr>
          <p:cNvPr id="10" name="Google Shape;140;p8">
            <a:extLst>
              <a:ext uri="{FF2B5EF4-FFF2-40B4-BE49-F238E27FC236}">
                <a16:creationId xmlns:a16="http://schemas.microsoft.com/office/drawing/2014/main" id="{EE565EE1-47BC-0C41-52B9-163E8BEA234F}"/>
              </a:ext>
            </a:extLst>
          </p:cNvPr>
          <p:cNvSpPr/>
          <p:nvPr/>
        </p:nvSpPr>
        <p:spPr>
          <a:xfrm>
            <a:off x="3185841" y="1597407"/>
            <a:ext cx="5997208" cy="4475203"/>
          </a:xfrm>
          <a:custGeom>
            <a:avLst/>
            <a:gdLst/>
            <a:ahLst/>
            <a:cxnLst/>
            <a:rect l="l" t="t" r="r" b="b"/>
            <a:pathLst>
              <a:path w="6554326" h="4786313" extrusionOk="0">
                <a:moveTo>
                  <a:pt x="4265088" y="14288"/>
                </a:moveTo>
                <a:lnTo>
                  <a:pt x="4265088" y="14288"/>
                </a:lnTo>
                <a:cubicBezTo>
                  <a:pt x="3730170" y="73721"/>
                  <a:pt x="4080168" y="40115"/>
                  <a:pt x="2879200" y="14288"/>
                </a:cubicBezTo>
                <a:cubicBezTo>
                  <a:pt x="2854922" y="13766"/>
                  <a:pt x="2831575" y="4763"/>
                  <a:pt x="2807763" y="0"/>
                </a:cubicBezTo>
                <a:cubicBezTo>
                  <a:pt x="2588688" y="4763"/>
                  <a:pt x="2369315" y="1904"/>
                  <a:pt x="2150538" y="14288"/>
                </a:cubicBezTo>
                <a:cubicBezTo>
                  <a:pt x="2080667" y="18243"/>
                  <a:pt x="2050440" y="46076"/>
                  <a:pt x="1993375" y="71438"/>
                </a:cubicBezTo>
                <a:cubicBezTo>
                  <a:pt x="1966188" y="83521"/>
                  <a:pt x="1912072" y="104872"/>
                  <a:pt x="1879075" y="114300"/>
                </a:cubicBezTo>
                <a:cubicBezTo>
                  <a:pt x="1831225" y="127971"/>
                  <a:pt x="1781465" y="134530"/>
                  <a:pt x="1736200" y="157163"/>
                </a:cubicBezTo>
                <a:cubicBezTo>
                  <a:pt x="1717150" y="166688"/>
                  <a:pt x="1698825" y="177828"/>
                  <a:pt x="1679050" y="185738"/>
                </a:cubicBezTo>
                <a:cubicBezTo>
                  <a:pt x="1651084" y="196925"/>
                  <a:pt x="1618387" y="197605"/>
                  <a:pt x="1593325" y="214313"/>
                </a:cubicBezTo>
                <a:cubicBezTo>
                  <a:pt x="1579038" y="223838"/>
                  <a:pt x="1566600" y="237020"/>
                  <a:pt x="1550463" y="242888"/>
                </a:cubicBezTo>
                <a:cubicBezTo>
                  <a:pt x="1513555" y="256309"/>
                  <a:pt x="1436163" y="271463"/>
                  <a:pt x="1436163" y="271463"/>
                </a:cubicBezTo>
                <a:cubicBezTo>
                  <a:pt x="1309815" y="366224"/>
                  <a:pt x="1367044" y="342128"/>
                  <a:pt x="1279000" y="371475"/>
                </a:cubicBezTo>
                <a:cubicBezTo>
                  <a:pt x="1078337" y="572143"/>
                  <a:pt x="1395637" y="245800"/>
                  <a:pt x="1207563" y="471488"/>
                </a:cubicBezTo>
                <a:cubicBezTo>
                  <a:pt x="1173069" y="512881"/>
                  <a:pt x="1129810" y="546196"/>
                  <a:pt x="1093263" y="585788"/>
                </a:cubicBezTo>
                <a:cubicBezTo>
                  <a:pt x="993077" y="694323"/>
                  <a:pt x="1085655" y="627500"/>
                  <a:pt x="964675" y="700088"/>
                </a:cubicBezTo>
                <a:cubicBezTo>
                  <a:pt x="940863" y="728663"/>
                  <a:pt x="917950" y="758012"/>
                  <a:pt x="893238" y="785813"/>
                </a:cubicBezTo>
                <a:cubicBezTo>
                  <a:pt x="844016" y="841187"/>
                  <a:pt x="850148" y="817608"/>
                  <a:pt x="807513" y="885825"/>
                </a:cubicBezTo>
                <a:cubicBezTo>
                  <a:pt x="796225" y="903886"/>
                  <a:pt x="789505" y="924483"/>
                  <a:pt x="778938" y="942975"/>
                </a:cubicBezTo>
                <a:cubicBezTo>
                  <a:pt x="770419" y="957884"/>
                  <a:pt x="758042" y="970479"/>
                  <a:pt x="750363" y="985838"/>
                </a:cubicBezTo>
                <a:cubicBezTo>
                  <a:pt x="743628" y="999308"/>
                  <a:pt x="744057" y="1015929"/>
                  <a:pt x="736075" y="1028700"/>
                </a:cubicBezTo>
                <a:cubicBezTo>
                  <a:pt x="719913" y="1054560"/>
                  <a:pt x="694290" y="1073797"/>
                  <a:pt x="678925" y="1100138"/>
                </a:cubicBezTo>
                <a:cubicBezTo>
                  <a:pt x="660650" y="1131467"/>
                  <a:pt x="651072" y="1167131"/>
                  <a:pt x="636063" y="1200150"/>
                </a:cubicBezTo>
                <a:cubicBezTo>
                  <a:pt x="627250" y="1219539"/>
                  <a:pt x="617013" y="1238250"/>
                  <a:pt x="607488" y="1257300"/>
                </a:cubicBezTo>
                <a:cubicBezTo>
                  <a:pt x="574997" y="1419752"/>
                  <a:pt x="618856" y="1220354"/>
                  <a:pt x="550338" y="1443038"/>
                </a:cubicBezTo>
                <a:cubicBezTo>
                  <a:pt x="539933" y="1476855"/>
                  <a:pt x="528633" y="1569286"/>
                  <a:pt x="521763" y="1600200"/>
                </a:cubicBezTo>
                <a:cubicBezTo>
                  <a:pt x="518496" y="1614902"/>
                  <a:pt x="512238" y="1628775"/>
                  <a:pt x="507475" y="1643063"/>
                </a:cubicBezTo>
                <a:cubicBezTo>
                  <a:pt x="502713" y="1685925"/>
                  <a:pt x="499287" y="1728957"/>
                  <a:pt x="493188" y="1771650"/>
                </a:cubicBezTo>
                <a:cubicBezTo>
                  <a:pt x="484994" y="1829006"/>
                  <a:pt x="471800" y="1885609"/>
                  <a:pt x="464613" y="1943100"/>
                </a:cubicBezTo>
                <a:cubicBezTo>
                  <a:pt x="459850" y="1981200"/>
                  <a:pt x="454811" y="2019266"/>
                  <a:pt x="450325" y="2057400"/>
                </a:cubicBezTo>
                <a:cubicBezTo>
                  <a:pt x="445286" y="2100231"/>
                  <a:pt x="441387" y="2143195"/>
                  <a:pt x="436038" y="2185988"/>
                </a:cubicBezTo>
                <a:cubicBezTo>
                  <a:pt x="431861" y="2219404"/>
                  <a:pt x="428354" y="2252978"/>
                  <a:pt x="421750" y="2286000"/>
                </a:cubicBezTo>
                <a:cubicBezTo>
                  <a:pt x="417627" y="2306613"/>
                  <a:pt x="381937" y="2394202"/>
                  <a:pt x="378888" y="2400300"/>
                </a:cubicBezTo>
                <a:cubicBezTo>
                  <a:pt x="371209" y="2415659"/>
                  <a:pt x="359414" y="2428602"/>
                  <a:pt x="350313" y="2443163"/>
                </a:cubicBezTo>
                <a:cubicBezTo>
                  <a:pt x="335595" y="2466712"/>
                  <a:pt x="323591" y="2492003"/>
                  <a:pt x="307450" y="2514600"/>
                </a:cubicBezTo>
                <a:cubicBezTo>
                  <a:pt x="293389" y="2534285"/>
                  <a:pt x="207045" y="2636731"/>
                  <a:pt x="178863" y="2686050"/>
                </a:cubicBezTo>
                <a:cubicBezTo>
                  <a:pt x="168296" y="2704542"/>
                  <a:pt x="156641" y="2722871"/>
                  <a:pt x="150288" y="2743200"/>
                </a:cubicBezTo>
                <a:cubicBezTo>
                  <a:pt x="132717" y="2799427"/>
                  <a:pt x="121713" y="2857500"/>
                  <a:pt x="107425" y="2914650"/>
                </a:cubicBezTo>
                <a:lnTo>
                  <a:pt x="93138" y="2971800"/>
                </a:lnTo>
                <a:cubicBezTo>
                  <a:pt x="88375" y="2990850"/>
                  <a:pt x="82701" y="3009695"/>
                  <a:pt x="78850" y="3028950"/>
                </a:cubicBezTo>
                <a:cubicBezTo>
                  <a:pt x="74088" y="3052763"/>
                  <a:pt x="69831" y="3076682"/>
                  <a:pt x="64563" y="3100388"/>
                </a:cubicBezTo>
                <a:cubicBezTo>
                  <a:pt x="60303" y="3119557"/>
                  <a:pt x="53788" y="3138218"/>
                  <a:pt x="50275" y="3157538"/>
                </a:cubicBezTo>
                <a:cubicBezTo>
                  <a:pt x="16146" y="3345247"/>
                  <a:pt x="54107" y="3185079"/>
                  <a:pt x="21700" y="3314700"/>
                </a:cubicBezTo>
                <a:cubicBezTo>
                  <a:pt x="-8492" y="3616631"/>
                  <a:pt x="-5949" y="3531389"/>
                  <a:pt x="21700" y="4029075"/>
                </a:cubicBezTo>
                <a:cubicBezTo>
                  <a:pt x="25436" y="4096323"/>
                  <a:pt x="15623" y="4171346"/>
                  <a:pt x="50275" y="4229100"/>
                </a:cubicBezTo>
                <a:cubicBezTo>
                  <a:pt x="52187" y="4232286"/>
                  <a:pt x="108518" y="4328739"/>
                  <a:pt x="121713" y="4343400"/>
                </a:cubicBezTo>
                <a:cubicBezTo>
                  <a:pt x="153252" y="4378444"/>
                  <a:pt x="195573" y="4404185"/>
                  <a:pt x="221725" y="4443413"/>
                </a:cubicBezTo>
                <a:cubicBezTo>
                  <a:pt x="269505" y="4515082"/>
                  <a:pt x="316185" y="4597245"/>
                  <a:pt x="393175" y="4643438"/>
                </a:cubicBezTo>
                <a:cubicBezTo>
                  <a:pt x="529501" y="4725232"/>
                  <a:pt x="393533" y="4653082"/>
                  <a:pt x="578913" y="4714875"/>
                </a:cubicBezTo>
                <a:cubicBezTo>
                  <a:pt x="816596" y="4794103"/>
                  <a:pt x="632838" y="4757199"/>
                  <a:pt x="807513" y="4786313"/>
                </a:cubicBezTo>
                <a:cubicBezTo>
                  <a:pt x="1117075" y="4757738"/>
                  <a:pt x="1428510" y="4744997"/>
                  <a:pt x="1736200" y="4700588"/>
                </a:cubicBezTo>
                <a:cubicBezTo>
                  <a:pt x="1891679" y="4678148"/>
                  <a:pt x="2042354" y="4629444"/>
                  <a:pt x="2193400" y="4586288"/>
                </a:cubicBezTo>
                <a:cubicBezTo>
                  <a:pt x="2200070" y="4584382"/>
                  <a:pt x="2323335" y="4547963"/>
                  <a:pt x="2350563" y="4543425"/>
                </a:cubicBezTo>
                <a:cubicBezTo>
                  <a:pt x="2388437" y="4537113"/>
                  <a:pt x="2426591" y="4532224"/>
                  <a:pt x="2464863" y="4529138"/>
                </a:cubicBezTo>
                <a:lnTo>
                  <a:pt x="3236388" y="4471988"/>
                </a:lnTo>
                <a:cubicBezTo>
                  <a:pt x="3607486" y="4375180"/>
                  <a:pt x="3454493" y="4410820"/>
                  <a:pt x="3693588" y="4357688"/>
                </a:cubicBezTo>
                <a:cubicBezTo>
                  <a:pt x="3788838" y="4371975"/>
                  <a:pt x="3887493" y="4371546"/>
                  <a:pt x="3979338" y="4400550"/>
                </a:cubicBezTo>
                <a:cubicBezTo>
                  <a:pt x="4070733" y="4429411"/>
                  <a:pt x="4156766" y="4475974"/>
                  <a:pt x="4236513" y="4529138"/>
                </a:cubicBezTo>
                <a:cubicBezTo>
                  <a:pt x="4300364" y="4571706"/>
                  <a:pt x="4304745" y="4585486"/>
                  <a:pt x="4365100" y="4600575"/>
                </a:cubicBezTo>
                <a:cubicBezTo>
                  <a:pt x="4500730" y="4634483"/>
                  <a:pt x="4607859" y="4622311"/>
                  <a:pt x="4765150" y="4629150"/>
                </a:cubicBezTo>
                <a:cubicBezTo>
                  <a:pt x="4922793" y="4660679"/>
                  <a:pt x="4861949" y="4642366"/>
                  <a:pt x="4950888" y="4672013"/>
                </a:cubicBezTo>
                <a:cubicBezTo>
                  <a:pt x="5050900" y="4667250"/>
                  <a:pt x="5153022" y="4678704"/>
                  <a:pt x="5250925" y="4657725"/>
                </a:cubicBezTo>
                <a:cubicBezTo>
                  <a:pt x="5290984" y="4649141"/>
                  <a:pt x="5316588" y="4608615"/>
                  <a:pt x="5350938" y="4586288"/>
                </a:cubicBezTo>
                <a:cubicBezTo>
                  <a:pt x="5411890" y="4546669"/>
                  <a:pt x="5474645" y="4509896"/>
                  <a:pt x="5536675" y="4471988"/>
                </a:cubicBezTo>
                <a:cubicBezTo>
                  <a:pt x="5560371" y="4457507"/>
                  <a:pt x="5583275" y="4441544"/>
                  <a:pt x="5608113" y="4429125"/>
                </a:cubicBezTo>
                <a:cubicBezTo>
                  <a:pt x="5680621" y="4392871"/>
                  <a:pt x="5647542" y="4412364"/>
                  <a:pt x="5708125" y="4371975"/>
                </a:cubicBezTo>
                <a:cubicBezTo>
                  <a:pt x="5739011" y="4279322"/>
                  <a:pt x="5698924" y="4383114"/>
                  <a:pt x="5779563" y="4257675"/>
                </a:cubicBezTo>
                <a:cubicBezTo>
                  <a:pt x="5806078" y="4216430"/>
                  <a:pt x="5824817" y="4170545"/>
                  <a:pt x="5851000" y="4129088"/>
                </a:cubicBezTo>
                <a:cubicBezTo>
                  <a:pt x="5882043" y="4079937"/>
                  <a:pt x="5923176" y="4037248"/>
                  <a:pt x="5951013" y="3986213"/>
                </a:cubicBezTo>
                <a:cubicBezTo>
                  <a:pt x="6009155" y="3879618"/>
                  <a:pt x="6056828" y="3767629"/>
                  <a:pt x="6108175" y="3657600"/>
                </a:cubicBezTo>
                <a:cubicBezTo>
                  <a:pt x="6123513" y="3624733"/>
                  <a:pt x="6139569" y="3591997"/>
                  <a:pt x="6151038" y="3557588"/>
                </a:cubicBezTo>
                <a:cubicBezTo>
                  <a:pt x="6165325" y="3514725"/>
                  <a:pt x="6177120" y="3470950"/>
                  <a:pt x="6193900" y="3429000"/>
                </a:cubicBezTo>
                <a:cubicBezTo>
                  <a:pt x="6205765" y="3399337"/>
                  <a:pt x="6225121" y="3373026"/>
                  <a:pt x="6236763" y="3343275"/>
                </a:cubicBezTo>
                <a:cubicBezTo>
                  <a:pt x="6268049" y="3263321"/>
                  <a:pt x="6293913" y="3181350"/>
                  <a:pt x="6322488" y="3100388"/>
                </a:cubicBezTo>
                <a:cubicBezTo>
                  <a:pt x="6341538" y="2990850"/>
                  <a:pt x="6361723" y="2881504"/>
                  <a:pt x="6379638" y="2771775"/>
                </a:cubicBezTo>
                <a:cubicBezTo>
                  <a:pt x="6440859" y="2396798"/>
                  <a:pt x="6464823" y="2340153"/>
                  <a:pt x="6493938" y="2157413"/>
                </a:cubicBezTo>
                <a:cubicBezTo>
                  <a:pt x="6523053" y="1974673"/>
                  <a:pt x="6542959" y="1970095"/>
                  <a:pt x="6554326" y="1675332"/>
                </a:cubicBezTo>
                <a:cubicBezTo>
                  <a:pt x="6483018" y="1486669"/>
                  <a:pt x="6447028" y="1313415"/>
                  <a:pt x="6395403" y="1157289"/>
                </a:cubicBezTo>
                <a:cubicBezTo>
                  <a:pt x="6343778" y="1001163"/>
                  <a:pt x="6304354" y="840971"/>
                  <a:pt x="6244576" y="738577"/>
                </a:cubicBezTo>
                <a:cubicBezTo>
                  <a:pt x="6184799" y="636183"/>
                  <a:pt x="6086451" y="591473"/>
                  <a:pt x="6036738" y="542925"/>
                </a:cubicBezTo>
                <a:cubicBezTo>
                  <a:pt x="5987025" y="494377"/>
                  <a:pt x="5978245" y="489883"/>
                  <a:pt x="5946297" y="447286"/>
                </a:cubicBezTo>
                <a:cubicBezTo>
                  <a:pt x="5926091" y="420345"/>
                  <a:pt x="5931177" y="388873"/>
                  <a:pt x="5908150" y="371475"/>
                </a:cubicBezTo>
                <a:cubicBezTo>
                  <a:pt x="5885124" y="354077"/>
                  <a:pt x="5841030" y="353864"/>
                  <a:pt x="5808138" y="342900"/>
                </a:cubicBezTo>
                <a:cubicBezTo>
                  <a:pt x="5769535" y="330033"/>
                  <a:pt x="5732441" y="312906"/>
                  <a:pt x="5693838" y="300038"/>
                </a:cubicBezTo>
                <a:cubicBezTo>
                  <a:pt x="5629714" y="278663"/>
                  <a:pt x="5543837" y="260756"/>
                  <a:pt x="5479525" y="228600"/>
                </a:cubicBezTo>
                <a:cubicBezTo>
                  <a:pt x="5454687" y="216181"/>
                  <a:pt x="5430920" y="201545"/>
                  <a:pt x="5408088" y="185738"/>
                </a:cubicBezTo>
                <a:cubicBezTo>
                  <a:pt x="5368931" y="158629"/>
                  <a:pt x="5341217" y="104325"/>
                  <a:pt x="5293788" y="100013"/>
                </a:cubicBezTo>
                <a:lnTo>
                  <a:pt x="4979463" y="71438"/>
                </a:lnTo>
                <a:lnTo>
                  <a:pt x="4836588" y="42863"/>
                </a:lnTo>
                <a:cubicBezTo>
                  <a:pt x="4808115" y="37524"/>
                  <a:pt x="4779270" y="34256"/>
                  <a:pt x="4750863" y="28575"/>
                </a:cubicBezTo>
                <a:cubicBezTo>
                  <a:pt x="4537727" y="-14052"/>
                  <a:pt x="4901744" y="48961"/>
                  <a:pt x="4607988" y="0"/>
                </a:cubicBezTo>
                <a:cubicBezTo>
                  <a:pt x="4507975" y="4763"/>
                  <a:pt x="4406595" y="-2868"/>
                  <a:pt x="4307950" y="14288"/>
                </a:cubicBezTo>
                <a:cubicBezTo>
                  <a:pt x="4291033" y="17230"/>
                  <a:pt x="4272232" y="14288"/>
                  <a:pt x="4265088" y="14288"/>
                </a:cubicBezTo>
                <a:close/>
              </a:path>
            </a:pathLst>
          </a:custGeom>
          <a:gradFill>
            <a:gsLst>
              <a:gs pos="0">
                <a:srgbClr val="9FC3FF"/>
              </a:gs>
              <a:gs pos="35000">
                <a:srgbClr val="BDD5FF"/>
              </a:gs>
              <a:gs pos="100000">
                <a:srgbClr val="E4EEFF"/>
              </a:gs>
            </a:gsLst>
            <a:lin ang="16200000" scaled="0"/>
          </a:gradFill>
          <a:ln w="38100" cap="flat" cmpd="sng">
            <a:solidFill>
              <a:srgbClr val="C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just" rtl="0">
              <a:spcBef>
                <a:spcPts val="0"/>
              </a:spcBef>
              <a:spcAft>
                <a:spcPts val="0"/>
              </a:spcAft>
              <a:buNone/>
            </a:pPr>
            <a:endParaRPr sz="1800">
              <a:solidFill>
                <a:schemeClr val="dk1"/>
              </a:solidFill>
              <a:latin typeface="Calibri"/>
              <a:ea typeface="Calibri"/>
              <a:cs typeface="Calibri"/>
              <a:sym typeface="Calibri"/>
            </a:endParaRPr>
          </a:p>
        </p:txBody>
      </p:sp>
      <p:grpSp>
        <p:nvGrpSpPr>
          <p:cNvPr id="3" name="Google Shape;165;p9">
            <a:extLst>
              <a:ext uri="{FF2B5EF4-FFF2-40B4-BE49-F238E27FC236}">
                <a16:creationId xmlns:a16="http://schemas.microsoft.com/office/drawing/2014/main" id="{61036415-CA10-866A-1EF5-8B940652DE99}"/>
              </a:ext>
            </a:extLst>
          </p:cNvPr>
          <p:cNvGrpSpPr/>
          <p:nvPr/>
        </p:nvGrpSpPr>
        <p:grpSpPr>
          <a:xfrm>
            <a:off x="4005942" y="1867468"/>
            <a:ext cx="4506080" cy="3877025"/>
            <a:chOff x="737700" y="39235"/>
            <a:chExt cx="4506080" cy="3877025"/>
          </a:xfrm>
        </p:grpSpPr>
        <p:sp>
          <p:nvSpPr>
            <p:cNvPr id="4" name="Google Shape;166;p9">
              <a:extLst>
                <a:ext uri="{FF2B5EF4-FFF2-40B4-BE49-F238E27FC236}">
                  <a16:creationId xmlns:a16="http://schemas.microsoft.com/office/drawing/2014/main" id="{086C73CB-1A60-9229-2B0B-4826DCE89DAA}"/>
                </a:ext>
              </a:extLst>
            </p:cNvPr>
            <p:cNvSpPr/>
            <p:nvPr/>
          </p:nvSpPr>
          <p:spPr>
            <a:xfrm>
              <a:off x="1936528" y="1924050"/>
              <a:ext cx="2302325" cy="41481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67;p9">
              <a:extLst>
                <a:ext uri="{FF2B5EF4-FFF2-40B4-BE49-F238E27FC236}">
                  <a16:creationId xmlns:a16="http://schemas.microsoft.com/office/drawing/2014/main" id="{4610E8C8-9BAD-EADC-C7F9-0BD98797C706}"/>
                </a:ext>
              </a:extLst>
            </p:cNvPr>
            <p:cNvSpPr txBox="1"/>
            <p:nvPr/>
          </p:nvSpPr>
          <p:spPr>
            <a:xfrm>
              <a:off x="1936528" y="1924050"/>
              <a:ext cx="2302325" cy="414811"/>
            </a:xfrm>
            <a:prstGeom prst="rect">
              <a:avLst/>
            </a:prstGeom>
            <a:noFill/>
            <a:ln>
              <a:noFill/>
            </a:ln>
          </p:spPr>
          <p:txBody>
            <a:bodyPr spcFirstLastPara="1" wrap="square" lIns="31750" tIns="31750" rIns="31750" bIns="31750" anchor="ctr" anchorCtr="0">
              <a:noAutofit/>
            </a:bodyPr>
            <a:lstStyle/>
            <a:p>
              <a:pPr marL="0" marR="0" lvl="0" indent="0" algn="ctr" rtl="0">
                <a:lnSpc>
                  <a:spcPct val="90000"/>
                </a:lnSpc>
                <a:spcBef>
                  <a:spcPts val="0"/>
                </a:spcBef>
                <a:spcAft>
                  <a:spcPts val="0"/>
                </a:spcAft>
                <a:buNone/>
              </a:pPr>
              <a:endParaRPr sz="2500">
                <a:solidFill>
                  <a:schemeClr val="dk1"/>
                </a:solidFill>
                <a:latin typeface="Calibri"/>
                <a:ea typeface="Calibri"/>
                <a:cs typeface="Calibri"/>
                <a:sym typeface="Calibri"/>
              </a:endParaRPr>
            </a:p>
          </p:txBody>
        </p:sp>
        <p:sp>
          <p:nvSpPr>
            <p:cNvPr id="8" name="Google Shape;168;p9">
              <a:extLst>
                <a:ext uri="{FF2B5EF4-FFF2-40B4-BE49-F238E27FC236}">
                  <a16:creationId xmlns:a16="http://schemas.microsoft.com/office/drawing/2014/main" id="{95C6FD4C-8D36-E79B-857C-08080BE045F9}"/>
                </a:ext>
              </a:extLst>
            </p:cNvPr>
            <p:cNvSpPr/>
            <p:nvPr/>
          </p:nvSpPr>
          <p:spPr>
            <a:xfrm>
              <a:off x="1075765" y="1067553"/>
              <a:ext cx="319353" cy="319353"/>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69;p9">
              <a:extLst>
                <a:ext uri="{FF2B5EF4-FFF2-40B4-BE49-F238E27FC236}">
                  <a16:creationId xmlns:a16="http://schemas.microsoft.com/office/drawing/2014/main" id="{224FA6B1-EBEE-E50B-1223-044E2BEF9D0C}"/>
                </a:ext>
              </a:extLst>
            </p:cNvPr>
            <p:cNvSpPr/>
            <p:nvPr/>
          </p:nvSpPr>
          <p:spPr>
            <a:xfrm>
              <a:off x="1299312" y="620458"/>
              <a:ext cx="319353" cy="319353"/>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70;p9">
              <a:extLst>
                <a:ext uri="{FF2B5EF4-FFF2-40B4-BE49-F238E27FC236}">
                  <a16:creationId xmlns:a16="http://schemas.microsoft.com/office/drawing/2014/main" id="{E0AB99FE-4199-5651-CF94-8062FF74E976}"/>
                </a:ext>
              </a:extLst>
            </p:cNvPr>
            <p:cNvSpPr/>
            <p:nvPr/>
          </p:nvSpPr>
          <p:spPr>
            <a:xfrm>
              <a:off x="1835826" y="709877"/>
              <a:ext cx="501840" cy="501840"/>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71;p9">
              <a:extLst>
                <a:ext uri="{FF2B5EF4-FFF2-40B4-BE49-F238E27FC236}">
                  <a16:creationId xmlns:a16="http://schemas.microsoft.com/office/drawing/2014/main" id="{D4452C9F-4573-A35C-FB28-18E22C10B9F2}"/>
                </a:ext>
              </a:extLst>
            </p:cNvPr>
            <p:cNvSpPr/>
            <p:nvPr/>
          </p:nvSpPr>
          <p:spPr>
            <a:xfrm>
              <a:off x="2282920" y="218073"/>
              <a:ext cx="319353" cy="319353"/>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72;p9">
              <a:extLst>
                <a:ext uri="{FF2B5EF4-FFF2-40B4-BE49-F238E27FC236}">
                  <a16:creationId xmlns:a16="http://schemas.microsoft.com/office/drawing/2014/main" id="{B0E51D93-CA59-F9A8-7465-1210110B1C5B}"/>
                </a:ext>
              </a:extLst>
            </p:cNvPr>
            <p:cNvSpPr/>
            <p:nvPr/>
          </p:nvSpPr>
          <p:spPr>
            <a:xfrm>
              <a:off x="2864143" y="39235"/>
              <a:ext cx="319353" cy="319353"/>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73;p9">
              <a:extLst>
                <a:ext uri="{FF2B5EF4-FFF2-40B4-BE49-F238E27FC236}">
                  <a16:creationId xmlns:a16="http://schemas.microsoft.com/office/drawing/2014/main" id="{4CE6F52B-43A8-3D82-B087-BB7C028FB833}"/>
                </a:ext>
              </a:extLst>
            </p:cNvPr>
            <p:cNvSpPr/>
            <p:nvPr/>
          </p:nvSpPr>
          <p:spPr>
            <a:xfrm>
              <a:off x="3579495" y="245876"/>
              <a:ext cx="319353" cy="319353"/>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74;p9">
              <a:extLst>
                <a:ext uri="{FF2B5EF4-FFF2-40B4-BE49-F238E27FC236}">
                  <a16:creationId xmlns:a16="http://schemas.microsoft.com/office/drawing/2014/main" id="{8C6F8F81-2191-0CE2-5D80-438F69520B96}"/>
                </a:ext>
              </a:extLst>
            </p:cNvPr>
            <p:cNvSpPr/>
            <p:nvPr/>
          </p:nvSpPr>
          <p:spPr>
            <a:xfrm>
              <a:off x="3962795" y="915992"/>
              <a:ext cx="501840" cy="501840"/>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5;p9">
              <a:extLst>
                <a:ext uri="{FF2B5EF4-FFF2-40B4-BE49-F238E27FC236}">
                  <a16:creationId xmlns:a16="http://schemas.microsoft.com/office/drawing/2014/main" id="{50F3D3F3-6101-1598-44BE-1FEE9DB2218E}"/>
                </a:ext>
              </a:extLst>
            </p:cNvPr>
            <p:cNvSpPr/>
            <p:nvPr/>
          </p:nvSpPr>
          <p:spPr>
            <a:xfrm>
              <a:off x="4716315" y="472128"/>
              <a:ext cx="319353" cy="319353"/>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6;p9">
              <a:extLst>
                <a:ext uri="{FF2B5EF4-FFF2-40B4-BE49-F238E27FC236}">
                  <a16:creationId xmlns:a16="http://schemas.microsoft.com/office/drawing/2014/main" id="{D49035C9-8CCB-F2AF-CA35-05A2335FE763}"/>
                </a:ext>
              </a:extLst>
            </p:cNvPr>
            <p:cNvSpPr/>
            <p:nvPr/>
          </p:nvSpPr>
          <p:spPr>
            <a:xfrm>
              <a:off x="4920778" y="1559357"/>
              <a:ext cx="319353" cy="319353"/>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77;p9">
              <a:extLst>
                <a:ext uri="{FF2B5EF4-FFF2-40B4-BE49-F238E27FC236}">
                  <a16:creationId xmlns:a16="http://schemas.microsoft.com/office/drawing/2014/main" id="{8F75A9A8-5833-1CCA-5D55-554A31EFDC70}"/>
                </a:ext>
              </a:extLst>
            </p:cNvPr>
            <p:cNvSpPr/>
            <p:nvPr/>
          </p:nvSpPr>
          <p:spPr>
            <a:xfrm>
              <a:off x="2771552" y="1234132"/>
              <a:ext cx="552901" cy="558633"/>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78;p9">
              <a:extLst>
                <a:ext uri="{FF2B5EF4-FFF2-40B4-BE49-F238E27FC236}">
                  <a16:creationId xmlns:a16="http://schemas.microsoft.com/office/drawing/2014/main" id="{E0D011A3-C787-3ACF-B604-F28429622A82}"/>
                </a:ext>
              </a:extLst>
            </p:cNvPr>
            <p:cNvSpPr/>
            <p:nvPr/>
          </p:nvSpPr>
          <p:spPr>
            <a:xfrm>
              <a:off x="767158" y="1924052"/>
              <a:ext cx="319353" cy="319353"/>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79;p9">
              <a:extLst>
                <a:ext uri="{FF2B5EF4-FFF2-40B4-BE49-F238E27FC236}">
                  <a16:creationId xmlns:a16="http://schemas.microsoft.com/office/drawing/2014/main" id="{949A928E-4734-1515-557E-529DCB8716B0}"/>
                </a:ext>
              </a:extLst>
            </p:cNvPr>
            <p:cNvSpPr/>
            <p:nvPr/>
          </p:nvSpPr>
          <p:spPr>
            <a:xfrm>
              <a:off x="737700" y="2679272"/>
              <a:ext cx="501840" cy="501840"/>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80;p9">
              <a:extLst>
                <a:ext uri="{FF2B5EF4-FFF2-40B4-BE49-F238E27FC236}">
                  <a16:creationId xmlns:a16="http://schemas.microsoft.com/office/drawing/2014/main" id="{F520D0F0-0602-A6D1-DABF-E0BBDD4A6BAB}"/>
                </a:ext>
              </a:extLst>
            </p:cNvPr>
            <p:cNvSpPr/>
            <p:nvPr/>
          </p:nvSpPr>
          <p:spPr>
            <a:xfrm>
              <a:off x="1851388" y="2200494"/>
              <a:ext cx="566879" cy="566879"/>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81;p9">
              <a:extLst>
                <a:ext uri="{FF2B5EF4-FFF2-40B4-BE49-F238E27FC236}">
                  <a16:creationId xmlns:a16="http://schemas.microsoft.com/office/drawing/2014/main" id="{388C2693-AD5F-583A-6F42-D9C350B7D8C1}"/>
                </a:ext>
              </a:extLst>
            </p:cNvPr>
            <p:cNvSpPr/>
            <p:nvPr/>
          </p:nvSpPr>
          <p:spPr>
            <a:xfrm>
              <a:off x="1601596" y="3596907"/>
              <a:ext cx="319353" cy="319353"/>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82;p9">
              <a:extLst>
                <a:ext uri="{FF2B5EF4-FFF2-40B4-BE49-F238E27FC236}">
                  <a16:creationId xmlns:a16="http://schemas.microsoft.com/office/drawing/2014/main" id="{62C17F1B-1020-92ED-84C2-1B5376241257}"/>
                </a:ext>
              </a:extLst>
            </p:cNvPr>
            <p:cNvSpPr/>
            <p:nvPr/>
          </p:nvSpPr>
          <p:spPr>
            <a:xfrm>
              <a:off x="2903403" y="2739235"/>
              <a:ext cx="501840" cy="501840"/>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83;p9">
              <a:extLst>
                <a:ext uri="{FF2B5EF4-FFF2-40B4-BE49-F238E27FC236}">
                  <a16:creationId xmlns:a16="http://schemas.microsoft.com/office/drawing/2014/main" id="{B064BF04-BC3D-5C54-1FB6-55141513A8DE}"/>
                </a:ext>
              </a:extLst>
            </p:cNvPr>
            <p:cNvSpPr/>
            <p:nvPr/>
          </p:nvSpPr>
          <p:spPr>
            <a:xfrm>
              <a:off x="4249083" y="3492756"/>
              <a:ext cx="319353" cy="319353"/>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84;p9">
              <a:extLst>
                <a:ext uri="{FF2B5EF4-FFF2-40B4-BE49-F238E27FC236}">
                  <a16:creationId xmlns:a16="http://schemas.microsoft.com/office/drawing/2014/main" id="{829A9F8E-CDF9-5AFF-BFA0-3B307B722D44}"/>
                </a:ext>
              </a:extLst>
            </p:cNvPr>
            <p:cNvSpPr/>
            <p:nvPr/>
          </p:nvSpPr>
          <p:spPr>
            <a:xfrm>
              <a:off x="3984369" y="2237904"/>
              <a:ext cx="490526" cy="490526"/>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85;p9">
              <a:extLst>
                <a:ext uri="{FF2B5EF4-FFF2-40B4-BE49-F238E27FC236}">
                  <a16:creationId xmlns:a16="http://schemas.microsoft.com/office/drawing/2014/main" id="{9F278E89-0C3C-1740-7434-70B544A1804F}"/>
                </a:ext>
              </a:extLst>
            </p:cNvPr>
            <p:cNvSpPr/>
            <p:nvPr/>
          </p:nvSpPr>
          <p:spPr>
            <a:xfrm>
              <a:off x="4741940" y="2811221"/>
              <a:ext cx="501840" cy="501840"/>
            </a:xfrm>
            <a:prstGeom prst="ellipse">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4" name="Google Shape;186;p9">
            <a:extLst>
              <a:ext uri="{FF2B5EF4-FFF2-40B4-BE49-F238E27FC236}">
                <a16:creationId xmlns:a16="http://schemas.microsoft.com/office/drawing/2014/main" id="{58D79105-BDFE-09F1-B6A5-882281509C9A}"/>
              </a:ext>
            </a:extLst>
          </p:cNvPr>
          <p:cNvCxnSpPr>
            <a:cxnSpLocks/>
          </p:cNvCxnSpPr>
          <p:nvPr/>
        </p:nvCxnSpPr>
        <p:spPr>
          <a:xfrm>
            <a:off x="5566979" y="2922242"/>
            <a:ext cx="514350" cy="300037"/>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45" name="Google Shape;187;p9">
            <a:extLst>
              <a:ext uri="{FF2B5EF4-FFF2-40B4-BE49-F238E27FC236}">
                <a16:creationId xmlns:a16="http://schemas.microsoft.com/office/drawing/2014/main" id="{D9A14696-E58B-17F7-4804-B20A0265E56E}"/>
              </a:ext>
            </a:extLst>
          </p:cNvPr>
          <p:cNvCxnSpPr>
            <a:cxnSpLocks/>
          </p:cNvCxnSpPr>
          <p:nvPr/>
        </p:nvCxnSpPr>
        <p:spPr>
          <a:xfrm rot="10800000" flipH="1">
            <a:off x="5595555" y="3550891"/>
            <a:ext cx="514350" cy="557212"/>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46" name="Google Shape;188;p9">
            <a:extLst>
              <a:ext uri="{FF2B5EF4-FFF2-40B4-BE49-F238E27FC236}">
                <a16:creationId xmlns:a16="http://schemas.microsoft.com/office/drawing/2014/main" id="{90E36870-62D2-D39F-79D7-C5574AFF2C2E}"/>
              </a:ext>
            </a:extLst>
          </p:cNvPr>
          <p:cNvCxnSpPr>
            <a:cxnSpLocks/>
          </p:cNvCxnSpPr>
          <p:nvPr/>
        </p:nvCxnSpPr>
        <p:spPr>
          <a:xfrm rot="10800000" flipH="1">
            <a:off x="4681154" y="2922242"/>
            <a:ext cx="457200" cy="150018"/>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47" name="Google Shape;189;p9">
            <a:extLst>
              <a:ext uri="{FF2B5EF4-FFF2-40B4-BE49-F238E27FC236}">
                <a16:creationId xmlns:a16="http://schemas.microsoft.com/office/drawing/2014/main" id="{15F60E26-B886-3520-0258-45E4CDA0F12A}"/>
              </a:ext>
            </a:extLst>
          </p:cNvPr>
          <p:cNvCxnSpPr>
            <a:cxnSpLocks/>
          </p:cNvCxnSpPr>
          <p:nvPr/>
        </p:nvCxnSpPr>
        <p:spPr>
          <a:xfrm rot="10800000" flipH="1">
            <a:off x="4338254" y="3428895"/>
            <a:ext cx="1743075" cy="470591"/>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48" name="Google Shape;190;p9">
            <a:extLst>
              <a:ext uri="{FF2B5EF4-FFF2-40B4-BE49-F238E27FC236}">
                <a16:creationId xmlns:a16="http://schemas.microsoft.com/office/drawing/2014/main" id="{F324142F-71D5-5D63-A7FC-A39270535204}"/>
              </a:ext>
            </a:extLst>
          </p:cNvPr>
          <p:cNvCxnSpPr>
            <a:cxnSpLocks/>
          </p:cNvCxnSpPr>
          <p:nvPr/>
        </p:nvCxnSpPr>
        <p:spPr>
          <a:xfrm rot="10800000">
            <a:off x="4209666" y="4093815"/>
            <a:ext cx="28575" cy="400052"/>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49" name="Google Shape;191;p9">
            <a:extLst>
              <a:ext uri="{FF2B5EF4-FFF2-40B4-BE49-F238E27FC236}">
                <a16:creationId xmlns:a16="http://schemas.microsoft.com/office/drawing/2014/main" id="{F2AE5D1B-5CCC-FC07-FCE7-9740CBB6B222}"/>
              </a:ext>
            </a:extLst>
          </p:cNvPr>
          <p:cNvCxnSpPr>
            <a:cxnSpLocks/>
          </p:cNvCxnSpPr>
          <p:nvPr/>
        </p:nvCxnSpPr>
        <p:spPr>
          <a:xfrm rot="10800000">
            <a:off x="6514161" y="3550891"/>
            <a:ext cx="787915" cy="557212"/>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50" name="Google Shape;192;p9">
            <a:extLst>
              <a:ext uri="{FF2B5EF4-FFF2-40B4-BE49-F238E27FC236}">
                <a16:creationId xmlns:a16="http://schemas.microsoft.com/office/drawing/2014/main" id="{A8FF1E8D-5BE2-31EA-9DCE-0DE7F1DC3131}"/>
              </a:ext>
            </a:extLst>
          </p:cNvPr>
          <p:cNvCxnSpPr>
            <a:cxnSpLocks/>
          </p:cNvCxnSpPr>
          <p:nvPr/>
        </p:nvCxnSpPr>
        <p:spPr>
          <a:xfrm rot="10800000" flipH="1">
            <a:off x="6638541" y="4493867"/>
            <a:ext cx="663535" cy="251974"/>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51" name="Google Shape;193;p9">
            <a:extLst>
              <a:ext uri="{FF2B5EF4-FFF2-40B4-BE49-F238E27FC236}">
                <a16:creationId xmlns:a16="http://schemas.microsoft.com/office/drawing/2014/main" id="{C231EA7E-65C9-00C7-301C-CDA0F9AC2B28}"/>
              </a:ext>
            </a:extLst>
          </p:cNvPr>
          <p:cNvCxnSpPr>
            <a:cxnSpLocks/>
          </p:cNvCxnSpPr>
          <p:nvPr/>
        </p:nvCxnSpPr>
        <p:spPr>
          <a:xfrm>
            <a:off x="7467219" y="3222279"/>
            <a:ext cx="42860" cy="857454"/>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52" name="Google Shape;194;p9">
            <a:extLst>
              <a:ext uri="{FF2B5EF4-FFF2-40B4-BE49-F238E27FC236}">
                <a16:creationId xmlns:a16="http://schemas.microsoft.com/office/drawing/2014/main" id="{FA4E1720-49A8-8804-2EDC-5884884D26E5}"/>
              </a:ext>
            </a:extLst>
          </p:cNvPr>
          <p:cNvCxnSpPr>
            <a:cxnSpLocks/>
          </p:cNvCxnSpPr>
          <p:nvPr/>
        </p:nvCxnSpPr>
        <p:spPr>
          <a:xfrm rot="10800000" flipH="1">
            <a:off x="6509954" y="3222279"/>
            <a:ext cx="828676" cy="1397576"/>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53" name="Google Shape;195;p9">
            <a:extLst>
              <a:ext uri="{FF2B5EF4-FFF2-40B4-BE49-F238E27FC236}">
                <a16:creationId xmlns:a16="http://schemas.microsoft.com/office/drawing/2014/main" id="{1EE80170-FA69-08E1-105B-37FA935D62E3}"/>
              </a:ext>
            </a:extLst>
          </p:cNvPr>
          <p:cNvCxnSpPr>
            <a:cxnSpLocks/>
          </p:cNvCxnSpPr>
          <p:nvPr/>
        </p:nvCxnSpPr>
        <p:spPr>
          <a:xfrm>
            <a:off x="7095741" y="2404499"/>
            <a:ext cx="206335" cy="407356"/>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54" name="Google Shape;196;p9">
            <a:extLst>
              <a:ext uri="{FF2B5EF4-FFF2-40B4-BE49-F238E27FC236}">
                <a16:creationId xmlns:a16="http://schemas.microsoft.com/office/drawing/2014/main" id="{85274CC7-3B9E-E802-36A1-033B2965D695}"/>
              </a:ext>
            </a:extLst>
          </p:cNvPr>
          <p:cNvCxnSpPr>
            <a:cxnSpLocks/>
          </p:cNvCxnSpPr>
          <p:nvPr/>
        </p:nvCxnSpPr>
        <p:spPr>
          <a:xfrm flipH="1">
            <a:off x="7681528" y="2568120"/>
            <a:ext cx="358459" cy="272311"/>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55" name="Google Shape;197;p9">
            <a:extLst>
              <a:ext uri="{FF2B5EF4-FFF2-40B4-BE49-F238E27FC236}">
                <a16:creationId xmlns:a16="http://schemas.microsoft.com/office/drawing/2014/main" id="{F8F8DE86-FE44-9475-9FB6-2FFA053CB8AC}"/>
              </a:ext>
            </a:extLst>
          </p:cNvPr>
          <p:cNvCxnSpPr>
            <a:cxnSpLocks/>
          </p:cNvCxnSpPr>
          <p:nvPr/>
        </p:nvCxnSpPr>
        <p:spPr>
          <a:xfrm rot="10800000" flipH="1">
            <a:off x="5138354" y="3578914"/>
            <a:ext cx="1071562" cy="1921235"/>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56" name="Google Shape;198;p9">
            <a:extLst>
              <a:ext uri="{FF2B5EF4-FFF2-40B4-BE49-F238E27FC236}">
                <a16:creationId xmlns:a16="http://schemas.microsoft.com/office/drawing/2014/main" id="{991668F0-6E9B-4D0D-F6AF-2D1087F0BC5F}"/>
              </a:ext>
            </a:extLst>
          </p:cNvPr>
          <p:cNvCxnSpPr>
            <a:cxnSpLocks/>
          </p:cNvCxnSpPr>
          <p:nvPr/>
        </p:nvCxnSpPr>
        <p:spPr>
          <a:xfrm flipH="1">
            <a:off x="7681529" y="3664190"/>
            <a:ext cx="557212" cy="526663"/>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57" name="Google Shape;199;p9">
            <a:extLst>
              <a:ext uri="{FF2B5EF4-FFF2-40B4-BE49-F238E27FC236}">
                <a16:creationId xmlns:a16="http://schemas.microsoft.com/office/drawing/2014/main" id="{22CCF79C-10CD-315B-9C0D-5D860BA931EE}"/>
              </a:ext>
            </a:extLst>
          </p:cNvPr>
          <p:cNvCxnSpPr>
            <a:cxnSpLocks/>
          </p:cNvCxnSpPr>
          <p:nvPr/>
        </p:nvCxnSpPr>
        <p:spPr>
          <a:xfrm rot="10800000">
            <a:off x="7681528" y="4490157"/>
            <a:ext cx="387035" cy="255684"/>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58" name="Google Shape;200;p9">
            <a:extLst>
              <a:ext uri="{FF2B5EF4-FFF2-40B4-BE49-F238E27FC236}">
                <a16:creationId xmlns:a16="http://schemas.microsoft.com/office/drawing/2014/main" id="{6E242DD9-71FE-2E72-A27E-92C704B10EDB}"/>
              </a:ext>
            </a:extLst>
          </p:cNvPr>
          <p:cNvCxnSpPr>
            <a:cxnSpLocks/>
          </p:cNvCxnSpPr>
          <p:nvPr/>
        </p:nvCxnSpPr>
        <p:spPr>
          <a:xfrm flipH="1">
            <a:off x="6600135" y="3100559"/>
            <a:ext cx="613062" cy="209965"/>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59" name="Google Shape;201;p9">
            <a:extLst>
              <a:ext uri="{FF2B5EF4-FFF2-40B4-BE49-F238E27FC236}">
                <a16:creationId xmlns:a16="http://schemas.microsoft.com/office/drawing/2014/main" id="{CE372E84-4324-3F05-BF6C-E096B4F474D1}"/>
              </a:ext>
            </a:extLst>
          </p:cNvPr>
          <p:cNvCxnSpPr>
            <a:cxnSpLocks/>
          </p:cNvCxnSpPr>
          <p:nvPr/>
        </p:nvCxnSpPr>
        <p:spPr>
          <a:xfrm flipH="1">
            <a:off x="5501295" y="2296518"/>
            <a:ext cx="158552" cy="285890"/>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60" name="Google Shape;202;p9">
            <a:extLst>
              <a:ext uri="{FF2B5EF4-FFF2-40B4-BE49-F238E27FC236}">
                <a16:creationId xmlns:a16="http://schemas.microsoft.com/office/drawing/2014/main" id="{3E07215F-8AAB-6AF8-4934-2EBE4A29A65A}"/>
              </a:ext>
            </a:extLst>
          </p:cNvPr>
          <p:cNvCxnSpPr>
            <a:cxnSpLocks/>
          </p:cNvCxnSpPr>
          <p:nvPr/>
        </p:nvCxnSpPr>
        <p:spPr>
          <a:xfrm>
            <a:off x="4866891" y="2650779"/>
            <a:ext cx="261690" cy="53496"/>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61" name="Google Shape;203;p9">
            <a:extLst>
              <a:ext uri="{FF2B5EF4-FFF2-40B4-BE49-F238E27FC236}">
                <a16:creationId xmlns:a16="http://schemas.microsoft.com/office/drawing/2014/main" id="{4F85EE1C-6578-0782-D996-36469F09C956}"/>
              </a:ext>
            </a:extLst>
          </p:cNvPr>
          <p:cNvCxnSpPr>
            <a:cxnSpLocks/>
          </p:cNvCxnSpPr>
          <p:nvPr/>
        </p:nvCxnSpPr>
        <p:spPr>
          <a:xfrm>
            <a:off x="5501295" y="2997251"/>
            <a:ext cx="754637" cy="1618161"/>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62" name="Google Shape;204;p9">
            <a:extLst>
              <a:ext uri="{FF2B5EF4-FFF2-40B4-BE49-F238E27FC236}">
                <a16:creationId xmlns:a16="http://schemas.microsoft.com/office/drawing/2014/main" id="{502C7271-9C1C-1AC3-982A-238AB39B523D}"/>
              </a:ext>
            </a:extLst>
          </p:cNvPr>
          <p:cNvCxnSpPr>
            <a:cxnSpLocks/>
          </p:cNvCxnSpPr>
          <p:nvPr/>
        </p:nvCxnSpPr>
        <p:spPr>
          <a:xfrm>
            <a:off x="6297871" y="2152074"/>
            <a:ext cx="3524" cy="920186"/>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cxnSp>
        <p:nvCxnSpPr>
          <p:cNvPr id="63" name="Google Shape;205;p9">
            <a:extLst>
              <a:ext uri="{FF2B5EF4-FFF2-40B4-BE49-F238E27FC236}">
                <a16:creationId xmlns:a16="http://schemas.microsoft.com/office/drawing/2014/main" id="{17717001-2E49-21B2-D80B-A66BE0BE45C8}"/>
              </a:ext>
            </a:extLst>
          </p:cNvPr>
          <p:cNvCxnSpPr>
            <a:cxnSpLocks/>
          </p:cNvCxnSpPr>
          <p:nvPr/>
        </p:nvCxnSpPr>
        <p:spPr>
          <a:xfrm flipH="1">
            <a:off x="7815515" y="5093942"/>
            <a:ext cx="294639" cy="281448"/>
          </a:xfrm>
          <a:prstGeom prst="straightConnector1">
            <a:avLst/>
          </a:prstGeom>
          <a:noFill/>
          <a:ln w="25400"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cxnSp>
      <p:sp>
        <p:nvSpPr>
          <p:cNvPr id="84" name="TextBox 83">
            <a:extLst>
              <a:ext uri="{FF2B5EF4-FFF2-40B4-BE49-F238E27FC236}">
                <a16:creationId xmlns:a16="http://schemas.microsoft.com/office/drawing/2014/main" id="{9A8D88F8-50B9-54E2-CCB8-90A832B46206}"/>
              </a:ext>
            </a:extLst>
          </p:cNvPr>
          <p:cNvSpPr txBox="1"/>
          <p:nvPr/>
        </p:nvSpPr>
        <p:spPr>
          <a:xfrm>
            <a:off x="206597" y="1982243"/>
            <a:ext cx="3248594" cy="2246769"/>
          </a:xfrm>
          <a:prstGeom prst="rect">
            <a:avLst/>
          </a:prstGeom>
          <a:noFill/>
        </p:spPr>
        <p:txBody>
          <a:bodyPr wrap="square" rtlCol="0">
            <a:spAutoFit/>
          </a:bodyPr>
          <a:lstStyle/>
          <a:p>
            <a:pPr marL="285750" indent="-285750">
              <a:buClr>
                <a:schemeClr val="accent2"/>
              </a:buClr>
              <a:buFont typeface="Arial" panose="020B0604020202020204" pitchFamily="34" charset="0"/>
              <a:buChar char="•"/>
            </a:pPr>
            <a:r>
              <a:rPr lang="en-GB" sz="2000" dirty="0"/>
              <a:t>Share a clearly defined resource</a:t>
            </a:r>
          </a:p>
          <a:p>
            <a:pPr marL="285750" indent="-285750">
              <a:buClr>
                <a:schemeClr val="accent2"/>
              </a:buClr>
              <a:buFont typeface="Arial" panose="020B0604020202020204" pitchFamily="34" charset="0"/>
              <a:buChar char="•"/>
            </a:pPr>
            <a:r>
              <a:rPr lang="en-GB" sz="2000" dirty="0"/>
              <a:t>Users have a stake</a:t>
            </a:r>
          </a:p>
          <a:p>
            <a:pPr marL="285750" indent="-285750">
              <a:buClr>
                <a:schemeClr val="accent2"/>
              </a:buClr>
              <a:buFont typeface="Arial" panose="020B0604020202020204" pitchFamily="34" charset="0"/>
              <a:buChar char="•"/>
            </a:pPr>
            <a:r>
              <a:rPr lang="en-GB" sz="2000" dirty="0"/>
              <a:t>Users can access rulemaking</a:t>
            </a:r>
          </a:p>
          <a:p>
            <a:pPr marL="285750" indent="-285750">
              <a:buClr>
                <a:schemeClr val="accent2"/>
              </a:buClr>
              <a:buFont typeface="Arial" panose="020B0604020202020204" pitchFamily="34" charset="0"/>
              <a:buChar char="•"/>
            </a:pPr>
            <a:r>
              <a:rPr lang="en-GB" sz="2000" dirty="0"/>
              <a:t>Sanctions for rulebreakers</a:t>
            </a:r>
          </a:p>
          <a:p>
            <a:endParaRPr lang="en-GB" sz="2000" dirty="0"/>
          </a:p>
        </p:txBody>
      </p:sp>
      <p:sp>
        <p:nvSpPr>
          <p:cNvPr id="12" name="TextBox 11">
            <a:extLst>
              <a:ext uri="{FF2B5EF4-FFF2-40B4-BE49-F238E27FC236}">
                <a16:creationId xmlns:a16="http://schemas.microsoft.com/office/drawing/2014/main" id="{2C96F960-A5D8-47FB-DE49-5F66654D9056}"/>
              </a:ext>
            </a:extLst>
          </p:cNvPr>
          <p:cNvSpPr txBox="1"/>
          <p:nvPr/>
        </p:nvSpPr>
        <p:spPr>
          <a:xfrm>
            <a:off x="9155402" y="4689675"/>
            <a:ext cx="2728688" cy="830997"/>
          </a:xfrm>
          <a:prstGeom prst="rect">
            <a:avLst/>
          </a:prstGeom>
          <a:noFill/>
        </p:spPr>
        <p:txBody>
          <a:bodyPr wrap="square" rtlCol="0">
            <a:spAutoFit/>
          </a:bodyPr>
          <a:lstStyle/>
          <a:p>
            <a:r>
              <a:rPr lang="en-GB" sz="2400" dirty="0"/>
              <a:t>Could this apply to cultural commons?</a:t>
            </a:r>
          </a:p>
        </p:txBody>
      </p:sp>
    </p:spTree>
    <p:extLst>
      <p:ext uri="{BB962C8B-B14F-4D97-AF65-F5344CB8AC3E}">
        <p14:creationId xmlns:p14="http://schemas.microsoft.com/office/powerpoint/2010/main" val="971578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585DA-CA9F-D2C2-D2A1-BB10A1628CB8}"/>
              </a:ext>
            </a:extLst>
          </p:cNvPr>
          <p:cNvSpPr>
            <a:spLocks noGrp="1"/>
          </p:cNvSpPr>
          <p:nvPr>
            <p:ph type="title"/>
          </p:nvPr>
        </p:nvSpPr>
        <p:spPr/>
        <p:txBody>
          <a:bodyPr/>
          <a:lstStyle/>
          <a:p>
            <a:r>
              <a:rPr lang="en-GB" dirty="0"/>
              <a:t>Bottom-up registries</a:t>
            </a:r>
          </a:p>
        </p:txBody>
      </p:sp>
      <p:sp>
        <p:nvSpPr>
          <p:cNvPr id="3" name="Content Placeholder 2">
            <a:extLst>
              <a:ext uri="{FF2B5EF4-FFF2-40B4-BE49-F238E27FC236}">
                <a16:creationId xmlns:a16="http://schemas.microsoft.com/office/drawing/2014/main" id="{76498DB5-7101-CE03-E8D7-BE7DA2180BEF}"/>
              </a:ext>
            </a:extLst>
          </p:cNvPr>
          <p:cNvSpPr>
            <a:spLocks noGrp="1"/>
          </p:cNvSpPr>
          <p:nvPr>
            <p:ph idx="1"/>
          </p:nvPr>
        </p:nvSpPr>
        <p:spPr>
          <a:xfrm>
            <a:off x="629920" y="2069254"/>
            <a:ext cx="6502400" cy="4250266"/>
          </a:xfrm>
        </p:spPr>
        <p:txBody>
          <a:bodyPr>
            <a:normAutofit fontScale="92500" lnSpcReduction="10000"/>
          </a:bodyPr>
          <a:lstStyle/>
          <a:p>
            <a:r>
              <a:rPr lang="en-GB" sz="2400" dirty="0"/>
              <a:t>Legal theorists love them!</a:t>
            </a:r>
          </a:p>
          <a:p>
            <a:endParaRPr lang="en-GB" sz="2400" dirty="0"/>
          </a:p>
          <a:p>
            <a:r>
              <a:rPr lang="en-GB" sz="2400" dirty="0"/>
              <a:t>David </a:t>
            </a:r>
            <a:r>
              <a:rPr lang="en-GB" sz="2400" dirty="0" err="1"/>
              <a:t>Fagundes</a:t>
            </a:r>
            <a:r>
              <a:rPr lang="en-GB" sz="2400" dirty="0"/>
              <a:t>, series of articles </a:t>
            </a:r>
            <a:r>
              <a:rPr lang="en-GB" sz="2400" b="1" dirty="0"/>
              <a:t>on clown eggs and roller derby competitor names</a:t>
            </a:r>
            <a:r>
              <a:rPr lang="en-GB" sz="2400" dirty="0"/>
              <a:t>.</a:t>
            </a:r>
          </a:p>
          <a:p>
            <a:r>
              <a:rPr lang="en-GB" sz="2400" dirty="0"/>
              <a:t>Formal protection might plausibly apply. But instead,</a:t>
            </a:r>
          </a:p>
          <a:p>
            <a:r>
              <a:rPr lang="en-GB" sz="2400" dirty="0"/>
              <a:t>“norms-based governance of IP”</a:t>
            </a:r>
          </a:p>
          <a:p>
            <a:r>
              <a:rPr lang="en-GB" sz="2400" dirty="0"/>
              <a:t>Membership in an association, e.g. Clowns International</a:t>
            </a:r>
          </a:p>
          <a:p>
            <a:r>
              <a:rPr lang="en-GB" sz="2400" dirty="0"/>
              <a:t>Exclusion and non-exclusion functions</a:t>
            </a:r>
          </a:p>
          <a:p>
            <a:pPr lvl="1"/>
            <a:r>
              <a:rPr lang="en-GB" sz="2000" dirty="0"/>
              <a:t>Community resource</a:t>
            </a:r>
          </a:p>
          <a:p>
            <a:pPr lvl="1"/>
            <a:r>
              <a:rPr lang="en-GB" sz="2000" dirty="0"/>
              <a:t>Signal of professionalism</a:t>
            </a:r>
          </a:p>
          <a:p>
            <a:pPr lvl="1"/>
            <a:r>
              <a:rPr lang="en-GB" sz="2000" dirty="0"/>
              <a:t>Historical commons</a:t>
            </a:r>
          </a:p>
        </p:txBody>
      </p:sp>
      <p:pic>
        <p:nvPicPr>
          <p:cNvPr id="4" name="Picture 10" descr="The fascinating reason why clowns paint their faces on eggs">
            <a:extLst>
              <a:ext uri="{FF2B5EF4-FFF2-40B4-BE49-F238E27FC236}">
                <a16:creationId xmlns:a16="http://schemas.microsoft.com/office/drawing/2014/main" id="{F8238300-EF74-833E-12CF-D9B03A005A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65" r="6746" b="6526"/>
          <a:stretch/>
        </p:blipFill>
        <p:spPr bwMode="auto">
          <a:xfrm>
            <a:off x="7396479" y="1188720"/>
            <a:ext cx="4551681" cy="26924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Roller Derby 101: Everything you need to take it to the track! | Pigeon's  Roller Skate Shop">
            <a:extLst>
              <a:ext uri="{FF2B5EF4-FFF2-40B4-BE49-F238E27FC236}">
                <a16:creationId xmlns:a16="http://schemas.microsoft.com/office/drawing/2014/main" id="{A67044C7-3382-2CE8-D6D3-D3A7140E9E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889" b="6371"/>
          <a:stretch/>
        </p:blipFill>
        <p:spPr bwMode="auto">
          <a:xfrm>
            <a:off x="7396479" y="4021237"/>
            <a:ext cx="4551681" cy="2550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989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legal innovation:</a:t>
            </a:r>
          </a:p>
        </p:txBody>
      </p:sp>
      <p:sp>
        <p:nvSpPr>
          <p:cNvPr id="3" name="TextBox 2"/>
          <p:cNvSpPr txBox="1"/>
          <p:nvPr/>
        </p:nvSpPr>
        <p:spPr>
          <a:xfrm>
            <a:off x="1097280" y="2007270"/>
            <a:ext cx="5466080" cy="3754874"/>
          </a:xfrm>
          <a:prstGeom prst="rect">
            <a:avLst/>
          </a:prstGeom>
          <a:noFill/>
        </p:spPr>
        <p:txBody>
          <a:bodyPr wrap="square" rtlCol="0">
            <a:spAutoFit/>
          </a:bodyPr>
          <a:lstStyle/>
          <a:p>
            <a:r>
              <a:rPr lang="en-US" sz="2000" dirty="0"/>
              <a:t>Free and Open source Software / </a:t>
            </a:r>
          </a:p>
          <a:p>
            <a:r>
              <a:rPr lang="en-US" sz="2000" dirty="0"/>
              <a:t>Creative Commons</a:t>
            </a:r>
          </a:p>
          <a:p>
            <a:endParaRPr lang="en-US" sz="2000" dirty="0"/>
          </a:p>
          <a:p>
            <a:r>
              <a:rPr lang="en-US" sz="2000" dirty="0"/>
              <a:t>Are </a:t>
            </a:r>
            <a:r>
              <a:rPr lang="en-US" sz="2000" dirty="0">
                <a:solidFill>
                  <a:schemeClr val="accent2"/>
                </a:solidFill>
              </a:rPr>
              <a:t>legal innovations </a:t>
            </a:r>
            <a:r>
              <a:rPr lang="en-US" sz="2000" dirty="0"/>
              <a:t>to solve the </a:t>
            </a:r>
            <a:r>
              <a:rPr lang="en-US" sz="2000" dirty="0">
                <a:solidFill>
                  <a:schemeClr val="accent2"/>
                </a:solidFill>
              </a:rPr>
              <a:t>coordination problems </a:t>
            </a:r>
            <a:r>
              <a:rPr lang="en-US" sz="2000" dirty="0"/>
              <a:t>raised by peer-production:</a:t>
            </a:r>
          </a:p>
          <a:p>
            <a:endParaRPr lang="en-US" sz="2000" dirty="0"/>
          </a:p>
          <a:p>
            <a:pPr marL="342900" indent="-342900">
              <a:buFont typeface="Wingdings" charset="2"/>
              <a:buChar char="Ø"/>
            </a:pPr>
            <a:r>
              <a:rPr lang="en-US" sz="2000" dirty="0"/>
              <a:t>Define acceptable use by group members;</a:t>
            </a:r>
          </a:p>
          <a:p>
            <a:pPr marL="342900" indent="-342900">
              <a:buFont typeface="Wingdings" charset="2"/>
              <a:buChar char="Ø"/>
            </a:pPr>
            <a:r>
              <a:rPr lang="en-US" sz="2000" dirty="0"/>
              <a:t>Promote follow-on innovation by reducing transaction costs;</a:t>
            </a:r>
          </a:p>
          <a:p>
            <a:pPr marL="342900" indent="-342900">
              <a:buFont typeface="Wingdings" charset="2"/>
              <a:buChar char="Ø"/>
            </a:pPr>
            <a:r>
              <a:rPr lang="en-US" sz="2000" dirty="0"/>
              <a:t>Prevent appropriation / private rights, which would lock out collaborators;</a:t>
            </a:r>
          </a:p>
          <a:p>
            <a:pPr marL="342900" indent="-342900">
              <a:buFont typeface="Wingdings" charset="2"/>
              <a:buChar char="Ø"/>
            </a:pPr>
            <a:r>
              <a:rPr lang="en-US" sz="2000" dirty="0"/>
              <a:t>Solidify norms with legal certainty.</a:t>
            </a:r>
          </a:p>
        </p:txBody>
      </p:sp>
      <p:pic>
        <p:nvPicPr>
          <p:cNvPr id="2050" name="Picture 2" desc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2537" y="2426376"/>
            <a:ext cx="3893143" cy="3893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9578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6F231-B317-4ABE-EE7E-EC8D47B99CBA}"/>
              </a:ext>
            </a:extLst>
          </p:cNvPr>
          <p:cNvSpPr>
            <a:spLocks noGrp="1"/>
          </p:cNvSpPr>
          <p:nvPr>
            <p:ph type="title"/>
          </p:nvPr>
        </p:nvSpPr>
        <p:spPr>
          <a:xfrm>
            <a:off x="1016000" y="83403"/>
            <a:ext cx="10058400" cy="1450757"/>
          </a:xfrm>
        </p:spPr>
        <p:txBody>
          <a:bodyPr>
            <a:normAutofit/>
          </a:bodyPr>
          <a:lstStyle/>
          <a:p>
            <a:r>
              <a:rPr lang="en-GB" sz="4400" b="1" i="1" dirty="0"/>
              <a:t>The Cathedral and the Bazaar</a:t>
            </a:r>
            <a:endParaRPr lang="en-GB" sz="4400" b="1" dirty="0"/>
          </a:p>
        </p:txBody>
      </p:sp>
      <p:sp>
        <p:nvSpPr>
          <p:cNvPr id="3" name="Content Placeholder 2">
            <a:extLst>
              <a:ext uri="{FF2B5EF4-FFF2-40B4-BE49-F238E27FC236}">
                <a16:creationId xmlns:a16="http://schemas.microsoft.com/office/drawing/2014/main" id="{B7AA7ED3-31D8-2ECA-3C20-86F023B555C9}"/>
              </a:ext>
            </a:extLst>
          </p:cNvPr>
          <p:cNvSpPr>
            <a:spLocks noGrp="1"/>
          </p:cNvSpPr>
          <p:nvPr>
            <p:ph idx="1"/>
          </p:nvPr>
        </p:nvSpPr>
        <p:spPr>
          <a:xfrm>
            <a:off x="1097281" y="1985583"/>
            <a:ext cx="6667862" cy="4023360"/>
          </a:xfrm>
        </p:spPr>
        <p:txBody>
          <a:bodyPr>
            <a:normAutofit/>
          </a:bodyPr>
          <a:lstStyle/>
          <a:p>
            <a:pPr marL="342900" indent="0" rtl="0">
              <a:spcBef>
                <a:spcPts val="0"/>
              </a:spcBef>
              <a:spcAft>
                <a:spcPts val="0"/>
              </a:spcAft>
              <a:buNone/>
            </a:pPr>
            <a:r>
              <a:rPr lang="en-GB" sz="2400" b="0" i="0" u="none" strike="noStrike" dirty="0">
                <a:solidFill>
                  <a:srgbClr val="000005"/>
                </a:solidFill>
                <a:effectLst/>
                <a:latin typeface="Arial" panose="020B0604020202020204" pitchFamily="34" charset="0"/>
              </a:rPr>
              <a:t>Eric Raymond’s (1998) essay on the benefits of open source software.</a:t>
            </a:r>
            <a:endParaRPr lang="en-GB" sz="2800" dirty="0">
              <a:effectLst/>
            </a:endParaRPr>
          </a:p>
          <a:p>
            <a:pPr marL="342900" indent="12700" rtl="0">
              <a:spcBef>
                <a:spcPts val="0"/>
              </a:spcBef>
              <a:spcAft>
                <a:spcPts val="0"/>
              </a:spcAft>
            </a:pPr>
            <a:endParaRPr lang="en-GB" sz="2400" b="0" i="0" u="none" strike="noStrike" dirty="0">
              <a:solidFill>
                <a:srgbClr val="000005"/>
              </a:solidFill>
              <a:effectLst/>
              <a:latin typeface="Arial" panose="020B0604020202020204" pitchFamily="34" charset="0"/>
            </a:endParaRPr>
          </a:p>
          <a:p>
            <a:pPr marL="342900" indent="12700" rtl="0">
              <a:spcBef>
                <a:spcPts val="0"/>
              </a:spcBef>
              <a:spcAft>
                <a:spcPts val="0"/>
              </a:spcAft>
            </a:pPr>
            <a:r>
              <a:rPr lang="en-GB" sz="2400" b="0" i="0" u="none" strike="noStrike" dirty="0">
                <a:solidFill>
                  <a:srgbClr val="000005"/>
                </a:solidFill>
                <a:effectLst/>
                <a:latin typeface="Arial" panose="020B0604020202020204" pitchFamily="34" charset="0"/>
              </a:rPr>
              <a:t>“Linus Torvalds's style of development - </a:t>
            </a:r>
            <a:r>
              <a:rPr lang="en-GB" sz="2400" b="0" i="0" u="none" strike="noStrike" dirty="0">
                <a:solidFill>
                  <a:schemeClr val="accent2"/>
                </a:solidFill>
                <a:effectLst/>
                <a:latin typeface="Arial" panose="020B0604020202020204" pitchFamily="34" charset="0"/>
              </a:rPr>
              <a:t>release early </a:t>
            </a:r>
            <a:r>
              <a:rPr lang="en-GB" sz="2400" b="0" i="0" u="none" strike="noStrike" dirty="0">
                <a:solidFill>
                  <a:srgbClr val="000005"/>
                </a:solidFill>
                <a:effectLst/>
                <a:latin typeface="Arial" panose="020B0604020202020204" pitchFamily="34" charset="0"/>
              </a:rPr>
              <a:t>and often, delegate</a:t>
            </a:r>
          </a:p>
          <a:p>
            <a:pPr marL="342900" indent="0" rtl="0">
              <a:spcBef>
                <a:spcPts val="0"/>
              </a:spcBef>
              <a:spcAft>
                <a:spcPts val="0"/>
              </a:spcAft>
              <a:buNone/>
            </a:pPr>
            <a:r>
              <a:rPr lang="en-GB" sz="2400" b="0" i="0" u="none" strike="noStrike" dirty="0">
                <a:solidFill>
                  <a:srgbClr val="000005"/>
                </a:solidFill>
                <a:effectLst/>
                <a:latin typeface="Arial" panose="020B0604020202020204" pitchFamily="34" charset="0"/>
              </a:rPr>
              <a:t> everything you can, </a:t>
            </a:r>
            <a:r>
              <a:rPr lang="en-GB" sz="2400" b="0" i="0" u="none" strike="noStrike" dirty="0">
                <a:solidFill>
                  <a:schemeClr val="accent2"/>
                </a:solidFill>
                <a:effectLst/>
                <a:latin typeface="Arial" panose="020B0604020202020204" pitchFamily="34" charset="0"/>
              </a:rPr>
              <a:t>be open </a:t>
            </a:r>
            <a:r>
              <a:rPr lang="en-GB" sz="2400" b="0" i="0" u="none" strike="noStrike" dirty="0">
                <a:solidFill>
                  <a:srgbClr val="000005"/>
                </a:solidFill>
                <a:effectLst/>
                <a:latin typeface="Arial" panose="020B0604020202020204" pitchFamily="34" charset="0"/>
              </a:rPr>
              <a:t>to the point of promiscuity” </a:t>
            </a:r>
          </a:p>
          <a:p>
            <a:pPr marL="342900" indent="0" rtl="0">
              <a:spcBef>
                <a:spcPts val="0"/>
              </a:spcBef>
              <a:spcAft>
                <a:spcPts val="0"/>
              </a:spcAft>
              <a:buNone/>
            </a:pPr>
            <a:endParaRPr lang="en-GB" sz="2800" dirty="0">
              <a:effectLst/>
            </a:endParaRPr>
          </a:p>
          <a:p>
            <a:pPr lvl="1" fontAlgn="base">
              <a:spcBef>
                <a:spcPts val="0"/>
              </a:spcBef>
              <a:spcAft>
                <a:spcPts val="0"/>
              </a:spcAft>
              <a:buFont typeface="Arial" panose="020B0604020202020204" pitchFamily="34" charset="0"/>
              <a:buChar char="•"/>
            </a:pPr>
            <a:r>
              <a:rPr lang="en-GB" sz="2200" b="0" i="0" u="none" strike="noStrike" dirty="0">
                <a:solidFill>
                  <a:srgbClr val="000005"/>
                </a:solidFill>
                <a:effectLst/>
                <a:latin typeface="Arial" panose="020B0604020202020204" pitchFamily="34" charset="0"/>
              </a:rPr>
              <a:t>"Given enough eyeballs, all bugs are shallow.”</a:t>
            </a:r>
          </a:p>
          <a:p>
            <a:pPr lvl="1" fontAlgn="base">
              <a:spcBef>
                <a:spcPts val="0"/>
              </a:spcBef>
              <a:spcAft>
                <a:spcPts val="0"/>
              </a:spcAft>
              <a:buFont typeface="Arial" panose="020B0604020202020204" pitchFamily="34" charset="0"/>
              <a:buChar char="•"/>
            </a:pPr>
            <a:r>
              <a:rPr lang="en-GB" sz="2200" b="0" i="0" u="none" strike="noStrike" dirty="0">
                <a:solidFill>
                  <a:srgbClr val="000005"/>
                </a:solidFill>
                <a:effectLst/>
                <a:latin typeface="Arial" panose="020B0604020202020204" pitchFamily="34" charset="0"/>
              </a:rPr>
              <a:t>Users are </a:t>
            </a:r>
            <a:r>
              <a:rPr lang="en-GB" sz="2200" b="0" i="0" u="none" strike="noStrike" dirty="0">
                <a:solidFill>
                  <a:schemeClr val="accent2"/>
                </a:solidFill>
                <a:effectLst/>
                <a:latin typeface="Arial" panose="020B0604020202020204" pitchFamily="34" charset="0"/>
              </a:rPr>
              <a:t>co-creators.</a:t>
            </a:r>
          </a:p>
          <a:p>
            <a:pPr lvl="1" fontAlgn="base">
              <a:spcBef>
                <a:spcPts val="0"/>
              </a:spcBef>
              <a:spcAft>
                <a:spcPts val="0"/>
              </a:spcAft>
              <a:buFont typeface="Arial" panose="020B0604020202020204" pitchFamily="34" charset="0"/>
              <a:buChar char="•"/>
            </a:pPr>
            <a:r>
              <a:rPr lang="en-GB" sz="2200" b="0" i="0" u="none" strike="noStrike" dirty="0">
                <a:solidFill>
                  <a:srgbClr val="000005"/>
                </a:solidFill>
                <a:effectLst/>
                <a:latin typeface="Arial" panose="020B0604020202020204" pitchFamily="34" charset="0"/>
              </a:rPr>
              <a:t>Where developers are not territorial about their code, improvement happens dramatically faster.</a:t>
            </a:r>
          </a:p>
          <a:p>
            <a:endParaRPr lang="en-GB" sz="2800" b="1" dirty="0"/>
          </a:p>
          <a:p>
            <a:endParaRPr lang="en-GB" sz="2800" b="1" dirty="0"/>
          </a:p>
          <a:p>
            <a:endParaRPr lang="en-GB" sz="2800" b="1" dirty="0"/>
          </a:p>
        </p:txBody>
      </p:sp>
      <p:pic>
        <p:nvPicPr>
          <p:cNvPr id="10242" name="Picture 2" descr="mage result for cathedral">
            <a:extLst>
              <a:ext uri="{FF2B5EF4-FFF2-40B4-BE49-F238E27FC236}">
                <a16:creationId xmlns:a16="http://schemas.microsoft.com/office/drawing/2014/main" id="{85364A5D-A71A-2C98-967C-C4D5F35E63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43" r="24524"/>
          <a:stretch/>
        </p:blipFill>
        <p:spPr bwMode="auto">
          <a:xfrm>
            <a:off x="9023691" y="524888"/>
            <a:ext cx="2761047" cy="292139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mage result for bazaar">
            <a:extLst>
              <a:ext uri="{FF2B5EF4-FFF2-40B4-BE49-F238E27FC236}">
                <a16:creationId xmlns:a16="http://schemas.microsoft.com/office/drawing/2014/main" id="{80FAC22A-AAD0-F514-985E-96F7193543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605" t="23361" r="18142"/>
          <a:stretch/>
        </p:blipFill>
        <p:spPr bwMode="auto">
          <a:xfrm>
            <a:off x="8766071" y="3684563"/>
            <a:ext cx="3276288" cy="2648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1216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3" name="Title 2">
            <a:extLst>
              <a:ext uri="{FF2B5EF4-FFF2-40B4-BE49-F238E27FC236}">
                <a16:creationId xmlns:a16="http://schemas.microsoft.com/office/drawing/2014/main" id="{CAD30B8C-1837-BD66-78E7-A7813E839311}"/>
              </a:ext>
            </a:extLst>
          </p:cNvPr>
          <p:cNvSpPr>
            <a:spLocks noGrp="1"/>
          </p:cNvSpPr>
          <p:nvPr>
            <p:ph type="title"/>
          </p:nvPr>
        </p:nvSpPr>
        <p:spPr/>
        <p:txBody>
          <a:bodyPr/>
          <a:lstStyle/>
          <a:p>
            <a:r>
              <a:rPr lang="en-GB" b="1" dirty="0">
                <a:solidFill>
                  <a:schemeClr val="accent2"/>
                </a:solidFill>
              </a:rPr>
              <a:t>Part 2: Examples of Open Innovation</a:t>
            </a:r>
          </a:p>
        </p:txBody>
      </p:sp>
      <p:sp>
        <p:nvSpPr>
          <p:cNvPr id="4" name="TextBox 3">
            <a:extLst>
              <a:ext uri="{FF2B5EF4-FFF2-40B4-BE49-F238E27FC236}">
                <a16:creationId xmlns:a16="http://schemas.microsoft.com/office/drawing/2014/main" id="{A8702918-4A89-2877-AF24-92B457D8FBE8}"/>
              </a:ext>
            </a:extLst>
          </p:cNvPr>
          <p:cNvSpPr txBox="1"/>
          <p:nvPr/>
        </p:nvSpPr>
        <p:spPr>
          <a:xfrm>
            <a:off x="1341120" y="2521059"/>
            <a:ext cx="9509760" cy="1815882"/>
          </a:xfrm>
          <a:prstGeom prst="rect">
            <a:avLst/>
          </a:prstGeom>
          <a:noFill/>
        </p:spPr>
        <p:txBody>
          <a:bodyPr wrap="square" rtlCol="0">
            <a:spAutoFit/>
          </a:bodyPr>
          <a:lstStyle/>
          <a:p>
            <a:pPr marL="342900" indent="-342900">
              <a:buAutoNum type="arabicParenR"/>
            </a:pPr>
            <a:r>
              <a:rPr lang="en-GB" sz="2800" dirty="0"/>
              <a:t>Firms that take inbound open innovations from </a:t>
            </a:r>
            <a:r>
              <a:rPr lang="en-GB" sz="2800" b="1" dirty="0"/>
              <a:t>upstream</a:t>
            </a:r>
          </a:p>
          <a:p>
            <a:pPr marL="342900" indent="-342900">
              <a:buAutoNum type="arabicParenR"/>
            </a:pPr>
            <a:endParaRPr lang="en-GB" sz="2800" dirty="0"/>
          </a:p>
          <a:p>
            <a:pPr marL="342900" indent="-342900">
              <a:buAutoNum type="arabicParenR"/>
            </a:pPr>
            <a:r>
              <a:rPr lang="en-GB" sz="2800" dirty="0"/>
              <a:t>Firms that “reveal” their innovations in an open way to users </a:t>
            </a:r>
            <a:r>
              <a:rPr lang="en-GB" sz="2800" b="1" dirty="0"/>
              <a:t>downstream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5"/>
          <p:cNvSpPr txBox="1">
            <a:spLocks noGrp="1"/>
          </p:cNvSpPr>
          <p:nvPr>
            <p:ph type="title"/>
          </p:nvPr>
        </p:nvSpPr>
        <p:spPr>
          <a:xfrm>
            <a:off x="1271240" y="473700"/>
            <a:ext cx="8805746" cy="1143000"/>
          </a:xfrm>
          <a:prstGeom prst="rect">
            <a:avLst/>
          </a:prstGeom>
          <a:noFill/>
          <a:ln>
            <a:noFill/>
          </a:ln>
        </p:spPr>
        <p:txBody>
          <a:bodyPr spcFirstLastPara="1" vert="horz" wrap="square" lIns="91425" tIns="45700" rIns="91425" bIns="45700" rtlCol="0" anchor="ctr" anchorCtr="0">
            <a:noAutofit/>
          </a:bodyPr>
          <a:lstStyle/>
          <a:p>
            <a:pPr>
              <a:spcBef>
                <a:spcPts val="0"/>
              </a:spcBef>
              <a:buClr>
                <a:srgbClr val="7030A0"/>
              </a:buClr>
              <a:buSzPts val="4400"/>
            </a:pPr>
            <a:r>
              <a:rPr lang="en-US" b="1" dirty="0">
                <a:solidFill>
                  <a:schemeClr val="accent2"/>
                </a:solidFill>
                <a:ea typeface="Avenir"/>
                <a:cs typeface="Avenir"/>
                <a:sym typeface="Avenir"/>
              </a:rPr>
              <a:t>Example: Kickstarter and crowdfunding</a:t>
            </a:r>
            <a:endParaRPr b="1" dirty="0">
              <a:solidFill>
                <a:schemeClr val="accent2"/>
              </a:solidFill>
              <a:ea typeface="Avenir"/>
              <a:cs typeface="Avenir"/>
              <a:sym typeface="Avenir"/>
            </a:endParaRPr>
          </a:p>
        </p:txBody>
      </p:sp>
      <p:sp>
        <p:nvSpPr>
          <p:cNvPr id="248" name="Google Shape;248;p15"/>
          <p:cNvSpPr txBox="1">
            <a:spLocks noGrp="1"/>
          </p:cNvSpPr>
          <p:nvPr>
            <p:ph type="body" idx="1"/>
          </p:nvPr>
        </p:nvSpPr>
        <p:spPr>
          <a:xfrm>
            <a:off x="827974" y="2078499"/>
            <a:ext cx="4532954" cy="1606385"/>
          </a:xfrm>
          <a:prstGeom prst="rect">
            <a:avLst/>
          </a:prstGeom>
          <a:noFill/>
          <a:ln>
            <a:noFill/>
          </a:ln>
        </p:spPr>
        <p:txBody>
          <a:bodyPr spcFirstLastPara="1" vert="horz" wrap="square" lIns="91425" tIns="45700" rIns="91425" bIns="45700" rtlCol="0" anchor="t" anchorCtr="0">
            <a:noAutofit/>
          </a:bodyPr>
          <a:lstStyle/>
          <a:p>
            <a:pPr marL="742950" lvl="1" indent="-184150">
              <a:spcBef>
                <a:spcPts val="0"/>
              </a:spcBef>
              <a:spcAft>
                <a:spcPts val="0"/>
              </a:spcAft>
              <a:buClr>
                <a:schemeClr val="dk1"/>
              </a:buClr>
              <a:buSzPts val="1600"/>
              <a:buNone/>
            </a:pPr>
            <a:endParaRPr sz="1600" dirty="0"/>
          </a:p>
          <a:p>
            <a:pPr marL="742950" lvl="1" indent="-285750">
              <a:spcBef>
                <a:spcPts val="480"/>
              </a:spcBef>
              <a:spcAft>
                <a:spcPts val="0"/>
              </a:spcAft>
              <a:buClr>
                <a:schemeClr val="dk1"/>
              </a:buClr>
              <a:buSzPts val="2400"/>
              <a:buFont typeface="Noto Sans Symbols"/>
              <a:buChar char="▪"/>
            </a:pPr>
            <a:r>
              <a:rPr lang="en-US" sz="2400" dirty="0"/>
              <a:t>Established 2010.</a:t>
            </a:r>
            <a:endParaRPr dirty="0"/>
          </a:p>
          <a:p>
            <a:pPr marL="742950" lvl="1" indent="-285750">
              <a:spcBef>
                <a:spcPts val="480"/>
              </a:spcBef>
              <a:spcAft>
                <a:spcPts val="0"/>
              </a:spcAft>
              <a:buClr>
                <a:schemeClr val="dk1"/>
              </a:buClr>
              <a:buSzPts val="2400"/>
              <a:buFont typeface="Noto Sans Symbols"/>
              <a:buChar char="▪"/>
            </a:pPr>
            <a:r>
              <a:rPr lang="en-US" sz="2400" dirty="0"/>
              <a:t>‘Rewards-based’, ‘all-or-nothing’ model. </a:t>
            </a:r>
            <a:endParaRPr dirty="0"/>
          </a:p>
          <a:p>
            <a:pPr marL="742950" lvl="1" indent="-285750">
              <a:spcBef>
                <a:spcPts val="480"/>
              </a:spcBef>
              <a:spcAft>
                <a:spcPts val="0"/>
              </a:spcAft>
              <a:buClr>
                <a:schemeClr val="dk1"/>
              </a:buClr>
              <a:buSzPts val="2400"/>
              <a:buFont typeface="Noto Sans Symbols"/>
              <a:buChar char="▪"/>
            </a:pPr>
            <a:r>
              <a:rPr lang="en-US" sz="2400" dirty="0"/>
              <a:t>Products include: film, theatre, comics, publishing &amp; video games among others.</a:t>
            </a:r>
            <a:endParaRPr dirty="0"/>
          </a:p>
          <a:p>
            <a:pPr marL="742950" lvl="1" indent="-285750">
              <a:spcBef>
                <a:spcPts val="480"/>
              </a:spcBef>
              <a:spcAft>
                <a:spcPts val="0"/>
              </a:spcAft>
              <a:buClr>
                <a:schemeClr val="dk1"/>
              </a:buClr>
              <a:buSzPts val="2400"/>
              <a:buFont typeface="Noto Sans Symbols"/>
              <a:buChar char="▪"/>
            </a:pPr>
            <a:r>
              <a:rPr lang="en-US" sz="2400" dirty="0"/>
              <a:t>Largest rewards-based crowdfunding platform with </a:t>
            </a:r>
            <a:r>
              <a:rPr lang="en-US" sz="2400" b="1" dirty="0"/>
              <a:t>$2.5 billion USD </a:t>
            </a:r>
            <a:r>
              <a:rPr lang="en-US" sz="2400" dirty="0"/>
              <a:t>funding raised since 2010.</a:t>
            </a:r>
            <a:endParaRPr dirty="0"/>
          </a:p>
          <a:p>
            <a:pPr marL="342900" indent="-342900">
              <a:spcBef>
                <a:spcPts val="320"/>
              </a:spcBef>
              <a:spcAft>
                <a:spcPts val="0"/>
              </a:spcAft>
              <a:buClr>
                <a:schemeClr val="dk1"/>
              </a:buClr>
              <a:buSzPts val="1600"/>
              <a:buNone/>
            </a:pPr>
            <a:endParaRPr sz="1600" dirty="0"/>
          </a:p>
        </p:txBody>
      </p:sp>
      <p:pic>
        <p:nvPicPr>
          <p:cNvPr id="249" name="Google Shape;249;p15" descr="Screen Shot 2014-07-09 at 13.55.23.png"/>
          <p:cNvPicPr preferRelativeResize="0"/>
          <p:nvPr/>
        </p:nvPicPr>
        <p:blipFill rotWithShape="1">
          <a:blip r:embed="rId3">
            <a:alphaModFix/>
          </a:blip>
          <a:srcRect/>
          <a:stretch/>
        </p:blipFill>
        <p:spPr>
          <a:xfrm>
            <a:off x="5770880" y="2078499"/>
            <a:ext cx="4996232" cy="41496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9"/>
                                        </p:tgtEl>
                                        <p:attrNameLst>
                                          <p:attrName>style.visibility</p:attrName>
                                        </p:attrNameLst>
                                      </p:cBhvr>
                                      <p:to>
                                        <p:strVal val="visible"/>
                                      </p:to>
                                    </p:set>
                                    <p:animEffect transition="in" filter="fade">
                                      <p:cBhvr>
                                        <p:cTn id="7" dur="500"/>
                                        <p:tgtEl>
                                          <p:spTgt spid="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5"/>
          <p:cNvSpPr txBox="1">
            <a:spLocks noGrp="1"/>
          </p:cNvSpPr>
          <p:nvPr>
            <p:ph type="title"/>
          </p:nvPr>
        </p:nvSpPr>
        <p:spPr>
          <a:xfrm>
            <a:off x="1262743" y="240408"/>
            <a:ext cx="9995474" cy="1143000"/>
          </a:xfrm>
          <a:prstGeom prst="rect">
            <a:avLst/>
          </a:prstGeom>
          <a:noFill/>
          <a:ln>
            <a:noFill/>
          </a:ln>
        </p:spPr>
        <p:txBody>
          <a:bodyPr spcFirstLastPara="1" vert="horz" wrap="square" lIns="91425" tIns="45700" rIns="91425" bIns="45700" rtlCol="0" anchor="ctr" anchorCtr="0">
            <a:noAutofit/>
          </a:bodyPr>
          <a:lstStyle/>
          <a:p>
            <a:pPr>
              <a:spcBef>
                <a:spcPts val="0"/>
              </a:spcBef>
              <a:buClr>
                <a:srgbClr val="7030A0"/>
              </a:buClr>
              <a:buSzPts val="4400"/>
            </a:pPr>
            <a:r>
              <a:rPr lang="en-US" b="1" dirty="0">
                <a:solidFill>
                  <a:schemeClr val="accent2"/>
                </a:solidFill>
                <a:ea typeface="Avenir"/>
                <a:cs typeface="Avenir"/>
                <a:sym typeface="Avenir"/>
              </a:rPr>
              <a:t>Study: Kickstarter and crowdfunding</a:t>
            </a:r>
            <a:endParaRPr b="1" dirty="0">
              <a:solidFill>
                <a:schemeClr val="accent2"/>
              </a:solidFill>
              <a:ea typeface="Avenir"/>
              <a:cs typeface="Avenir"/>
              <a:sym typeface="Avenir"/>
            </a:endParaRPr>
          </a:p>
        </p:txBody>
      </p:sp>
      <p:pic>
        <p:nvPicPr>
          <p:cNvPr id="7" name="Picture 6" descr="A diagram of a diagram&#10;&#10;Description automatically generated">
            <a:hlinkClick r:id="rId3"/>
            <a:extLst>
              <a:ext uri="{FF2B5EF4-FFF2-40B4-BE49-F238E27FC236}">
                <a16:creationId xmlns:a16="http://schemas.microsoft.com/office/drawing/2014/main" id="{20CCC9C9-CF52-27D4-72CB-8E5A36C9DC83}"/>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636815" y="1987324"/>
            <a:ext cx="10865816" cy="3629705"/>
          </a:xfrm>
          <a:prstGeom prst="rect">
            <a:avLst/>
          </a:prstGeom>
        </p:spPr>
      </p:pic>
      <p:sp>
        <p:nvSpPr>
          <p:cNvPr id="8" name="TextBox 7">
            <a:extLst>
              <a:ext uri="{FF2B5EF4-FFF2-40B4-BE49-F238E27FC236}">
                <a16:creationId xmlns:a16="http://schemas.microsoft.com/office/drawing/2014/main" id="{B94E3CCB-DEDE-3099-BCDE-2ACEAE6CBD98}"/>
              </a:ext>
            </a:extLst>
          </p:cNvPr>
          <p:cNvSpPr txBox="1"/>
          <p:nvPr/>
        </p:nvSpPr>
        <p:spPr>
          <a:xfrm>
            <a:off x="2057400" y="5870818"/>
            <a:ext cx="10352314" cy="338554"/>
          </a:xfrm>
          <a:prstGeom prst="rect">
            <a:avLst/>
          </a:prstGeom>
          <a:noFill/>
        </p:spPr>
        <p:txBody>
          <a:bodyPr wrap="square" rtlCol="0">
            <a:spAutoFit/>
          </a:bodyPr>
          <a:lstStyle/>
          <a:p>
            <a:r>
              <a:rPr lang="en-GB" sz="1600" dirty="0"/>
              <a:t>Erickson, Homberg and Kretschmer, 2024. Forthcoming in Technological forecasting and Social Change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5" name="Google Shape;255;p16"/>
          <p:cNvSpPr txBox="1">
            <a:spLocks noGrp="1"/>
          </p:cNvSpPr>
          <p:nvPr>
            <p:ph type="body" idx="1"/>
          </p:nvPr>
        </p:nvSpPr>
        <p:spPr>
          <a:xfrm>
            <a:off x="802640" y="1896430"/>
            <a:ext cx="9469120" cy="5088933"/>
          </a:xfrm>
          <a:prstGeom prst="rect">
            <a:avLst/>
          </a:prstGeom>
          <a:noFill/>
          <a:ln>
            <a:noFill/>
          </a:ln>
        </p:spPr>
        <p:txBody>
          <a:bodyPr spcFirstLastPara="1" vert="horz" wrap="square" lIns="91425" tIns="45700" rIns="91425" bIns="45700" rtlCol="0" anchor="t" anchorCtr="0">
            <a:normAutofit/>
          </a:bodyPr>
          <a:lstStyle/>
          <a:p>
            <a:pPr marL="0" indent="0">
              <a:spcBef>
                <a:spcPts val="0"/>
              </a:spcBef>
              <a:spcAft>
                <a:spcPts val="0"/>
              </a:spcAft>
              <a:buClr>
                <a:schemeClr val="dk1"/>
              </a:buClr>
              <a:buNone/>
            </a:pPr>
            <a:r>
              <a:rPr lang="en-US" sz="3200" dirty="0"/>
              <a:t>Main variables:</a:t>
            </a:r>
            <a:endParaRPr sz="2400" dirty="0"/>
          </a:p>
          <a:p>
            <a:pPr marL="742950" lvl="1" indent="-285750">
              <a:spcBef>
                <a:spcPts val="434"/>
              </a:spcBef>
              <a:spcAft>
                <a:spcPts val="0"/>
              </a:spcAft>
              <a:buClr>
                <a:schemeClr val="dk1"/>
              </a:buClr>
              <a:buSzPct val="100000"/>
              <a:buChar char="–"/>
            </a:pPr>
            <a:r>
              <a:rPr lang="en-US" sz="2000" dirty="0"/>
              <a:t>Success (1), Failure (0)</a:t>
            </a:r>
            <a:endParaRPr sz="2000" dirty="0"/>
          </a:p>
          <a:p>
            <a:pPr marL="742950" lvl="1" indent="-285750">
              <a:spcBef>
                <a:spcPts val="1034"/>
              </a:spcBef>
              <a:spcAft>
                <a:spcPts val="0"/>
              </a:spcAft>
              <a:buClr>
                <a:schemeClr val="dk1"/>
              </a:buClr>
              <a:buSzPct val="100000"/>
              <a:buChar char="–"/>
            </a:pPr>
            <a:r>
              <a:rPr lang="en-US" sz="2000" dirty="0"/>
              <a:t>Cost of creation:</a:t>
            </a:r>
            <a:br>
              <a:rPr lang="en-US" sz="2000" dirty="0"/>
            </a:br>
            <a:r>
              <a:rPr lang="en-US" sz="2000" dirty="0"/>
              <a:t>Amount funds requested in GBP (logged) </a:t>
            </a:r>
            <a:br>
              <a:rPr lang="en-US" sz="2000" dirty="0"/>
            </a:br>
            <a:endParaRPr sz="2000" dirty="0"/>
          </a:p>
          <a:p>
            <a:pPr marL="0" indent="0">
              <a:spcBef>
                <a:spcPts val="1080"/>
              </a:spcBef>
              <a:spcAft>
                <a:spcPts val="0"/>
              </a:spcAft>
              <a:buClr>
                <a:schemeClr val="dk1"/>
              </a:buClr>
              <a:buNone/>
            </a:pPr>
            <a:r>
              <a:rPr lang="en-US" sz="3200" dirty="0"/>
              <a:t>Other variables of interest:</a:t>
            </a:r>
            <a:endParaRPr sz="2400" dirty="0"/>
          </a:p>
          <a:p>
            <a:pPr marL="742950" lvl="1" indent="-285750">
              <a:spcBef>
                <a:spcPts val="434"/>
              </a:spcBef>
              <a:spcAft>
                <a:spcPts val="0"/>
              </a:spcAft>
              <a:buClr>
                <a:schemeClr val="dk1"/>
              </a:buClr>
              <a:buSzPct val="116666"/>
              <a:buChar char="–"/>
            </a:pPr>
            <a:r>
              <a:rPr lang="en-US" sz="2000" dirty="0"/>
              <a:t>Media type: </a:t>
            </a:r>
            <a:br>
              <a:rPr lang="en-US" sz="2000" dirty="0"/>
            </a:br>
            <a:r>
              <a:rPr lang="en-US" sz="2000" dirty="0"/>
              <a:t>comics, theatre, video games, publishing </a:t>
            </a:r>
            <a:endParaRPr sz="2800" dirty="0"/>
          </a:p>
          <a:p>
            <a:pPr marL="742950" lvl="1" indent="-285750">
              <a:spcBef>
                <a:spcPts val="1034"/>
              </a:spcBef>
              <a:spcAft>
                <a:spcPts val="0"/>
              </a:spcAft>
              <a:buClr>
                <a:schemeClr val="dk1"/>
              </a:buClr>
              <a:buSzPct val="116666"/>
              <a:buChar char="–"/>
            </a:pPr>
            <a:r>
              <a:rPr lang="en-US" sz="2000" dirty="0"/>
              <a:t>Main source of IP:</a:t>
            </a:r>
            <a:br>
              <a:rPr lang="en-US" sz="2000" dirty="0"/>
            </a:br>
            <a:r>
              <a:rPr lang="en-US" sz="2000" dirty="0"/>
              <a:t>original, transformed, Public Domain , 3</a:t>
            </a:r>
            <a:r>
              <a:rPr lang="en-US" sz="2000" baseline="30000" dirty="0"/>
              <a:t>rd</a:t>
            </a:r>
            <a:r>
              <a:rPr lang="en-US" sz="2000" dirty="0"/>
              <a:t> party copyright</a:t>
            </a:r>
            <a:endParaRPr sz="2800" dirty="0"/>
          </a:p>
          <a:p>
            <a:pPr marL="742950" lvl="1" indent="-285750">
              <a:spcBef>
                <a:spcPts val="1034"/>
              </a:spcBef>
              <a:spcAft>
                <a:spcPts val="0"/>
              </a:spcAft>
              <a:buClr>
                <a:schemeClr val="dk1"/>
              </a:buClr>
              <a:buSzPct val="116666"/>
              <a:buChar char="–"/>
            </a:pPr>
            <a:r>
              <a:rPr lang="en-US" sz="2000" dirty="0"/>
              <a:t>Previous experience of creator: </a:t>
            </a:r>
            <a:br>
              <a:rPr lang="en-US" sz="2000" dirty="0"/>
            </a:br>
            <a:r>
              <a:rPr lang="en-US" sz="2000" dirty="0"/>
              <a:t>none, some, known to backers, highly relevant</a:t>
            </a:r>
            <a:endParaRPr sz="2800" dirty="0"/>
          </a:p>
          <a:p>
            <a:pPr marL="742950" lvl="1" indent="-147955">
              <a:spcBef>
                <a:spcPts val="1034"/>
              </a:spcBef>
              <a:spcAft>
                <a:spcPts val="0"/>
              </a:spcAft>
              <a:buClr>
                <a:schemeClr val="dk1"/>
              </a:buClr>
              <a:buSzPct val="100000"/>
              <a:buNone/>
            </a:pPr>
            <a:endParaRPr sz="2000" dirty="0"/>
          </a:p>
          <a:p>
            <a:pPr marL="742950" lvl="1" indent="-147955">
              <a:spcBef>
                <a:spcPts val="434"/>
              </a:spcBef>
              <a:spcAft>
                <a:spcPts val="0"/>
              </a:spcAft>
              <a:buClr>
                <a:schemeClr val="dk1"/>
              </a:buClr>
              <a:buSzPct val="100000"/>
              <a:buNone/>
            </a:pPr>
            <a:endParaRPr sz="2000" dirty="0"/>
          </a:p>
        </p:txBody>
      </p:sp>
      <p:sp>
        <p:nvSpPr>
          <p:cNvPr id="2" name="Google Shape;247;p15">
            <a:extLst>
              <a:ext uri="{FF2B5EF4-FFF2-40B4-BE49-F238E27FC236}">
                <a16:creationId xmlns:a16="http://schemas.microsoft.com/office/drawing/2014/main" id="{FA96008D-8D9D-3EE1-5F83-B8459B36A78D}"/>
              </a:ext>
            </a:extLst>
          </p:cNvPr>
          <p:cNvSpPr txBox="1">
            <a:spLocks noGrp="1"/>
          </p:cNvSpPr>
          <p:nvPr>
            <p:ph type="title"/>
          </p:nvPr>
        </p:nvSpPr>
        <p:spPr>
          <a:xfrm>
            <a:off x="1110166" y="485698"/>
            <a:ext cx="8229600" cy="1143000"/>
          </a:xfrm>
          <a:prstGeom prst="rect">
            <a:avLst/>
          </a:prstGeom>
          <a:noFill/>
          <a:ln>
            <a:noFill/>
          </a:ln>
        </p:spPr>
        <p:txBody>
          <a:bodyPr spcFirstLastPara="1" vert="horz" wrap="square" lIns="91425" tIns="45700" rIns="91425" bIns="45700" rtlCol="0" anchor="ctr" anchorCtr="0">
            <a:noAutofit/>
          </a:bodyPr>
          <a:lstStyle/>
          <a:p>
            <a:pPr>
              <a:spcBef>
                <a:spcPts val="0"/>
              </a:spcBef>
              <a:buClr>
                <a:srgbClr val="7030A0"/>
              </a:buClr>
              <a:buSzPts val="4400"/>
            </a:pPr>
            <a:r>
              <a:rPr lang="en-US" b="1" dirty="0">
                <a:solidFill>
                  <a:schemeClr val="accent2"/>
                </a:solidFill>
                <a:ea typeface="Avenir"/>
                <a:cs typeface="Avenir"/>
                <a:sym typeface="Avenir"/>
              </a:rPr>
              <a:t>Methods</a:t>
            </a:r>
            <a:endParaRPr b="1" dirty="0">
              <a:solidFill>
                <a:schemeClr val="accent2"/>
              </a:solidFill>
              <a:ea typeface="Avenir"/>
              <a:cs typeface="Avenir"/>
              <a:sym typeface="Aveni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graphicFrame>
        <p:nvGraphicFramePr>
          <p:cNvPr id="260" name="Google Shape;260;p17"/>
          <p:cNvGraphicFramePr/>
          <p:nvPr/>
        </p:nvGraphicFramePr>
        <p:xfrm>
          <a:off x="2744789" y="219075"/>
          <a:ext cx="6461125" cy="6413500"/>
        </p:xfrm>
        <a:graphic>
          <a:graphicData uri="http://schemas.openxmlformats.org/presentationml/2006/ole">
            <mc:AlternateContent xmlns:mc="http://schemas.openxmlformats.org/markup-compatibility/2006">
              <mc:Choice xmlns:v="urn:schemas-microsoft-com:vml" Requires="v">
                <p:oleObj r:id="rId3" imgW="6461125" imgH="6413500" progId="Word.Document.12">
                  <p:embed/>
                </p:oleObj>
              </mc:Choice>
              <mc:Fallback>
                <p:oleObj r:id="rId3" imgW="6461125" imgH="6413500" progId="Word.Document.12">
                  <p:embed/>
                  <p:pic>
                    <p:nvPicPr>
                      <p:cNvPr id="260" name="Google Shape;260;p17"/>
                      <p:cNvPicPr preferRelativeResize="0"/>
                      <p:nvPr/>
                    </p:nvPicPr>
                    <p:blipFill rotWithShape="1">
                      <a:blip r:embed="rId4">
                        <a:alphaModFix/>
                      </a:blip>
                      <a:srcRect/>
                      <a:stretch/>
                    </p:blipFill>
                    <p:spPr>
                      <a:xfrm>
                        <a:off x="2744789" y="219075"/>
                        <a:ext cx="6461125" cy="6413500"/>
                      </a:xfrm>
                      <a:prstGeom prst="rect">
                        <a:avLst/>
                      </a:prstGeom>
                      <a:noFill/>
                      <a:ln>
                        <a:noFill/>
                      </a:ln>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graphicFrame>
        <p:nvGraphicFramePr>
          <p:cNvPr id="265" name="Google Shape;265;p18"/>
          <p:cNvGraphicFramePr/>
          <p:nvPr/>
        </p:nvGraphicFramePr>
        <p:xfrm>
          <a:off x="2744789" y="219075"/>
          <a:ext cx="6461125" cy="6413500"/>
        </p:xfrm>
        <a:graphic>
          <a:graphicData uri="http://schemas.openxmlformats.org/presentationml/2006/ole">
            <mc:AlternateContent xmlns:mc="http://schemas.openxmlformats.org/markup-compatibility/2006">
              <mc:Choice xmlns:v="urn:schemas-microsoft-com:vml" Requires="v">
                <p:oleObj r:id="rId3" imgW="6461125" imgH="6413500" progId="Word.Document.12">
                  <p:embed/>
                </p:oleObj>
              </mc:Choice>
              <mc:Fallback>
                <p:oleObj r:id="rId3" imgW="6461125" imgH="6413500" progId="Word.Document.12">
                  <p:embed/>
                  <p:pic>
                    <p:nvPicPr>
                      <p:cNvPr id="265" name="Google Shape;265;p18"/>
                      <p:cNvPicPr preferRelativeResize="0"/>
                      <p:nvPr/>
                    </p:nvPicPr>
                    <p:blipFill rotWithShape="1">
                      <a:blip r:embed="rId4">
                        <a:alphaModFix/>
                      </a:blip>
                      <a:srcRect/>
                      <a:stretch/>
                    </p:blipFill>
                    <p:spPr>
                      <a:xfrm>
                        <a:off x="2744789" y="219075"/>
                        <a:ext cx="6461125" cy="6413500"/>
                      </a:xfrm>
                      <a:prstGeom prst="rect">
                        <a:avLst/>
                      </a:prstGeom>
                      <a:noFill/>
                      <a:ln>
                        <a:noFill/>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9836E012-5CC8-CB8E-F866-82430B9DBF46}"/>
            </a:ext>
          </a:extLst>
        </p:cNvPr>
        <p:cNvGrpSpPr/>
        <p:nvPr/>
      </p:nvGrpSpPr>
      <p:grpSpPr>
        <a:xfrm>
          <a:off x="0" y="0"/>
          <a:ext cx="0" cy="0"/>
          <a:chOff x="0" y="0"/>
          <a:chExt cx="0" cy="0"/>
        </a:xfrm>
      </p:grpSpPr>
      <p:sp>
        <p:nvSpPr>
          <p:cNvPr id="235" name="Google Shape;235;p13">
            <a:extLst>
              <a:ext uri="{FF2B5EF4-FFF2-40B4-BE49-F238E27FC236}">
                <a16:creationId xmlns:a16="http://schemas.microsoft.com/office/drawing/2014/main" id="{84F4D84B-F1BA-3466-C661-4BE431113868}"/>
              </a:ext>
            </a:extLst>
          </p:cNvPr>
          <p:cNvSpPr txBox="1">
            <a:spLocks noGrp="1"/>
          </p:cNvSpPr>
          <p:nvPr>
            <p:ph type="title"/>
          </p:nvPr>
        </p:nvSpPr>
        <p:spPr>
          <a:xfrm>
            <a:off x="978429" y="517100"/>
            <a:ext cx="8229600" cy="1143000"/>
          </a:xfrm>
          <a:prstGeom prst="rect">
            <a:avLst/>
          </a:prstGeom>
          <a:noFill/>
          <a:ln>
            <a:noFill/>
          </a:ln>
        </p:spPr>
        <p:txBody>
          <a:bodyPr spcFirstLastPara="1" vert="horz" wrap="square" lIns="91425" tIns="45700" rIns="91425" bIns="45700" rtlCol="0" anchor="ctr" anchorCtr="0">
            <a:noAutofit/>
          </a:bodyPr>
          <a:lstStyle/>
          <a:p>
            <a:pPr>
              <a:spcBef>
                <a:spcPts val="0"/>
              </a:spcBef>
              <a:buClr>
                <a:schemeClr val="dk1"/>
              </a:buClr>
              <a:buSzPts val="4000"/>
            </a:pPr>
            <a:r>
              <a:rPr lang="en-US" b="1" dirty="0">
                <a:solidFill>
                  <a:schemeClr val="accent2"/>
                </a:solidFill>
              </a:rPr>
              <a:t>Benefits of inbound open innovation</a:t>
            </a:r>
            <a:endParaRPr b="1" dirty="0">
              <a:solidFill>
                <a:schemeClr val="accent2"/>
              </a:solidFill>
            </a:endParaRPr>
          </a:p>
        </p:txBody>
      </p:sp>
      <p:sp>
        <p:nvSpPr>
          <p:cNvPr id="236" name="Google Shape;236;p13">
            <a:extLst>
              <a:ext uri="{FF2B5EF4-FFF2-40B4-BE49-F238E27FC236}">
                <a16:creationId xmlns:a16="http://schemas.microsoft.com/office/drawing/2014/main" id="{7BBA4248-7D62-DD1B-BB47-4D56F8D7DEC2}"/>
              </a:ext>
            </a:extLst>
          </p:cNvPr>
          <p:cNvSpPr txBox="1">
            <a:spLocks noGrp="1"/>
          </p:cNvSpPr>
          <p:nvPr>
            <p:ph type="body" idx="1"/>
          </p:nvPr>
        </p:nvSpPr>
        <p:spPr>
          <a:xfrm>
            <a:off x="1019069" y="1354668"/>
            <a:ext cx="8703733" cy="4945592"/>
          </a:xfrm>
          <a:prstGeom prst="rect">
            <a:avLst/>
          </a:prstGeom>
          <a:noFill/>
          <a:ln>
            <a:noFill/>
          </a:ln>
        </p:spPr>
        <p:txBody>
          <a:bodyPr spcFirstLastPara="1" vert="horz" wrap="square" lIns="91425" tIns="45700" rIns="91425" bIns="45700" rtlCol="0" anchor="t" anchorCtr="0">
            <a:noAutofit/>
          </a:bodyPr>
          <a:lstStyle/>
          <a:p>
            <a:pPr marL="0" indent="0">
              <a:spcBef>
                <a:spcPts val="0"/>
              </a:spcBef>
              <a:spcAft>
                <a:spcPts val="0"/>
              </a:spcAft>
              <a:buClr>
                <a:schemeClr val="dk1"/>
              </a:buClr>
              <a:buSzPts val="2400"/>
              <a:buNone/>
            </a:pPr>
            <a:endParaRPr sz="2800" dirty="0"/>
          </a:p>
          <a:p>
            <a:pPr marL="0" indent="0">
              <a:spcBef>
                <a:spcPts val="480"/>
              </a:spcBef>
              <a:spcAft>
                <a:spcPts val="0"/>
              </a:spcAft>
              <a:buClr>
                <a:schemeClr val="dk1"/>
              </a:buClr>
              <a:buSzPts val="2400"/>
              <a:buNone/>
            </a:pPr>
            <a:endParaRPr sz="2800" dirty="0"/>
          </a:p>
          <a:p>
            <a:pPr marL="0" indent="0">
              <a:spcBef>
                <a:spcPts val="480"/>
              </a:spcBef>
              <a:spcAft>
                <a:spcPts val="0"/>
              </a:spcAft>
              <a:buClr>
                <a:schemeClr val="dk1"/>
              </a:buClr>
              <a:buSzPts val="2400"/>
              <a:buNone/>
            </a:pPr>
            <a:endParaRPr sz="2400" dirty="0"/>
          </a:p>
          <a:p>
            <a:pPr marL="342900" indent="-342900">
              <a:spcBef>
                <a:spcPts val="480"/>
              </a:spcBef>
              <a:spcAft>
                <a:spcPts val="0"/>
              </a:spcAft>
              <a:buClr>
                <a:schemeClr val="dk1"/>
              </a:buClr>
              <a:buSzPts val="2400"/>
              <a:buFont typeface="Noto Sans Symbols"/>
              <a:buChar char="▪"/>
            </a:pPr>
            <a:r>
              <a:rPr lang="en-GB" sz="2800" dirty="0"/>
              <a:t>Speed to market</a:t>
            </a:r>
            <a:endParaRPr sz="2400" dirty="0"/>
          </a:p>
          <a:p>
            <a:pPr marL="342900" indent="-342900">
              <a:spcBef>
                <a:spcPts val="480"/>
              </a:spcBef>
              <a:spcAft>
                <a:spcPts val="0"/>
              </a:spcAft>
              <a:buClr>
                <a:schemeClr val="dk1"/>
              </a:buClr>
              <a:buSzPts val="2400"/>
              <a:buFont typeface="Noto Sans Symbols"/>
              <a:buChar char="▪"/>
            </a:pPr>
            <a:r>
              <a:rPr lang="en-US" sz="2800" dirty="0"/>
              <a:t>Lower cost of production </a:t>
            </a:r>
          </a:p>
          <a:p>
            <a:pPr marL="342900" indent="-342900">
              <a:spcBef>
                <a:spcPts val="480"/>
              </a:spcBef>
              <a:spcAft>
                <a:spcPts val="0"/>
              </a:spcAft>
              <a:buClr>
                <a:schemeClr val="dk1"/>
              </a:buClr>
              <a:buSzPts val="2400"/>
              <a:buFont typeface="Noto Sans Symbols"/>
              <a:buChar char="▪"/>
            </a:pPr>
            <a:r>
              <a:rPr lang="en-US" sz="2800" dirty="0"/>
              <a:t>Interoperate/connect  with existing consumer base</a:t>
            </a:r>
            <a:endParaRPr lang="en-US" sz="1400" dirty="0"/>
          </a:p>
          <a:p>
            <a:pPr marL="342900" indent="-342900">
              <a:spcBef>
                <a:spcPts val="480"/>
              </a:spcBef>
              <a:spcAft>
                <a:spcPts val="0"/>
              </a:spcAft>
              <a:buClr>
                <a:schemeClr val="dk1"/>
              </a:buClr>
              <a:buSzPts val="2400"/>
              <a:buFont typeface="Noto Sans Symbols"/>
              <a:buChar char="▪"/>
            </a:pPr>
            <a:r>
              <a:rPr lang="en-US" sz="2800" dirty="0"/>
              <a:t>Reduce risk in hits-driven markets “Nobody knows…”</a:t>
            </a:r>
            <a:endParaRPr sz="2400" dirty="0"/>
          </a:p>
          <a:p>
            <a:pPr marL="342900" indent="-342900">
              <a:spcBef>
                <a:spcPts val="480"/>
              </a:spcBef>
              <a:spcAft>
                <a:spcPts val="0"/>
              </a:spcAft>
              <a:buClr>
                <a:schemeClr val="dk1"/>
              </a:buClr>
              <a:buSzPts val="2400"/>
              <a:buFont typeface="Noto Sans Symbols"/>
              <a:buChar char="▪"/>
            </a:pPr>
            <a:r>
              <a:rPr lang="en-US" sz="2800" dirty="0"/>
              <a:t>Signal to consumers</a:t>
            </a:r>
            <a:endParaRPr sz="2800" dirty="0"/>
          </a:p>
        </p:txBody>
      </p:sp>
    </p:spTree>
    <p:extLst>
      <p:ext uri="{BB962C8B-B14F-4D97-AF65-F5344CB8AC3E}">
        <p14:creationId xmlns:p14="http://schemas.microsoft.com/office/powerpoint/2010/main" val="1442942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2C7856A5-95C2-1B57-C281-596F6A992A2C}"/>
            </a:ext>
          </a:extLst>
        </p:cNvPr>
        <p:cNvGrpSpPr/>
        <p:nvPr/>
      </p:nvGrpSpPr>
      <p:grpSpPr>
        <a:xfrm>
          <a:off x="0" y="0"/>
          <a:ext cx="0" cy="0"/>
          <a:chOff x="0" y="0"/>
          <a:chExt cx="0" cy="0"/>
        </a:xfrm>
      </p:grpSpPr>
      <p:sp>
        <p:nvSpPr>
          <p:cNvPr id="241" name="Google Shape;241;p14">
            <a:extLst>
              <a:ext uri="{FF2B5EF4-FFF2-40B4-BE49-F238E27FC236}">
                <a16:creationId xmlns:a16="http://schemas.microsoft.com/office/drawing/2014/main" id="{EA96DFD9-187B-9562-2491-D6A34BCAFF0E}"/>
              </a:ext>
            </a:extLst>
          </p:cNvPr>
          <p:cNvSpPr txBox="1">
            <a:spLocks noGrp="1"/>
          </p:cNvSpPr>
          <p:nvPr>
            <p:ph type="title"/>
          </p:nvPr>
        </p:nvSpPr>
        <p:spPr>
          <a:xfrm>
            <a:off x="1151468" y="443971"/>
            <a:ext cx="8229600" cy="1143000"/>
          </a:xfrm>
          <a:prstGeom prst="rect">
            <a:avLst/>
          </a:prstGeom>
          <a:noFill/>
          <a:ln>
            <a:noFill/>
          </a:ln>
        </p:spPr>
        <p:txBody>
          <a:bodyPr spcFirstLastPara="1" vert="horz" wrap="square" lIns="91425" tIns="45700" rIns="91425" bIns="45700" rtlCol="0" anchor="ctr" anchorCtr="0">
            <a:noAutofit/>
          </a:bodyPr>
          <a:lstStyle/>
          <a:p>
            <a:pPr>
              <a:spcBef>
                <a:spcPts val="0"/>
              </a:spcBef>
              <a:buClr>
                <a:schemeClr val="dk1"/>
              </a:buClr>
              <a:buSzPts val="4000"/>
            </a:pPr>
            <a:r>
              <a:rPr lang="en-US" b="1" dirty="0">
                <a:solidFill>
                  <a:schemeClr val="accent2"/>
                </a:solidFill>
              </a:rPr>
              <a:t>Costs of inbound open innovation</a:t>
            </a:r>
            <a:endParaRPr b="1" dirty="0">
              <a:solidFill>
                <a:schemeClr val="accent2"/>
              </a:solidFill>
            </a:endParaRPr>
          </a:p>
        </p:txBody>
      </p:sp>
      <p:sp>
        <p:nvSpPr>
          <p:cNvPr id="242" name="Google Shape;242;p14">
            <a:extLst>
              <a:ext uri="{FF2B5EF4-FFF2-40B4-BE49-F238E27FC236}">
                <a16:creationId xmlns:a16="http://schemas.microsoft.com/office/drawing/2014/main" id="{0CC05205-613C-99F9-1988-9770ED54C6E1}"/>
              </a:ext>
            </a:extLst>
          </p:cNvPr>
          <p:cNvSpPr txBox="1">
            <a:spLocks noGrp="1"/>
          </p:cNvSpPr>
          <p:nvPr>
            <p:ph type="body" idx="1"/>
          </p:nvPr>
        </p:nvSpPr>
        <p:spPr>
          <a:xfrm>
            <a:off x="1151468" y="1224597"/>
            <a:ext cx="8473421" cy="4945592"/>
          </a:xfrm>
          <a:prstGeom prst="rect">
            <a:avLst/>
          </a:prstGeom>
          <a:noFill/>
          <a:ln>
            <a:noFill/>
          </a:ln>
        </p:spPr>
        <p:txBody>
          <a:bodyPr spcFirstLastPara="1" vert="horz" wrap="square" lIns="91425" tIns="45700" rIns="91425" bIns="45700" rtlCol="0" anchor="t" anchorCtr="0">
            <a:noAutofit/>
          </a:bodyPr>
          <a:lstStyle/>
          <a:p>
            <a:pPr marL="0" indent="0">
              <a:spcBef>
                <a:spcPts val="0"/>
              </a:spcBef>
              <a:spcAft>
                <a:spcPts val="0"/>
              </a:spcAft>
              <a:buClr>
                <a:schemeClr val="dk1"/>
              </a:buClr>
              <a:buSzPts val="2400"/>
              <a:buNone/>
            </a:pPr>
            <a:endParaRPr sz="2800" dirty="0"/>
          </a:p>
          <a:p>
            <a:pPr marL="0" indent="0">
              <a:spcBef>
                <a:spcPts val="480"/>
              </a:spcBef>
              <a:spcAft>
                <a:spcPts val="0"/>
              </a:spcAft>
              <a:buClr>
                <a:schemeClr val="dk1"/>
              </a:buClr>
              <a:buSzPts val="2400"/>
              <a:buNone/>
            </a:pPr>
            <a:endParaRPr sz="2800" dirty="0"/>
          </a:p>
          <a:p>
            <a:pPr marL="0" indent="0">
              <a:spcBef>
                <a:spcPts val="480"/>
              </a:spcBef>
              <a:spcAft>
                <a:spcPts val="0"/>
              </a:spcAft>
              <a:buClr>
                <a:schemeClr val="dk1"/>
              </a:buClr>
              <a:buSzPts val="2400"/>
              <a:buNone/>
            </a:pPr>
            <a:endParaRPr sz="2400" dirty="0"/>
          </a:p>
          <a:p>
            <a:pPr marL="342900" indent="-342900">
              <a:spcBef>
                <a:spcPts val="480"/>
              </a:spcBef>
              <a:spcAft>
                <a:spcPts val="0"/>
              </a:spcAft>
              <a:buClr>
                <a:schemeClr val="dk1"/>
              </a:buClr>
              <a:buSzPts val="2400"/>
              <a:buFont typeface="Noto Sans Symbols"/>
              <a:buChar char="▪"/>
            </a:pPr>
            <a:r>
              <a:rPr lang="en-US" sz="2800" dirty="0"/>
              <a:t>Search and bargaining costs of seeking permission</a:t>
            </a:r>
          </a:p>
          <a:p>
            <a:pPr marL="342900" indent="-342900">
              <a:spcBef>
                <a:spcPts val="480"/>
              </a:spcBef>
              <a:spcAft>
                <a:spcPts val="0"/>
              </a:spcAft>
              <a:buClr>
                <a:schemeClr val="dk1"/>
              </a:buClr>
              <a:buSzPts val="2400"/>
              <a:buFont typeface="Noto Sans Symbols"/>
              <a:buChar char="▪"/>
            </a:pPr>
            <a:r>
              <a:rPr lang="en-US" sz="2800" dirty="0"/>
              <a:t>License fees paid to rightsholder</a:t>
            </a:r>
            <a:endParaRPr lang="en-US" sz="1400" dirty="0"/>
          </a:p>
          <a:p>
            <a:pPr marL="342900" indent="-342900">
              <a:spcBef>
                <a:spcPts val="480"/>
              </a:spcBef>
              <a:spcAft>
                <a:spcPts val="0"/>
              </a:spcAft>
              <a:buClr>
                <a:schemeClr val="dk1"/>
              </a:buClr>
              <a:buSzPts val="2400"/>
              <a:buFont typeface="Noto Sans Symbols"/>
              <a:buChar char="▪"/>
            </a:pPr>
            <a:r>
              <a:rPr lang="en-US" sz="2800" dirty="0"/>
              <a:t>Integration costs, “Not invented here” syndrome</a:t>
            </a:r>
          </a:p>
          <a:p>
            <a:pPr marL="342900" indent="-342900">
              <a:spcBef>
                <a:spcPts val="480"/>
              </a:spcBef>
              <a:spcAft>
                <a:spcPts val="0"/>
              </a:spcAft>
              <a:buClr>
                <a:schemeClr val="dk1"/>
              </a:buClr>
              <a:buSzPts val="2400"/>
              <a:buFont typeface="Noto Sans Symbols"/>
              <a:buChar char="▪"/>
            </a:pPr>
            <a:r>
              <a:rPr lang="en-US" sz="2800" dirty="0"/>
              <a:t>Penalty for lack of originality? </a:t>
            </a:r>
            <a:r>
              <a:rPr lang="en-US" sz="1400" dirty="0"/>
              <a:t>(Hill &amp; </a:t>
            </a:r>
            <a:r>
              <a:rPr lang="en-US" sz="1400" dirty="0" err="1"/>
              <a:t>Monroy-Hernández</a:t>
            </a:r>
            <a:r>
              <a:rPr lang="en-US" sz="1400" dirty="0"/>
              <a:t> 2013; </a:t>
            </a:r>
            <a:r>
              <a:rPr lang="en-US" sz="1400" dirty="0" err="1"/>
              <a:t>Lanbrecht</a:t>
            </a:r>
            <a:r>
              <a:rPr lang="en-US" sz="1400" dirty="0"/>
              <a:t>, 2017)</a:t>
            </a:r>
            <a:endParaRPr sz="2400" dirty="0"/>
          </a:p>
          <a:p>
            <a:pPr marL="342900" indent="-342900">
              <a:spcBef>
                <a:spcPts val="480"/>
              </a:spcBef>
              <a:spcAft>
                <a:spcPts val="0"/>
              </a:spcAft>
              <a:buClr>
                <a:schemeClr val="dk1"/>
              </a:buClr>
              <a:buSzPts val="2400"/>
              <a:buFont typeface="Noto Sans Symbols"/>
              <a:buChar char="▪"/>
            </a:pPr>
            <a:r>
              <a:rPr lang="en-US" sz="2800" dirty="0"/>
              <a:t>In non-exclusive cases, competition from other users</a:t>
            </a:r>
            <a:endParaRPr sz="1400" dirty="0"/>
          </a:p>
        </p:txBody>
      </p:sp>
    </p:spTree>
    <p:extLst>
      <p:ext uri="{BB962C8B-B14F-4D97-AF65-F5344CB8AC3E}">
        <p14:creationId xmlns:p14="http://schemas.microsoft.com/office/powerpoint/2010/main" val="2544525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1"/>
          <p:cNvSpPr txBox="1">
            <a:spLocks noGrp="1"/>
          </p:cNvSpPr>
          <p:nvPr>
            <p:ph type="title"/>
          </p:nvPr>
        </p:nvSpPr>
        <p:spPr>
          <a:xfrm>
            <a:off x="1391920" y="481477"/>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rgbClr val="7030A0"/>
              </a:buClr>
              <a:buSzPct val="100000"/>
            </a:pPr>
            <a:r>
              <a:rPr lang="en-US" dirty="0">
                <a:solidFill>
                  <a:schemeClr val="accent2"/>
                </a:solidFill>
                <a:latin typeface="Avenir"/>
                <a:ea typeface="Avenir"/>
                <a:cs typeface="Avenir"/>
                <a:sym typeface="Avenir"/>
              </a:rPr>
              <a:t>Type 2: Downstream openness to user community</a:t>
            </a:r>
            <a:endParaRPr dirty="0">
              <a:solidFill>
                <a:schemeClr val="accent2"/>
              </a:solidFill>
              <a:latin typeface="Avenir"/>
              <a:ea typeface="Avenir"/>
              <a:cs typeface="Avenir"/>
              <a:sym typeface="Avenir"/>
            </a:endParaRPr>
          </a:p>
        </p:txBody>
      </p:sp>
      <p:sp>
        <p:nvSpPr>
          <p:cNvPr id="2" name="TextBox 1">
            <a:extLst>
              <a:ext uri="{FF2B5EF4-FFF2-40B4-BE49-F238E27FC236}">
                <a16:creationId xmlns:a16="http://schemas.microsoft.com/office/drawing/2014/main" id="{2E6B567E-6351-2360-D481-F07863A9DE3D}"/>
              </a:ext>
            </a:extLst>
          </p:cNvPr>
          <p:cNvSpPr txBox="1"/>
          <p:nvPr/>
        </p:nvSpPr>
        <p:spPr>
          <a:xfrm>
            <a:off x="1534160" y="2783840"/>
            <a:ext cx="8646160" cy="523220"/>
          </a:xfrm>
          <a:prstGeom prst="rect">
            <a:avLst/>
          </a:prstGeom>
          <a:noFill/>
        </p:spPr>
        <p:txBody>
          <a:bodyPr wrap="square" rtlCol="0">
            <a:spAutoFit/>
          </a:bodyPr>
          <a:lstStyle/>
          <a:p>
            <a:r>
              <a:rPr lang="en-GB" sz="2800" dirty="0"/>
              <a:t>Can firms gain benefit from giving away their IP for free?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pic>
        <p:nvPicPr>
          <p:cNvPr id="355" name="Google Shape;355;p23" descr="https://redwaspdesign.files.wordpress.com/2011/12/callofcthulhu_wastedland_hd_05.png?w=640&amp;h=426"/>
          <p:cNvPicPr preferRelativeResize="0"/>
          <p:nvPr/>
        </p:nvPicPr>
        <p:blipFill rotWithShape="1">
          <a:blip r:embed="rId3">
            <a:alphaModFix/>
          </a:blip>
          <a:srcRect/>
          <a:stretch/>
        </p:blipFill>
        <p:spPr>
          <a:xfrm>
            <a:off x="3678181" y="3216728"/>
            <a:ext cx="4835638" cy="3159174"/>
          </a:xfrm>
          <a:prstGeom prst="rect">
            <a:avLst/>
          </a:prstGeom>
          <a:noFill/>
          <a:ln>
            <a:noFill/>
          </a:ln>
        </p:spPr>
      </p:pic>
      <p:pic>
        <p:nvPicPr>
          <p:cNvPr id="356" name="Google Shape;356;p23" descr="ttps://redwaspdesign.files.wordpress.com/2011/05/940_198a2.jpg"/>
          <p:cNvPicPr preferRelativeResize="0"/>
          <p:nvPr/>
        </p:nvPicPr>
        <p:blipFill rotWithShape="1">
          <a:blip r:embed="rId4">
            <a:alphaModFix/>
          </a:blip>
          <a:srcRect/>
          <a:stretch/>
        </p:blipFill>
        <p:spPr>
          <a:xfrm>
            <a:off x="1619250" y="965430"/>
            <a:ext cx="8953500" cy="18859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4"/>
          <p:cNvSpPr txBox="1">
            <a:spLocks noGrp="1"/>
          </p:cNvSpPr>
          <p:nvPr>
            <p:ph type="body" idx="4294967295"/>
          </p:nvPr>
        </p:nvSpPr>
        <p:spPr>
          <a:xfrm>
            <a:off x="2153920" y="1166019"/>
            <a:ext cx="8229600" cy="4525962"/>
          </a:xfrm>
          <a:prstGeom prst="rect">
            <a:avLst/>
          </a:prstGeom>
          <a:noFill/>
          <a:ln>
            <a:noFill/>
          </a:ln>
        </p:spPr>
        <p:txBody>
          <a:bodyPr spcFirstLastPara="1" vert="horz" wrap="square" lIns="91425" tIns="45700" rIns="91425" bIns="45700" rtlCol="0" anchor="t" anchorCtr="0">
            <a:normAutofit/>
          </a:bodyPr>
          <a:lstStyle/>
          <a:p>
            <a:pPr marL="0" indent="0" algn="ctr">
              <a:spcBef>
                <a:spcPts val="0"/>
              </a:spcBef>
              <a:spcAft>
                <a:spcPts val="0"/>
              </a:spcAft>
              <a:buClr>
                <a:schemeClr val="dk1"/>
              </a:buClr>
              <a:buSzPts val="2800"/>
              <a:buNone/>
            </a:pPr>
            <a:r>
              <a:rPr lang="en-US" sz="2800" i="1" dirty="0"/>
              <a:t>“If a public domain story has nothing interesting done to it, and people just kind of venerate it, it essentially traps it in amber. I think it is important that you’re growing something for fans, because obviously they want to see more stuff come out. When they don’t get it they’ll make it themselves, and where they do get it, they’ll make it themselves anyway, but more so</a:t>
            </a:r>
            <a:r>
              <a:rPr lang="en-US" sz="2800" dirty="0"/>
              <a:t>.” </a:t>
            </a:r>
            <a:endParaRPr sz="2800" dirty="0"/>
          </a:p>
          <a:p>
            <a:pPr marL="0" indent="0" algn="ctr">
              <a:lnSpc>
                <a:spcPct val="100000"/>
              </a:lnSpc>
              <a:spcBef>
                <a:spcPts val="0"/>
              </a:spcBef>
              <a:spcAft>
                <a:spcPts val="0"/>
              </a:spcAft>
              <a:buClr>
                <a:schemeClr val="dk1"/>
              </a:buClr>
              <a:buSzPts val="2800"/>
              <a:buNone/>
            </a:pPr>
            <a:endParaRPr sz="2800" dirty="0"/>
          </a:p>
          <a:p>
            <a:pPr marL="0" indent="0" algn="ctr">
              <a:lnSpc>
                <a:spcPct val="100000"/>
              </a:lnSpc>
              <a:spcBef>
                <a:spcPts val="0"/>
              </a:spcBef>
              <a:spcAft>
                <a:spcPts val="0"/>
              </a:spcAft>
              <a:buClr>
                <a:schemeClr val="dk1"/>
              </a:buClr>
              <a:buSzPts val="2800"/>
              <a:buNone/>
            </a:pPr>
            <a:r>
              <a:rPr lang="en-US" sz="2800" dirty="0"/>
              <a:t>Red Wasp Design</a:t>
            </a:r>
            <a:endParaRPr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76">
          <a:extLst>
            <a:ext uri="{FF2B5EF4-FFF2-40B4-BE49-F238E27FC236}">
              <a16:creationId xmlns:a16="http://schemas.microsoft.com/office/drawing/2014/main" id="{2D03AD71-6BC4-DC57-143F-BA134BAD19B4}"/>
            </a:ext>
          </a:extLst>
        </p:cNvPr>
        <p:cNvGrpSpPr/>
        <p:nvPr/>
      </p:nvGrpSpPr>
      <p:grpSpPr>
        <a:xfrm>
          <a:off x="0" y="0"/>
          <a:ext cx="0" cy="0"/>
          <a:chOff x="0" y="0"/>
          <a:chExt cx="0" cy="0"/>
        </a:xfrm>
      </p:grpSpPr>
      <p:cxnSp>
        <p:nvCxnSpPr>
          <p:cNvPr id="677" name="Google Shape;677;p39">
            <a:extLst>
              <a:ext uri="{FF2B5EF4-FFF2-40B4-BE49-F238E27FC236}">
                <a16:creationId xmlns:a16="http://schemas.microsoft.com/office/drawing/2014/main" id="{9DC8A6BB-1202-8747-7989-ACA09E0190AA}"/>
              </a:ext>
            </a:extLst>
          </p:cNvPr>
          <p:cNvCxnSpPr>
            <a:stCxn id="678" idx="0"/>
          </p:cNvCxnSpPr>
          <p:nvPr/>
        </p:nvCxnSpPr>
        <p:spPr>
          <a:xfrm rot="-5400000">
            <a:off x="3000266" y="3459794"/>
            <a:ext cx="2517000" cy="829800"/>
          </a:xfrm>
          <a:prstGeom prst="curvedConnector3">
            <a:avLst>
              <a:gd name="adj1" fmla="val 50000"/>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grpSp>
        <p:nvGrpSpPr>
          <p:cNvPr id="679" name="Google Shape;679;p39">
            <a:extLst>
              <a:ext uri="{FF2B5EF4-FFF2-40B4-BE49-F238E27FC236}">
                <a16:creationId xmlns:a16="http://schemas.microsoft.com/office/drawing/2014/main" id="{29C573CF-4246-601E-7F75-AB5E337474F0}"/>
              </a:ext>
            </a:extLst>
          </p:cNvPr>
          <p:cNvGrpSpPr/>
          <p:nvPr/>
        </p:nvGrpSpPr>
        <p:grpSpPr>
          <a:xfrm>
            <a:off x="1984162" y="1923877"/>
            <a:ext cx="6380817" cy="715595"/>
            <a:chOff x="2961" y="834953"/>
            <a:chExt cx="6380817" cy="715595"/>
          </a:xfrm>
        </p:grpSpPr>
        <p:sp>
          <p:nvSpPr>
            <p:cNvPr id="680" name="Google Shape;680;p39">
              <a:extLst>
                <a:ext uri="{FF2B5EF4-FFF2-40B4-BE49-F238E27FC236}">
                  <a16:creationId xmlns:a16="http://schemas.microsoft.com/office/drawing/2014/main" id="{9A5B263A-46CD-93EC-6EBE-680DAC40BA1A}"/>
                </a:ext>
              </a:extLst>
            </p:cNvPr>
            <p:cNvSpPr/>
            <p:nvPr/>
          </p:nvSpPr>
          <p:spPr>
            <a:xfrm>
              <a:off x="2961" y="834953"/>
              <a:ext cx="1723745" cy="689498"/>
            </a:xfrm>
            <a:prstGeom prst="chevron">
              <a:avLst>
                <a:gd name="adj" fmla="val 50000"/>
              </a:avLst>
            </a:prstGeom>
            <a:solidFill>
              <a:srgbClr val="BF504D"/>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681" name="Google Shape;681;p39">
              <a:extLst>
                <a:ext uri="{FF2B5EF4-FFF2-40B4-BE49-F238E27FC236}">
                  <a16:creationId xmlns:a16="http://schemas.microsoft.com/office/drawing/2014/main" id="{9FBDBFCC-2BAE-9EA4-2456-EA9BBC74E1A8}"/>
                </a:ext>
              </a:extLst>
            </p:cNvPr>
            <p:cNvSpPr txBox="1"/>
            <p:nvPr/>
          </p:nvSpPr>
          <p:spPr>
            <a:xfrm>
              <a:off x="347710" y="834953"/>
              <a:ext cx="1034247" cy="689498"/>
            </a:xfrm>
            <a:prstGeom prst="rect">
              <a:avLst/>
            </a:prstGeom>
            <a:noFill/>
            <a:ln>
              <a:noFill/>
            </a:ln>
          </p:spPr>
          <p:txBody>
            <a:bodyPr spcFirstLastPara="1" wrap="square" lIns="56000" tIns="18650" rIns="18650" bIns="18650" anchor="ctr" anchorCtr="0">
              <a:noAutofit/>
            </a:bodyPr>
            <a:lstStyle/>
            <a:p>
              <a:pPr algn="ctr">
                <a:lnSpc>
                  <a:spcPct val="90000"/>
                </a:lnSpc>
              </a:pPr>
              <a:r>
                <a:rPr lang="en-US" sz="1350" b="1">
                  <a:solidFill>
                    <a:schemeClr val="lt1"/>
                  </a:solidFill>
                  <a:latin typeface="Calibri"/>
                  <a:ea typeface="Calibri"/>
                  <a:cs typeface="Calibri"/>
                  <a:sym typeface="Calibri"/>
                </a:rPr>
                <a:t>IDEA</a:t>
              </a:r>
              <a:endParaRPr sz="1350" b="1">
                <a:solidFill>
                  <a:schemeClr val="lt1"/>
                </a:solidFill>
                <a:latin typeface="Calibri"/>
                <a:ea typeface="Calibri"/>
                <a:cs typeface="Calibri"/>
                <a:sym typeface="Calibri"/>
              </a:endParaRPr>
            </a:p>
          </p:txBody>
        </p:sp>
        <p:sp>
          <p:nvSpPr>
            <p:cNvPr id="682" name="Google Shape;682;p39">
              <a:extLst>
                <a:ext uri="{FF2B5EF4-FFF2-40B4-BE49-F238E27FC236}">
                  <a16:creationId xmlns:a16="http://schemas.microsoft.com/office/drawing/2014/main" id="{5891AEA7-685D-76C2-87F7-71C2181519E4}"/>
                </a:ext>
              </a:extLst>
            </p:cNvPr>
            <p:cNvSpPr/>
            <p:nvPr/>
          </p:nvSpPr>
          <p:spPr>
            <a:xfrm>
              <a:off x="1554331" y="834953"/>
              <a:ext cx="1723745" cy="689498"/>
            </a:xfrm>
            <a:prstGeom prst="chevron">
              <a:avLst>
                <a:gd name="adj" fmla="val 50000"/>
              </a:avLst>
            </a:prstGeom>
            <a:solidFill>
              <a:srgbClr val="BC8250"/>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683" name="Google Shape;683;p39">
              <a:extLst>
                <a:ext uri="{FF2B5EF4-FFF2-40B4-BE49-F238E27FC236}">
                  <a16:creationId xmlns:a16="http://schemas.microsoft.com/office/drawing/2014/main" id="{BBE69220-2F48-EE6D-7554-90B7D44AE440}"/>
                </a:ext>
              </a:extLst>
            </p:cNvPr>
            <p:cNvSpPr txBox="1"/>
            <p:nvPr/>
          </p:nvSpPr>
          <p:spPr>
            <a:xfrm>
              <a:off x="1899080" y="834953"/>
              <a:ext cx="1034247" cy="689498"/>
            </a:xfrm>
            <a:prstGeom prst="rect">
              <a:avLst/>
            </a:prstGeom>
            <a:noFill/>
            <a:ln>
              <a:noFill/>
            </a:ln>
          </p:spPr>
          <p:txBody>
            <a:bodyPr spcFirstLastPara="1" wrap="square" lIns="56000" tIns="18650" rIns="18650" bIns="18650" anchor="ctr" anchorCtr="0">
              <a:noAutofit/>
            </a:bodyPr>
            <a:lstStyle/>
            <a:p>
              <a:pPr algn="ctr">
                <a:lnSpc>
                  <a:spcPct val="90000"/>
                </a:lnSpc>
              </a:pPr>
              <a:r>
                <a:rPr lang="en-US" sz="1400" b="1">
                  <a:solidFill>
                    <a:schemeClr val="lt1"/>
                  </a:solidFill>
                  <a:latin typeface="Calibri"/>
                  <a:ea typeface="Calibri"/>
                  <a:cs typeface="Calibri"/>
                  <a:sym typeface="Calibri"/>
                </a:rPr>
                <a:t>GENERATE</a:t>
              </a:r>
              <a:endParaRPr sz="1400" b="1">
                <a:solidFill>
                  <a:schemeClr val="lt1"/>
                </a:solidFill>
                <a:latin typeface="Calibri"/>
                <a:ea typeface="Calibri"/>
                <a:cs typeface="Calibri"/>
                <a:sym typeface="Calibri"/>
              </a:endParaRPr>
            </a:p>
          </p:txBody>
        </p:sp>
        <p:sp>
          <p:nvSpPr>
            <p:cNvPr id="684" name="Google Shape;684;p39">
              <a:extLst>
                <a:ext uri="{FF2B5EF4-FFF2-40B4-BE49-F238E27FC236}">
                  <a16:creationId xmlns:a16="http://schemas.microsoft.com/office/drawing/2014/main" id="{A855A2D5-D5A9-85F6-4217-1E6F6233452F}"/>
                </a:ext>
              </a:extLst>
            </p:cNvPr>
            <p:cNvSpPr/>
            <p:nvPr/>
          </p:nvSpPr>
          <p:spPr>
            <a:xfrm>
              <a:off x="3105702" y="834953"/>
              <a:ext cx="1723745" cy="689498"/>
            </a:xfrm>
            <a:prstGeom prst="chevron">
              <a:avLst>
                <a:gd name="adj" fmla="val 50000"/>
              </a:avLst>
            </a:prstGeom>
            <a:solidFill>
              <a:srgbClr val="BBB054"/>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685" name="Google Shape;685;p39">
              <a:extLst>
                <a:ext uri="{FF2B5EF4-FFF2-40B4-BE49-F238E27FC236}">
                  <a16:creationId xmlns:a16="http://schemas.microsoft.com/office/drawing/2014/main" id="{905605AC-7614-5BB8-D96D-FA2655071D73}"/>
                </a:ext>
              </a:extLst>
            </p:cNvPr>
            <p:cNvSpPr txBox="1"/>
            <p:nvPr/>
          </p:nvSpPr>
          <p:spPr>
            <a:xfrm>
              <a:off x="3450451" y="834953"/>
              <a:ext cx="1034247" cy="689498"/>
            </a:xfrm>
            <a:prstGeom prst="rect">
              <a:avLst/>
            </a:prstGeom>
            <a:noFill/>
            <a:ln>
              <a:noFill/>
            </a:ln>
          </p:spPr>
          <p:txBody>
            <a:bodyPr spcFirstLastPara="1" wrap="square" lIns="56000" tIns="18650" rIns="18650" bIns="18650" anchor="ctr" anchorCtr="0">
              <a:noAutofit/>
            </a:bodyPr>
            <a:lstStyle/>
            <a:p>
              <a:pPr algn="ctr">
                <a:lnSpc>
                  <a:spcPct val="90000"/>
                </a:lnSpc>
              </a:pPr>
              <a:r>
                <a:rPr lang="en-US" sz="1400" b="1">
                  <a:solidFill>
                    <a:schemeClr val="lt1"/>
                  </a:solidFill>
                  <a:latin typeface="Calibri"/>
                  <a:ea typeface="Calibri"/>
                  <a:cs typeface="Calibri"/>
                  <a:sym typeface="Calibri"/>
                </a:rPr>
                <a:t>MARKET</a:t>
              </a:r>
              <a:endParaRPr sz="1400" b="1">
                <a:solidFill>
                  <a:schemeClr val="lt1"/>
                </a:solidFill>
                <a:latin typeface="Calibri"/>
                <a:ea typeface="Calibri"/>
                <a:cs typeface="Calibri"/>
                <a:sym typeface="Calibri"/>
              </a:endParaRPr>
            </a:p>
          </p:txBody>
        </p:sp>
        <p:sp>
          <p:nvSpPr>
            <p:cNvPr id="686" name="Google Shape;686;p39">
              <a:extLst>
                <a:ext uri="{FF2B5EF4-FFF2-40B4-BE49-F238E27FC236}">
                  <a16:creationId xmlns:a16="http://schemas.microsoft.com/office/drawing/2014/main" id="{15B74726-C0F5-800C-529A-44A424D00985}"/>
                </a:ext>
              </a:extLst>
            </p:cNvPr>
            <p:cNvSpPr/>
            <p:nvPr/>
          </p:nvSpPr>
          <p:spPr>
            <a:xfrm>
              <a:off x="4660033" y="842724"/>
              <a:ext cx="1723745" cy="707824"/>
            </a:xfrm>
            <a:prstGeom prst="chevron">
              <a:avLst>
                <a:gd name="adj" fmla="val 50000"/>
              </a:avLst>
            </a:prstGeom>
            <a:solidFill>
              <a:srgbClr val="99B95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687" name="Google Shape;687;p39">
              <a:extLst>
                <a:ext uri="{FF2B5EF4-FFF2-40B4-BE49-F238E27FC236}">
                  <a16:creationId xmlns:a16="http://schemas.microsoft.com/office/drawing/2014/main" id="{E037C8B3-7F5E-18E3-BBD1-A33AE6754A65}"/>
                </a:ext>
              </a:extLst>
            </p:cNvPr>
            <p:cNvSpPr txBox="1"/>
            <p:nvPr/>
          </p:nvSpPr>
          <p:spPr>
            <a:xfrm>
              <a:off x="5013945" y="842724"/>
              <a:ext cx="1015921" cy="707824"/>
            </a:xfrm>
            <a:prstGeom prst="rect">
              <a:avLst/>
            </a:prstGeom>
            <a:noFill/>
            <a:ln>
              <a:noFill/>
            </a:ln>
          </p:spPr>
          <p:txBody>
            <a:bodyPr spcFirstLastPara="1" wrap="square" lIns="56000" tIns="18650" rIns="18650" bIns="18650" anchor="ctr" anchorCtr="0">
              <a:noAutofit/>
            </a:bodyPr>
            <a:lstStyle/>
            <a:p>
              <a:pPr algn="ctr">
                <a:lnSpc>
                  <a:spcPct val="90000"/>
                </a:lnSpc>
              </a:pPr>
              <a:r>
                <a:rPr lang="en-US" sz="1400" b="1">
                  <a:solidFill>
                    <a:schemeClr val="lt1"/>
                  </a:solidFill>
                  <a:latin typeface="Calibri"/>
                  <a:ea typeface="Calibri"/>
                  <a:cs typeface="Calibri"/>
                  <a:sym typeface="Calibri"/>
                </a:rPr>
                <a:t>RELEASE</a:t>
              </a:r>
              <a:endParaRPr sz="1400" b="1">
                <a:solidFill>
                  <a:schemeClr val="lt1"/>
                </a:solidFill>
                <a:latin typeface="Calibri"/>
                <a:ea typeface="Calibri"/>
                <a:cs typeface="Calibri"/>
                <a:sym typeface="Calibri"/>
              </a:endParaRPr>
            </a:p>
          </p:txBody>
        </p:sp>
      </p:grpSp>
      <p:sp>
        <p:nvSpPr>
          <p:cNvPr id="688" name="Google Shape;688;p39">
            <a:extLst>
              <a:ext uri="{FF2B5EF4-FFF2-40B4-BE49-F238E27FC236}">
                <a16:creationId xmlns:a16="http://schemas.microsoft.com/office/drawing/2014/main" id="{1252BF2B-0072-A87F-6E86-1EE316E9C413}"/>
              </a:ext>
            </a:extLst>
          </p:cNvPr>
          <p:cNvSpPr/>
          <p:nvPr/>
        </p:nvSpPr>
        <p:spPr>
          <a:xfrm>
            <a:off x="3302001" y="3505201"/>
            <a:ext cx="338666" cy="355600"/>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89" name="Google Shape;689;p39">
            <a:extLst>
              <a:ext uri="{FF2B5EF4-FFF2-40B4-BE49-F238E27FC236}">
                <a16:creationId xmlns:a16="http://schemas.microsoft.com/office/drawing/2014/main" id="{24BC3D76-7A0C-2C55-4DD7-C5C635C56B38}"/>
              </a:ext>
            </a:extLst>
          </p:cNvPr>
          <p:cNvSpPr/>
          <p:nvPr/>
        </p:nvSpPr>
        <p:spPr>
          <a:xfrm>
            <a:off x="3843866" y="3903133"/>
            <a:ext cx="338666" cy="355600"/>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90" name="Google Shape;690;p39">
            <a:extLst>
              <a:ext uri="{FF2B5EF4-FFF2-40B4-BE49-F238E27FC236}">
                <a16:creationId xmlns:a16="http://schemas.microsoft.com/office/drawing/2014/main" id="{BDBCAB8D-4210-75EB-D69B-0DAD7051F699}"/>
              </a:ext>
            </a:extLst>
          </p:cNvPr>
          <p:cNvSpPr/>
          <p:nvPr/>
        </p:nvSpPr>
        <p:spPr>
          <a:xfrm>
            <a:off x="4199465" y="3208866"/>
            <a:ext cx="338666" cy="355600"/>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91" name="Google Shape;691;p39">
            <a:extLst>
              <a:ext uri="{FF2B5EF4-FFF2-40B4-BE49-F238E27FC236}">
                <a16:creationId xmlns:a16="http://schemas.microsoft.com/office/drawing/2014/main" id="{1699D615-9EF4-6FCE-37E2-266E9816F285}"/>
              </a:ext>
            </a:extLst>
          </p:cNvPr>
          <p:cNvSpPr/>
          <p:nvPr/>
        </p:nvSpPr>
        <p:spPr>
          <a:xfrm>
            <a:off x="2455333" y="4639733"/>
            <a:ext cx="338666" cy="355600"/>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92" name="Google Shape;692;p39">
            <a:extLst>
              <a:ext uri="{FF2B5EF4-FFF2-40B4-BE49-F238E27FC236}">
                <a16:creationId xmlns:a16="http://schemas.microsoft.com/office/drawing/2014/main" id="{E76AD533-1788-F241-E8D1-1A8A4E3A5C04}"/>
              </a:ext>
            </a:extLst>
          </p:cNvPr>
          <p:cNvSpPr/>
          <p:nvPr/>
        </p:nvSpPr>
        <p:spPr>
          <a:xfrm>
            <a:off x="3217334" y="4817533"/>
            <a:ext cx="338666" cy="355600"/>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93" name="Google Shape;693;p39">
            <a:extLst>
              <a:ext uri="{FF2B5EF4-FFF2-40B4-BE49-F238E27FC236}">
                <a16:creationId xmlns:a16="http://schemas.microsoft.com/office/drawing/2014/main" id="{75660F57-29BE-B541-BD74-0A24A3F0675B}"/>
              </a:ext>
            </a:extLst>
          </p:cNvPr>
          <p:cNvSpPr/>
          <p:nvPr/>
        </p:nvSpPr>
        <p:spPr>
          <a:xfrm>
            <a:off x="4199465" y="4639733"/>
            <a:ext cx="338666" cy="355600"/>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94" name="Google Shape;694;p39">
            <a:extLst>
              <a:ext uri="{FF2B5EF4-FFF2-40B4-BE49-F238E27FC236}">
                <a16:creationId xmlns:a16="http://schemas.microsoft.com/office/drawing/2014/main" id="{FBDAD601-4A70-7AE8-3611-E93B4AFDDD09}"/>
              </a:ext>
            </a:extLst>
          </p:cNvPr>
          <p:cNvSpPr/>
          <p:nvPr/>
        </p:nvSpPr>
        <p:spPr>
          <a:xfrm>
            <a:off x="5029202" y="4199468"/>
            <a:ext cx="338666" cy="355600"/>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95" name="Google Shape;695;p39">
            <a:extLst>
              <a:ext uri="{FF2B5EF4-FFF2-40B4-BE49-F238E27FC236}">
                <a16:creationId xmlns:a16="http://schemas.microsoft.com/office/drawing/2014/main" id="{17632DD0-DD29-AA7A-BB8E-2BC41FEC2352}"/>
              </a:ext>
            </a:extLst>
          </p:cNvPr>
          <p:cNvSpPr/>
          <p:nvPr/>
        </p:nvSpPr>
        <p:spPr>
          <a:xfrm>
            <a:off x="2455333" y="3448328"/>
            <a:ext cx="338666" cy="355600"/>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96" name="Google Shape;696;p39">
            <a:extLst>
              <a:ext uri="{FF2B5EF4-FFF2-40B4-BE49-F238E27FC236}">
                <a16:creationId xmlns:a16="http://schemas.microsoft.com/office/drawing/2014/main" id="{B9526503-B318-6EEB-CCD0-44268A5FCDCD}"/>
              </a:ext>
            </a:extLst>
          </p:cNvPr>
          <p:cNvSpPr/>
          <p:nvPr/>
        </p:nvSpPr>
        <p:spPr>
          <a:xfrm>
            <a:off x="4673600" y="5198533"/>
            <a:ext cx="338666" cy="355600"/>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78" name="Google Shape;678;p39">
            <a:extLst>
              <a:ext uri="{FF2B5EF4-FFF2-40B4-BE49-F238E27FC236}">
                <a16:creationId xmlns:a16="http://schemas.microsoft.com/office/drawing/2014/main" id="{19129857-094F-9F71-E53E-7D3DE1E32873}"/>
              </a:ext>
            </a:extLst>
          </p:cNvPr>
          <p:cNvSpPr/>
          <p:nvPr/>
        </p:nvSpPr>
        <p:spPr>
          <a:xfrm>
            <a:off x="3674533" y="5133194"/>
            <a:ext cx="338666" cy="355600"/>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697" name="Google Shape;697;p39">
            <a:extLst>
              <a:ext uri="{FF2B5EF4-FFF2-40B4-BE49-F238E27FC236}">
                <a16:creationId xmlns:a16="http://schemas.microsoft.com/office/drawing/2014/main" id="{4035D697-9825-EBA2-0AAF-78162D5670AF}"/>
              </a:ext>
            </a:extLst>
          </p:cNvPr>
          <p:cNvSpPr/>
          <p:nvPr/>
        </p:nvSpPr>
        <p:spPr>
          <a:xfrm>
            <a:off x="2133600" y="5418669"/>
            <a:ext cx="338666" cy="355600"/>
          </a:xfrm>
          <a:prstGeom prst="ellipse">
            <a:avLst/>
          </a:prstGeom>
          <a:solidFill>
            <a:schemeClr val="accent1"/>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cxnSp>
        <p:nvCxnSpPr>
          <p:cNvPr id="698" name="Google Shape;698;p39">
            <a:extLst>
              <a:ext uri="{FF2B5EF4-FFF2-40B4-BE49-F238E27FC236}">
                <a16:creationId xmlns:a16="http://schemas.microsoft.com/office/drawing/2014/main" id="{B1263381-EEBF-8E42-62CD-15F1EDCC0656}"/>
              </a:ext>
            </a:extLst>
          </p:cNvPr>
          <p:cNvCxnSpPr>
            <a:stCxn id="696" idx="0"/>
          </p:cNvCxnSpPr>
          <p:nvPr/>
        </p:nvCxnSpPr>
        <p:spPr>
          <a:xfrm rot="-5400000">
            <a:off x="3814233" y="3644833"/>
            <a:ext cx="2582400" cy="525000"/>
          </a:xfrm>
          <a:prstGeom prst="curvedConnector3">
            <a:avLst>
              <a:gd name="adj1" fmla="val 51311"/>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cxnSp>
        <p:nvCxnSpPr>
          <p:cNvPr id="699" name="Google Shape;699;p39">
            <a:extLst>
              <a:ext uri="{FF2B5EF4-FFF2-40B4-BE49-F238E27FC236}">
                <a16:creationId xmlns:a16="http://schemas.microsoft.com/office/drawing/2014/main" id="{F2A96869-2A6E-C0F9-267C-D570B9E99113}"/>
              </a:ext>
            </a:extLst>
          </p:cNvPr>
          <p:cNvCxnSpPr>
            <a:stCxn id="694" idx="7"/>
          </p:cNvCxnSpPr>
          <p:nvPr/>
        </p:nvCxnSpPr>
        <p:spPr>
          <a:xfrm rot="-5400000">
            <a:off x="4813222" y="3121294"/>
            <a:ext cx="1635300" cy="625200"/>
          </a:xfrm>
          <a:prstGeom prst="curvedConnector3">
            <a:avLst>
              <a:gd name="adj1" fmla="val 50000"/>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cxnSp>
        <p:nvCxnSpPr>
          <p:cNvPr id="700" name="Google Shape;700;p39">
            <a:extLst>
              <a:ext uri="{FF2B5EF4-FFF2-40B4-BE49-F238E27FC236}">
                <a16:creationId xmlns:a16="http://schemas.microsoft.com/office/drawing/2014/main" id="{15E2E280-E5BB-4B2D-A7FC-DBDD0E53F7BB}"/>
              </a:ext>
            </a:extLst>
          </p:cNvPr>
          <p:cNvCxnSpPr>
            <a:stCxn id="693" idx="7"/>
          </p:cNvCxnSpPr>
          <p:nvPr/>
        </p:nvCxnSpPr>
        <p:spPr>
          <a:xfrm rot="-5400000">
            <a:off x="3627835" y="3476809"/>
            <a:ext cx="2075700" cy="354300"/>
          </a:xfrm>
          <a:prstGeom prst="curvedConnector3">
            <a:avLst>
              <a:gd name="adj1" fmla="val 50000"/>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cxnSp>
        <p:nvCxnSpPr>
          <p:cNvPr id="701" name="Google Shape;701;p39">
            <a:extLst>
              <a:ext uri="{FF2B5EF4-FFF2-40B4-BE49-F238E27FC236}">
                <a16:creationId xmlns:a16="http://schemas.microsoft.com/office/drawing/2014/main" id="{8D69E51C-CC5B-C356-C6AE-D19FFED86406}"/>
              </a:ext>
            </a:extLst>
          </p:cNvPr>
          <p:cNvCxnSpPr>
            <a:stCxn id="690" idx="0"/>
          </p:cNvCxnSpPr>
          <p:nvPr/>
        </p:nvCxnSpPr>
        <p:spPr>
          <a:xfrm rot="-5400000">
            <a:off x="4156998" y="2827866"/>
            <a:ext cx="592800" cy="169200"/>
          </a:xfrm>
          <a:prstGeom prst="curvedConnector3">
            <a:avLst>
              <a:gd name="adj1" fmla="val 49988"/>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cxnSp>
        <p:nvCxnSpPr>
          <p:cNvPr id="702" name="Google Shape;702;p39">
            <a:extLst>
              <a:ext uri="{FF2B5EF4-FFF2-40B4-BE49-F238E27FC236}">
                <a16:creationId xmlns:a16="http://schemas.microsoft.com/office/drawing/2014/main" id="{F2C21A14-08B2-0BE4-9087-2951BB83FF18}"/>
              </a:ext>
            </a:extLst>
          </p:cNvPr>
          <p:cNvCxnSpPr>
            <a:stCxn id="689" idx="0"/>
          </p:cNvCxnSpPr>
          <p:nvPr/>
        </p:nvCxnSpPr>
        <p:spPr>
          <a:xfrm rot="5400000" flipH="1">
            <a:off x="3141099" y="3031033"/>
            <a:ext cx="1287000" cy="457200"/>
          </a:xfrm>
          <a:prstGeom prst="curvedConnector3">
            <a:avLst>
              <a:gd name="adj1" fmla="val 50000"/>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cxnSp>
        <p:nvCxnSpPr>
          <p:cNvPr id="703" name="Google Shape;703;p39">
            <a:extLst>
              <a:ext uri="{FF2B5EF4-FFF2-40B4-BE49-F238E27FC236}">
                <a16:creationId xmlns:a16="http://schemas.microsoft.com/office/drawing/2014/main" id="{86C2A2B5-9DE2-D032-9A95-04573EC10792}"/>
              </a:ext>
            </a:extLst>
          </p:cNvPr>
          <p:cNvCxnSpPr>
            <a:stCxn id="688" idx="1"/>
          </p:cNvCxnSpPr>
          <p:nvPr/>
        </p:nvCxnSpPr>
        <p:spPr>
          <a:xfrm rot="5400000" flipH="1">
            <a:off x="2813847" y="3019527"/>
            <a:ext cx="941100" cy="134400"/>
          </a:xfrm>
          <a:prstGeom prst="curvedConnector3">
            <a:avLst>
              <a:gd name="adj1" fmla="val 50000"/>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cxnSp>
        <p:nvCxnSpPr>
          <p:cNvPr id="704" name="Google Shape;704;p39">
            <a:extLst>
              <a:ext uri="{FF2B5EF4-FFF2-40B4-BE49-F238E27FC236}">
                <a16:creationId xmlns:a16="http://schemas.microsoft.com/office/drawing/2014/main" id="{E188DA39-E384-B448-6A2F-966380295162}"/>
              </a:ext>
            </a:extLst>
          </p:cNvPr>
          <p:cNvCxnSpPr>
            <a:stCxn id="692" idx="1"/>
          </p:cNvCxnSpPr>
          <p:nvPr/>
        </p:nvCxnSpPr>
        <p:spPr>
          <a:xfrm rot="5400000" flipH="1">
            <a:off x="1963130" y="3565809"/>
            <a:ext cx="2253300" cy="354300"/>
          </a:xfrm>
          <a:prstGeom prst="curvedConnector3">
            <a:avLst>
              <a:gd name="adj1" fmla="val 50000"/>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cxnSp>
        <p:nvCxnSpPr>
          <p:cNvPr id="705" name="Google Shape;705;p39">
            <a:extLst>
              <a:ext uri="{FF2B5EF4-FFF2-40B4-BE49-F238E27FC236}">
                <a16:creationId xmlns:a16="http://schemas.microsoft.com/office/drawing/2014/main" id="{2CEE3929-125D-E40F-9D87-106C4A4643CB}"/>
              </a:ext>
            </a:extLst>
          </p:cNvPr>
          <p:cNvCxnSpPr>
            <a:stCxn id="695" idx="1"/>
          </p:cNvCxnSpPr>
          <p:nvPr/>
        </p:nvCxnSpPr>
        <p:spPr>
          <a:xfrm rot="-5400000">
            <a:off x="2139679" y="2981554"/>
            <a:ext cx="884100" cy="153600"/>
          </a:xfrm>
          <a:prstGeom prst="curvedConnector3">
            <a:avLst>
              <a:gd name="adj1" fmla="val 50000"/>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cxnSp>
        <p:nvCxnSpPr>
          <p:cNvPr id="706" name="Google Shape;706;p39">
            <a:extLst>
              <a:ext uri="{FF2B5EF4-FFF2-40B4-BE49-F238E27FC236}">
                <a16:creationId xmlns:a16="http://schemas.microsoft.com/office/drawing/2014/main" id="{561033E0-9BFF-63CF-CADD-4642A886B0E5}"/>
              </a:ext>
            </a:extLst>
          </p:cNvPr>
          <p:cNvCxnSpPr/>
          <p:nvPr/>
        </p:nvCxnSpPr>
        <p:spPr>
          <a:xfrm rot="5400000" flipH="1">
            <a:off x="1295334" y="3454333"/>
            <a:ext cx="2201400" cy="525000"/>
          </a:xfrm>
          <a:prstGeom prst="curvedConnector3">
            <a:avLst>
              <a:gd name="adj1" fmla="val 50000"/>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cxnSp>
        <p:nvCxnSpPr>
          <p:cNvPr id="707" name="Google Shape;707;p39">
            <a:extLst>
              <a:ext uri="{FF2B5EF4-FFF2-40B4-BE49-F238E27FC236}">
                <a16:creationId xmlns:a16="http://schemas.microsoft.com/office/drawing/2014/main" id="{02D152FD-4897-7BB9-A131-C5C7C7AB2F8B}"/>
              </a:ext>
            </a:extLst>
          </p:cNvPr>
          <p:cNvCxnSpPr>
            <a:stCxn id="697" idx="0"/>
          </p:cNvCxnSpPr>
          <p:nvPr/>
        </p:nvCxnSpPr>
        <p:spPr>
          <a:xfrm rot="-5400000">
            <a:off x="1358833" y="3560169"/>
            <a:ext cx="2802600" cy="914400"/>
          </a:xfrm>
          <a:prstGeom prst="curvedConnector3">
            <a:avLst>
              <a:gd name="adj1" fmla="val 50000"/>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grpSp>
        <p:nvGrpSpPr>
          <p:cNvPr id="708" name="Google Shape;708;p39">
            <a:extLst>
              <a:ext uri="{FF2B5EF4-FFF2-40B4-BE49-F238E27FC236}">
                <a16:creationId xmlns:a16="http://schemas.microsoft.com/office/drawing/2014/main" id="{CA638508-2133-F4A4-F2ED-9895ACC25C6B}"/>
              </a:ext>
            </a:extLst>
          </p:cNvPr>
          <p:cNvGrpSpPr/>
          <p:nvPr/>
        </p:nvGrpSpPr>
        <p:grpSpPr>
          <a:xfrm>
            <a:off x="6641235" y="2909841"/>
            <a:ext cx="1723745" cy="707824"/>
            <a:chOff x="4660033" y="842724"/>
            <a:chExt cx="1723745" cy="707824"/>
          </a:xfrm>
        </p:grpSpPr>
        <p:sp>
          <p:nvSpPr>
            <p:cNvPr id="709" name="Google Shape;709;p39">
              <a:extLst>
                <a:ext uri="{FF2B5EF4-FFF2-40B4-BE49-F238E27FC236}">
                  <a16:creationId xmlns:a16="http://schemas.microsoft.com/office/drawing/2014/main" id="{18C9752A-95B7-9E92-6B39-EE1EB509FD8B}"/>
                </a:ext>
              </a:extLst>
            </p:cNvPr>
            <p:cNvSpPr/>
            <p:nvPr/>
          </p:nvSpPr>
          <p:spPr>
            <a:xfrm>
              <a:off x="4660033" y="842724"/>
              <a:ext cx="1723745" cy="707824"/>
            </a:xfrm>
            <a:prstGeom prst="chevron">
              <a:avLst>
                <a:gd name="adj" fmla="val 50000"/>
              </a:avLst>
            </a:prstGeom>
            <a:solidFill>
              <a:srgbClr val="99B95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710" name="Google Shape;710;p39">
              <a:extLst>
                <a:ext uri="{FF2B5EF4-FFF2-40B4-BE49-F238E27FC236}">
                  <a16:creationId xmlns:a16="http://schemas.microsoft.com/office/drawing/2014/main" id="{5AB4B595-D00B-24B6-C123-695D9A50E093}"/>
                </a:ext>
              </a:extLst>
            </p:cNvPr>
            <p:cNvSpPr/>
            <p:nvPr/>
          </p:nvSpPr>
          <p:spPr>
            <a:xfrm>
              <a:off x="5013945" y="842724"/>
              <a:ext cx="1015921" cy="707824"/>
            </a:xfrm>
            <a:prstGeom prst="rect">
              <a:avLst/>
            </a:prstGeom>
            <a:noFill/>
            <a:ln>
              <a:noFill/>
            </a:ln>
          </p:spPr>
          <p:txBody>
            <a:bodyPr spcFirstLastPara="1" wrap="square" lIns="56000" tIns="18650" rIns="18650" bIns="18650" anchor="ctr" anchorCtr="0">
              <a:noAutofit/>
            </a:bodyPr>
            <a:lstStyle/>
            <a:p>
              <a:pPr algn="ctr">
                <a:lnSpc>
                  <a:spcPct val="90000"/>
                </a:lnSpc>
              </a:pPr>
              <a:r>
                <a:rPr lang="en-US" sz="1400" b="1">
                  <a:solidFill>
                    <a:schemeClr val="lt1"/>
                  </a:solidFill>
                  <a:latin typeface="Calibri"/>
                  <a:ea typeface="Calibri"/>
                  <a:cs typeface="Calibri"/>
                  <a:sym typeface="Calibri"/>
                </a:rPr>
                <a:t>RELEASE</a:t>
              </a:r>
              <a:endParaRPr sz="1400" b="1">
                <a:solidFill>
                  <a:schemeClr val="lt1"/>
                </a:solidFill>
                <a:latin typeface="Calibri"/>
                <a:ea typeface="Calibri"/>
                <a:cs typeface="Calibri"/>
                <a:sym typeface="Calibri"/>
              </a:endParaRPr>
            </a:p>
          </p:txBody>
        </p:sp>
      </p:grpSp>
      <p:grpSp>
        <p:nvGrpSpPr>
          <p:cNvPr id="711" name="Google Shape;711;p39">
            <a:extLst>
              <a:ext uri="{FF2B5EF4-FFF2-40B4-BE49-F238E27FC236}">
                <a16:creationId xmlns:a16="http://schemas.microsoft.com/office/drawing/2014/main" id="{8F335F1E-0190-D9A8-7E81-879CADD40C4B}"/>
              </a:ext>
            </a:extLst>
          </p:cNvPr>
          <p:cNvGrpSpPr/>
          <p:nvPr/>
        </p:nvGrpSpPr>
        <p:grpSpPr>
          <a:xfrm>
            <a:off x="6641235" y="3931909"/>
            <a:ext cx="1723745" cy="707824"/>
            <a:chOff x="4660033" y="842724"/>
            <a:chExt cx="1723745" cy="707824"/>
          </a:xfrm>
        </p:grpSpPr>
        <p:sp>
          <p:nvSpPr>
            <p:cNvPr id="712" name="Google Shape;712;p39">
              <a:extLst>
                <a:ext uri="{FF2B5EF4-FFF2-40B4-BE49-F238E27FC236}">
                  <a16:creationId xmlns:a16="http://schemas.microsoft.com/office/drawing/2014/main" id="{566FCEF0-DAAD-AC72-8518-80FC4D655047}"/>
                </a:ext>
              </a:extLst>
            </p:cNvPr>
            <p:cNvSpPr/>
            <p:nvPr/>
          </p:nvSpPr>
          <p:spPr>
            <a:xfrm>
              <a:off x="4660033" y="842724"/>
              <a:ext cx="1723745" cy="707824"/>
            </a:xfrm>
            <a:prstGeom prst="chevron">
              <a:avLst>
                <a:gd name="adj" fmla="val 50000"/>
              </a:avLst>
            </a:prstGeom>
            <a:solidFill>
              <a:srgbClr val="99B95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713" name="Google Shape;713;p39">
              <a:extLst>
                <a:ext uri="{FF2B5EF4-FFF2-40B4-BE49-F238E27FC236}">
                  <a16:creationId xmlns:a16="http://schemas.microsoft.com/office/drawing/2014/main" id="{615A87BB-0FAA-65D2-95B0-3473BF3A8869}"/>
                </a:ext>
              </a:extLst>
            </p:cNvPr>
            <p:cNvSpPr/>
            <p:nvPr/>
          </p:nvSpPr>
          <p:spPr>
            <a:xfrm>
              <a:off x="5013945" y="842724"/>
              <a:ext cx="1015921" cy="707824"/>
            </a:xfrm>
            <a:prstGeom prst="rect">
              <a:avLst/>
            </a:prstGeom>
            <a:noFill/>
            <a:ln>
              <a:noFill/>
            </a:ln>
          </p:spPr>
          <p:txBody>
            <a:bodyPr spcFirstLastPara="1" wrap="square" lIns="56000" tIns="18650" rIns="18650" bIns="18650" anchor="ctr" anchorCtr="0">
              <a:noAutofit/>
            </a:bodyPr>
            <a:lstStyle/>
            <a:p>
              <a:pPr algn="ctr">
                <a:lnSpc>
                  <a:spcPct val="90000"/>
                </a:lnSpc>
              </a:pPr>
              <a:r>
                <a:rPr lang="en-US" sz="1400" b="1">
                  <a:solidFill>
                    <a:schemeClr val="lt1"/>
                  </a:solidFill>
                  <a:latin typeface="Calibri"/>
                  <a:ea typeface="Calibri"/>
                  <a:cs typeface="Calibri"/>
                  <a:sym typeface="Calibri"/>
                </a:rPr>
                <a:t>RELEASE</a:t>
              </a:r>
              <a:endParaRPr sz="1400" b="1">
                <a:solidFill>
                  <a:schemeClr val="lt1"/>
                </a:solidFill>
                <a:latin typeface="Calibri"/>
                <a:ea typeface="Calibri"/>
                <a:cs typeface="Calibri"/>
                <a:sym typeface="Calibri"/>
              </a:endParaRPr>
            </a:p>
          </p:txBody>
        </p:sp>
      </p:grpSp>
      <p:grpSp>
        <p:nvGrpSpPr>
          <p:cNvPr id="714" name="Google Shape;714;p39">
            <a:extLst>
              <a:ext uri="{FF2B5EF4-FFF2-40B4-BE49-F238E27FC236}">
                <a16:creationId xmlns:a16="http://schemas.microsoft.com/office/drawing/2014/main" id="{A5F62C20-4572-C0E2-A093-DB4A9866044C}"/>
              </a:ext>
            </a:extLst>
          </p:cNvPr>
          <p:cNvGrpSpPr/>
          <p:nvPr/>
        </p:nvGrpSpPr>
        <p:grpSpPr>
          <a:xfrm>
            <a:off x="6641235" y="4961467"/>
            <a:ext cx="1723745" cy="707824"/>
            <a:chOff x="4660033" y="842724"/>
            <a:chExt cx="1723745" cy="707824"/>
          </a:xfrm>
        </p:grpSpPr>
        <p:sp>
          <p:nvSpPr>
            <p:cNvPr id="715" name="Google Shape;715;p39">
              <a:extLst>
                <a:ext uri="{FF2B5EF4-FFF2-40B4-BE49-F238E27FC236}">
                  <a16:creationId xmlns:a16="http://schemas.microsoft.com/office/drawing/2014/main" id="{D7C9A7E7-46E3-26C2-AF8E-1191568F12EC}"/>
                </a:ext>
              </a:extLst>
            </p:cNvPr>
            <p:cNvSpPr/>
            <p:nvPr/>
          </p:nvSpPr>
          <p:spPr>
            <a:xfrm>
              <a:off x="4660033" y="842724"/>
              <a:ext cx="1723745" cy="707824"/>
            </a:xfrm>
            <a:prstGeom prst="chevron">
              <a:avLst>
                <a:gd name="adj" fmla="val 50000"/>
              </a:avLst>
            </a:prstGeom>
            <a:solidFill>
              <a:srgbClr val="99B958"/>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716" name="Google Shape;716;p39">
              <a:extLst>
                <a:ext uri="{FF2B5EF4-FFF2-40B4-BE49-F238E27FC236}">
                  <a16:creationId xmlns:a16="http://schemas.microsoft.com/office/drawing/2014/main" id="{E370A3AF-E46B-9B67-7AD1-7CF179E3FCAE}"/>
                </a:ext>
              </a:extLst>
            </p:cNvPr>
            <p:cNvSpPr/>
            <p:nvPr/>
          </p:nvSpPr>
          <p:spPr>
            <a:xfrm>
              <a:off x="5013945" y="842724"/>
              <a:ext cx="1015921" cy="707824"/>
            </a:xfrm>
            <a:prstGeom prst="rect">
              <a:avLst/>
            </a:prstGeom>
            <a:noFill/>
            <a:ln>
              <a:noFill/>
            </a:ln>
          </p:spPr>
          <p:txBody>
            <a:bodyPr spcFirstLastPara="1" wrap="square" lIns="56000" tIns="18650" rIns="18650" bIns="18650" anchor="ctr" anchorCtr="0">
              <a:noAutofit/>
            </a:bodyPr>
            <a:lstStyle/>
            <a:p>
              <a:pPr algn="ctr">
                <a:lnSpc>
                  <a:spcPct val="90000"/>
                </a:lnSpc>
              </a:pPr>
              <a:r>
                <a:rPr lang="en-US" sz="1400" b="1">
                  <a:solidFill>
                    <a:schemeClr val="lt1"/>
                  </a:solidFill>
                  <a:latin typeface="Calibri"/>
                  <a:ea typeface="Calibri"/>
                  <a:cs typeface="Calibri"/>
                  <a:sym typeface="Calibri"/>
                </a:rPr>
                <a:t>RELEASE</a:t>
              </a:r>
              <a:endParaRPr sz="1400" b="1">
                <a:solidFill>
                  <a:schemeClr val="lt1"/>
                </a:solidFill>
                <a:latin typeface="Calibri"/>
                <a:ea typeface="Calibri"/>
                <a:cs typeface="Calibri"/>
                <a:sym typeface="Calibri"/>
              </a:endParaRPr>
            </a:p>
          </p:txBody>
        </p:sp>
      </p:grpSp>
      <p:cxnSp>
        <p:nvCxnSpPr>
          <p:cNvPr id="717" name="Google Shape;717;p39">
            <a:extLst>
              <a:ext uri="{FF2B5EF4-FFF2-40B4-BE49-F238E27FC236}">
                <a16:creationId xmlns:a16="http://schemas.microsoft.com/office/drawing/2014/main" id="{036A61DA-EF70-2C20-3B61-FBC4A54B9D16}"/>
              </a:ext>
            </a:extLst>
          </p:cNvPr>
          <p:cNvCxnSpPr>
            <a:stCxn id="694" idx="6"/>
          </p:cNvCxnSpPr>
          <p:nvPr/>
        </p:nvCxnSpPr>
        <p:spPr>
          <a:xfrm rot="10800000" flipH="1">
            <a:off x="5367868" y="3617668"/>
            <a:ext cx="1273500" cy="759600"/>
          </a:xfrm>
          <a:prstGeom prst="curvedConnector3">
            <a:avLst>
              <a:gd name="adj1" fmla="val 50000"/>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cxnSp>
        <p:nvCxnSpPr>
          <p:cNvPr id="718" name="Google Shape;718;p39">
            <a:extLst>
              <a:ext uri="{FF2B5EF4-FFF2-40B4-BE49-F238E27FC236}">
                <a16:creationId xmlns:a16="http://schemas.microsoft.com/office/drawing/2014/main" id="{F2EF5B5C-2912-DE66-40FF-64476A8C5921}"/>
              </a:ext>
            </a:extLst>
          </p:cNvPr>
          <p:cNvCxnSpPr>
            <a:stCxn id="696" idx="6"/>
          </p:cNvCxnSpPr>
          <p:nvPr/>
        </p:nvCxnSpPr>
        <p:spPr>
          <a:xfrm>
            <a:off x="5012266" y="5376333"/>
            <a:ext cx="1761000" cy="293100"/>
          </a:xfrm>
          <a:prstGeom prst="curvedConnector3">
            <a:avLst>
              <a:gd name="adj1" fmla="val 50002"/>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cxnSp>
        <p:nvCxnSpPr>
          <p:cNvPr id="719" name="Google Shape;719;p39">
            <a:extLst>
              <a:ext uri="{FF2B5EF4-FFF2-40B4-BE49-F238E27FC236}">
                <a16:creationId xmlns:a16="http://schemas.microsoft.com/office/drawing/2014/main" id="{335E5C90-3701-A3C3-9B55-470F2FD3FBB5}"/>
              </a:ext>
            </a:extLst>
          </p:cNvPr>
          <p:cNvCxnSpPr>
            <a:stCxn id="696" idx="7"/>
          </p:cNvCxnSpPr>
          <p:nvPr/>
        </p:nvCxnSpPr>
        <p:spPr>
          <a:xfrm rot="-5400000">
            <a:off x="5454220" y="4063659"/>
            <a:ext cx="695400" cy="1678500"/>
          </a:xfrm>
          <a:prstGeom prst="curvedConnector2">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grpSp>
        <p:nvGrpSpPr>
          <p:cNvPr id="720" name="Google Shape;720;p39">
            <a:extLst>
              <a:ext uri="{FF2B5EF4-FFF2-40B4-BE49-F238E27FC236}">
                <a16:creationId xmlns:a16="http://schemas.microsoft.com/office/drawing/2014/main" id="{91904022-095D-598D-A5DE-97492B03151B}"/>
              </a:ext>
            </a:extLst>
          </p:cNvPr>
          <p:cNvGrpSpPr/>
          <p:nvPr/>
        </p:nvGrpSpPr>
        <p:grpSpPr>
          <a:xfrm>
            <a:off x="8340747" y="4961468"/>
            <a:ext cx="1704090" cy="712065"/>
            <a:chOff x="18543" y="165203"/>
            <a:chExt cx="1704090" cy="712065"/>
          </a:xfrm>
        </p:grpSpPr>
        <p:sp>
          <p:nvSpPr>
            <p:cNvPr id="721" name="Google Shape;721;p39">
              <a:extLst>
                <a:ext uri="{FF2B5EF4-FFF2-40B4-BE49-F238E27FC236}">
                  <a16:creationId xmlns:a16="http://schemas.microsoft.com/office/drawing/2014/main" id="{C0085437-5160-3255-B12D-75D1CF25B552}"/>
                </a:ext>
              </a:extLst>
            </p:cNvPr>
            <p:cNvSpPr/>
            <p:nvPr/>
          </p:nvSpPr>
          <p:spPr>
            <a:xfrm>
              <a:off x="18543" y="165203"/>
              <a:ext cx="1704090" cy="712065"/>
            </a:xfrm>
            <a:prstGeom prst="chevron">
              <a:avLst>
                <a:gd name="adj" fmla="val 5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722" name="Google Shape;722;p39">
              <a:extLst>
                <a:ext uri="{FF2B5EF4-FFF2-40B4-BE49-F238E27FC236}">
                  <a16:creationId xmlns:a16="http://schemas.microsoft.com/office/drawing/2014/main" id="{F142F156-A28F-F739-43E6-8564119C7831}"/>
                </a:ext>
              </a:extLst>
            </p:cNvPr>
            <p:cNvSpPr/>
            <p:nvPr/>
          </p:nvSpPr>
          <p:spPr>
            <a:xfrm>
              <a:off x="374576" y="165203"/>
              <a:ext cx="992025" cy="712065"/>
            </a:xfrm>
            <a:prstGeom prst="rect">
              <a:avLst/>
            </a:prstGeom>
            <a:noFill/>
            <a:ln>
              <a:noFill/>
            </a:ln>
          </p:spPr>
          <p:txBody>
            <a:bodyPr spcFirstLastPara="1" wrap="square" lIns="18650" tIns="18650" rIns="56000" bIns="18650" anchor="ctr" anchorCtr="0">
              <a:noAutofit/>
            </a:bodyPr>
            <a:lstStyle/>
            <a:p>
              <a:pPr algn="ctr">
                <a:lnSpc>
                  <a:spcPct val="90000"/>
                </a:lnSpc>
              </a:pPr>
              <a:r>
                <a:rPr lang="en-US" sz="1400" b="1">
                  <a:solidFill>
                    <a:schemeClr val="lt1"/>
                  </a:solidFill>
                  <a:latin typeface="Calibri"/>
                  <a:ea typeface="Calibri"/>
                  <a:cs typeface="Calibri"/>
                  <a:sym typeface="Calibri"/>
                </a:rPr>
                <a:t>END</a:t>
              </a:r>
              <a:endParaRPr/>
            </a:p>
            <a:p>
              <a:pPr algn="ctr">
                <a:lnSpc>
                  <a:spcPct val="90000"/>
                </a:lnSpc>
                <a:spcBef>
                  <a:spcPts val="490"/>
                </a:spcBef>
              </a:pPr>
              <a:r>
                <a:rPr lang="en-US" sz="1400" b="1">
                  <a:solidFill>
                    <a:schemeClr val="lt1"/>
                  </a:solidFill>
                  <a:latin typeface="Calibri"/>
                  <a:ea typeface="Calibri"/>
                  <a:cs typeface="Calibri"/>
                  <a:sym typeface="Calibri"/>
                </a:rPr>
                <a:t>CONSUMER</a:t>
              </a:r>
              <a:endParaRPr sz="1400" b="1">
                <a:solidFill>
                  <a:schemeClr val="lt1"/>
                </a:solidFill>
                <a:latin typeface="Calibri"/>
                <a:ea typeface="Calibri"/>
                <a:cs typeface="Calibri"/>
                <a:sym typeface="Calibri"/>
              </a:endParaRPr>
            </a:p>
          </p:txBody>
        </p:sp>
      </p:grpSp>
      <p:cxnSp>
        <p:nvCxnSpPr>
          <p:cNvPr id="723" name="Google Shape;723;p39">
            <a:extLst>
              <a:ext uri="{FF2B5EF4-FFF2-40B4-BE49-F238E27FC236}">
                <a16:creationId xmlns:a16="http://schemas.microsoft.com/office/drawing/2014/main" id="{18EFD655-B683-F16A-5F2E-F4178C307E67}"/>
              </a:ext>
            </a:extLst>
          </p:cNvPr>
          <p:cNvCxnSpPr/>
          <p:nvPr/>
        </p:nvCxnSpPr>
        <p:spPr>
          <a:xfrm rot="10800000" flipH="1">
            <a:off x="5520268" y="2797679"/>
            <a:ext cx="1121100" cy="759600"/>
          </a:xfrm>
          <a:prstGeom prst="curvedConnector3">
            <a:avLst>
              <a:gd name="adj1" fmla="val 50000"/>
            </a:avLst>
          </a:prstGeom>
          <a:noFill/>
          <a:ln w="25400" cap="flat" cmpd="sng">
            <a:solidFill>
              <a:schemeClr val="accent1"/>
            </a:solidFill>
            <a:prstDash val="dash"/>
            <a:round/>
            <a:headEnd type="none" w="sm" len="sm"/>
            <a:tailEnd type="stealth" w="med" len="med"/>
          </a:ln>
          <a:effectLst>
            <a:outerShdw blurRad="40000" dist="20000" dir="5400000" rotWithShape="0">
              <a:srgbClr val="000000">
                <a:alpha val="37647"/>
              </a:srgbClr>
            </a:outerShdw>
          </a:effectLst>
        </p:spPr>
      </p:cxnSp>
      <p:sp>
        <p:nvSpPr>
          <p:cNvPr id="724" name="Google Shape;724;p39">
            <a:extLst>
              <a:ext uri="{FF2B5EF4-FFF2-40B4-BE49-F238E27FC236}">
                <a16:creationId xmlns:a16="http://schemas.microsoft.com/office/drawing/2014/main" id="{77C11496-97E3-FCF7-A3D3-4C691803ABEC}"/>
              </a:ext>
            </a:extLst>
          </p:cNvPr>
          <p:cNvSpPr txBox="1"/>
          <p:nvPr/>
        </p:nvSpPr>
        <p:spPr>
          <a:xfrm>
            <a:off x="1981200" y="239189"/>
            <a:ext cx="8229600" cy="1143000"/>
          </a:xfrm>
          <a:prstGeom prst="rect">
            <a:avLst/>
          </a:prstGeom>
          <a:noFill/>
          <a:ln>
            <a:noFill/>
          </a:ln>
        </p:spPr>
        <p:txBody>
          <a:bodyPr spcFirstLastPara="1" wrap="square" lIns="91425" tIns="45700" rIns="91425" bIns="45700" anchor="ctr" anchorCtr="0">
            <a:normAutofit fontScale="90000" lnSpcReduction="10000"/>
          </a:bodyPr>
          <a:lstStyle/>
          <a:p>
            <a:pPr algn="ctr">
              <a:buClr>
                <a:schemeClr val="dk1"/>
              </a:buClr>
              <a:buSzPct val="100000"/>
            </a:pPr>
            <a:r>
              <a:rPr lang="en-US" sz="4000" dirty="0">
                <a:solidFill>
                  <a:schemeClr val="dk1"/>
                </a:solidFill>
                <a:latin typeface="Calibri"/>
                <a:ea typeface="Calibri"/>
                <a:cs typeface="Calibri"/>
                <a:sym typeface="Calibri"/>
              </a:rPr>
              <a:t>Open Product Development: Distributed Value Chain</a:t>
            </a:r>
            <a:endParaRPr sz="4000" dirty="0">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73DEA4FD-B728-275E-0A88-75379DC94273}"/>
              </a:ext>
            </a:extLst>
          </p:cNvPr>
          <p:cNvSpPr txBox="1"/>
          <p:nvPr/>
        </p:nvSpPr>
        <p:spPr>
          <a:xfrm>
            <a:off x="3396589" y="5708510"/>
            <a:ext cx="1930205" cy="400110"/>
          </a:xfrm>
          <a:prstGeom prst="rect">
            <a:avLst/>
          </a:prstGeom>
          <a:noFill/>
        </p:spPr>
        <p:txBody>
          <a:bodyPr wrap="square" rtlCol="0">
            <a:spAutoFit/>
          </a:bodyPr>
          <a:lstStyle/>
          <a:p>
            <a:r>
              <a:rPr lang="en-GB" sz="2000" dirty="0"/>
              <a:t>Users</a:t>
            </a:r>
          </a:p>
        </p:txBody>
      </p:sp>
    </p:spTree>
    <p:extLst>
      <p:ext uri="{BB962C8B-B14F-4D97-AF65-F5344CB8AC3E}">
        <p14:creationId xmlns:p14="http://schemas.microsoft.com/office/powerpoint/2010/main" val="42235997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28">
          <a:extLst>
            <a:ext uri="{FF2B5EF4-FFF2-40B4-BE49-F238E27FC236}">
              <a16:creationId xmlns:a16="http://schemas.microsoft.com/office/drawing/2014/main" id="{0EC0EC80-C0F4-0FBA-7DAB-A35681DF9381}"/>
            </a:ext>
          </a:extLst>
        </p:cNvPr>
        <p:cNvGrpSpPr/>
        <p:nvPr/>
      </p:nvGrpSpPr>
      <p:grpSpPr>
        <a:xfrm>
          <a:off x="0" y="0"/>
          <a:ext cx="0" cy="0"/>
          <a:chOff x="0" y="0"/>
          <a:chExt cx="0" cy="0"/>
        </a:xfrm>
      </p:grpSpPr>
      <p:sp>
        <p:nvSpPr>
          <p:cNvPr id="729" name="Google Shape;729;p40">
            <a:extLst>
              <a:ext uri="{FF2B5EF4-FFF2-40B4-BE49-F238E27FC236}">
                <a16:creationId xmlns:a16="http://schemas.microsoft.com/office/drawing/2014/main" id="{0146D531-0CA6-B85C-1789-1BDB60AE5853}"/>
              </a:ext>
            </a:extLst>
          </p:cNvPr>
          <p:cNvSpPr txBox="1">
            <a:spLocks noGrp="1"/>
          </p:cNvSpPr>
          <p:nvPr>
            <p:ph type="title"/>
          </p:nvPr>
        </p:nvSpPr>
        <p:spPr>
          <a:xfrm>
            <a:off x="1981200" y="122238"/>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spcBef>
                <a:spcPts val="0"/>
              </a:spcBef>
              <a:buClr>
                <a:srgbClr val="7030A0"/>
              </a:buClr>
              <a:buSzPct val="100000"/>
            </a:pPr>
            <a:r>
              <a:rPr lang="en-US" b="1" i="1" dirty="0">
                <a:solidFill>
                  <a:srgbClr val="7030A0"/>
                </a:solidFill>
                <a:latin typeface="Avenir"/>
                <a:ea typeface="Avenir"/>
                <a:cs typeface="Avenir"/>
                <a:sym typeface="Avenir"/>
              </a:rPr>
              <a:t>Case example: </a:t>
            </a:r>
            <a:r>
              <a:rPr lang="en-US" b="1" i="1" dirty="0" err="1">
                <a:solidFill>
                  <a:srgbClr val="7030A0"/>
                </a:solidFill>
                <a:latin typeface="Avenir"/>
                <a:ea typeface="Avenir"/>
                <a:cs typeface="Avenir"/>
                <a:sym typeface="Avenir"/>
              </a:rPr>
              <a:t>Kerbal</a:t>
            </a:r>
            <a:r>
              <a:rPr lang="en-US" b="1" i="1" dirty="0">
                <a:solidFill>
                  <a:srgbClr val="7030A0"/>
                </a:solidFill>
                <a:latin typeface="Avenir"/>
                <a:ea typeface="Avenir"/>
                <a:cs typeface="Avenir"/>
                <a:sym typeface="Avenir"/>
              </a:rPr>
              <a:t> Space Program</a:t>
            </a:r>
            <a:endParaRPr b="1" i="1" dirty="0">
              <a:solidFill>
                <a:srgbClr val="7030A0"/>
              </a:solidFill>
              <a:latin typeface="Avenir"/>
              <a:ea typeface="Avenir"/>
              <a:cs typeface="Avenir"/>
              <a:sym typeface="Avenir"/>
            </a:endParaRPr>
          </a:p>
        </p:txBody>
      </p:sp>
      <p:sp>
        <p:nvSpPr>
          <p:cNvPr id="730" name="Google Shape;730;p40">
            <a:extLst>
              <a:ext uri="{FF2B5EF4-FFF2-40B4-BE49-F238E27FC236}">
                <a16:creationId xmlns:a16="http://schemas.microsoft.com/office/drawing/2014/main" id="{71CCBBDC-5CB9-8B14-29DA-685417D2654D}"/>
              </a:ext>
            </a:extLst>
          </p:cNvPr>
          <p:cNvSpPr txBox="1">
            <a:spLocks noGrp="1"/>
          </p:cNvSpPr>
          <p:nvPr>
            <p:ph type="body" idx="1"/>
          </p:nvPr>
        </p:nvSpPr>
        <p:spPr>
          <a:xfrm>
            <a:off x="1981201" y="1905001"/>
            <a:ext cx="4504267" cy="4525963"/>
          </a:xfrm>
          <a:prstGeom prst="rect">
            <a:avLst/>
          </a:prstGeom>
          <a:noFill/>
          <a:ln>
            <a:noFill/>
          </a:ln>
        </p:spPr>
        <p:txBody>
          <a:bodyPr spcFirstLastPara="1" vert="horz" wrap="square" lIns="91425" tIns="45700" rIns="91425" bIns="45700" rtlCol="0" anchor="t" anchorCtr="0">
            <a:normAutofit/>
          </a:bodyPr>
          <a:lstStyle/>
          <a:p>
            <a:pPr marL="342900" indent="-342900">
              <a:spcBef>
                <a:spcPts val="0"/>
              </a:spcBef>
              <a:spcAft>
                <a:spcPts val="0"/>
              </a:spcAft>
              <a:buClr>
                <a:schemeClr val="dk1"/>
              </a:buClr>
              <a:buSzPts val="2400"/>
              <a:buChar char="•"/>
            </a:pPr>
            <a:r>
              <a:rPr lang="en-US" sz="2400" dirty="0"/>
              <a:t>Initiated in 2010 by Felipe </a:t>
            </a:r>
            <a:r>
              <a:rPr lang="en-US" sz="2400" dirty="0" err="1"/>
              <a:t>Falanghe</a:t>
            </a:r>
            <a:r>
              <a:rPr lang="en-US" sz="2400" dirty="0"/>
              <a:t> at Mexico City ad agency;</a:t>
            </a:r>
            <a:endParaRPr dirty="0"/>
          </a:p>
          <a:p>
            <a:pPr marL="342900" indent="-342900">
              <a:spcBef>
                <a:spcPts val="1680"/>
              </a:spcBef>
              <a:spcAft>
                <a:spcPts val="0"/>
              </a:spcAft>
              <a:buClr>
                <a:schemeClr val="dk1"/>
              </a:buClr>
              <a:buSzPts val="2400"/>
              <a:buChar char="•"/>
            </a:pPr>
            <a:r>
              <a:rPr lang="en-US" sz="2400" dirty="0"/>
              <a:t>V0.73 June 2011  V0.90 beta December 2014;</a:t>
            </a:r>
            <a:endParaRPr dirty="0"/>
          </a:p>
          <a:p>
            <a:pPr marL="342900" indent="-342900">
              <a:spcBef>
                <a:spcPts val="1680"/>
              </a:spcBef>
              <a:spcAft>
                <a:spcPts val="0"/>
              </a:spcAft>
              <a:buClr>
                <a:schemeClr val="dk1"/>
              </a:buClr>
              <a:buSzPts val="2400"/>
              <a:buChar char="•"/>
            </a:pPr>
            <a:r>
              <a:rPr lang="en-US" sz="2400" dirty="0"/>
              <a:t>Left Steam Early Access 27</a:t>
            </a:r>
            <a:r>
              <a:rPr lang="en-US" sz="2400" baseline="30000" dirty="0"/>
              <a:t>th</a:t>
            </a:r>
            <a:r>
              <a:rPr lang="en-US" sz="2400" dirty="0"/>
              <a:t> April 2015;</a:t>
            </a:r>
            <a:endParaRPr dirty="0"/>
          </a:p>
          <a:p>
            <a:pPr marL="342900" indent="-342900">
              <a:spcBef>
                <a:spcPts val="1680"/>
              </a:spcBef>
              <a:spcAft>
                <a:spcPts val="0"/>
              </a:spcAft>
              <a:buClr>
                <a:schemeClr val="dk1"/>
              </a:buClr>
              <a:buSzPts val="2400"/>
              <a:buChar char="•"/>
            </a:pPr>
            <a:r>
              <a:rPr lang="en-US" sz="2400" dirty="0"/>
              <a:t>Sold 1,149,000 copies before retail release!</a:t>
            </a:r>
            <a:endParaRPr sz="2400" dirty="0"/>
          </a:p>
        </p:txBody>
      </p:sp>
      <p:pic>
        <p:nvPicPr>
          <p:cNvPr id="731" name="Google Shape;731;p40">
            <a:extLst>
              <a:ext uri="{FF2B5EF4-FFF2-40B4-BE49-F238E27FC236}">
                <a16:creationId xmlns:a16="http://schemas.microsoft.com/office/drawing/2014/main" id="{2E757A70-3CE4-37CA-7608-4163BA0B02C3}"/>
              </a:ext>
            </a:extLst>
          </p:cNvPr>
          <p:cNvPicPr preferRelativeResize="0"/>
          <p:nvPr/>
        </p:nvPicPr>
        <p:blipFill rotWithShape="1">
          <a:blip r:embed="rId3">
            <a:alphaModFix/>
          </a:blip>
          <a:srcRect/>
          <a:stretch/>
        </p:blipFill>
        <p:spPr>
          <a:xfrm>
            <a:off x="7221148" y="1877235"/>
            <a:ext cx="2971428" cy="4025716"/>
          </a:xfrm>
          <a:prstGeom prst="rect">
            <a:avLst/>
          </a:prstGeom>
          <a:noFill/>
          <a:ln>
            <a:noFill/>
          </a:ln>
        </p:spPr>
      </p:pic>
    </p:spTree>
    <p:extLst>
      <p:ext uri="{BB962C8B-B14F-4D97-AF65-F5344CB8AC3E}">
        <p14:creationId xmlns:p14="http://schemas.microsoft.com/office/powerpoint/2010/main" val="39473121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35">
          <a:extLst>
            <a:ext uri="{FF2B5EF4-FFF2-40B4-BE49-F238E27FC236}">
              <a16:creationId xmlns:a16="http://schemas.microsoft.com/office/drawing/2014/main" id="{30A87D2E-B774-4C57-2DBC-A9BB00583630}"/>
            </a:ext>
          </a:extLst>
        </p:cNvPr>
        <p:cNvGrpSpPr/>
        <p:nvPr/>
      </p:nvGrpSpPr>
      <p:grpSpPr>
        <a:xfrm>
          <a:off x="0" y="0"/>
          <a:ext cx="0" cy="0"/>
          <a:chOff x="0" y="0"/>
          <a:chExt cx="0" cy="0"/>
        </a:xfrm>
      </p:grpSpPr>
      <p:pic>
        <p:nvPicPr>
          <p:cNvPr id="736" name="Google Shape;736;p41" descr="Navball_spaceport_screenshot.png">
            <a:extLst>
              <a:ext uri="{FF2B5EF4-FFF2-40B4-BE49-F238E27FC236}">
                <a16:creationId xmlns:a16="http://schemas.microsoft.com/office/drawing/2014/main" id="{75F454DA-429F-606F-EBCF-5444AA7CE07D}"/>
              </a:ext>
            </a:extLst>
          </p:cNvPr>
          <p:cNvPicPr preferRelativeResize="0"/>
          <p:nvPr/>
        </p:nvPicPr>
        <p:blipFill rotWithShape="1">
          <a:blip r:embed="rId3">
            <a:alphaModFix/>
          </a:blip>
          <a:srcRect/>
          <a:stretch/>
        </p:blipFill>
        <p:spPr>
          <a:xfrm>
            <a:off x="2043290" y="1"/>
            <a:ext cx="8150577" cy="6112933"/>
          </a:xfrm>
          <a:prstGeom prst="rect">
            <a:avLst/>
          </a:prstGeom>
          <a:noFill/>
          <a:ln>
            <a:noFill/>
          </a:ln>
        </p:spPr>
      </p:pic>
    </p:spTree>
    <p:extLst>
      <p:ext uri="{BB962C8B-B14F-4D97-AF65-F5344CB8AC3E}">
        <p14:creationId xmlns:p14="http://schemas.microsoft.com/office/powerpoint/2010/main" val="1980598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40">
          <a:extLst>
            <a:ext uri="{FF2B5EF4-FFF2-40B4-BE49-F238E27FC236}">
              <a16:creationId xmlns:a16="http://schemas.microsoft.com/office/drawing/2014/main" id="{03BE050F-86DF-BE45-9D32-2E5DF0704B45}"/>
            </a:ext>
          </a:extLst>
        </p:cNvPr>
        <p:cNvGrpSpPr/>
        <p:nvPr/>
      </p:nvGrpSpPr>
      <p:grpSpPr>
        <a:xfrm>
          <a:off x="0" y="0"/>
          <a:ext cx="0" cy="0"/>
          <a:chOff x="0" y="0"/>
          <a:chExt cx="0" cy="0"/>
        </a:xfrm>
      </p:grpSpPr>
      <p:pic>
        <p:nvPicPr>
          <p:cNvPr id="741" name="Google Shape;741;p42" descr="Screen Shot 2016-06-01 at 18.35.46.png">
            <a:extLst>
              <a:ext uri="{FF2B5EF4-FFF2-40B4-BE49-F238E27FC236}">
                <a16:creationId xmlns:a16="http://schemas.microsoft.com/office/drawing/2014/main" id="{9FC10298-EFEF-F655-2785-9959E2E875E4}"/>
              </a:ext>
            </a:extLst>
          </p:cNvPr>
          <p:cNvPicPr preferRelativeResize="0">
            <a:picLocks noGrp="1"/>
          </p:cNvPicPr>
          <p:nvPr>
            <p:ph idx="4294967295"/>
          </p:nvPr>
        </p:nvPicPr>
        <p:blipFill rotWithShape="1">
          <a:blip r:embed="rId3">
            <a:alphaModFix/>
          </a:blip>
          <a:srcRect/>
          <a:stretch/>
        </p:blipFill>
        <p:spPr>
          <a:xfrm>
            <a:off x="2153920" y="304641"/>
            <a:ext cx="7924800" cy="5761038"/>
          </a:xfrm>
          <a:prstGeom prst="rect">
            <a:avLst/>
          </a:prstGeom>
          <a:noFill/>
          <a:ln>
            <a:noFill/>
          </a:ln>
        </p:spPr>
      </p:pic>
      <p:cxnSp>
        <p:nvCxnSpPr>
          <p:cNvPr id="742" name="Google Shape;742;p42">
            <a:extLst>
              <a:ext uri="{FF2B5EF4-FFF2-40B4-BE49-F238E27FC236}">
                <a16:creationId xmlns:a16="http://schemas.microsoft.com/office/drawing/2014/main" id="{ED89FB8F-A52A-D210-87F8-FB57972A1899}"/>
              </a:ext>
            </a:extLst>
          </p:cNvPr>
          <p:cNvCxnSpPr/>
          <p:nvPr/>
        </p:nvCxnSpPr>
        <p:spPr>
          <a:xfrm rot="10800000">
            <a:off x="2607733" y="3132667"/>
            <a:ext cx="4521200" cy="0"/>
          </a:xfrm>
          <a:prstGeom prst="straightConnector1">
            <a:avLst/>
          </a:prstGeom>
          <a:noFill/>
          <a:ln w="25400" cap="flat" cmpd="sng">
            <a:solidFill>
              <a:srgbClr val="FFFF00"/>
            </a:solidFill>
            <a:prstDash val="solid"/>
            <a:round/>
            <a:headEnd type="none" w="sm" len="sm"/>
            <a:tailEnd type="none" w="sm" len="sm"/>
          </a:ln>
          <a:effectLst>
            <a:outerShdw blurRad="40000" dist="20000" dir="5400000" rotWithShape="0">
              <a:srgbClr val="000000">
                <a:alpha val="37647"/>
              </a:srgbClr>
            </a:outerShdw>
          </a:effectLst>
        </p:spPr>
      </p:cxnSp>
      <p:cxnSp>
        <p:nvCxnSpPr>
          <p:cNvPr id="743" name="Google Shape;743;p42">
            <a:extLst>
              <a:ext uri="{FF2B5EF4-FFF2-40B4-BE49-F238E27FC236}">
                <a16:creationId xmlns:a16="http://schemas.microsoft.com/office/drawing/2014/main" id="{3BFEC3AC-1216-3FFA-7B48-E503D9DACF5E}"/>
              </a:ext>
            </a:extLst>
          </p:cNvPr>
          <p:cNvCxnSpPr/>
          <p:nvPr/>
        </p:nvCxnSpPr>
        <p:spPr>
          <a:xfrm rot="10800000">
            <a:off x="2607733" y="3505200"/>
            <a:ext cx="2235200" cy="0"/>
          </a:xfrm>
          <a:prstGeom prst="straightConnector1">
            <a:avLst/>
          </a:prstGeom>
          <a:noFill/>
          <a:ln w="25400" cap="flat" cmpd="sng">
            <a:solidFill>
              <a:srgbClr val="FFFF00"/>
            </a:solidFill>
            <a:prstDash val="solid"/>
            <a:round/>
            <a:headEnd type="none" w="sm" len="sm"/>
            <a:tailEnd type="none" w="sm" len="sm"/>
          </a:ln>
          <a:effectLst>
            <a:outerShdw blurRad="40000" dist="20000" dir="5400000" rotWithShape="0">
              <a:srgbClr val="000000">
                <a:alpha val="37647"/>
              </a:srgbClr>
            </a:outerShdw>
          </a:effectLst>
        </p:spPr>
      </p:cxnSp>
    </p:spTree>
    <p:extLst>
      <p:ext uri="{BB962C8B-B14F-4D97-AF65-F5344CB8AC3E}">
        <p14:creationId xmlns:p14="http://schemas.microsoft.com/office/powerpoint/2010/main" val="19771120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0"/>
          <p:cNvSpPr/>
          <p:nvPr/>
        </p:nvSpPr>
        <p:spPr>
          <a:xfrm rot="10800000">
            <a:off x="3424238" y="5026845"/>
            <a:ext cx="5443538" cy="1222828"/>
          </a:xfrm>
          <a:custGeom>
            <a:avLst/>
            <a:gdLst/>
            <a:ahLst/>
            <a:cxnLst/>
            <a:rect l="l" t="t" r="r" b="b"/>
            <a:pathLst>
              <a:path w="6554326" h="4786313" extrusionOk="0">
                <a:moveTo>
                  <a:pt x="4265088" y="14288"/>
                </a:moveTo>
                <a:lnTo>
                  <a:pt x="4265088" y="14288"/>
                </a:lnTo>
                <a:cubicBezTo>
                  <a:pt x="3730170" y="73721"/>
                  <a:pt x="4080168" y="40115"/>
                  <a:pt x="2879200" y="14288"/>
                </a:cubicBezTo>
                <a:cubicBezTo>
                  <a:pt x="2854922" y="13766"/>
                  <a:pt x="2831575" y="4763"/>
                  <a:pt x="2807763" y="0"/>
                </a:cubicBezTo>
                <a:cubicBezTo>
                  <a:pt x="2588688" y="4763"/>
                  <a:pt x="2369315" y="1904"/>
                  <a:pt x="2150538" y="14288"/>
                </a:cubicBezTo>
                <a:cubicBezTo>
                  <a:pt x="2080667" y="18243"/>
                  <a:pt x="2050440" y="46076"/>
                  <a:pt x="1993375" y="71438"/>
                </a:cubicBezTo>
                <a:cubicBezTo>
                  <a:pt x="1966188" y="83521"/>
                  <a:pt x="1912072" y="104872"/>
                  <a:pt x="1879075" y="114300"/>
                </a:cubicBezTo>
                <a:cubicBezTo>
                  <a:pt x="1831225" y="127971"/>
                  <a:pt x="1781465" y="134530"/>
                  <a:pt x="1736200" y="157163"/>
                </a:cubicBezTo>
                <a:cubicBezTo>
                  <a:pt x="1717150" y="166688"/>
                  <a:pt x="1698825" y="177828"/>
                  <a:pt x="1679050" y="185738"/>
                </a:cubicBezTo>
                <a:cubicBezTo>
                  <a:pt x="1651084" y="196925"/>
                  <a:pt x="1618387" y="197605"/>
                  <a:pt x="1593325" y="214313"/>
                </a:cubicBezTo>
                <a:cubicBezTo>
                  <a:pt x="1579038" y="223838"/>
                  <a:pt x="1566600" y="237020"/>
                  <a:pt x="1550463" y="242888"/>
                </a:cubicBezTo>
                <a:cubicBezTo>
                  <a:pt x="1513555" y="256309"/>
                  <a:pt x="1436163" y="271463"/>
                  <a:pt x="1436163" y="271463"/>
                </a:cubicBezTo>
                <a:cubicBezTo>
                  <a:pt x="1309815" y="366224"/>
                  <a:pt x="1367044" y="342128"/>
                  <a:pt x="1279000" y="371475"/>
                </a:cubicBezTo>
                <a:cubicBezTo>
                  <a:pt x="1078337" y="572143"/>
                  <a:pt x="1395637" y="245800"/>
                  <a:pt x="1207563" y="471488"/>
                </a:cubicBezTo>
                <a:cubicBezTo>
                  <a:pt x="1173069" y="512881"/>
                  <a:pt x="1129810" y="546196"/>
                  <a:pt x="1093263" y="585788"/>
                </a:cubicBezTo>
                <a:cubicBezTo>
                  <a:pt x="993077" y="694323"/>
                  <a:pt x="1085655" y="627500"/>
                  <a:pt x="964675" y="700088"/>
                </a:cubicBezTo>
                <a:cubicBezTo>
                  <a:pt x="940863" y="728663"/>
                  <a:pt x="917950" y="758012"/>
                  <a:pt x="893238" y="785813"/>
                </a:cubicBezTo>
                <a:cubicBezTo>
                  <a:pt x="844016" y="841187"/>
                  <a:pt x="850148" y="817608"/>
                  <a:pt x="807513" y="885825"/>
                </a:cubicBezTo>
                <a:cubicBezTo>
                  <a:pt x="796225" y="903886"/>
                  <a:pt x="789505" y="924483"/>
                  <a:pt x="778938" y="942975"/>
                </a:cubicBezTo>
                <a:cubicBezTo>
                  <a:pt x="770419" y="957884"/>
                  <a:pt x="758042" y="970479"/>
                  <a:pt x="750363" y="985838"/>
                </a:cubicBezTo>
                <a:cubicBezTo>
                  <a:pt x="743628" y="999308"/>
                  <a:pt x="744057" y="1015929"/>
                  <a:pt x="736075" y="1028700"/>
                </a:cubicBezTo>
                <a:cubicBezTo>
                  <a:pt x="719913" y="1054560"/>
                  <a:pt x="694290" y="1073797"/>
                  <a:pt x="678925" y="1100138"/>
                </a:cubicBezTo>
                <a:cubicBezTo>
                  <a:pt x="660650" y="1131467"/>
                  <a:pt x="651072" y="1167131"/>
                  <a:pt x="636063" y="1200150"/>
                </a:cubicBezTo>
                <a:cubicBezTo>
                  <a:pt x="627250" y="1219539"/>
                  <a:pt x="617013" y="1238250"/>
                  <a:pt x="607488" y="1257300"/>
                </a:cubicBezTo>
                <a:cubicBezTo>
                  <a:pt x="574997" y="1419752"/>
                  <a:pt x="618856" y="1220354"/>
                  <a:pt x="550338" y="1443038"/>
                </a:cubicBezTo>
                <a:cubicBezTo>
                  <a:pt x="539933" y="1476855"/>
                  <a:pt x="528633" y="1569286"/>
                  <a:pt x="521763" y="1600200"/>
                </a:cubicBezTo>
                <a:cubicBezTo>
                  <a:pt x="518496" y="1614902"/>
                  <a:pt x="512238" y="1628775"/>
                  <a:pt x="507475" y="1643063"/>
                </a:cubicBezTo>
                <a:cubicBezTo>
                  <a:pt x="502713" y="1685925"/>
                  <a:pt x="499287" y="1728957"/>
                  <a:pt x="493188" y="1771650"/>
                </a:cubicBezTo>
                <a:cubicBezTo>
                  <a:pt x="484994" y="1829006"/>
                  <a:pt x="471800" y="1885609"/>
                  <a:pt x="464613" y="1943100"/>
                </a:cubicBezTo>
                <a:cubicBezTo>
                  <a:pt x="459850" y="1981200"/>
                  <a:pt x="454811" y="2019266"/>
                  <a:pt x="450325" y="2057400"/>
                </a:cubicBezTo>
                <a:cubicBezTo>
                  <a:pt x="445286" y="2100231"/>
                  <a:pt x="441387" y="2143195"/>
                  <a:pt x="436038" y="2185988"/>
                </a:cubicBezTo>
                <a:cubicBezTo>
                  <a:pt x="431861" y="2219404"/>
                  <a:pt x="428354" y="2252978"/>
                  <a:pt x="421750" y="2286000"/>
                </a:cubicBezTo>
                <a:cubicBezTo>
                  <a:pt x="417627" y="2306613"/>
                  <a:pt x="381937" y="2394202"/>
                  <a:pt x="378888" y="2400300"/>
                </a:cubicBezTo>
                <a:cubicBezTo>
                  <a:pt x="371209" y="2415659"/>
                  <a:pt x="359414" y="2428602"/>
                  <a:pt x="350313" y="2443163"/>
                </a:cubicBezTo>
                <a:cubicBezTo>
                  <a:pt x="335595" y="2466712"/>
                  <a:pt x="323591" y="2492003"/>
                  <a:pt x="307450" y="2514600"/>
                </a:cubicBezTo>
                <a:cubicBezTo>
                  <a:pt x="293389" y="2534285"/>
                  <a:pt x="207045" y="2636731"/>
                  <a:pt x="178863" y="2686050"/>
                </a:cubicBezTo>
                <a:cubicBezTo>
                  <a:pt x="168296" y="2704542"/>
                  <a:pt x="156641" y="2722871"/>
                  <a:pt x="150288" y="2743200"/>
                </a:cubicBezTo>
                <a:cubicBezTo>
                  <a:pt x="132717" y="2799427"/>
                  <a:pt x="121713" y="2857500"/>
                  <a:pt x="107425" y="2914650"/>
                </a:cubicBezTo>
                <a:lnTo>
                  <a:pt x="93138" y="2971800"/>
                </a:lnTo>
                <a:cubicBezTo>
                  <a:pt x="88375" y="2990850"/>
                  <a:pt x="82701" y="3009695"/>
                  <a:pt x="78850" y="3028950"/>
                </a:cubicBezTo>
                <a:cubicBezTo>
                  <a:pt x="74088" y="3052763"/>
                  <a:pt x="69831" y="3076682"/>
                  <a:pt x="64563" y="3100388"/>
                </a:cubicBezTo>
                <a:cubicBezTo>
                  <a:pt x="60303" y="3119557"/>
                  <a:pt x="53788" y="3138218"/>
                  <a:pt x="50275" y="3157538"/>
                </a:cubicBezTo>
                <a:cubicBezTo>
                  <a:pt x="16146" y="3345247"/>
                  <a:pt x="54107" y="3185079"/>
                  <a:pt x="21700" y="3314700"/>
                </a:cubicBezTo>
                <a:cubicBezTo>
                  <a:pt x="-8492" y="3616631"/>
                  <a:pt x="-5949" y="3531389"/>
                  <a:pt x="21700" y="4029075"/>
                </a:cubicBezTo>
                <a:cubicBezTo>
                  <a:pt x="25436" y="4096323"/>
                  <a:pt x="15623" y="4171346"/>
                  <a:pt x="50275" y="4229100"/>
                </a:cubicBezTo>
                <a:cubicBezTo>
                  <a:pt x="52187" y="4232286"/>
                  <a:pt x="108518" y="4328739"/>
                  <a:pt x="121713" y="4343400"/>
                </a:cubicBezTo>
                <a:cubicBezTo>
                  <a:pt x="153252" y="4378444"/>
                  <a:pt x="195573" y="4404185"/>
                  <a:pt x="221725" y="4443413"/>
                </a:cubicBezTo>
                <a:cubicBezTo>
                  <a:pt x="269505" y="4515082"/>
                  <a:pt x="316185" y="4597245"/>
                  <a:pt x="393175" y="4643438"/>
                </a:cubicBezTo>
                <a:cubicBezTo>
                  <a:pt x="529501" y="4725232"/>
                  <a:pt x="393533" y="4653082"/>
                  <a:pt x="578913" y="4714875"/>
                </a:cubicBezTo>
                <a:cubicBezTo>
                  <a:pt x="816596" y="4794103"/>
                  <a:pt x="632838" y="4757199"/>
                  <a:pt x="807513" y="4786313"/>
                </a:cubicBezTo>
                <a:cubicBezTo>
                  <a:pt x="1117075" y="4757738"/>
                  <a:pt x="1428510" y="4744997"/>
                  <a:pt x="1736200" y="4700588"/>
                </a:cubicBezTo>
                <a:cubicBezTo>
                  <a:pt x="1891679" y="4678148"/>
                  <a:pt x="2042354" y="4629444"/>
                  <a:pt x="2193400" y="4586288"/>
                </a:cubicBezTo>
                <a:cubicBezTo>
                  <a:pt x="2200070" y="4584382"/>
                  <a:pt x="2323335" y="4547963"/>
                  <a:pt x="2350563" y="4543425"/>
                </a:cubicBezTo>
                <a:cubicBezTo>
                  <a:pt x="2388437" y="4537113"/>
                  <a:pt x="2426591" y="4532224"/>
                  <a:pt x="2464863" y="4529138"/>
                </a:cubicBezTo>
                <a:lnTo>
                  <a:pt x="3236388" y="4471988"/>
                </a:lnTo>
                <a:cubicBezTo>
                  <a:pt x="3607486" y="4375180"/>
                  <a:pt x="3454493" y="4410820"/>
                  <a:pt x="3693588" y="4357688"/>
                </a:cubicBezTo>
                <a:cubicBezTo>
                  <a:pt x="3788838" y="4371975"/>
                  <a:pt x="3887493" y="4371546"/>
                  <a:pt x="3979338" y="4400550"/>
                </a:cubicBezTo>
                <a:cubicBezTo>
                  <a:pt x="4070733" y="4429411"/>
                  <a:pt x="4156766" y="4475974"/>
                  <a:pt x="4236513" y="4529138"/>
                </a:cubicBezTo>
                <a:cubicBezTo>
                  <a:pt x="4300364" y="4571706"/>
                  <a:pt x="4304745" y="4585486"/>
                  <a:pt x="4365100" y="4600575"/>
                </a:cubicBezTo>
                <a:cubicBezTo>
                  <a:pt x="4500730" y="4634483"/>
                  <a:pt x="4607859" y="4622311"/>
                  <a:pt x="4765150" y="4629150"/>
                </a:cubicBezTo>
                <a:cubicBezTo>
                  <a:pt x="4922793" y="4660679"/>
                  <a:pt x="4861949" y="4642366"/>
                  <a:pt x="4950888" y="4672013"/>
                </a:cubicBezTo>
                <a:cubicBezTo>
                  <a:pt x="5050900" y="4667250"/>
                  <a:pt x="5153022" y="4678704"/>
                  <a:pt x="5250925" y="4657725"/>
                </a:cubicBezTo>
                <a:cubicBezTo>
                  <a:pt x="5290984" y="4649141"/>
                  <a:pt x="5316588" y="4608615"/>
                  <a:pt x="5350938" y="4586288"/>
                </a:cubicBezTo>
                <a:cubicBezTo>
                  <a:pt x="5411890" y="4546669"/>
                  <a:pt x="5474645" y="4509896"/>
                  <a:pt x="5536675" y="4471988"/>
                </a:cubicBezTo>
                <a:cubicBezTo>
                  <a:pt x="5560371" y="4457507"/>
                  <a:pt x="5583275" y="4441544"/>
                  <a:pt x="5608113" y="4429125"/>
                </a:cubicBezTo>
                <a:cubicBezTo>
                  <a:pt x="5680621" y="4392871"/>
                  <a:pt x="5647542" y="4412364"/>
                  <a:pt x="5708125" y="4371975"/>
                </a:cubicBezTo>
                <a:cubicBezTo>
                  <a:pt x="5739011" y="4279322"/>
                  <a:pt x="5698924" y="4383114"/>
                  <a:pt x="5779563" y="4257675"/>
                </a:cubicBezTo>
                <a:cubicBezTo>
                  <a:pt x="5806078" y="4216430"/>
                  <a:pt x="5824817" y="4170545"/>
                  <a:pt x="5851000" y="4129088"/>
                </a:cubicBezTo>
                <a:cubicBezTo>
                  <a:pt x="5882043" y="4079937"/>
                  <a:pt x="5923176" y="4037248"/>
                  <a:pt x="5951013" y="3986213"/>
                </a:cubicBezTo>
                <a:cubicBezTo>
                  <a:pt x="6009155" y="3879618"/>
                  <a:pt x="6056828" y="3767629"/>
                  <a:pt x="6108175" y="3657600"/>
                </a:cubicBezTo>
                <a:cubicBezTo>
                  <a:pt x="6123513" y="3624733"/>
                  <a:pt x="6139569" y="3591997"/>
                  <a:pt x="6151038" y="3557588"/>
                </a:cubicBezTo>
                <a:cubicBezTo>
                  <a:pt x="6165325" y="3514725"/>
                  <a:pt x="6177120" y="3470950"/>
                  <a:pt x="6193900" y="3429000"/>
                </a:cubicBezTo>
                <a:cubicBezTo>
                  <a:pt x="6205765" y="3399337"/>
                  <a:pt x="6225121" y="3373026"/>
                  <a:pt x="6236763" y="3343275"/>
                </a:cubicBezTo>
                <a:cubicBezTo>
                  <a:pt x="6268049" y="3263321"/>
                  <a:pt x="6293913" y="3181350"/>
                  <a:pt x="6322488" y="3100388"/>
                </a:cubicBezTo>
                <a:cubicBezTo>
                  <a:pt x="6341538" y="2990850"/>
                  <a:pt x="6361723" y="2881504"/>
                  <a:pt x="6379638" y="2771775"/>
                </a:cubicBezTo>
                <a:cubicBezTo>
                  <a:pt x="6440859" y="2396798"/>
                  <a:pt x="6464823" y="2340153"/>
                  <a:pt x="6493938" y="2157413"/>
                </a:cubicBezTo>
                <a:cubicBezTo>
                  <a:pt x="6523053" y="1974673"/>
                  <a:pt x="6542959" y="1970095"/>
                  <a:pt x="6554326" y="1675332"/>
                </a:cubicBezTo>
                <a:cubicBezTo>
                  <a:pt x="6483018" y="1486669"/>
                  <a:pt x="6447028" y="1313415"/>
                  <a:pt x="6395403" y="1157289"/>
                </a:cubicBezTo>
                <a:cubicBezTo>
                  <a:pt x="6343778" y="1001163"/>
                  <a:pt x="6304354" y="840971"/>
                  <a:pt x="6244576" y="738577"/>
                </a:cubicBezTo>
                <a:cubicBezTo>
                  <a:pt x="6184799" y="636183"/>
                  <a:pt x="6086451" y="591473"/>
                  <a:pt x="6036738" y="542925"/>
                </a:cubicBezTo>
                <a:cubicBezTo>
                  <a:pt x="5987025" y="494377"/>
                  <a:pt x="5978245" y="489883"/>
                  <a:pt x="5946297" y="447286"/>
                </a:cubicBezTo>
                <a:cubicBezTo>
                  <a:pt x="5926091" y="420345"/>
                  <a:pt x="5931177" y="388873"/>
                  <a:pt x="5908150" y="371475"/>
                </a:cubicBezTo>
                <a:cubicBezTo>
                  <a:pt x="5885124" y="354077"/>
                  <a:pt x="5841030" y="353864"/>
                  <a:pt x="5808138" y="342900"/>
                </a:cubicBezTo>
                <a:cubicBezTo>
                  <a:pt x="5769535" y="330033"/>
                  <a:pt x="5732441" y="312906"/>
                  <a:pt x="5693838" y="300038"/>
                </a:cubicBezTo>
                <a:cubicBezTo>
                  <a:pt x="5629714" y="278663"/>
                  <a:pt x="5543837" y="260756"/>
                  <a:pt x="5479525" y="228600"/>
                </a:cubicBezTo>
                <a:cubicBezTo>
                  <a:pt x="5454687" y="216181"/>
                  <a:pt x="5430920" y="201545"/>
                  <a:pt x="5408088" y="185738"/>
                </a:cubicBezTo>
                <a:cubicBezTo>
                  <a:pt x="5368931" y="158629"/>
                  <a:pt x="5341217" y="104325"/>
                  <a:pt x="5293788" y="100013"/>
                </a:cubicBezTo>
                <a:lnTo>
                  <a:pt x="4979463" y="71438"/>
                </a:lnTo>
                <a:lnTo>
                  <a:pt x="4836588" y="42863"/>
                </a:lnTo>
                <a:cubicBezTo>
                  <a:pt x="4808115" y="37524"/>
                  <a:pt x="4779270" y="34256"/>
                  <a:pt x="4750863" y="28575"/>
                </a:cubicBezTo>
                <a:cubicBezTo>
                  <a:pt x="4537727" y="-14052"/>
                  <a:pt x="4901744" y="48961"/>
                  <a:pt x="4607988" y="0"/>
                </a:cubicBezTo>
                <a:cubicBezTo>
                  <a:pt x="4507975" y="4763"/>
                  <a:pt x="4406595" y="-2868"/>
                  <a:pt x="4307950" y="14288"/>
                </a:cubicBezTo>
                <a:cubicBezTo>
                  <a:pt x="4291033" y="17230"/>
                  <a:pt x="4272232" y="14288"/>
                  <a:pt x="4265088" y="14288"/>
                </a:cubicBezTo>
                <a:close/>
              </a:path>
            </a:pathLst>
          </a:custGeom>
          <a:gradFill>
            <a:gsLst>
              <a:gs pos="0">
                <a:srgbClr val="9FC3FF"/>
              </a:gs>
              <a:gs pos="35000">
                <a:srgbClr val="BDD5FF"/>
              </a:gs>
              <a:gs pos="100000">
                <a:srgbClr val="E4EEFF"/>
              </a:gs>
            </a:gsLst>
            <a:lin ang="16200000" scaled="0"/>
          </a:gradFill>
          <a:ln w="28575"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just"/>
            <a:endParaRPr>
              <a:solidFill>
                <a:schemeClr val="dk1"/>
              </a:solidFill>
              <a:latin typeface="Calibri"/>
              <a:ea typeface="Calibri"/>
              <a:cs typeface="Calibri"/>
              <a:sym typeface="Calibri"/>
            </a:endParaRPr>
          </a:p>
        </p:txBody>
      </p:sp>
      <p:sp>
        <p:nvSpPr>
          <p:cNvPr id="406" name="Google Shape;406;p30"/>
          <p:cNvSpPr/>
          <p:nvPr/>
        </p:nvSpPr>
        <p:spPr>
          <a:xfrm>
            <a:off x="3324225" y="100011"/>
            <a:ext cx="5443538" cy="1222828"/>
          </a:xfrm>
          <a:custGeom>
            <a:avLst/>
            <a:gdLst/>
            <a:ahLst/>
            <a:cxnLst/>
            <a:rect l="l" t="t" r="r" b="b"/>
            <a:pathLst>
              <a:path w="6554326" h="4786313" extrusionOk="0">
                <a:moveTo>
                  <a:pt x="4265088" y="14288"/>
                </a:moveTo>
                <a:lnTo>
                  <a:pt x="4265088" y="14288"/>
                </a:lnTo>
                <a:cubicBezTo>
                  <a:pt x="3730170" y="73721"/>
                  <a:pt x="4080168" y="40115"/>
                  <a:pt x="2879200" y="14288"/>
                </a:cubicBezTo>
                <a:cubicBezTo>
                  <a:pt x="2854922" y="13766"/>
                  <a:pt x="2831575" y="4763"/>
                  <a:pt x="2807763" y="0"/>
                </a:cubicBezTo>
                <a:cubicBezTo>
                  <a:pt x="2588688" y="4763"/>
                  <a:pt x="2369315" y="1904"/>
                  <a:pt x="2150538" y="14288"/>
                </a:cubicBezTo>
                <a:cubicBezTo>
                  <a:pt x="2080667" y="18243"/>
                  <a:pt x="2050440" y="46076"/>
                  <a:pt x="1993375" y="71438"/>
                </a:cubicBezTo>
                <a:cubicBezTo>
                  <a:pt x="1966188" y="83521"/>
                  <a:pt x="1912072" y="104872"/>
                  <a:pt x="1879075" y="114300"/>
                </a:cubicBezTo>
                <a:cubicBezTo>
                  <a:pt x="1831225" y="127971"/>
                  <a:pt x="1781465" y="134530"/>
                  <a:pt x="1736200" y="157163"/>
                </a:cubicBezTo>
                <a:cubicBezTo>
                  <a:pt x="1717150" y="166688"/>
                  <a:pt x="1698825" y="177828"/>
                  <a:pt x="1679050" y="185738"/>
                </a:cubicBezTo>
                <a:cubicBezTo>
                  <a:pt x="1651084" y="196925"/>
                  <a:pt x="1618387" y="197605"/>
                  <a:pt x="1593325" y="214313"/>
                </a:cubicBezTo>
                <a:cubicBezTo>
                  <a:pt x="1579038" y="223838"/>
                  <a:pt x="1566600" y="237020"/>
                  <a:pt x="1550463" y="242888"/>
                </a:cubicBezTo>
                <a:cubicBezTo>
                  <a:pt x="1513555" y="256309"/>
                  <a:pt x="1436163" y="271463"/>
                  <a:pt x="1436163" y="271463"/>
                </a:cubicBezTo>
                <a:cubicBezTo>
                  <a:pt x="1309815" y="366224"/>
                  <a:pt x="1367044" y="342128"/>
                  <a:pt x="1279000" y="371475"/>
                </a:cubicBezTo>
                <a:cubicBezTo>
                  <a:pt x="1078337" y="572143"/>
                  <a:pt x="1395637" y="245800"/>
                  <a:pt x="1207563" y="471488"/>
                </a:cubicBezTo>
                <a:cubicBezTo>
                  <a:pt x="1173069" y="512881"/>
                  <a:pt x="1129810" y="546196"/>
                  <a:pt x="1093263" y="585788"/>
                </a:cubicBezTo>
                <a:cubicBezTo>
                  <a:pt x="993077" y="694323"/>
                  <a:pt x="1085655" y="627500"/>
                  <a:pt x="964675" y="700088"/>
                </a:cubicBezTo>
                <a:cubicBezTo>
                  <a:pt x="940863" y="728663"/>
                  <a:pt x="917950" y="758012"/>
                  <a:pt x="893238" y="785813"/>
                </a:cubicBezTo>
                <a:cubicBezTo>
                  <a:pt x="844016" y="841187"/>
                  <a:pt x="850148" y="817608"/>
                  <a:pt x="807513" y="885825"/>
                </a:cubicBezTo>
                <a:cubicBezTo>
                  <a:pt x="796225" y="903886"/>
                  <a:pt x="789505" y="924483"/>
                  <a:pt x="778938" y="942975"/>
                </a:cubicBezTo>
                <a:cubicBezTo>
                  <a:pt x="770419" y="957884"/>
                  <a:pt x="758042" y="970479"/>
                  <a:pt x="750363" y="985838"/>
                </a:cubicBezTo>
                <a:cubicBezTo>
                  <a:pt x="743628" y="999308"/>
                  <a:pt x="744057" y="1015929"/>
                  <a:pt x="736075" y="1028700"/>
                </a:cubicBezTo>
                <a:cubicBezTo>
                  <a:pt x="719913" y="1054560"/>
                  <a:pt x="694290" y="1073797"/>
                  <a:pt x="678925" y="1100138"/>
                </a:cubicBezTo>
                <a:cubicBezTo>
                  <a:pt x="660650" y="1131467"/>
                  <a:pt x="651072" y="1167131"/>
                  <a:pt x="636063" y="1200150"/>
                </a:cubicBezTo>
                <a:cubicBezTo>
                  <a:pt x="627250" y="1219539"/>
                  <a:pt x="617013" y="1238250"/>
                  <a:pt x="607488" y="1257300"/>
                </a:cubicBezTo>
                <a:cubicBezTo>
                  <a:pt x="574997" y="1419752"/>
                  <a:pt x="618856" y="1220354"/>
                  <a:pt x="550338" y="1443038"/>
                </a:cubicBezTo>
                <a:cubicBezTo>
                  <a:pt x="539933" y="1476855"/>
                  <a:pt x="528633" y="1569286"/>
                  <a:pt x="521763" y="1600200"/>
                </a:cubicBezTo>
                <a:cubicBezTo>
                  <a:pt x="518496" y="1614902"/>
                  <a:pt x="512238" y="1628775"/>
                  <a:pt x="507475" y="1643063"/>
                </a:cubicBezTo>
                <a:cubicBezTo>
                  <a:pt x="502713" y="1685925"/>
                  <a:pt x="499287" y="1728957"/>
                  <a:pt x="493188" y="1771650"/>
                </a:cubicBezTo>
                <a:cubicBezTo>
                  <a:pt x="484994" y="1829006"/>
                  <a:pt x="471800" y="1885609"/>
                  <a:pt x="464613" y="1943100"/>
                </a:cubicBezTo>
                <a:cubicBezTo>
                  <a:pt x="459850" y="1981200"/>
                  <a:pt x="454811" y="2019266"/>
                  <a:pt x="450325" y="2057400"/>
                </a:cubicBezTo>
                <a:cubicBezTo>
                  <a:pt x="445286" y="2100231"/>
                  <a:pt x="441387" y="2143195"/>
                  <a:pt x="436038" y="2185988"/>
                </a:cubicBezTo>
                <a:cubicBezTo>
                  <a:pt x="431861" y="2219404"/>
                  <a:pt x="428354" y="2252978"/>
                  <a:pt x="421750" y="2286000"/>
                </a:cubicBezTo>
                <a:cubicBezTo>
                  <a:pt x="417627" y="2306613"/>
                  <a:pt x="381937" y="2394202"/>
                  <a:pt x="378888" y="2400300"/>
                </a:cubicBezTo>
                <a:cubicBezTo>
                  <a:pt x="371209" y="2415659"/>
                  <a:pt x="359414" y="2428602"/>
                  <a:pt x="350313" y="2443163"/>
                </a:cubicBezTo>
                <a:cubicBezTo>
                  <a:pt x="335595" y="2466712"/>
                  <a:pt x="323591" y="2492003"/>
                  <a:pt x="307450" y="2514600"/>
                </a:cubicBezTo>
                <a:cubicBezTo>
                  <a:pt x="293389" y="2534285"/>
                  <a:pt x="207045" y="2636731"/>
                  <a:pt x="178863" y="2686050"/>
                </a:cubicBezTo>
                <a:cubicBezTo>
                  <a:pt x="168296" y="2704542"/>
                  <a:pt x="156641" y="2722871"/>
                  <a:pt x="150288" y="2743200"/>
                </a:cubicBezTo>
                <a:cubicBezTo>
                  <a:pt x="132717" y="2799427"/>
                  <a:pt x="121713" y="2857500"/>
                  <a:pt x="107425" y="2914650"/>
                </a:cubicBezTo>
                <a:lnTo>
                  <a:pt x="93138" y="2971800"/>
                </a:lnTo>
                <a:cubicBezTo>
                  <a:pt x="88375" y="2990850"/>
                  <a:pt x="82701" y="3009695"/>
                  <a:pt x="78850" y="3028950"/>
                </a:cubicBezTo>
                <a:cubicBezTo>
                  <a:pt x="74088" y="3052763"/>
                  <a:pt x="69831" y="3076682"/>
                  <a:pt x="64563" y="3100388"/>
                </a:cubicBezTo>
                <a:cubicBezTo>
                  <a:pt x="60303" y="3119557"/>
                  <a:pt x="53788" y="3138218"/>
                  <a:pt x="50275" y="3157538"/>
                </a:cubicBezTo>
                <a:cubicBezTo>
                  <a:pt x="16146" y="3345247"/>
                  <a:pt x="54107" y="3185079"/>
                  <a:pt x="21700" y="3314700"/>
                </a:cubicBezTo>
                <a:cubicBezTo>
                  <a:pt x="-8492" y="3616631"/>
                  <a:pt x="-5949" y="3531389"/>
                  <a:pt x="21700" y="4029075"/>
                </a:cubicBezTo>
                <a:cubicBezTo>
                  <a:pt x="25436" y="4096323"/>
                  <a:pt x="15623" y="4171346"/>
                  <a:pt x="50275" y="4229100"/>
                </a:cubicBezTo>
                <a:cubicBezTo>
                  <a:pt x="52187" y="4232286"/>
                  <a:pt x="108518" y="4328739"/>
                  <a:pt x="121713" y="4343400"/>
                </a:cubicBezTo>
                <a:cubicBezTo>
                  <a:pt x="153252" y="4378444"/>
                  <a:pt x="195573" y="4404185"/>
                  <a:pt x="221725" y="4443413"/>
                </a:cubicBezTo>
                <a:cubicBezTo>
                  <a:pt x="269505" y="4515082"/>
                  <a:pt x="316185" y="4597245"/>
                  <a:pt x="393175" y="4643438"/>
                </a:cubicBezTo>
                <a:cubicBezTo>
                  <a:pt x="529501" y="4725232"/>
                  <a:pt x="393533" y="4653082"/>
                  <a:pt x="578913" y="4714875"/>
                </a:cubicBezTo>
                <a:cubicBezTo>
                  <a:pt x="816596" y="4794103"/>
                  <a:pt x="632838" y="4757199"/>
                  <a:pt x="807513" y="4786313"/>
                </a:cubicBezTo>
                <a:cubicBezTo>
                  <a:pt x="1117075" y="4757738"/>
                  <a:pt x="1428510" y="4744997"/>
                  <a:pt x="1736200" y="4700588"/>
                </a:cubicBezTo>
                <a:cubicBezTo>
                  <a:pt x="1891679" y="4678148"/>
                  <a:pt x="2042354" y="4629444"/>
                  <a:pt x="2193400" y="4586288"/>
                </a:cubicBezTo>
                <a:cubicBezTo>
                  <a:pt x="2200070" y="4584382"/>
                  <a:pt x="2323335" y="4547963"/>
                  <a:pt x="2350563" y="4543425"/>
                </a:cubicBezTo>
                <a:cubicBezTo>
                  <a:pt x="2388437" y="4537113"/>
                  <a:pt x="2426591" y="4532224"/>
                  <a:pt x="2464863" y="4529138"/>
                </a:cubicBezTo>
                <a:lnTo>
                  <a:pt x="3236388" y="4471988"/>
                </a:lnTo>
                <a:cubicBezTo>
                  <a:pt x="3607486" y="4375180"/>
                  <a:pt x="3454493" y="4410820"/>
                  <a:pt x="3693588" y="4357688"/>
                </a:cubicBezTo>
                <a:cubicBezTo>
                  <a:pt x="3788838" y="4371975"/>
                  <a:pt x="3887493" y="4371546"/>
                  <a:pt x="3979338" y="4400550"/>
                </a:cubicBezTo>
                <a:cubicBezTo>
                  <a:pt x="4070733" y="4429411"/>
                  <a:pt x="4156766" y="4475974"/>
                  <a:pt x="4236513" y="4529138"/>
                </a:cubicBezTo>
                <a:cubicBezTo>
                  <a:pt x="4300364" y="4571706"/>
                  <a:pt x="4304745" y="4585486"/>
                  <a:pt x="4365100" y="4600575"/>
                </a:cubicBezTo>
                <a:cubicBezTo>
                  <a:pt x="4500730" y="4634483"/>
                  <a:pt x="4607859" y="4622311"/>
                  <a:pt x="4765150" y="4629150"/>
                </a:cubicBezTo>
                <a:cubicBezTo>
                  <a:pt x="4922793" y="4660679"/>
                  <a:pt x="4861949" y="4642366"/>
                  <a:pt x="4950888" y="4672013"/>
                </a:cubicBezTo>
                <a:cubicBezTo>
                  <a:pt x="5050900" y="4667250"/>
                  <a:pt x="5153022" y="4678704"/>
                  <a:pt x="5250925" y="4657725"/>
                </a:cubicBezTo>
                <a:cubicBezTo>
                  <a:pt x="5290984" y="4649141"/>
                  <a:pt x="5316588" y="4608615"/>
                  <a:pt x="5350938" y="4586288"/>
                </a:cubicBezTo>
                <a:cubicBezTo>
                  <a:pt x="5411890" y="4546669"/>
                  <a:pt x="5474645" y="4509896"/>
                  <a:pt x="5536675" y="4471988"/>
                </a:cubicBezTo>
                <a:cubicBezTo>
                  <a:pt x="5560371" y="4457507"/>
                  <a:pt x="5583275" y="4441544"/>
                  <a:pt x="5608113" y="4429125"/>
                </a:cubicBezTo>
                <a:cubicBezTo>
                  <a:pt x="5680621" y="4392871"/>
                  <a:pt x="5647542" y="4412364"/>
                  <a:pt x="5708125" y="4371975"/>
                </a:cubicBezTo>
                <a:cubicBezTo>
                  <a:pt x="5739011" y="4279322"/>
                  <a:pt x="5698924" y="4383114"/>
                  <a:pt x="5779563" y="4257675"/>
                </a:cubicBezTo>
                <a:cubicBezTo>
                  <a:pt x="5806078" y="4216430"/>
                  <a:pt x="5824817" y="4170545"/>
                  <a:pt x="5851000" y="4129088"/>
                </a:cubicBezTo>
                <a:cubicBezTo>
                  <a:pt x="5882043" y="4079937"/>
                  <a:pt x="5923176" y="4037248"/>
                  <a:pt x="5951013" y="3986213"/>
                </a:cubicBezTo>
                <a:cubicBezTo>
                  <a:pt x="6009155" y="3879618"/>
                  <a:pt x="6056828" y="3767629"/>
                  <a:pt x="6108175" y="3657600"/>
                </a:cubicBezTo>
                <a:cubicBezTo>
                  <a:pt x="6123513" y="3624733"/>
                  <a:pt x="6139569" y="3591997"/>
                  <a:pt x="6151038" y="3557588"/>
                </a:cubicBezTo>
                <a:cubicBezTo>
                  <a:pt x="6165325" y="3514725"/>
                  <a:pt x="6177120" y="3470950"/>
                  <a:pt x="6193900" y="3429000"/>
                </a:cubicBezTo>
                <a:cubicBezTo>
                  <a:pt x="6205765" y="3399337"/>
                  <a:pt x="6225121" y="3373026"/>
                  <a:pt x="6236763" y="3343275"/>
                </a:cubicBezTo>
                <a:cubicBezTo>
                  <a:pt x="6268049" y="3263321"/>
                  <a:pt x="6293913" y="3181350"/>
                  <a:pt x="6322488" y="3100388"/>
                </a:cubicBezTo>
                <a:cubicBezTo>
                  <a:pt x="6341538" y="2990850"/>
                  <a:pt x="6361723" y="2881504"/>
                  <a:pt x="6379638" y="2771775"/>
                </a:cubicBezTo>
                <a:cubicBezTo>
                  <a:pt x="6440859" y="2396798"/>
                  <a:pt x="6464823" y="2340153"/>
                  <a:pt x="6493938" y="2157413"/>
                </a:cubicBezTo>
                <a:cubicBezTo>
                  <a:pt x="6523053" y="1974673"/>
                  <a:pt x="6542959" y="1970095"/>
                  <a:pt x="6554326" y="1675332"/>
                </a:cubicBezTo>
                <a:cubicBezTo>
                  <a:pt x="6483018" y="1486669"/>
                  <a:pt x="6447028" y="1313415"/>
                  <a:pt x="6395403" y="1157289"/>
                </a:cubicBezTo>
                <a:cubicBezTo>
                  <a:pt x="6343778" y="1001163"/>
                  <a:pt x="6304354" y="840971"/>
                  <a:pt x="6244576" y="738577"/>
                </a:cubicBezTo>
                <a:cubicBezTo>
                  <a:pt x="6184799" y="636183"/>
                  <a:pt x="6086451" y="591473"/>
                  <a:pt x="6036738" y="542925"/>
                </a:cubicBezTo>
                <a:cubicBezTo>
                  <a:pt x="5987025" y="494377"/>
                  <a:pt x="5978245" y="489883"/>
                  <a:pt x="5946297" y="447286"/>
                </a:cubicBezTo>
                <a:cubicBezTo>
                  <a:pt x="5926091" y="420345"/>
                  <a:pt x="5931177" y="388873"/>
                  <a:pt x="5908150" y="371475"/>
                </a:cubicBezTo>
                <a:cubicBezTo>
                  <a:pt x="5885124" y="354077"/>
                  <a:pt x="5841030" y="353864"/>
                  <a:pt x="5808138" y="342900"/>
                </a:cubicBezTo>
                <a:cubicBezTo>
                  <a:pt x="5769535" y="330033"/>
                  <a:pt x="5732441" y="312906"/>
                  <a:pt x="5693838" y="300038"/>
                </a:cubicBezTo>
                <a:cubicBezTo>
                  <a:pt x="5629714" y="278663"/>
                  <a:pt x="5543837" y="260756"/>
                  <a:pt x="5479525" y="228600"/>
                </a:cubicBezTo>
                <a:cubicBezTo>
                  <a:pt x="5454687" y="216181"/>
                  <a:pt x="5430920" y="201545"/>
                  <a:pt x="5408088" y="185738"/>
                </a:cubicBezTo>
                <a:cubicBezTo>
                  <a:pt x="5368931" y="158629"/>
                  <a:pt x="5341217" y="104325"/>
                  <a:pt x="5293788" y="100013"/>
                </a:cubicBezTo>
                <a:lnTo>
                  <a:pt x="4979463" y="71438"/>
                </a:lnTo>
                <a:lnTo>
                  <a:pt x="4836588" y="42863"/>
                </a:lnTo>
                <a:cubicBezTo>
                  <a:pt x="4808115" y="37524"/>
                  <a:pt x="4779270" y="34256"/>
                  <a:pt x="4750863" y="28575"/>
                </a:cubicBezTo>
                <a:cubicBezTo>
                  <a:pt x="4537727" y="-14052"/>
                  <a:pt x="4901744" y="48961"/>
                  <a:pt x="4607988" y="0"/>
                </a:cubicBezTo>
                <a:cubicBezTo>
                  <a:pt x="4507975" y="4763"/>
                  <a:pt x="4406595" y="-2868"/>
                  <a:pt x="4307950" y="14288"/>
                </a:cubicBezTo>
                <a:cubicBezTo>
                  <a:pt x="4291033" y="17230"/>
                  <a:pt x="4272232" y="14288"/>
                  <a:pt x="4265088" y="14288"/>
                </a:cubicBezTo>
                <a:close/>
              </a:path>
            </a:pathLst>
          </a:custGeom>
          <a:gradFill>
            <a:gsLst>
              <a:gs pos="0">
                <a:srgbClr val="9FC3FF"/>
              </a:gs>
              <a:gs pos="35000">
                <a:srgbClr val="BDD5FF"/>
              </a:gs>
              <a:gs pos="100000">
                <a:srgbClr val="E4EEFF"/>
              </a:gs>
            </a:gsLst>
            <a:lin ang="16200000" scaled="0"/>
          </a:gradFill>
          <a:ln w="28575" cap="flat" cmpd="sng">
            <a:solidFill>
              <a:schemeClr val="accent1"/>
            </a:solidFill>
            <a:prstDash val="dash"/>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just"/>
            <a:endParaRPr>
              <a:solidFill>
                <a:schemeClr val="dk1"/>
              </a:solidFill>
              <a:latin typeface="Calibri"/>
              <a:ea typeface="Calibri"/>
              <a:cs typeface="Calibri"/>
              <a:sym typeface="Calibri"/>
            </a:endParaRPr>
          </a:p>
        </p:txBody>
      </p:sp>
      <p:cxnSp>
        <p:nvCxnSpPr>
          <p:cNvPr id="407" name="Google Shape;407;p30"/>
          <p:cNvCxnSpPr>
            <a:cxnSpLocks/>
          </p:cNvCxnSpPr>
          <p:nvPr/>
        </p:nvCxnSpPr>
        <p:spPr>
          <a:xfrm rot="5400000">
            <a:off x="1458669" y="3422650"/>
            <a:ext cx="4042797" cy="12700"/>
          </a:xfrm>
          <a:prstGeom prst="curvedConnector3">
            <a:avLst>
              <a:gd name="adj1" fmla="val 50000"/>
            </a:avLst>
          </a:prstGeom>
          <a:noFill/>
          <a:ln w="57150" cap="flat" cmpd="sng">
            <a:solidFill>
              <a:schemeClr val="accent1"/>
            </a:solidFill>
            <a:prstDash val="solid"/>
            <a:round/>
            <a:headEnd type="none" w="sm" len="sm"/>
            <a:tailEnd type="triangle" w="lg" len="lg"/>
          </a:ln>
          <a:effectLst>
            <a:outerShdw blurRad="40000" dist="20000" dir="5400000" rotWithShape="0">
              <a:srgbClr val="000000">
                <a:alpha val="37647"/>
              </a:srgbClr>
            </a:outerShdw>
          </a:effectLst>
        </p:spPr>
      </p:cxnSp>
      <p:grpSp>
        <p:nvGrpSpPr>
          <p:cNvPr id="408" name="Google Shape;408;p30"/>
          <p:cNvGrpSpPr/>
          <p:nvPr/>
        </p:nvGrpSpPr>
        <p:grpSpPr>
          <a:xfrm>
            <a:off x="5353050" y="1322840"/>
            <a:ext cx="1485900" cy="3620547"/>
            <a:chOff x="457200" y="1602397"/>
            <a:chExt cx="699226" cy="3640899"/>
          </a:xfrm>
        </p:grpSpPr>
        <p:sp>
          <p:nvSpPr>
            <p:cNvPr id="409" name="Google Shape;409;p30"/>
            <p:cNvSpPr/>
            <p:nvPr/>
          </p:nvSpPr>
          <p:spPr>
            <a:xfrm>
              <a:off x="457200" y="1602397"/>
              <a:ext cx="699226" cy="998895"/>
            </a:xfrm>
            <a:custGeom>
              <a:avLst/>
              <a:gdLst/>
              <a:ahLst/>
              <a:cxnLst/>
              <a:rect l="l" t="t" r="r" b="b"/>
              <a:pathLst>
                <a:path w="998894" h="699225" extrusionOk="0">
                  <a:moveTo>
                    <a:pt x="998893" y="0"/>
                  </a:moveTo>
                  <a:lnTo>
                    <a:pt x="998893" y="454497"/>
                  </a:lnTo>
                  <a:lnTo>
                    <a:pt x="499446" y="699225"/>
                  </a:lnTo>
                  <a:lnTo>
                    <a:pt x="1" y="454497"/>
                  </a:lnTo>
                  <a:lnTo>
                    <a:pt x="1" y="0"/>
                  </a:lnTo>
                  <a:lnTo>
                    <a:pt x="499446" y="244729"/>
                  </a:lnTo>
                  <a:lnTo>
                    <a:pt x="998893" y="0"/>
                  </a:lnTo>
                  <a:close/>
                </a:path>
              </a:pathLst>
            </a:custGeom>
            <a:solidFill>
              <a:schemeClr val="accent1"/>
            </a:solidFill>
            <a:ln w="25400" cap="flat" cmpd="sng">
              <a:solidFill>
                <a:srgbClr val="395E89"/>
              </a:solidFill>
              <a:prstDash val="solid"/>
              <a:round/>
              <a:headEnd type="none" w="sm" len="sm"/>
              <a:tailEnd type="none" w="sm" len="sm"/>
            </a:ln>
          </p:spPr>
          <p:txBody>
            <a:bodyPr spcFirstLastPara="1" wrap="square" lIns="6350" tIns="355950" rIns="6350" bIns="355950" anchor="ctr" anchorCtr="0">
              <a:noAutofit/>
            </a:bodyPr>
            <a:lstStyle/>
            <a:p>
              <a:pPr algn="ctr">
                <a:lnSpc>
                  <a:spcPct val="90000"/>
                </a:lnSpc>
              </a:pPr>
              <a:r>
                <a:rPr lang="en-US" sz="1300" b="1">
                  <a:solidFill>
                    <a:schemeClr val="lt1"/>
                  </a:solidFill>
                  <a:latin typeface="Calibri"/>
                  <a:ea typeface="Calibri"/>
                  <a:cs typeface="Calibri"/>
                  <a:sym typeface="Calibri"/>
                </a:rPr>
                <a:t>Procurement</a:t>
              </a:r>
              <a:endParaRPr/>
            </a:p>
          </p:txBody>
        </p:sp>
        <p:sp>
          <p:nvSpPr>
            <p:cNvPr id="410" name="Google Shape;410;p30"/>
            <p:cNvSpPr/>
            <p:nvPr/>
          </p:nvSpPr>
          <p:spPr>
            <a:xfrm>
              <a:off x="457200" y="2483065"/>
              <a:ext cx="699226" cy="998895"/>
            </a:xfrm>
            <a:custGeom>
              <a:avLst/>
              <a:gdLst/>
              <a:ahLst/>
              <a:cxnLst/>
              <a:rect l="l" t="t" r="r" b="b"/>
              <a:pathLst>
                <a:path w="998894" h="699225" extrusionOk="0">
                  <a:moveTo>
                    <a:pt x="998893" y="0"/>
                  </a:moveTo>
                  <a:lnTo>
                    <a:pt x="998893" y="454497"/>
                  </a:lnTo>
                  <a:lnTo>
                    <a:pt x="499446" y="699225"/>
                  </a:lnTo>
                  <a:lnTo>
                    <a:pt x="1" y="454497"/>
                  </a:lnTo>
                  <a:lnTo>
                    <a:pt x="1" y="0"/>
                  </a:lnTo>
                  <a:lnTo>
                    <a:pt x="499446" y="244729"/>
                  </a:lnTo>
                  <a:lnTo>
                    <a:pt x="998893" y="0"/>
                  </a:lnTo>
                  <a:close/>
                </a:path>
              </a:pathLst>
            </a:custGeom>
            <a:solidFill>
              <a:schemeClr val="accent1"/>
            </a:solidFill>
            <a:ln w="25400" cap="flat" cmpd="sng">
              <a:solidFill>
                <a:srgbClr val="395E89"/>
              </a:solidFill>
              <a:prstDash val="solid"/>
              <a:round/>
              <a:headEnd type="none" w="sm" len="sm"/>
              <a:tailEnd type="none" w="sm" len="sm"/>
            </a:ln>
          </p:spPr>
          <p:txBody>
            <a:bodyPr spcFirstLastPara="1" wrap="square" lIns="6350" tIns="355950" rIns="6350" bIns="355950" anchor="ctr" anchorCtr="0">
              <a:noAutofit/>
            </a:bodyPr>
            <a:lstStyle/>
            <a:p>
              <a:pPr algn="ctr">
                <a:lnSpc>
                  <a:spcPct val="90000"/>
                </a:lnSpc>
              </a:pPr>
              <a:r>
                <a:rPr lang="en-US" sz="1300" b="1">
                  <a:solidFill>
                    <a:schemeClr val="lt1"/>
                  </a:solidFill>
                  <a:latin typeface="Calibri"/>
                  <a:ea typeface="Calibri"/>
                  <a:cs typeface="Calibri"/>
                  <a:sym typeface="Calibri"/>
                </a:rPr>
                <a:t>Generation</a:t>
              </a:r>
              <a:endParaRPr/>
            </a:p>
          </p:txBody>
        </p:sp>
        <p:sp>
          <p:nvSpPr>
            <p:cNvPr id="411" name="Google Shape;411;p30"/>
            <p:cNvSpPr/>
            <p:nvPr/>
          </p:nvSpPr>
          <p:spPr>
            <a:xfrm>
              <a:off x="457200" y="3363733"/>
              <a:ext cx="699226" cy="998895"/>
            </a:xfrm>
            <a:custGeom>
              <a:avLst/>
              <a:gdLst/>
              <a:ahLst/>
              <a:cxnLst/>
              <a:rect l="l" t="t" r="r" b="b"/>
              <a:pathLst>
                <a:path w="998894" h="699225" extrusionOk="0">
                  <a:moveTo>
                    <a:pt x="998893" y="0"/>
                  </a:moveTo>
                  <a:lnTo>
                    <a:pt x="998893" y="454497"/>
                  </a:lnTo>
                  <a:lnTo>
                    <a:pt x="499446" y="699225"/>
                  </a:lnTo>
                  <a:lnTo>
                    <a:pt x="1" y="454497"/>
                  </a:lnTo>
                  <a:lnTo>
                    <a:pt x="1" y="0"/>
                  </a:lnTo>
                  <a:lnTo>
                    <a:pt x="499446" y="244729"/>
                  </a:lnTo>
                  <a:lnTo>
                    <a:pt x="998893" y="0"/>
                  </a:lnTo>
                  <a:close/>
                </a:path>
              </a:pathLst>
            </a:custGeom>
            <a:solidFill>
              <a:schemeClr val="accent1"/>
            </a:solidFill>
            <a:ln w="25400" cap="flat" cmpd="sng">
              <a:solidFill>
                <a:srgbClr val="395E89"/>
              </a:solidFill>
              <a:prstDash val="solid"/>
              <a:round/>
              <a:headEnd type="none" w="sm" len="sm"/>
              <a:tailEnd type="none" w="sm" len="sm"/>
            </a:ln>
          </p:spPr>
          <p:txBody>
            <a:bodyPr spcFirstLastPara="1" wrap="square" lIns="6350" tIns="355950" rIns="6350" bIns="355950" anchor="ctr" anchorCtr="0">
              <a:noAutofit/>
            </a:bodyPr>
            <a:lstStyle/>
            <a:p>
              <a:pPr algn="ctr">
                <a:lnSpc>
                  <a:spcPct val="90000"/>
                </a:lnSpc>
              </a:pPr>
              <a:r>
                <a:rPr lang="en-US" sz="1300" b="1">
                  <a:solidFill>
                    <a:schemeClr val="lt1"/>
                  </a:solidFill>
                  <a:latin typeface="Calibri"/>
                  <a:ea typeface="Calibri"/>
                  <a:cs typeface="Calibri"/>
                  <a:sym typeface="Calibri"/>
                </a:rPr>
                <a:t>Marketing</a:t>
              </a:r>
              <a:endParaRPr/>
            </a:p>
          </p:txBody>
        </p:sp>
        <p:sp>
          <p:nvSpPr>
            <p:cNvPr id="412" name="Google Shape;412;p30"/>
            <p:cNvSpPr/>
            <p:nvPr/>
          </p:nvSpPr>
          <p:spPr>
            <a:xfrm>
              <a:off x="457200" y="4244401"/>
              <a:ext cx="699226" cy="998895"/>
            </a:xfrm>
            <a:custGeom>
              <a:avLst/>
              <a:gdLst/>
              <a:ahLst/>
              <a:cxnLst/>
              <a:rect l="l" t="t" r="r" b="b"/>
              <a:pathLst>
                <a:path w="998894" h="699225" extrusionOk="0">
                  <a:moveTo>
                    <a:pt x="998893" y="0"/>
                  </a:moveTo>
                  <a:lnTo>
                    <a:pt x="998893" y="454497"/>
                  </a:lnTo>
                  <a:lnTo>
                    <a:pt x="499446" y="699225"/>
                  </a:lnTo>
                  <a:lnTo>
                    <a:pt x="1" y="454497"/>
                  </a:lnTo>
                  <a:lnTo>
                    <a:pt x="1" y="0"/>
                  </a:lnTo>
                  <a:lnTo>
                    <a:pt x="499446" y="244729"/>
                  </a:lnTo>
                  <a:lnTo>
                    <a:pt x="998893" y="0"/>
                  </a:lnTo>
                  <a:close/>
                </a:path>
              </a:pathLst>
            </a:custGeom>
            <a:solidFill>
              <a:schemeClr val="accent1"/>
            </a:solidFill>
            <a:ln w="25400" cap="flat" cmpd="sng">
              <a:solidFill>
                <a:srgbClr val="395E89"/>
              </a:solidFill>
              <a:prstDash val="solid"/>
              <a:round/>
              <a:headEnd type="none" w="sm" len="sm"/>
              <a:tailEnd type="none" w="sm" len="sm"/>
            </a:ln>
          </p:spPr>
          <p:txBody>
            <a:bodyPr spcFirstLastPara="1" wrap="square" lIns="6350" tIns="355950" rIns="6350" bIns="355950" anchor="ctr" anchorCtr="0">
              <a:noAutofit/>
            </a:bodyPr>
            <a:lstStyle/>
            <a:p>
              <a:pPr algn="ctr">
                <a:lnSpc>
                  <a:spcPct val="90000"/>
                </a:lnSpc>
              </a:pPr>
              <a:r>
                <a:rPr lang="en-US" sz="1300" b="1">
                  <a:solidFill>
                    <a:schemeClr val="lt1"/>
                  </a:solidFill>
                  <a:latin typeface="Calibri"/>
                  <a:ea typeface="Calibri"/>
                  <a:cs typeface="Calibri"/>
                  <a:sym typeface="Calibri"/>
                </a:rPr>
                <a:t>Distribution</a:t>
              </a:r>
              <a:endParaRPr/>
            </a:p>
          </p:txBody>
        </p:sp>
      </p:grpSp>
      <p:sp>
        <p:nvSpPr>
          <p:cNvPr id="413" name="Google Shape;413;p30"/>
          <p:cNvSpPr txBox="1"/>
          <p:nvPr/>
        </p:nvSpPr>
        <p:spPr>
          <a:xfrm>
            <a:off x="4394839" y="482292"/>
            <a:ext cx="4743446" cy="369291"/>
          </a:xfrm>
          <a:prstGeom prst="rect">
            <a:avLst/>
          </a:prstGeom>
          <a:noFill/>
          <a:ln>
            <a:noFill/>
          </a:ln>
        </p:spPr>
        <p:txBody>
          <a:bodyPr spcFirstLastPara="1" wrap="square" lIns="91425" tIns="45700" rIns="91425" bIns="45700" anchor="t" anchorCtr="0">
            <a:spAutoFit/>
          </a:bodyPr>
          <a:lstStyle/>
          <a:p>
            <a:r>
              <a:rPr lang="en-US" b="1" dirty="0">
                <a:solidFill>
                  <a:schemeClr val="dk1"/>
                </a:solidFill>
                <a:latin typeface="Calibri"/>
                <a:ea typeface="Calibri"/>
                <a:cs typeface="Calibri"/>
                <a:sym typeface="Calibri"/>
              </a:rPr>
              <a:t>Commons-based Volunteer Activities</a:t>
            </a:r>
            <a:endParaRPr b="1" dirty="0">
              <a:solidFill>
                <a:schemeClr val="dk1"/>
              </a:solidFill>
              <a:latin typeface="Calibri"/>
              <a:ea typeface="Calibri"/>
              <a:cs typeface="Calibri"/>
              <a:sym typeface="Calibri"/>
            </a:endParaRPr>
          </a:p>
        </p:txBody>
      </p:sp>
      <p:sp>
        <p:nvSpPr>
          <p:cNvPr id="414" name="Google Shape;414;p30"/>
          <p:cNvSpPr txBox="1"/>
          <p:nvPr/>
        </p:nvSpPr>
        <p:spPr>
          <a:xfrm>
            <a:off x="4394839" y="5493004"/>
            <a:ext cx="4743446" cy="369291"/>
          </a:xfrm>
          <a:prstGeom prst="rect">
            <a:avLst/>
          </a:prstGeom>
          <a:noFill/>
          <a:ln>
            <a:noFill/>
          </a:ln>
        </p:spPr>
        <p:txBody>
          <a:bodyPr spcFirstLastPara="1" wrap="square" lIns="91425" tIns="45700" rIns="91425" bIns="45700" anchor="t" anchorCtr="0">
            <a:spAutoFit/>
          </a:bodyPr>
          <a:lstStyle/>
          <a:p>
            <a:r>
              <a:rPr lang="en-US" b="1" dirty="0">
                <a:solidFill>
                  <a:schemeClr val="dk1"/>
                </a:solidFill>
                <a:latin typeface="Calibri"/>
                <a:ea typeface="Calibri"/>
                <a:cs typeface="Calibri"/>
                <a:sym typeface="Calibri"/>
              </a:rPr>
              <a:t>Commons-based Volunteer Activities</a:t>
            </a:r>
            <a:endParaRPr b="1" dirty="0">
              <a:solidFill>
                <a:schemeClr val="dk1"/>
              </a:solidFill>
              <a:latin typeface="Calibri"/>
              <a:ea typeface="Calibri"/>
              <a:cs typeface="Calibri"/>
              <a:sym typeface="Calibri"/>
            </a:endParaRPr>
          </a:p>
        </p:txBody>
      </p:sp>
      <p:sp>
        <p:nvSpPr>
          <p:cNvPr id="415" name="Google Shape;415;p30"/>
          <p:cNvSpPr txBox="1"/>
          <p:nvPr/>
        </p:nvSpPr>
        <p:spPr>
          <a:xfrm rot="-5400000">
            <a:off x="445133" y="2300741"/>
            <a:ext cx="4543425" cy="954067"/>
          </a:xfrm>
          <a:prstGeom prst="rect">
            <a:avLst/>
          </a:prstGeom>
          <a:noFill/>
          <a:ln>
            <a:noFill/>
          </a:ln>
        </p:spPr>
        <p:txBody>
          <a:bodyPr spcFirstLastPara="1" wrap="square" lIns="91425" tIns="45700" rIns="91425" bIns="45700" anchor="t" anchorCtr="0">
            <a:spAutoFit/>
          </a:bodyPr>
          <a:lstStyle/>
          <a:p>
            <a:r>
              <a:rPr lang="en-US" sz="2800" dirty="0">
                <a:solidFill>
                  <a:schemeClr val="dk1"/>
                </a:solidFill>
                <a:latin typeface="Calibri"/>
                <a:ea typeface="Calibri"/>
                <a:cs typeface="Calibri"/>
                <a:sym typeface="Calibri"/>
              </a:rPr>
              <a:t>Open IP status facilitates more use</a:t>
            </a:r>
            <a:endParaRPr sz="2800" dirty="0">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A0B2D3C3-47AC-A2FA-8DDA-C1087223C535}"/>
              </a:ext>
            </a:extLst>
          </p:cNvPr>
          <p:cNvSpPr txBox="1"/>
          <p:nvPr/>
        </p:nvSpPr>
        <p:spPr>
          <a:xfrm>
            <a:off x="7398204" y="2714842"/>
            <a:ext cx="2939143" cy="954107"/>
          </a:xfrm>
          <a:prstGeom prst="rect">
            <a:avLst/>
          </a:prstGeom>
          <a:noFill/>
        </p:spPr>
        <p:txBody>
          <a:bodyPr wrap="square" rtlCol="0">
            <a:spAutoFit/>
          </a:bodyPr>
          <a:lstStyle/>
          <a:p>
            <a:r>
              <a:rPr lang="en-GB" sz="2800" dirty="0"/>
              <a:t>Radically open creative firms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2"/>
                </a:solidFill>
              </a:rPr>
              <a:t>Part 3: Business Model Scenario Challenge</a:t>
            </a:r>
          </a:p>
        </p:txBody>
      </p:sp>
      <p:pic>
        <p:nvPicPr>
          <p:cNvPr id="1026" name="Picture 2" descr="Roomba - Imgflip">
            <a:extLst>
              <a:ext uri="{FF2B5EF4-FFF2-40B4-BE49-F238E27FC236}">
                <a16:creationId xmlns:a16="http://schemas.microsoft.com/office/drawing/2014/main" id="{13105AB6-2FC6-FA14-70D3-38CD2A7C5C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0563" y="2471356"/>
            <a:ext cx="3213100" cy="33274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7A0D644-DABB-0A68-DD83-D822C532FDC2}"/>
              </a:ext>
            </a:extLst>
          </p:cNvPr>
          <p:cNvSpPr txBox="1"/>
          <p:nvPr/>
        </p:nvSpPr>
        <p:spPr>
          <a:xfrm>
            <a:off x="1000461" y="2183802"/>
            <a:ext cx="6078071" cy="3416320"/>
          </a:xfrm>
          <a:prstGeom prst="rect">
            <a:avLst/>
          </a:prstGeom>
          <a:noFill/>
        </p:spPr>
        <p:txBody>
          <a:bodyPr wrap="square" rtlCol="0">
            <a:spAutoFit/>
          </a:bodyPr>
          <a:lstStyle/>
          <a:p>
            <a:r>
              <a:rPr lang="en-GB" sz="2400" dirty="0"/>
              <a:t>We will explore the dilemma of open vs closed business models with a live scenario</a:t>
            </a:r>
          </a:p>
          <a:p>
            <a:endParaRPr lang="en-GB" sz="2400" dirty="0"/>
          </a:p>
          <a:p>
            <a:r>
              <a:rPr lang="en-GB" sz="2400" dirty="0"/>
              <a:t>Your group will be responsible for coming up with a plan to generate and capture value from an open innovation:</a:t>
            </a:r>
          </a:p>
          <a:p>
            <a:endParaRPr lang="en-GB" sz="2400" dirty="0"/>
          </a:p>
          <a:p>
            <a:endParaRPr lang="en-GB" sz="2400" dirty="0"/>
          </a:p>
          <a:p>
            <a:r>
              <a:rPr lang="en-GB" sz="2400" dirty="0"/>
              <a:t>An open-source autonomous vacuum device</a:t>
            </a:r>
          </a:p>
        </p:txBody>
      </p:sp>
    </p:spTree>
    <p:extLst>
      <p:ext uri="{BB962C8B-B14F-4D97-AF65-F5344CB8AC3E}">
        <p14:creationId xmlns:p14="http://schemas.microsoft.com/office/powerpoint/2010/main" val="2280509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you start with:</a:t>
            </a:r>
          </a:p>
        </p:txBody>
      </p:sp>
      <p:sp>
        <p:nvSpPr>
          <p:cNvPr id="5" name="Shape 141"/>
          <p:cNvSpPr txBox="1">
            <a:spLocks/>
          </p:cNvSpPr>
          <p:nvPr/>
        </p:nvSpPr>
        <p:spPr>
          <a:xfrm>
            <a:off x="1097279" y="2060846"/>
            <a:ext cx="9450977" cy="4392488"/>
          </a:xfrm>
          <a:prstGeom prst="rect">
            <a:avLst/>
          </a:prstGeom>
        </p:spPr>
        <p:txBody>
          <a:bodyPr vert="horz" lIns="91440" tIns="45720" rIns="91440" bIns="45720" numCol="2" spcCol="72000" rtlCol="0">
            <a:normAutofit/>
          </a:bodyPr>
          <a:lstStyle>
            <a:lvl1pPr marL="0" indent="-274320" algn="l" defTabSz="914400" rtl="0" eaLnBrk="1" latinLnBrk="0" hangingPunct="1">
              <a:lnSpc>
                <a:spcPct val="150000"/>
              </a:lnSpc>
              <a:spcBef>
                <a:spcPct val="20000"/>
              </a:spcBef>
              <a:buClrTx/>
              <a:buFont typeface="Wingdings" pitchFamily="2" charset="2"/>
              <a:buChar char="v"/>
              <a:defRPr sz="1800" kern="1200" baseline="0">
                <a:solidFill>
                  <a:schemeClr val="tx1"/>
                </a:solidFill>
                <a:latin typeface="+mn-lt"/>
                <a:ea typeface="+mn-ea"/>
                <a:cs typeface="+mn-cs"/>
              </a:defRPr>
            </a:lvl1pPr>
            <a:lvl2pPr marL="742950" indent="-228600" algn="l" defTabSz="914400" rtl="0" eaLnBrk="1" latinLnBrk="0" hangingPunct="1">
              <a:spcBef>
                <a:spcPct val="20000"/>
              </a:spcBef>
              <a:buClrTx/>
              <a:buFont typeface="Arial" pitchFamily="34" charset="0"/>
              <a:buChar char="•"/>
              <a:defRPr sz="1600" kern="1200" baseline="0">
                <a:solidFill>
                  <a:schemeClr val="tx1"/>
                </a:solidFill>
                <a:latin typeface="+mn-lt"/>
                <a:ea typeface="+mn-ea"/>
                <a:cs typeface="+mn-cs"/>
              </a:defRPr>
            </a:lvl2pPr>
            <a:lvl3pPr marL="11430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3pPr>
            <a:lvl4pPr marL="16002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4pPr>
            <a:lvl5pPr marL="20574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ClrTx/>
              <a:buFont typeface="Arial"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ClrTx/>
              <a:buFont typeface="Arial" pitchFamily="34" charset="0"/>
              <a:buChar char="•"/>
              <a:defRPr sz="1200" kern="1200">
                <a:solidFill>
                  <a:schemeClr val="tx1"/>
                </a:solidFill>
                <a:latin typeface="+mn-lt"/>
                <a:ea typeface="+mn-ea"/>
                <a:cs typeface="+mn-cs"/>
              </a:defRPr>
            </a:lvl7pPr>
            <a:lvl8pPr marL="3429000" indent="-228600" algn="l" defTabSz="914400" rtl="0" eaLnBrk="1" latinLnBrk="0" hangingPunct="1">
              <a:spcBef>
                <a:spcPct val="20000"/>
              </a:spcBef>
              <a:buClrTx/>
              <a:buFont typeface="Arial" pitchFamily="34" charset="0"/>
              <a:buChar char="•"/>
              <a:defRPr sz="1200" kern="1200" baseline="0">
                <a:solidFill>
                  <a:schemeClr val="tx1"/>
                </a:solidFill>
                <a:latin typeface="+mn-lt"/>
                <a:ea typeface="+mn-ea"/>
                <a:cs typeface="+mn-cs"/>
              </a:defRPr>
            </a:lvl8pPr>
            <a:lvl9pPr marL="3886200" indent="-228600" algn="l" defTabSz="914400" rtl="0" eaLnBrk="1" latinLnBrk="0" hangingPunct="1">
              <a:spcBef>
                <a:spcPct val="20000"/>
              </a:spcBef>
              <a:buClrTx/>
              <a:buFont typeface="Arial" pitchFamily="34" charset="0"/>
              <a:buChar char="•"/>
              <a:defRPr sz="1200" kern="1200">
                <a:solidFill>
                  <a:schemeClr val="tx1"/>
                </a:solidFill>
                <a:latin typeface="+mn-lt"/>
                <a:ea typeface="+mn-ea"/>
                <a:cs typeface="+mn-cs"/>
              </a:defRPr>
            </a:lvl9pPr>
          </a:lstStyle>
          <a:p>
            <a:pPr marL="342900" indent="-342900" defTabSz="795527">
              <a:lnSpc>
                <a:spcPct val="100000"/>
              </a:lnSpc>
              <a:spcBef>
                <a:spcPts val="900"/>
              </a:spcBef>
              <a:buFont typeface="Wingdings" pitchFamily="2" charset="2"/>
              <a:buChar char="Ø"/>
              <a:defRPr sz="1566"/>
            </a:pPr>
            <a:r>
              <a:rPr lang="en-US" sz="2800" dirty="0">
                <a:ea typeface="Avenir Book" charset="0"/>
                <a:cs typeface="Avenir Book" charset="0"/>
              </a:rPr>
              <a:t>You have developed an </a:t>
            </a:r>
            <a:r>
              <a:rPr lang="en-US" sz="2800" dirty="0">
                <a:solidFill>
                  <a:schemeClr val="accent2"/>
                </a:solidFill>
                <a:ea typeface="Avenir Book" charset="0"/>
                <a:cs typeface="Avenir Book" charset="0"/>
              </a:rPr>
              <a:t>open hardware autonomous vacuum </a:t>
            </a:r>
            <a:r>
              <a:rPr lang="en-US" sz="2800" dirty="0">
                <a:ea typeface="Avenir Book" charset="0"/>
                <a:cs typeface="Avenir Book" charset="0"/>
              </a:rPr>
              <a:t>cleaner (Open Rumba). </a:t>
            </a:r>
          </a:p>
          <a:p>
            <a:pPr marL="104242" indent="-342900" defTabSz="795527">
              <a:lnSpc>
                <a:spcPct val="100000"/>
              </a:lnSpc>
              <a:spcBef>
                <a:spcPts val="900"/>
              </a:spcBef>
              <a:buFont typeface="Wingdings" pitchFamily="2" charset="2"/>
              <a:buChar char="Ø"/>
              <a:defRPr sz="1566"/>
            </a:pPr>
            <a:r>
              <a:rPr lang="en-US" sz="2800" dirty="0">
                <a:ea typeface="Avenir Book" charset="0"/>
                <a:cs typeface="Avenir Book" charset="0"/>
              </a:rPr>
              <a:t> You </a:t>
            </a:r>
            <a:r>
              <a:rPr lang="en-US" sz="2800" dirty="0">
                <a:solidFill>
                  <a:schemeClr val="accent2"/>
                </a:solidFill>
                <a:ea typeface="Avenir Book" charset="0"/>
                <a:cs typeface="Avenir Book" charset="0"/>
              </a:rPr>
              <a:t>have improved existing </a:t>
            </a:r>
            <a:r>
              <a:rPr lang="en-US" sz="2800" dirty="0">
                <a:ea typeface="Avenir Book" charset="0"/>
                <a:cs typeface="Avenir Book" charset="0"/>
              </a:rPr>
              <a:t>designs to provide customizability (mods) and more privacy-centric software (no cloud sharing required).</a:t>
            </a:r>
          </a:p>
          <a:p>
            <a:pPr marL="47092" indent="-285750" defTabSz="795527">
              <a:lnSpc>
                <a:spcPct val="100000"/>
              </a:lnSpc>
              <a:spcBef>
                <a:spcPts val="900"/>
              </a:spcBef>
              <a:buFont typeface="Wingdings" pitchFamily="2" charset="2"/>
              <a:buChar char="Ø"/>
              <a:defRPr sz="1566"/>
            </a:pPr>
            <a:endParaRPr lang="en-US" sz="1600" b="1" dirty="0">
              <a:ea typeface="Avenir Book" charset="0"/>
              <a:cs typeface="Avenir Book" charset="0"/>
            </a:endParaRPr>
          </a:p>
        </p:txBody>
      </p:sp>
      <p:pic>
        <p:nvPicPr>
          <p:cNvPr id="2050" name="Picture 2" descr="CleanIt: An Open-Source Robot Autonomy Software in Rust-lang with gRPC API  for the Roomba series robot vacuum cleaners : r/roomba">
            <a:extLst>
              <a:ext uri="{FF2B5EF4-FFF2-40B4-BE49-F238E27FC236}">
                <a16:creationId xmlns:a16="http://schemas.microsoft.com/office/drawing/2014/main" id="{FD6321F3-BF37-BCC2-C735-523E7677A5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4873" y="2060846"/>
            <a:ext cx="5354908" cy="391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53933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Details of license</a:t>
            </a:r>
          </a:p>
        </p:txBody>
      </p:sp>
      <p:sp>
        <p:nvSpPr>
          <p:cNvPr id="5" name="Shape 144"/>
          <p:cNvSpPr txBox="1">
            <a:spLocks/>
          </p:cNvSpPr>
          <p:nvPr/>
        </p:nvSpPr>
        <p:spPr>
          <a:xfrm>
            <a:off x="1009105" y="2010353"/>
            <a:ext cx="10234750" cy="4247839"/>
          </a:xfrm>
          <a:prstGeom prst="rect">
            <a:avLst/>
          </a:prstGeom>
        </p:spPr>
        <p:txBody>
          <a:bodyPr vert="horz" lIns="91440" tIns="45720" rIns="91440" bIns="45720" numCol="2" spcCol="72000" rtlCol="0">
            <a:noAutofit/>
          </a:bodyPr>
          <a:lstStyle>
            <a:lvl1pPr marL="0" indent="-274320" algn="l" defTabSz="914400" rtl="0" eaLnBrk="1" latinLnBrk="0" hangingPunct="1">
              <a:lnSpc>
                <a:spcPct val="150000"/>
              </a:lnSpc>
              <a:spcBef>
                <a:spcPct val="20000"/>
              </a:spcBef>
              <a:buClrTx/>
              <a:buFont typeface="Wingdings" pitchFamily="2" charset="2"/>
              <a:buChar char="v"/>
              <a:defRPr sz="1800" kern="1200" baseline="0">
                <a:solidFill>
                  <a:schemeClr val="tx1"/>
                </a:solidFill>
                <a:latin typeface="+mn-lt"/>
                <a:ea typeface="+mn-ea"/>
                <a:cs typeface="+mn-cs"/>
              </a:defRPr>
            </a:lvl1pPr>
            <a:lvl2pPr marL="742950" indent="-228600" algn="l" defTabSz="914400" rtl="0" eaLnBrk="1" latinLnBrk="0" hangingPunct="1">
              <a:spcBef>
                <a:spcPct val="20000"/>
              </a:spcBef>
              <a:buClrTx/>
              <a:buFont typeface="Arial" pitchFamily="34" charset="0"/>
              <a:buChar char="•"/>
              <a:defRPr sz="1600" kern="1200" baseline="0">
                <a:solidFill>
                  <a:schemeClr val="tx1"/>
                </a:solidFill>
                <a:latin typeface="+mn-lt"/>
                <a:ea typeface="+mn-ea"/>
                <a:cs typeface="+mn-cs"/>
              </a:defRPr>
            </a:lvl2pPr>
            <a:lvl3pPr marL="11430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3pPr>
            <a:lvl4pPr marL="16002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4pPr>
            <a:lvl5pPr marL="20574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ClrTx/>
              <a:buFont typeface="Arial"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ClrTx/>
              <a:buFont typeface="Arial" pitchFamily="34" charset="0"/>
              <a:buChar char="•"/>
              <a:defRPr sz="1200" kern="1200">
                <a:solidFill>
                  <a:schemeClr val="tx1"/>
                </a:solidFill>
                <a:latin typeface="+mn-lt"/>
                <a:ea typeface="+mn-ea"/>
                <a:cs typeface="+mn-cs"/>
              </a:defRPr>
            </a:lvl7pPr>
            <a:lvl8pPr marL="3429000" indent="-228600" algn="l" defTabSz="914400" rtl="0" eaLnBrk="1" latinLnBrk="0" hangingPunct="1">
              <a:spcBef>
                <a:spcPct val="20000"/>
              </a:spcBef>
              <a:buClrTx/>
              <a:buFont typeface="Arial" pitchFamily="34" charset="0"/>
              <a:buChar char="•"/>
              <a:defRPr sz="1200" kern="1200" baseline="0">
                <a:solidFill>
                  <a:schemeClr val="tx1"/>
                </a:solidFill>
                <a:latin typeface="+mn-lt"/>
                <a:ea typeface="+mn-ea"/>
                <a:cs typeface="+mn-cs"/>
              </a:defRPr>
            </a:lvl8pPr>
            <a:lvl9pPr marL="3886200" indent="-228600" algn="l" defTabSz="914400" rtl="0" eaLnBrk="1" latinLnBrk="0" hangingPunct="1">
              <a:spcBef>
                <a:spcPct val="20000"/>
              </a:spcBef>
              <a:buClrTx/>
              <a:buFont typeface="Arial" pitchFamily="34" charset="0"/>
              <a:buChar char="•"/>
              <a:defRPr sz="1200" kern="1200">
                <a:solidFill>
                  <a:schemeClr val="tx1"/>
                </a:solidFill>
                <a:latin typeface="+mn-lt"/>
                <a:ea typeface="+mn-ea"/>
                <a:cs typeface="+mn-cs"/>
              </a:defRPr>
            </a:lvl9pPr>
          </a:lstStyle>
          <a:p>
            <a:pPr indent="0" defTabSz="804672">
              <a:lnSpc>
                <a:spcPct val="100000"/>
              </a:lnSpc>
              <a:spcBef>
                <a:spcPts val="900"/>
              </a:spcBef>
              <a:buNone/>
              <a:defRPr sz="1584" b="1"/>
            </a:pPr>
            <a:r>
              <a:rPr lang="en-US" sz="2200" b="1" dirty="0">
                <a:ea typeface="Avenir Book" charset="0"/>
                <a:cs typeface="Avenir Book" charset="0"/>
              </a:rPr>
              <a:t>The technology is covered by two different licenses:</a:t>
            </a:r>
          </a:p>
          <a:p>
            <a:pPr marL="342900" indent="-342900" defTabSz="804672">
              <a:lnSpc>
                <a:spcPct val="100000"/>
              </a:lnSpc>
              <a:spcBef>
                <a:spcPts val="900"/>
              </a:spcBef>
              <a:buFont typeface="Wingdings" pitchFamily="2" charset="2"/>
              <a:buChar char="Ø"/>
              <a:defRPr sz="1584" b="1"/>
            </a:pPr>
            <a:endParaRPr lang="en-US" sz="2200" b="1" dirty="0">
              <a:ea typeface="Avenir Book" charset="0"/>
              <a:cs typeface="Avenir Book" charset="0"/>
            </a:endParaRPr>
          </a:p>
          <a:p>
            <a:pPr marL="342900" indent="-342900" defTabSz="804672">
              <a:lnSpc>
                <a:spcPct val="100000"/>
              </a:lnSpc>
              <a:spcBef>
                <a:spcPts val="900"/>
              </a:spcBef>
              <a:buFont typeface="Wingdings" pitchFamily="2" charset="2"/>
              <a:buChar char="Ø"/>
              <a:defRPr sz="1584"/>
            </a:pPr>
            <a:r>
              <a:rPr lang="en-US" sz="2200" b="1" dirty="0">
                <a:ea typeface="Avenir Book" charset="0"/>
                <a:cs typeface="Avenir Book" charset="0"/>
              </a:rPr>
              <a:t>Software: General Public License (GPL) 3.0 </a:t>
            </a:r>
            <a:r>
              <a:rPr lang="en-US" sz="2200" dirty="0">
                <a:ea typeface="Avenir Book" charset="0"/>
                <a:cs typeface="Avenir Book" charset="0"/>
              </a:rPr>
              <a:t>You have the the freedom to use the software for any purpose, the freedom to change the software, and distribute it. When redistributing  versions of the </a:t>
            </a:r>
            <a:r>
              <a:rPr lang="en-US" sz="2200" b="1" dirty="0">
                <a:ea typeface="Avenir Book" charset="0"/>
                <a:cs typeface="Avenir Book" charset="0"/>
              </a:rPr>
              <a:t>software </a:t>
            </a:r>
            <a:r>
              <a:rPr lang="en-US" sz="2200" b="1" u="sng" dirty="0">
                <a:ea typeface="Avenir Book" charset="0"/>
                <a:cs typeface="Avenir Book" charset="0"/>
              </a:rPr>
              <a:t>you have to </a:t>
            </a:r>
            <a:r>
              <a:rPr lang="en-US" sz="2200" b="1" u="sng" dirty="0">
                <a:solidFill>
                  <a:schemeClr val="accent2"/>
                </a:solidFill>
                <a:ea typeface="Avenir Book" charset="0"/>
                <a:cs typeface="Avenir Book" charset="0"/>
              </a:rPr>
              <a:t>grant the same rights to the subsequent users </a:t>
            </a:r>
            <a:endParaRPr lang="en-US" sz="2200" b="1" dirty="0">
              <a:ea typeface="Avenir Book" charset="0"/>
              <a:cs typeface="Avenir Book" charset="0"/>
            </a:endParaRPr>
          </a:p>
          <a:p>
            <a:pPr marL="342900" indent="-342900" defTabSz="804672">
              <a:lnSpc>
                <a:spcPct val="100000"/>
              </a:lnSpc>
              <a:spcBef>
                <a:spcPts val="900"/>
              </a:spcBef>
              <a:buFont typeface="Wingdings" pitchFamily="2" charset="2"/>
              <a:buChar char="Ø"/>
              <a:defRPr sz="1584"/>
            </a:pPr>
            <a:endParaRPr lang="en-US" sz="2200" b="1" dirty="0">
              <a:ea typeface="Avenir Book" charset="0"/>
              <a:cs typeface="Avenir Book" charset="0"/>
            </a:endParaRPr>
          </a:p>
          <a:p>
            <a:pPr indent="0" defTabSz="804672">
              <a:lnSpc>
                <a:spcPct val="100000"/>
              </a:lnSpc>
              <a:spcBef>
                <a:spcPts val="900"/>
              </a:spcBef>
              <a:buNone/>
              <a:defRPr sz="1584"/>
            </a:pPr>
            <a:endParaRPr lang="en-US" sz="2200" b="1" dirty="0">
              <a:ea typeface="Avenir Book" charset="0"/>
              <a:cs typeface="Avenir Book" charset="0"/>
            </a:endParaRPr>
          </a:p>
          <a:p>
            <a:pPr marL="342900" indent="-342900" defTabSz="804672">
              <a:lnSpc>
                <a:spcPct val="100000"/>
              </a:lnSpc>
              <a:spcBef>
                <a:spcPts val="900"/>
              </a:spcBef>
              <a:buFont typeface="Wingdings" pitchFamily="2" charset="2"/>
              <a:buChar char="Ø"/>
              <a:defRPr sz="1584"/>
            </a:pPr>
            <a:r>
              <a:rPr lang="en-US" sz="2200" b="1" dirty="0">
                <a:ea typeface="Avenir Book" charset="0"/>
                <a:cs typeface="Avenir Book" charset="0"/>
              </a:rPr>
              <a:t>Hardware </a:t>
            </a:r>
            <a:r>
              <a:rPr lang="en-US" sz="2200" b="1" dirty="0" err="1">
                <a:ea typeface="Avenir Book" charset="0"/>
                <a:cs typeface="Avenir Book" charset="0"/>
              </a:rPr>
              <a:t>Licence</a:t>
            </a:r>
            <a:r>
              <a:rPr lang="en-US" sz="2200" b="1" dirty="0">
                <a:ea typeface="Avenir Book" charset="0"/>
                <a:cs typeface="Avenir Book" charset="0"/>
              </a:rPr>
              <a:t> (CERN OHL)</a:t>
            </a:r>
            <a:r>
              <a:rPr lang="en-US" sz="2200" dirty="0">
                <a:ea typeface="Avenir Book" charset="0"/>
                <a:cs typeface="Avenir Book" charset="0"/>
              </a:rPr>
              <a:t> You </a:t>
            </a:r>
            <a:r>
              <a:rPr lang="en-US" sz="2200" dirty="0">
                <a:solidFill>
                  <a:schemeClr val="accent2"/>
                </a:solidFill>
                <a:ea typeface="Avenir Book" charset="0"/>
                <a:cs typeface="Avenir Book" charset="0"/>
              </a:rPr>
              <a:t>are required to share the improvements</a:t>
            </a:r>
            <a:r>
              <a:rPr lang="en-US" sz="2200" dirty="0">
                <a:solidFill>
                  <a:schemeClr val="tx1">
                    <a:lumMod val="50000"/>
                    <a:lumOff val="50000"/>
                  </a:schemeClr>
                </a:solidFill>
                <a:ea typeface="Avenir Book" charset="0"/>
                <a:cs typeface="Avenir Book" charset="0"/>
              </a:rPr>
              <a:t> </a:t>
            </a:r>
            <a:r>
              <a:rPr lang="en-US" sz="2200" dirty="0">
                <a:ea typeface="Avenir Book" charset="0"/>
                <a:cs typeface="Avenir Book" charset="0"/>
              </a:rPr>
              <a:t>when distributing the product. The documentation must accompany the hardware. </a:t>
            </a:r>
            <a:endParaRPr lang="en-US" sz="2200" b="1" u="sng" dirty="0">
              <a:ea typeface="Avenir Book" charset="0"/>
              <a:cs typeface="Avenir Book" charset="0"/>
            </a:endParaRPr>
          </a:p>
          <a:p>
            <a:pPr marL="342900" indent="-342900" defTabSz="804672">
              <a:lnSpc>
                <a:spcPct val="100000"/>
              </a:lnSpc>
              <a:spcBef>
                <a:spcPts val="900"/>
              </a:spcBef>
              <a:buFont typeface="Wingdings" pitchFamily="2" charset="2"/>
              <a:buChar char="Ø"/>
              <a:defRPr sz="1584"/>
            </a:pPr>
            <a:r>
              <a:rPr lang="en-US" sz="2200" b="1" u="sng" dirty="0">
                <a:ea typeface="Avenir Book" charset="0"/>
                <a:cs typeface="Avenir Book" charset="0"/>
              </a:rPr>
              <a:t>Bottom line: You have open access to the design files </a:t>
            </a:r>
            <a:r>
              <a:rPr lang="en-US" sz="2200" b="1" u="sng" dirty="0">
                <a:solidFill>
                  <a:schemeClr val="accent2"/>
                </a:solidFill>
                <a:ea typeface="Avenir Book" charset="0"/>
                <a:cs typeface="Avenir Book" charset="0"/>
              </a:rPr>
              <a:t>but so do all your competitors</a:t>
            </a:r>
          </a:p>
        </p:txBody>
      </p:sp>
    </p:spTree>
    <p:extLst>
      <p:ext uri="{BB962C8B-B14F-4D97-AF65-F5344CB8AC3E}">
        <p14:creationId xmlns:p14="http://schemas.microsoft.com/office/powerpoint/2010/main" val="194590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Task:</a:t>
            </a:r>
          </a:p>
        </p:txBody>
      </p:sp>
      <p:sp>
        <p:nvSpPr>
          <p:cNvPr id="5" name="Content Placeholder 2"/>
          <p:cNvSpPr txBox="1">
            <a:spLocks/>
          </p:cNvSpPr>
          <p:nvPr/>
        </p:nvSpPr>
        <p:spPr bwMode="auto">
          <a:xfrm>
            <a:off x="1097280" y="2090371"/>
            <a:ext cx="10528663" cy="4481026"/>
          </a:xfrm>
          <a:prstGeom prst="rect">
            <a:avLst/>
          </a:prstGeom>
          <a:noFill/>
          <a:ln w="9525">
            <a:noFill/>
            <a:miter lim="800000"/>
            <a:headEnd/>
            <a:tailEnd/>
          </a:ln>
        </p:spPr>
        <p:txBody>
          <a:bodyPr vert="horz" wrap="square" lIns="0" tIns="0" rIns="0" bIns="0" numCol="2" anchor="t" anchorCtr="0" compatLnSpc="1">
            <a:prstTxWarp prst="textNoShape">
              <a:avLst/>
            </a:prstTxWarp>
            <a:noAutofit/>
          </a:bodyPr>
          <a:lstStyle>
            <a:lvl1pPr marL="342900" indent="-342900" algn="l" rtl="0" eaLnBrk="0" fontAlgn="base" hangingPunct="0">
              <a:spcBef>
                <a:spcPct val="0"/>
              </a:spcBef>
              <a:spcAft>
                <a:spcPct val="40000"/>
              </a:spcAft>
              <a:defRPr sz="2400">
                <a:solidFill>
                  <a:schemeClr val="tx1"/>
                </a:solidFill>
                <a:latin typeface="+mn-lt"/>
                <a:ea typeface="ＭＳ Ｐゴシック" pitchFamily="-65" charset="-128"/>
                <a:cs typeface="ＭＳ Ｐゴシック" pitchFamily="-65" charset="-128"/>
              </a:defRPr>
            </a:lvl1pPr>
            <a:lvl2pPr marL="271463" indent="-269875" algn="l" rtl="0" eaLnBrk="0" fontAlgn="base" hangingPunct="0">
              <a:spcBef>
                <a:spcPct val="0"/>
              </a:spcBef>
              <a:spcAft>
                <a:spcPct val="40000"/>
              </a:spcAft>
              <a:buChar char="•"/>
              <a:defRPr sz="2000">
                <a:solidFill>
                  <a:schemeClr val="tx1"/>
                </a:solidFill>
                <a:latin typeface="+mn-lt"/>
                <a:ea typeface="ＭＳ Ｐゴシック" pitchFamily="-109" charset="-128"/>
              </a:defRPr>
            </a:lvl2pPr>
            <a:lvl3pPr marL="542925" indent="-269875" algn="l" rtl="0" eaLnBrk="0" fontAlgn="base" hangingPunct="0">
              <a:spcBef>
                <a:spcPct val="0"/>
              </a:spcBef>
              <a:spcAft>
                <a:spcPct val="40000"/>
              </a:spcAft>
              <a:buChar char="•"/>
              <a:defRPr sz="2000">
                <a:solidFill>
                  <a:schemeClr val="tx1"/>
                </a:solidFill>
                <a:latin typeface="+mn-lt"/>
                <a:ea typeface="ＭＳ Ｐゴシック" pitchFamily="-109" charset="-128"/>
              </a:defRPr>
            </a:lvl3pPr>
            <a:lvl4pPr marL="809625" indent="-265113" algn="l" rtl="0" eaLnBrk="0" fontAlgn="base" hangingPunct="0">
              <a:spcBef>
                <a:spcPct val="0"/>
              </a:spcBef>
              <a:spcAft>
                <a:spcPct val="40000"/>
              </a:spcAft>
              <a:buChar char="•"/>
              <a:defRPr sz="2000">
                <a:solidFill>
                  <a:schemeClr val="tx1"/>
                </a:solidFill>
                <a:latin typeface="+mn-lt"/>
                <a:ea typeface="ＭＳ Ｐゴシック" pitchFamily="-109" charset="-128"/>
              </a:defRPr>
            </a:lvl4pPr>
            <a:lvl5pPr marL="1081088" indent="-269875" algn="l" rtl="0" eaLnBrk="0" fontAlgn="base" hangingPunct="0">
              <a:spcBef>
                <a:spcPct val="0"/>
              </a:spcBef>
              <a:spcAft>
                <a:spcPct val="40000"/>
              </a:spcAft>
              <a:buChar char="•"/>
              <a:defRPr sz="2000">
                <a:solidFill>
                  <a:schemeClr val="tx1"/>
                </a:solidFill>
                <a:latin typeface="+mn-lt"/>
                <a:ea typeface="ＭＳ Ｐゴシック" pitchFamily="-109" charset="-128"/>
              </a:defRPr>
            </a:lvl5pPr>
            <a:lvl6pPr marL="1538288" indent="-269875" algn="l" rtl="0" fontAlgn="base">
              <a:spcBef>
                <a:spcPct val="0"/>
              </a:spcBef>
              <a:spcAft>
                <a:spcPct val="40000"/>
              </a:spcAft>
              <a:buChar char="•"/>
              <a:defRPr sz="2000">
                <a:solidFill>
                  <a:schemeClr val="tx1"/>
                </a:solidFill>
                <a:latin typeface="+mn-lt"/>
                <a:ea typeface="ＭＳ Ｐゴシック" pitchFamily="-109" charset="-128"/>
              </a:defRPr>
            </a:lvl6pPr>
            <a:lvl7pPr marL="1995488" indent="-269875" algn="l" rtl="0" fontAlgn="base">
              <a:spcBef>
                <a:spcPct val="0"/>
              </a:spcBef>
              <a:spcAft>
                <a:spcPct val="40000"/>
              </a:spcAft>
              <a:buChar char="•"/>
              <a:defRPr sz="2000">
                <a:solidFill>
                  <a:schemeClr val="tx1"/>
                </a:solidFill>
                <a:latin typeface="+mn-lt"/>
                <a:ea typeface="ＭＳ Ｐゴシック" pitchFamily="-109" charset="-128"/>
              </a:defRPr>
            </a:lvl7pPr>
            <a:lvl8pPr marL="2452688" indent="-269875" algn="l" rtl="0" fontAlgn="base">
              <a:spcBef>
                <a:spcPct val="0"/>
              </a:spcBef>
              <a:spcAft>
                <a:spcPct val="40000"/>
              </a:spcAft>
              <a:buChar char="•"/>
              <a:defRPr sz="2000">
                <a:solidFill>
                  <a:schemeClr val="tx1"/>
                </a:solidFill>
                <a:latin typeface="+mn-lt"/>
                <a:ea typeface="ＭＳ Ｐゴシック" pitchFamily="-109" charset="-128"/>
              </a:defRPr>
            </a:lvl8pPr>
            <a:lvl9pPr marL="2909888" indent="-269875" algn="l" rtl="0" fontAlgn="base">
              <a:spcBef>
                <a:spcPct val="0"/>
              </a:spcBef>
              <a:spcAft>
                <a:spcPct val="40000"/>
              </a:spcAft>
              <a:buChar char="•"/>
              <a:defRPr sz="2000">
                <a:solidFill>
                  <a:schemeClr val="tx1"/>
                </a:solidFill>
                <a:latin typeface="+mn-lt"/>
                <a:ea typeface="ＭＳ Ｐゴシック" pitchFamily="-109" charset="-128"/>
              </a:defRPr>
            </a:lvl9pPr>
          </a:lstStyle>
          <a:p>
            <a:pPr marL="182563" indent="0"/>
            <a:r>
              <a:rPr lang="en-US" sz="2800" b="1" kern="0" dirty="0"/>
              <a:t>Come up with a </a:t>
            </a:r>
            <a:r>
              <a:rPr lang="en-US" sz="2800" b="1" kern="0" dirty="0">
                <a:solidFill>
                  <a:schemeClr val="accent2"/>
                </a:solidFill>
              </a:rPr>
              <a:t>business</a:t>
            </a:r>
            <a:r>
              <a:rPr lang="en-US" sz="2800" b="1" kern="0" dirty="0">
                <a:solidFill>
                  <a:schemeClr val="tx1">
                    <a:lumMod val="50000"/>
                    <a:lumOff val="50000"/>
                  </a:schemeClr>
                </a:solidFill>
              </a:rPr>
              <a:t> </a:t>
            </a:r>
            <a:r>
              <a:rPr lang="en-US" sz="2800" b="1" kern="0" dirty="0"/>
              <a:t>based on the vacuum</a:t>
            </a:r>
          </a:p>
          <a:p>
            <a:pPr marL="182563" indent="0"/>
            <a:endParaRPr lang="en-US" sz="2800" b="1" kern="0" dirty="0"/>
          </a:p>
          <a:p>
            <a:pPr marL="525463">
              <a:buFont typeface="Wingdings" pitchFamily="2" charset="2"/>
              <a:buChar char="Ø"/>
            </a:pPr>
            <a:r>
              <a:rPr lang="en-US" sz="2800" kern="0" dirty="0"/>
              <a:t>Who are your customers?</a:t>
            </a:r>
          </a:p>
          <a:p>
            <a:pPr marL="525463">
              <a:buFont typeface="Wingdings" pitchFamily="2" charset="2"/>
              <a:buChar char="Ø"/>
            </a:pPr>
            <a:r>
              <a:rPr lang="en-US" sz="2800" kern="0" dirty="0"/>
              <a:t>What value do you offer them?</a:t>
            </a:r>
          </a:p>
          <a:p>
            <a:pPr marL="525463">
              <a:buFont typeface="Wingdings" pitchFamily="2" charset="2"/>
              <a:buChar char="Ø"/>
            </a:pPr>
            <a:r>
              <a:rPr lang="en-US" sz="2800" kern="0" dirty="0"/>
              <a:t>How / when do they pay?</a:t>
            </a:r>
          </a:p>
          <a:p>
            <a:pPr marL="182563" indent="0"/>
            <a:endParaRPr lang="en-US" sz="2800" kern="0" dirty="0"/>
          </a:p>
          <a:p>
            <a:pPr indent="0"/>
            <a:endParaRPr lang="en-US" sz="2800" kern="0" dirty="0"/>
          </a:p>
          <a:p>
            <a:pPr indent="0"/>
            <a:endParaRPr lang="en-US" sz="2800" kern="0" dirty="0"/>
          </a:p>
          <a:p>
            <a:pPr indent="0"/>
            <a:r>
              <a:rPr lang="en-US" sz="2800" b="1" kern="0" dirty="0"/>
              <a:t>Typical business models:</a:t>
            </a:r>
          </a:p>
          <a:p>
            <a:pPr indent="0"/>
            <a:r>
              <a:rPr lang="en-US" sz="2800" b="1" kern="0" dirty="0"/>
              <a:t> </a:t>
            </a:r>
          </a:p>
          <a:p>
            <a:pPr marL="571500">
              <a:spcBef>
                <a:spcPts val="600"/>
              </a:spcBef>
              <a:buClr>
                <a:schemeClr val="tx1"/>
              </a:buClr>
              <a:buFontTx/>
              <a:buAutoNum type="arabicPeriod"/>
            </a:pPr>
            <a:r>
              <a:rPr lang="en-US" sz="2800" kern="0" dirty="0"/>
              <a:t>Product-based (selling things)</a:t>
            </a:r>
          </a:p>
          <a:p>
            <a:pPr marL="571500">
              <a:spcBef>
                <a:spcPts val="600"/>
              </a:spcBef>
              <a:buClr>
                <a:schemeClr val="tx1"/>
              </a:buClr>
              <a:buFontTx/>
              <a:buAutoNum type="arabicPeriod"/>
            </a:pPr>
            <a:r>
              <a:rPr lang="en-US" sz="2800" kern="0" dirty="0"/>
              <a:t>Service (knowing things)</a:t>
            </a:r>
          </a:p>
          <a:p>
            <a:pPr marL="571500">
              <a:spcBef>
                <a:spcPts val="600"/>
              </a:spcBef>
              <a:buClr>
                <a:schemeClr val="tx1"/>
              </a:buClr>
              <a:buFontTx/>
              <a:buAutoNum type="arabicPeriod"/>
            </a:pPr>
            <a:r>
              <a:rPr lang="en-US" sz="2800" kern="0" dirty="0"/>
              <a:t>Platform (hosting things) </a:t>
            </a:r>
          </a:p>
          <a:p>
            <a:pPr marL="571500">
              <a:spcBef>
                <a:spcPts val="600"/>
              </a:spcBef>
              <a:buClr>
                <a:schemeClr val="tx1"/>
              </a:buClr>
              <a:buFontTx/>
              <a:buAutoNum type="arabicPeriod"/>
            </a:pPr>
            <a:r>
              <a:rPr lang="en-US" sz="2800" kern="0" dirty="0"/>
              <a:t>Match-maker (connecting things)</a:t>
            </a:r>
          </a:p>
          <a:p>
            <a:pPr indent="0"/>
            <a:endParaRPr lang="en-US" sz="2800" kern="0" dirty="0"/>
          </a:p>
          <a:p>
            <a:endParaRPr lang="en-US" sz="2800" kern="0" dirty="0"/>
          </a:p>
        </p:txBody>
      </p:sp>
    </p:spTree>
    <p:extLst>
      <p:ext uri="{BB962C8B-B14F-4D97-AF65-F5344CB8AC3E}">
        <p14:creationId xmlns:p14="http://schemas.microsoft.com/office/powerpoint/2010/main" val="349565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challenge!</a:t>
            </a:r>
          </a:p>
        </p:txBody>
      </p:sp>
      <p:sp>
        <p:nvSpPr>
          <p:cNvPr id="4" name="Content Placeholder 2"/>
          <p:cNvSpPr>
            <a:spLocks noGrp="1"/>
          </p:cNvSpPr>
          <p:nvPr>
            <p:ph idx="1"/>
          </p:nvPr>
        </p:nvSpPr>
        <p:spPr>
          <a:xfrm>
            <a:off x="1128716" y="1984917"/>
            <a:ext cx="9598757" cy="4390220"/>
          </a:xfrm>
        </p:spPr>
        <p:txBody>
          <a:bodyPr numCol="2">
            <a:noAutofit/>
          </a:bodyPr>
          <a:lstStyle/>
          <a:p>
            <a:pPr marL="55563" indent="0">
              <a:buNone/>
            </a:pPr>
            <a:r>
              <a:rPr lang="en-US" sz="2800" dirty="0"/>
              <a:t>How would your group handle the following:</a:t>
            </a:r>
            <a:endParaRPr lang="en-US" sz="2800" b="1" dirty="0"/>
          </a:p>
          <a:p>
            <a:pPr marL="55563" indent="0"/>
            <a:r>
              <a:rPr lang="en-US" sz="2800" b="1" dirty="0">
                <a:solidFill>
                  <a:schemeClr val="accent2"/>
                </a:solidFill>
              </a:rPr>
              <a:t>A competing firm is offering a cheaper vacuum with similar features that builds from your design!</a:t>
            </a:r>
          </a:p>
          <a:p>
            <a:pPr marL="285750" indent="-285750"/>
            <a:endParaRPr lang="en-US" sz="2800" dirty="0"/>
          </a:p>
          <a:p>
            <a:pPr marL="0" indent="0">
              <a:buNone/>
            </a:pPr>
            <a:r>
              <a:rPr lang="en-US" sz="2800" dirty="0"/>
              <a:t>What can your firm do to prevent </a:t>
            </a:r>
            <a:r>
              <a:rPr lang="en-US" sz="2800" dirty="0">
                <a:solidFill>
                  <a:schemeClr val="accent2"/>
                </a:solidFill>
              </a:rPr>
              <a:t>“free riders” </a:t>
            </a:r>
            <a:r>
              <a:rPr lang="en-US" sz="2800" dirty="0"/>
              <a:t>from competing?</a:t>
            </a:r>
          </a:p>
          <a:p>
            <a:pPr marL="0" indent="0">
              <a:buNone/>
            </a:pPr>
            <a:r>
              <a:rPr lang="en-US" sz="2800" dirty="0"/>
              <a:t>What is your relationship with the open community?</a:t>
            </a:r>
            <a:endParaRPr lang="en-US" sz="2400" dirty="0"/>
          </a:p>
          <a:p>
            <a:pPr marL="1028700" lvl="1" indent="-285750"/>
            <a:r>
              <a:rPr lang="en-US" sz="2400" dirty="0"/>
              <a:t>Legal / contractual?</a:t>
            </a:r>
          </a:p>
          <a:p>
            <a:pPr marL="1028700" lvl="1" indent="-285750"/>
            <a:r>
              <a:rPr lang="en-US" sz="2400" dirty="0"/>
              <a:t>Informal social norms?</a:t>
            </a:r>
          </a:p>
          <a:p>
            <a:pPr marL="1028700" lvl="1" indent="-285750"/>
            <a:r>
              <a:rPr lang="en-US" sz="2400" dirty="0"/>
              <a:t>Competition / exclusivity?</a:t>
            </a:r>
          </a:p>
          <a:p>
            <a:pPr marL="285750" indent="-285750"/>
            <a:endParaRPr lang="en-US" sz="2800" dirty="0"/>
          </a:p>
          <a:p>
            <a:pPr marL="285750" indent="-285750"/>
            <a:endParaRPr lang="en-US" sz="2800" dirty="0"/>
          </a:p>
          <a:p>
            <a:pPr indent="0">
              <a:buNone/>
            </a:pPr>
            <a:endParaRPr lang="en-US" sz="2800" dirty="0"/>
          </a:p>
          <a:p>
            <a:endParaRPr lang="en-US" sz="2800" dirty="0"/>
          </a:p>
        </p:txBody>
      </p:sp>
      <p:pic>
        <p:nvPicPr>
          <p:cNvPr id="1026" name="Picture 2" descr="Competitions and Events - England Athletics">
            <a:extLst>
              <a:ext uri="{FF2B5EF4-FFF2-40B4-BE49-F238E27FC236}">
                <a16:creationId xmlns:a16="http://schemas.microsoft.com/office/drawing/2014/main" id="{3B735FAB-44C2-B54C-2C74-FEB9E3385C44}"/>
              </a:ext>
            </a:extLst>
          </p:cNvPr>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6745036" y="4436997"/>
            <a:ext cx="4318248" cy="213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2325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82991" y="1530513"/>
            <a:ext cx="9461183" cy="5632311"/>
          </a:xfrm>
          <a:prstGeom prst="rect">
            <a:avLst/>
          </a:prstGeom>
          <a:noFill/>
        </p:spPr>
        <p:txBody>
          <a:bodyPr wrap="square" rtlCol="0">
            <a:spAutoFit/>
          </a:bodyPr>
          <a:lstStyle/>
          <a:p>
            <a:pPr marL="342900" indent="-342900">
              <a:buClr>
                <a:schemeClr val="accent2"/>
              </a:buClr>
              <a:buFont typeface="Arial" panose="020B0604020202020204" pitchFamily="34" charset="0"/>
              <a:buChar char="•"/>
            </a:pPr>
            <a:endParaRPr lang="en-GB" sz="2400" dirty="0">
              <a:solidFill>
                <a:srgbClr val="000000"/>
              </a:solidFill>
            </a:endParaRPr>
          </a:p>
          <a:p>
            <a:pPr marL="342900" indent="-342900">
              <a:buClr>
                <a:schemeClr val="accent2"/>
              </a:buClr>
              <a:buFont typeface="Arial" panose="020B0604020202020204" pitchFamily="34" charset="0"/>
              <a:buChar char="•"/>
            </a:pPr>
            <a:r>
              <a:rPr lang="en-GB" sz="2400" dirty="0">
                <a:solidFill>
                  <a:srgbClr val="000000"/>
                </a:solidFill>
              </a:rPr>
              <a:t>What are advantages to firms opening their IP? What are some disadvantages?</a:t>
            </a:r>
          </a:p>
          <a:p>
            <a:pPr marL="342900" indent="-342900">
              <a:buClr>
                <a:schemeClr val="accent2"/>
              </a:buClr>
              <a:buFont typeface="Arial" panose="020B0604020202020204" pitchFamily="34" charset="0"/>
              <a:buChar char="•"/>
            </a:pPr>
            <a:endParaRPr lang="en-GB" sz="2400" dirty="0">
              <a:solidFill>
                <a:srgbClr val="000000"/>
              </a:solidFill>
            </a:endParaRPr>
          </a:p>
          <a:p>
            <a:pPr marL="342900" indent="-342900">
              <a:buClr>
                <a:schemeClr val="accent2"/>
              </a:buClr>
              <a:buFont typeface="Arial" panose="020B0604020202020204" pitchFamily="34" charset="0"/>
              <a:buChar char="•"/>
            </a:pPr>
            <a:r>
              <a:rPr lang="en-GB" sz="2400" dirty="0">
                <a:solidFill>
                  <a:srgbClr val="000000"/>
                </a:solidFill>
              </a:rPr>
              <a:t>To what extent should policy makers encourage open access to hardware / software?</a:t>
            </a:r>
          </a:p>
          <a:p>
            <a:pPr marL="342900" indent="-342900">
              <a:buClr>
                <a:schemeClr val="accent2"/>
              </a:buClr>
              <a:buFont typeface="Arial" panose="020B0604020202020204" pitchFamily="34" charset="0"/>
              <a:buChar char="•"/>
            </a:pPr>
            <a:endParaRPr lang="en-GB" sz="2400" dirty="0">
              <a:solidFill>
                <a:srgbClr val="000000"/>
              </a:solidFill>
            </a:endParaRPr>
          </a:p>
          <a:p>
            <a:pPr marL="342900" indent="-342900">
              <a:buClr>
                <a:schemeClr val="accent2"/>
              </a:buClr>
              <a:buFont typeface="Arial" panose="020B0604020202020204" pitchFamily="34" charset="0"/>
              <a:buChar char="•"/>
            </a:pPr>
            <a:r>
              <a:rPr lang="en-GB" sz="2400" dirty="0">
                <a:solidFill>
                  <a:srgbClr val="000000"/>
                </a:solidFill>
              </a:rPr>
              <a:t>Are private rights or open sharing better for stimulating new technology markets?</a:t>
            </a:r>
          </a:p>
          <a:p>
            <a:pPr marL="342900" indent="-342900">
              <a:buClr>
                <a:schemeClr val="accent2"/>
              </a:buClr>
              <a:buFont typeface="Arial" panose="020B0604020202020204" pitchFamily="34" charset="0"/>
              <a:buChar char="•"/>
            </a:pPr>
            <a:endParaRPr lang="en-GB" sz="2400" dirty="0">
              <a:solidFill>
                <a:srgbClr val="000000"/>
              </a:solidFill>
            </a:endParaRPr>
          </a:p>
          <a:p>
            <a:pPr marL="342900" indent="-342900">
              <a:spcBef>
                <a:spcPts val="0"/>
              </a:spcBef>
              <a:spcAft>
                <a:spcPts val="0"/>
              </a:spcAft>
              <a:buClr>
                <a:schemeClr val="accent2"/>
              </a:buClr>
              <a:buSzPts val="2400"/>
              <a:buFont typeface="Arial" panose="020B0604020202020204" pitchFamily="34" charset="0"/>
              <a:buChar char="•"/>
            </a:pPr>
            <a:r>
              <a:rPr lang="en-US" sz="2400" b="1" dirty="0">
                <a:solidFill>
                  <a:schemeClr val="tx1"/>
                </a:solidFill>
              </a:rPr>
              <a:t> IP rights </a:t>
            </a:r>
            <a:r>
              <a:rPr lang="en-US" sz="2400" dirty="0">
                <a:solidFill>
                  <a:schemeClr val="tx1"/>
                </a:solidFill>
              </a:rPr>
              <a:t>are not always first choice governance mechanism.</a:t>
            </a:r>
          </a:p>
          <a:p>
            <a:pPr marL="800100" lvl="1" indent="-342900">
              <a:spcBef>
                <a:spcPts val="0"/>
              </a:spcBef>
              <a:spcAft>
                <a:spcPts val="0"/>
              </a:spcAft>
              <a:buClr>
                <a:schemeClr val="accent2"/>
              </a:buClr>
              <a:buSzPts val="2400"/>
              <a:buFont typeface="Arial" panose="020B0604020202020204" pitchFamily="34" charset="0"/>
              <a:buChar char="•"/>
            </a:pPr>
            <a:r>
              <a:rPr lang="en-US" sz="2400" dirty="0">
                <a:solidFill>
                  <a:schemeClr val="tx1"/>
                </a:solidFill>
              </a:rPr>
              <a:t>impose costs on co-creation</a:t>
            </a:r>
          </a:p>
          <a:p>
            <a:pPr marL="800100" lvl="1" indent="-342900">
              <a:spcBef>
                <a:spcPts val="0"/>
              </a:spcBef>
              <a:spcAft>
                <a:spcPts val="0"/>
              </a:spcAft>
              <a:buClr>
                <a:schemeClr val="accent2"/>
              </a:buClr>
              <a:buSzPts val="2400"/>
              <a:buFont typeface="Arial" panose="020B0604020202020204" pitchFamily="34" charset="0"/>
              <a:buChar char="•"/>
            </a:pPr>
            <a:r>
              <a:rPr lang="en-US" sz="2400" dirty="0">
                <a:solidFill>
                  <a:schemeClr val="tx1"/>
                </a:solidFill>
              </a:rPr>
              <a:t>originate outside community norms</a:t>
            </a:r>
          </a:p>
          <a:p>
            <a:endParaRPr lang="en-GB" sz="2400" dirty="0">
              <a:solidFill>
                <a:srgbClr val="000000"/>
              </a:solidFill>
            </a:endParaRPr>
          </a:p>
          <a:p>
            <a:endParaRPr lang="en-GB" sz="2400" dirty="0">
              <a:solidFill>
                <a:srgbClr val="000000"/>
              </a:solidFill>
            </a:endParaRPr>
          </a:p>
        </p:txBody>
      </p:sp>
      <p:sp>
        <p:nvSpPr>
          <p:cNvPr id="6" name="Google Shape;294;p21">
            <a:extLst>
              <a:ext uri="{FF2B5EF4-FFF2-40B4-BE49-F238E27FC236}">
                <a16:creationId xmlns:a16="http://schemas.microsoft.com/office/drawing/2014/main" id="{A94C6E5E-C0BC-D27A-2FC9-E018DF70272C}"/>
              </a:ext>
            </a:extLst>
          </p:cNvPr>
          <p:cNvSpPr txBox="1">
            <a:spLocks noGrp="1"/>
          </p:cNvSpPr>
          <p:nvPr>
            <p:ph type="title"/>
          </p:nvPr>
        </p:nvSpPr>
        <p:spPr>
          <a:xfrm>
            <a:off x="1082991" y="481477"/>
            <a:ext cx="8538529" cy="1143000"/>
          </a:xfrm>
          <a:prstGeom prst="rect">
            <a:avLst/>
          </a:prstGeom>
          <a:noFill/>
          <a:ln>
            <a:noFill/>
          </a:ln>
        </p:spPr>
        <p:txBody>
          <a:bodyPr spcFirstLastPara="1" vert="horz" wrap="square" lIns="91425" tIns="45700" rIns="91425" bIns="45700" rtlCol="0" anchor="ctr" anchorCtr="0">
            <a:normAutofit/>
          </a:bodyPr>
          <a:lstStyle/>
          <a:p>
            <a:pPr>
              <a:spcBef>
                <a:spcPts val="0"/>
              </a:spcBef>
              <a:buClr>
                <a:srgbClr val="7030A0"/>
              </a:buClr>
              <a:buSzPct val="100000"/>
            </a:pPr>
            <a:r>
              <a:rPr lang="en-US" dirty="0">
                <a:solidFill>
                  <a:schemeClr val="accent2"/>
                </a:solidFill>
                <a:latin typeface="Avenir"/>
                <a:ea typeface="Avenir"/>
                <a:cs typeface="Avenir"/>
                <a:sym typeface="Avenir"/>
              </a:rPr>
              <a:t>Concluding thoughts:</a:t>
            </a:r>
            <a:endParaRPr dirty="0">
              <a:solidFill>
                <a:schemeClr val="accent2"/>
              </a:solidFill>
              <a:latin typeface="Avenir"/>
              <a:ea typeface="Avenir"/>
              <a:cs typeface="Avenir"/>
              <a:sym typeface="Avenir"/>
            </a:endParaRPr>
          </a:p>
        </p:txBody>
      </p:sp>
    </p:spTree>
    <p:extLst>
      <p:ext uri="{BB962C8B-B14F-4D97-AF65-F5344CB8AC3E}">
        <p14:creationId xmlns:p14="http://schemas.microsoft.com/office/powerpoint/2010/main" val="565731082"/>
      </p:ext>
    </p:extLst>
  </p:cSld>
  <p:clrMapOvr>
    <a:masterClrMapping/>
  </p:clrMapOvr>
  <p:transition/>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ushVTI">
  <a:themeElements>
    <a:clrScheme name="AnalogousFromLightSeedLeftStep">
      <a:dk1>
        <a:srgbClr val="000000"/>
      </a:dk1>
      <a:lt1>
        <a:srgbClr val="FFFFFF"/>
      </a:lt1>
      <a:dk2>
        <a:srgbClr val="223A3C"/>
      </a:dk2>
      <a:lt2>
        <a:srgbClr val="E8E7E2"/>
      </a:lt2>
      <a:accent1>
        <a:srgbClr val="8B95D1"/>
      </a:accent1>
      <a:accent2>
        <a:srgbClr val="71A2C7"/>
      </a:accent2>
      <a:accent3>
        <a:srgbClr val="73ACAD"/>
      </a:accent3>
      <a:accent4>
        <a:srgbClr val="66B394"/>
      </a:accent4>
      <a:accent5>
        <a:srgbClr val="71B27D"/>
      </a:accent5>
      <a:accent6>
        <a:srgbClr val="77B265"/>
      </a:accent6>
      <a:hlink>
        <a:srgbClr val="8B8354"/>
      </a:hlink>
      <a:folHlink>
        <a:srgbClr val="7F7F7F"/>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3.xml><?xml version="1.0" encoding="utf-8"?>
<a:theme xmlns:a="http://schemas.openxmlformats.org/drawingml/2006/main" name="UoG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oG theme" id="{130A3AEC-25B0-4B47-AF33-9F6F27AB77E3}" vid="{9DB1EF93-88B5-4D72-981C-49DE5CF845EC}"/>
    </a:ext>
  </a:extLst>
</a:theme>
</file>

<file path=ppt/theme/theme4.xml><?xml version="1.0" encoding="utf-8"?>
<a:theme xmlns:a="http://schemas.openxmlformats.org/drawingml/2006/main" name="UoG_PowerPoint_16.9">
  <a:themeElements>
    <a:clrScheme name="University colours">
      <a:dk1>
        <a:srgbClr val="002542"/>
      </a:dk1>
      <a:lt1>
        <a:srgbClr val="FFFFFE"/>
      </a:lt1>
      <a:dk2>
        <a:srgbClr val="354047"/>
      </a:dk2>
      <a:lt2>
        <a:srgbClr val="C54520"/>
      </a:lt2>
      <a:accent1>
        <a:srgbClr val="63548B"/>
      </a:accent1>
      <a:accent2>
        <a:srgbClr val="8D0C64"/>
      </a:accent2>
      <a:accent3>
        <a:srgbClr val="CF1C20"/>
      </a:accent3>
      <a:accent4>
        <a:srgbClr val="4B3B7D"/>
      </a:accent4>
      <a:accent5>
        <a:srgbClr val="003824"/>
      </a:accent5>
      <a:accent6>
        <a:srgbClr val="500B29"/>
      </a:accent6>
      <a:hlink>
        <a:srgbClr val="584B3D"/>
      </a:hlink>
      <a:folHlink>
        <a:srgbClr val="0068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24056</TotalTime>
  <Words>1477</Words>
  <Application>Microsoft Macintosh PowerPoint</Application>
  <PresentationFormat>Widescreen</PresentationFormat>
  <Paragraphs>270</Paragraphs>
  <Slides>36</Slides>
  <Notes>17</Notes>
  <HiddenSlides>0</HiddenSlides>
  <MMClips>0</MMClips>
  <ScaleCrop>false</ScaleCrop>
  <HeadingPairs>
    <vt:vector size="8" baseType="variant">
      <vt:variant>
        <vt:lpstr>Fonts Used</vt:lpstr>
      </vt:variant>
      <vt:variant>
        <vt:i4>15</vt:i4>
      </vt:variant>
      <vt:variant>
        <vt:lpstr>Theme</vt:lpstr>
      </vt:variant>
      <vt:variant>
        <vt:i4>5</vt:i4>
      </vt:variant>
      <vt:variant>
        <vt:lpstr>Embedded OLE Servers</vt:lpstr>
      </vt:variant>
      <vt:variant>
        <vt:i4>1</vt:i4>
      </vt:variant>
      <vt:variant>
        <vt:lpstr>Slide Titles</vt:lpstr>
      </vt:variant>
      <vt:variant>
        <vt:i4>36</vt:i4>
      </vt:variant>
    </vt:vector>
  </HeadingPairs>
  <TitlesOfParts>
    <vt:vector size="57" baseType="lpstr">
      <vt:lpstr>Aptos</vt:lpstr>
      <vt:lpstr>Arial</vt:lpstr>
      <vt:lpstr>Avenir</vt:lpstr>
      <vt:lpstr>Avenir Book</vt:lpstr>
      <vt:lpstr>Calibri</vt:lpstr>
      <vt:lpstr>Calibri Light</vt:lpstr>
      <vt:lpstr>Century Gothic</vt:lpstr>
      <vt:lpstr>Helvetica</vt:lpstr>
      <vt:lpstr>Noto Sans Symbols</vt:lpstr>
      <vt:lpstr>Palatino</vt:lpstr>
      <vt:lpstr>Times New Roman</vt:lpstr>
      <vt:lpstr>Tw Cen MT</vt:lpstr>
      <vt:lpstr>Tw Cen MT Condensed</vt:lpstr>
      <vt:lpstr>Wingdings</vt:lpstr>
      <vt:lpstr>Wingdings 3</vt:lpstr>
      <vt:lpstr>BrushVTI</vt:lpstr>
      <vt:lpstr>Integral</vt:lpstr>
      <vt:lpstr>UoG theme</vt:lpstr>
      <vt:lpstr>UoG_PowerPoint_16.9</vt:lpstr>
      <vt:lpstr>Retrospect</vt:lpstr>
      <vt:lpstr>Word.Document.12</vt:lpstr>
      <vt:lpstr>PowerPoint Presentation</vt:lpstr>
      <vt:lpstr>Schedule </vt:lpstr>
      <vt:lpstr>PowerPoint Presentation</vt:lpstr>
      <vt:lpstr>This session</vt:lpstr>
      <vt:lpstr>1. Lack of protection: subject matter &amp; idea/expression dichotomy</vt:lpstr>
      <vt:lpstr>Dramatic works</vt:lpstr>
      <vt:lpstr>PowerPoint Presentation</vt:lpstr>
      <vt:lpstr>Legal means of plugging IP protection gaps</vt:lpstr>
      <vt:lpstr>Commons and its tragedy</vt:lpstr>
      <vt:lpstr>So, solution?</vt:lpstr>
      <vt:lpstr>Common-Pool Resources (Elinor Ostrom 1990)</vt:lpstr>
      <vt:lpstr>Bottom-up registries</vt:lpstr>
      <vt:lpstr>A legal innovation:</vt:lpstr>
      <vt:lpstr>The Cathedral and the Bazaar</vt:lpstr>
      <vt:lpstr>Part 2: Examples of Open Innovation</vt:lpstr>
      <vt:lpstr>Example: Kickstarter and crowdfunding</vt:lpstr>
      <vt:lpstr>Study: Kickstarter and crowdfunding</vt:lpstr>
      <vt:lpstr>Methods</vt:lpstr>
      <vt:lpstr>PowerPoint Presentation</vt:lpstr>
      <vt:lpstr>PowerPoint Presentation</vt:lpstr>
      <vt:lpstr>Benefits of inbound open innovation</vt:lpstr>
      <vt:lpstr>Costs of inbound open innovation</vt:lpstr>
      <vt:lpstr>Type 2: Downstream openness to user community</vt:lpstr>
      <vt:lpstr>PowerPoint Presentation</vt:lpstr>
      <vt:lpstr>PowerPoint Presentation</vt:lpstr>
      <vt:lpstr>PowerPoint Presentation</vt:lpstr>
      <vt:lpstr>Case example: Kerbal Space Program</vt:lpstr>
      <vt:lpstr>PowerPoint Presentation</vt:lpstr>
      <vt:lpstr>PowerPoint Presentation</vt:lpstr>
      <vt:lpstr>PowerPoint Presentation</vt:lpstr>
      <vt:lpstr>Part 3: Business Model Scenario Challenge</vt:lpstr>
      <vt:lpstr>What you start with:</vt:lpstr>
      <vt:lpstr>Details of license</vt:lpstr>
      <vt:lpstr>The Task:</vt:lpstr>
      <vt:lpstr>New challenge!</vt:lpstr>
      <vt:lpstr>Concluding thoughts: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research excellence framework (REF)</dc:title>
  <dc:creator>Fiona Leverick</dc:creator>
  <cp:lastModifiedBy>Kristofer Erickson</cp:lastModifiedBy>
  <cp:revision>73</cp:revision>
  <dcterms:created xsi:type="dcterms:W3CDTF">2021-09-01T09:03:14Z</dcterms:created>
  <dcterms:modified xsi:type="dcterms:W3CDTF">2026-03-01T10:02:33Z</dcterms:modified>
</cp:coreProperties>
</file>