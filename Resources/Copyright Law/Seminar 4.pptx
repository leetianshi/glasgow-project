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74" r:id="rId3"/>
    <p:sldId id="299" r:id="rId4"/>
    <p:sldId id="307" r:id="rId5"/>
    <p:sldId id="280" r:id="rId6"/>
    <p:sldId id="370" r:id="rId7"/>
    <p:sldId id="309" r:id="rId8"/>
    <p:sldId id="331" r:id="rId9"/>
    <p:sldId id="329" r:id="rId10"/>
    <p:sldId id="320" r:id="rId11"/>
    <p:sldId id="372" r:id="rId12"/>
    <p:sldId id="321" r:id="rId13"/>
    <p:sldId id="311" r:id="rId14"/>
    <p:sldId id="318" r:id="rId15"/>
    <p:sldId id="315" r:id="rId16"/>
    <p:sldId id="316" r:id="rId17"/>
    <p:sldId id="313" r:id="rId18"/>
    <p:sldId id="314" r:id="rId19"/>
    <p:sldId id="319" r:id="rId20"/>
    <p:sldId id="330" r:id="rId21"/>
    <p:sldId id="336" r:id="rId22"/>
    <p:sldId id="294" r:id="rId23"/>
  </p:sldIdLst>
  <p:sldSz cx="17340263"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765"/>
    <a:srgbClr val="EC62A7"/>
    <a:srgbClr val="D17D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3175" cap="flat">
              <a:noFill/>
              <a:miter lim="400000"/>
            </a:ln>
          </a:right>
          <a:top>
            <a:ln w="12700" cap="flat">
              <a:noFill/>
              <a:miter lim="400000"/>
            </a:ln>
          </a:top>
          <a:bottom>
            <a:ln w="12700" cap="flat">
              <a:noFill/>
              <a:miter lim="400000"/>
            </a:ln>
          </a:bottom>
          <a:insideH>
            <a:ln w="12700" cap="flat">
              <a:noFill/>
              <a:miter lim="400000"/>
            </a:ln>
          </a:insideH>
          <a:insideV>
            <a:ln w="3175"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3175" cap="flat">
              <a:solidFill>
                <a:srgbClr val="3797C6"/>
              </a:solidFill>
              <a:prstDash val="solid"/>
              <a:miter lim="400000"/>
            </a:ln>
          </a:top>
          <a:bottom>
            <a:ln w="12700" cap="flat">
              <a:noFill/>
              <a:miter lim="400000"/>
            </a:ln>
          </a:bottom>
          <a:insideH>
            <a:ln w="3175"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3175" cap="flat">
              <a:noFill/>
              <a:miter lim="400000"/>
            </a:ln>
          </a:bottom>
          <a:insideH>
            <a:ln w="3175"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3175" cap="flat">
              <a:solidFill>
                <a:srgbClr val="B8B8B8"/>
              </a:solidFill>
              <a:prstDash val="solid"/>
              <a:miter lim="400000"/>
            </a:ln>
          </a:left>
          <a:right>
            <a:ln w="3175" cap="flat">
              <a:solidFill>
                <a:srgbClr val="B8B8B8"/>
              </a:solidFill>
              <a:prstDash val="solid"/>
              <a:miter lim="400000"/>
            </a:ln>
          </a:right>
          <a:top>
            <a:ln w="3175" cap="flat">
              <a:solidFill>
                <a:srgbClr val="B8B8B8"/>
              </a:solidFill>
              <a:prstDash val="solid"/>
              <a:miter lim="400000"/>
            </a:ln>
          </a:top>
          <a:bottom>
            <a:ln w="3175" cap="flat">
              <a:solidFill>
                <a:srgbClr val="B8B8B8"/>
              </a:solidFill>
              <a:prstDash val="solid"/>
              <a:miter lim="400000"/>
            </a:ln>
          </a:bottom>
          <a:insideH>
            <a:ln w="3175" cap="flat">
              <a:solidFill>
                <a:srgbClr val="B8B8B8"/>
              </a:solidFill>
              <a:prstDash val="solid"/>
              <a:miter lim="400000"/>
            </a:ln>
          </a:insideH>
          <a:insideV>
            <a:ln w="3175"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3175" cap="flat">
              <a:solidFill>
                <a:srgbClr val="606060"/>
              </a:solidFill>
              <a:prstDash val="solid"/>
              <a:miter lim="400000"/>
            </a:ln>
          </a:left>
          <a:right>
            <a:ln w="3175" cap="flat">
              <a:solidFill>
                <a:srgbClr val="606060"/>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606060"/>
              </a:solidFill>
              <a:prstDash val="solid"/>
              <a:miter lim="400000"/>
            </a:ln>
          </a:insideH>
          <a:insideV>
            <a:ln w="3175"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3175" cap="flat">
              <a:solidFill>
                <a:srgbClr val="606060"/>
              </a:solidFill>
              <a:prstDash val="solid"/>
              <a:miter lim="400000"/>
            </a:ln>
          </a:left>
          <a:right>
            <a:ln w="3175" cap="flat">
              <a:solidFill>
                <a:srgbClr val="606060"/>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606060"/>
              </a:solidFill>
              <a:prstDash val="solid"/>
              <a:miter lim="400000"/>
            </a:ln>
          </a:insideH>
          <a:insideV>
            <a:ln w="3175"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3175" cap="flat">
              <a:solidFill>
                <a:srgbClr val="929292"/>
              </a:solidFill>
              <a:prstDash val="solid"/>
              <a:miter lim="400000"/>
            </a:ln>
          </a:left>
          <a:right>
            <a:ln w="3175" cap="flat">
              <a:solidFill>
                <a:srgbClr val="929292"/>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929292"/>
              </a:solidFill>
              <a:prstDash val="solid"/>
              <a:miter lim="400000"/>
            </a:ln>
          </a:insideH>
          <a:insideV>
            <a:ln w="3175"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3175" cap="flat">
              <a:solidFill>
                <a:srgbClr val="5D5D5D"/>
              </a:solidFill>
              <a:custDash>
                <a:ds d="200000" sp="200000"/>
              </a:custDash>
              <a:miter lim="400000"/>
            </a:ln>
          </a:left>
          <a:right>
            <a:ln w="3175" cap="flat">
              <a:solidFill>
                <a:srgbClr val="5D5D5D"/>
              </a:solidFill>
              <a:custDash>
                <a:ds d="200000" sp="200000"/>
              </a:custDash>
              <a:miter lim="400000"/>
            </a:ln>
          </a:right>
          <a:top>
            <a:ln w="3175" cap="flat">
              <a:solidFill>
                <a:srgbClr val="5D5D5D"/>
              </a:solidFill>
              <a:custDash>
                <a:ds d="200000" sp="200000"/>
              </a:custDash>
              <a:miter lim="400000"/>
            </a:ln>
          </a:top>
          <a:bottom>
            <a:ln w="3175" cap="flat">
              <a:solidFill>
                <a:srgbClr val="5D5D5D"/>
              </a:solidFill>
              <a:custDash>
                <a:ds d="200000" sp="200000"/>
              </a:custDash>
              <a:miter lim="400000"/>
            </a:ln>
          </a:bottom>
          <a:insideH>
            <a:ln w="3175" cap="flat">
              <a:solidFill>
                <a:srgbClr val="5D5D5D"/>
              </a:solidFill>
              <a:custDash>
                <a:ds d="200000" sp="200000"/>
              </a:custDash>
              <a:miter lim="400000"/>
            </a:ln>
          </a:insideH>
          <a:insideV>
            <a:ln w="3175"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3175" cap="flat">
              <a:solidFill>
                <a:srgbClr val="000000"/>
              </a:solidFill>
              <a:prstDash val="solid"/>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3175" cap="flat">
              <a:solidFill>
                <a:srgbClr val="000000"/>
              </a:solidFill>
              <a:prstDash val="solid"/>
              <a:miter lim="400000"/>
            </a:ln>
          </a:top>
          <a:bottom>
            <a:ln w="12700" cap="flat">
              <a:noFill/>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12700" cap="flat">
              <a:noFill/>
              <a:miter lim="400000"/>
            </a:ln>
          </a:top>
          <a:bottom>
            <a:ln w="3175" cap="flat">
              <a:solidFill>
                <a:srgbClr val="000000"/>
              </a:solidFill>
              <a:prstDash val="solid"/>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762" autoAdjust="0"/>
    <p:restoredTop sz="94558"/>
  </p:normalViewPr>
  <p:slideViewPr>
    <p:cSldViewPr snapToGrid="0" snapToObjects="1">
      <p:cViewPr varScale="1">
        <p:scale>
          <a:sx n="70" d="100"/>
          <a:sy n="70" d="100"/>
        </p:scale>
        <p:origin x="208" y="648"/>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381000" y="685800"/>
            <a:ext cx="6096000" cy="3429000"/>
          </a:xfrm>
          <a:prstGeom prst="rect">
            <a:avLst/>
          </a:prstGeom>
        </p:spPr>
        <p:txBody>
          <a:bodyPr/>
          <a:lstStyle/>
          <a:p>
            <a:endParaRPr/>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olo e sottotitolo">
    <p:spTree>
      <p:nvGrpSpPr>
        <p:cNvPr id="1" name=""/>
        <p:cNvGrpSpPr/>
        <p:nvPr/>
      </p:nvGrpSpPr>
      <p:grpSpPr>
        <a:xfrm>
          <a:off x="0" y="0"/>
          <a:ext cx="0" cy="0"/>
          <a:chOff x="0" y="0"/>
          <a:chExt cx="0" cy="0"/>
        </a:xfrm>
      </p:grpSpPr>
      <p:sp>
        <p:nvSpPr>
          <p:cNvPr id="11" name="Titolo Testo"/>
          <p:cNvSpPr txBox="1">
            <a:spLocks noGrp="1"/>
          </p:cNvSpPr>
          <p:nvPr>
            <p:ph type="title"/>
          </p:nvPr>
        </p:nvSpPr>
        <p:spPr>
          <a:prstGeom prst="rect">
            <a:avLst/>
          </a:prstGeom>
        </p:spPr>
        <p:txBody>
          <a:bodyPr/>
          <a:lstStyle/>
          <a:p>
            <a:r>
              <a:t>Titolo Testo</a:t>
            </a:r>
          </a:p>
        </p:txBody>
      </p:sp>
      <p:sp>
        <p:nvSpPr>
          <p:cNvPr id="12" name="Corpo livello uno…"/>
          <p:cNvSpPr txBox="1">
            <a:spLocks noGrp="1"/>
          </p:cNvSpPr>
          <p:nvPr>
            <p:ph type="body" sz="quarter" idx="1"/>
          </p:nvPr>
        </p:nvSpPr>
        <p:spPr>
          <a:prstGeom prst="rect">
            <a:avLst/>
          </a:prstGeom>
        </p:spPr>
        <p:txBody>
          <a:bodyPr/>
          <a:lstStyle/>
          <a:p>
            <a:r>
              <a:t>Corpo livello uno</a:t>
            </a:r>
          </a:p>
          <a:p>
            <a:pPr lvl="1"/>
            <a:r>
              <a:t>Corpo livello due</a:t>
            </a:r>
          </a:p>
          <a:p>
            <a:pPr lvl="2"/>
            <a:r>
              <a:t>Corpo livello tre</a:t>
            </a:r>
          </a:p>
          <a:p>
            <a:pPr lvl="3"/>
            <a:r>
              <a:t>Corpo livello quattro</a:t>
            </a:r>
          </a:p>
          <a:p>
            <a:pPr lvl="4"/>
            <a:r>
              <a:t>Corpo livello cinque</a:t>
            </a:r>
          </a:p>
        </p:txBody>
      </p:sp>
      <p:sp>
        <p:nvSpPr>
          <p:cNvPr id="13"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unti elenco">
    <p:spTree>
      <p:nvGrpSpPr>
        <p:cNvPr id="1" name=""/>
        <p:cNvGrpSpPr/>
        <p:nvPr/>
      </p:nvGrpSpPr>
      <p:grpSpPr>
        <a:xfrm>
          <a:off x="0" y="0"/>
          <a:ext cx="0" cy="0"/>
          <a:chOff x="0" y="0"/>
          <a:chExt cx="0" cy="0"/>
        </a:xfrm>
      </p:grpSpPr>
      <p:sp>
        <p:nvSpPr>
          <p:cNvPr id="75" name="Corpo livello uno…"/>
          <p:cNvSpPr txBox="1">
            <a:spLocks noGrp="1"/>
          </p:cNvSpPr>
          <p:nvPr>
            <p:ph type="body" sz="half" idx="1"/>
          </p:nvPr>
        </p:nvSpPr>
        <p:spPr>
          <a:xfrm>
            <a:off x="3068413" y="2844799"/>
            <a:ext cx="11203438" cy="4064002"/>
          </a:xfrm>
          <a:prstGeom prst="rect">
            <a:avLst/>
          </a:prstGeom>
        </p:spPr>
        <p:txBody>
          <a:bodyPr anchor="ctr"/>
          <a:lstStyle>
            <a:lvl1pPr marL="564472" indent="-564472" algn="l">
              <a:spcBef>
                <a:spcPts val="5467"/>
              </a:spcBef>
              <a:buSzPct val="125000"/>
              <a:buChar char="•"/>
              <a:defRPr sz="4267"/>
            </a:lvl1pPr>
            <a:lvl2pPr marL="1411181" indent="-564472" algn="l">
              <a:spcBef>
                <a:spcPts val="5467"/>
              </a:spcBef>
              <a:buSzPct val="125000"/>
              <a:buChar char="•"/>
              <a:defRPr sz="4267"/>
            </a:lvl2pPr>
            <a:lvl3pPr marL="2257890" indent="-564472" algn="l">
              <a:spcBef>
                <a:spcPts val="5467"/>
              </a:spcBef>
              <a:buSzPct val="125000"/>
              <a:buChar char="•"/>
              <a:defRPr sz="4267"/>
            </a:lvl3pPr>
            <a:lvl4pPr marL="3104599" indent="-564472" algn="l">
              <a:spcBef>
                <a:spcPts val="5467"/>
              </a:spcBef>
              <a:buSzPct val="125000"/>
              <a:buChar char="•"/>
              <a:defRPr sz="4267"/>
            </a:lvl4pPr>
            <a:lvl5pPr marL="3951308" indent="-564472" algn="l">
              <a:spcBef>
                <a:spcPts val="5467"/>
              </a:spcBef>
              <a:buSzPct val="125000"/>
              <a:buChar char="•"/>
              <a:defRPr sz="4267"/>
            </a:lvl5pPr>
          </a:lstStyle>
          <a:p>
            <a:r>
              <a:t>Corpo livello uno</a:t>
            </a:r>
          </a:p>
          <a:p>
            <a:pPr lvl="1"/>
            <a:r>
              <a:t>Corpo livello due</a:t>
            </a:r>
          </a:p>
          <a:p>
            <a:pPr lvl="2"/>
            <a:r>
              <a:t>Corpo livello tre</a:t>
            </a:r>
          </a:p>
          <a:p>
            <a:pPr lvl="3"/>
            <a:r>
              <a:t>Corpo livello quattro</a:t>
            </a:r>
          </a:p>
          <a:p>
            <a:pPr lvl="4"/>
            <a:r>
              <a:t>Corpo livello cinque</a:t>
            </a:r>
          </a:p>
        </p:txBody>
      </p:sp>
      <p:sp>
        <p:nvSpPr>
          <p:cNvPr id="76"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Foto - 3 per pagina">
    <p:spTree>
      <p:nvGrpSpPr>
        <p:cNvPr id="1" name=""/>
        <p:cNvGrpSpPr/>
        <p:nvPr/>
      </p:nvGrpSpPr>
      <p:grpSpPr>
        <a:xfrm>
          <a:off x="0" y="0"/>
          <a:ext cx="0" cy="0"/>
          <a:chOff x="0" y="0"/>
          <a:chExt cx="0" cy="0"/>
        </a:xfrm>
      </p:grpSpPr>
      <p:sp>
        <p:nvSpPr>
          <p:cNvPr id="83" name="Immagine"/>
          <p:cNvSpPr>
            <a:spLocks noGrp="1"/>
          </p:cNvSpPr>
          <p:nvPr>
            <p:ph type="pic" sz="quarter" idx="13"/>
          </p:nvPr>
        </p:nvSpPr>
        <p:spPr>
          <a:xfrm>
            <a:off x="10531170" y="4947921"/>
            <a:ext cx="4478366" cy="2240281"/>
          </a:xfrm>
          <a:prstGeom prst="rect">
            <a:avLst/>
          </a:prstGeom>
        </p:spPr>
        <p:txBody>
          <a:bodyPr lIns="91439" tIns="45719" rIns="91439" bIns="45719">
            <a:noAutofit/>
          </a:bodyPr>
          <a:lstStyle/>
          <a:p>
            <a:endParaRPr/>
          </a:p>
        </p:txBody>
      </p:sp>
      <p:sp>
        <p:nvSpPr>
          <p:cNvPr id="84" name="Immagine"/>
          <p:cNvSpPr>
            <a:spLocks noGrp="1"/>
          </p:cNvSpPr>
          <p:nvPr>
            <p:ph type="pic" sz="quarter" idx="14"/>
          </p:nvPr>
        </p:nvSpPr>
        <p:spPr>
          <a:xfrm>
            <a:off x="10322876" y="2585720"/>
            <a:ext cx="4443444" cy="2221655"/>
          </a:xfrm>
          <a:prstGeom prst="rect">
            <a:avLst/>
          </a:prstGeom>
        </p:spPr>
        <p:txBody>
          <a:bodyPr lIns="91439" tIns="45719" rIns="91439" bIns="45719">
            <a:noAutofit/>
          </a:bodyPr>
          <a:lstStyle/>
          <a:p>
            <a:endParaRPr/>
          </a:p>
        </p:txBody>
      </p:sp>
      <p:sp>
        <p:nvSpPr>
          <p:cNvPr id="85" name="Immagine"/>
          <p:cNvSpPr>
            <a:spLocks noGrp="1"/>
          </p:cNvSpPr>
          <p:nvPr>
            <p:ph type="pic" sz="half" idx="15"/>
          </p:nvPr>
        </p:nvSpPr>
        <p:spPr>
          <a:xfrm>
            <a:off x="2004967" y="2585719"/>
            <a:ext cx="9174763" cy="4587242"/>
          </a:xfrm>
          <a:prstGeom prst="rect">
            <a:avLst/>
          </a:prstGeom>
        </p:spPr>
        <p:txBody>
          <a:bodyPr lIns="91439" tIns="45719" rIns="91439" bIns="45719">
            <a:noAutofit/>
          </a:bodyPr>
          <a:lstStyle/>
          <a:p>
            <a:endParaRPr/>
          </a:p>
        </p:txBody>
      </p:sp>
      <p:sp>
        <p:nvSpPr>
          <p:cNvPr id="86"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Citazione">
    <p:spTree>
      <p:nvGrpSpPr>
        <p:cNvPr id="1" name=""/>
        <p:cNvGrpSpPr/>
        <p:nvPr/>
      </p:nvGrpSpPr>
      <p:grpSpPr>
        <a:xfrm>
          <a:off x="0" y="0"/>
          <a:ext cx="0" cy="0"/>
          <a:chOff x="0" y="0"/>
          <a:chExt cx="0" cy="0"/>
        </a:xfrm>
      </p:grpSpPr>
      <p:sp>
        <p:nvSpPr>
          <p:cNvPr id="93" name="–Giovanni Mela"/>
          <p:cNvSpPr txBox="1">
            <a:spLocks noGrp="1"/>
          </p:cNvSpPr>
          <p:nvPr>
            <p:ph type="body" sz="quarter" idx="13"/>
          </p:nvPr>
        </p:nvSpPr>
        <p:spPr>
          <a:xfrm>
            <a:off x="3440957" y="5715001"/>
            <a:ext cx="10465122" cy="451470"/>
          </a:xfrm>
          <a:prstGeom prst="rect">
            <a:avLst/>
          </a:prstGeom>
        </p:spPr>
        <p:txBody>
          <a:bodyPr>
            <a:spAutoFit/>
          </a:bodyPr>
          <a:lstStyle>
            <a:lvl1pPr>
              <a:defRPr sz="2667" i="1"/>
            </a:lvl1pPr>
          </a:lstStyle>
          <a:p>
            <a:r>
              <a:t>–Giovanni Mela</a:t>
            </a:r>
          </a:p>
        </p:txBody>
      </p:sp>
      <p:sp>
        <p:nvSpPr>
          <p:cNvPr id="94" name="“Inserisci qui una citazione”."/>
          <p:cNvSpPr txBox="1">
            <a:spLocks noGrp="1"/>
          </p:cNvSpPr>
          <p:nvPr>
            <p:ph type="body" sz="quarter" idx="14"/>
          </p:nvPr>
        </p:nvSpPr>
        <p:spPr>
          <a:xfrm>
            <a:off x="3440957" y="4380634"/>
            <a:ext cx="10465122" cy="697692"/>
          </a:xfrm>
          <a:prstGeom prst="rect">
            <a:avLst/>
          </a:prstGeom>
        </p:spPr>
        <p:txBody>
          <a:bodyPr anchor="ctr">
            <a:spAutoFit/>
          </a:bodyPr>
          <a:lstStyle>
            <a:lvl1pPr>
              <a:defRPr sz="4267">
                <a:latin typeface="+mn-lt"/>
                <a:ea typeface="+mn-ea"/>
                <a:cs typeface="+mn-cs"/>
                <a:sym typeface="Helvetica Neue Medium"/>
              </a:defRPr>
            </a:lvl1pPr>
          </a:lstStyle>
          <a:p>
            <a:r>
              <a:t>“Inserisci qui una citazione”. </a:t>
            </a:r>
          </a:p>
        </p:txBody>
      </p:sp>
      <p:sp>
        <p:nvSpPr>
          <p:cNvPr id="95"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Foto">
    <p:spTree>
      <p:nvGrpSpPr>
        <p:cNvPr id="1" name=""/>
        <p:cNvGrpSpPr/>
        <p:nvPr/>
      </p:nvGrpSpPr>
      <p:grpSpPr>
        <a:xfrm>
          <a:off x="0" y="0"/>
          <a:ext cx="0" cy="0"/>
          <a:chOff x="0" y="0"/>
          <a:chExt cx="0" cy="0"/>
        </a:xfrm>
      </p:grpSpPr>
      <p:sp>
        <p:nvSpPr>
          <p:cNvPr id="102" name="Immagine"/>
          <p:cNvSpPr>
            <a:spLocks noGrp="1"/>
          </p:cNvSpPr>
          <p:nvPr>
            <p:ph type="pic" idx="13"/>
          </p:nvPr>
        </p:nvSpPr>
        <p:spPr>
          <a:xfrm>
            <a:off x="2167532" y="2133600"/>
            <a:ext cx="13005200" cy="6505789"/>
          </a:xfrm>
          <a:prstGeom prst="rect">
            <a:avLst/>
          </a:prstGeom>
        </p:spPr>
        <p:txBody>
          <a:bodyPr lIns="91439" tIns="45719" rIns="91439" bIns="45719">
            <a:noAutofit/>
          </a:bodyPr>
          <a:lstStyle/>
          <a:p>
            <a:endParaRPr/>
          </a:p>
        </p:txBody>
      </p:sp>
      <p:sp>
        <p:nvSpPr>
          <p:cNvPr id="103"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Vuoto">
    <p:spTree>
      <p:nvGrpSpPr>
        <p:cNvPr id="1" name=""/>
        <p:cNvGrpSpPr/>
        <p:nvPr/>
      </p:nvGrpSpPr>
      <p:grpSpPr>
        <a:xfrm>
          <a:off x="0" y="0"/>
          <a:ext cx="0" cy="0"/>
          <a:chOff x="0" y="0"/>
          <a:chExt cx="0" cy="0"/>
        </a:xfrm>
      </p:grpSpPr>
      <p:sp>
        <p:nvSpPr>
          <p:cNvPr id="110"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olo Testo"/>
          <p:cNvSpPr txBox="1">
            <a:spLocks noGrp="1"/>
          </p:cNvSpPr>
          <p:nvPr>
            <p:ph type="title"/>
          </p:nvPr>
        </p:nvSpPr>
        <p:spPr>
          <a:xfrm>
            <a:off x="3115827" y="3053080"/>
            <a:ext cx="11108609" cy="185928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0320" tIns="20320" rIns="20320" bIns="20320" anchor="b">
            <a:normAutofit/>
          </a:bodyPr>
          <a:lstStyle/>
          <a:p>
            <a:r>
              <a:t>Titolo Testo</a:t>
            </a:r>
          </a:p>
        </p:txBody>
      </p:sp>
      <p:sp>
        <p:nvSpPr>
          <p:cNvPr id="3" name="Corpo livello uno…"/>
          <p:cNvSpPr txBox="1">
            <a:spLocks noGrp="1"/>
          </p:cNvSpPr>
          <p:nvPr>
            <p:ph type="body" idx="1"/>
          </p:nvPr>
        </p:nvSpPr>
        <p:spPr>
          <a:xfrm>
            <a:off x="3115827" y="4963160"/>
            <a:ext cx="11108609" cy="6350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0320" tIns="20320" rIns="20320" bIns="20320">
            <a:normAutofit/>
          </a:bodyPr>
          <a:lstStyle/>
          <a:p>
            <a:r>
              <a:t>Corpo livello uno</a:t>
            </a:r>
          </a:p>
          <a:p>
            <a:pPr lvl="1"/>
            <a:r>
              <a:t>Corpo livello due</a:t>
            </a:r>
          </a:p>
          <a:p>
            <a:pPr lvl="2"/>
            <a:r>
              <a:t>Corpo livello tre</a:t>
            </a:r>
          </a:p>
          <a:p>
            <a:pPr lvl="3"/>
            <a:r>
              <a:t>Corpo livello quattro</a:t>
            </a:r>
          </a:p>
          <a:p>
            <a:pPr lvl="4"/>
            <a:r>
              <a:t>Corpo livello cinque</a:t>
            </a:r>
          </a:p>
        </p:txBody>
      </p:sp>
      <p:sp>
        <p:nvSpPr>
          <p:cNvPr id="4" name="Numero diapositiva"/>
          <p:cNvSpPr txBox="1">
            <a:spLocks noGrp="1"/>
          </p:cNvSpPr>
          <p:nvPr>
            <p:ph type="sldNum" sz="quarter" idx="2"/>
          </p:nvPr>
        </p:nvSpPr>
        <p:spPr>
          <a:xfrm>
            <a:off x="8517184" y="7366001"/>
            <a:ext cx="299121" cy="328360"/>
          </a:xfrm>
          <a:prstGeom prst="rect">
            <a:avLst/>
          </a:prstGeom>
          <a:ln w="3175">
            <a:miter lim="400000"/>
          </a:ln>
        </p:spPr>
        <p:txBody>
          <a:bodyPr wrap="none" lIns="20320" tIns="20320" rIns="20320" bIns="20320">
            <a:spAutoFit/>
          </a:bodyPr>
          <a:lstStyle>
            <a:lvl1pPr>
              <a:defRPr sz="1867" b="0">
                <a:latin typeface="Helvetica Neue Light"/>
                <a:ea typeface="Helvetica Neue Light"/>
                <a:cs typeface="Helvetica Neue Light"/>
                <a:sym typeface="Helvetica Neue Ligh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6" r:id="rId2"/>
    <p:sldLayoutId id="2147483657" r:id="rId3"/>
    <p:sldLayoutId id="2147483658" r:id="rId4"/>
    <p:sldLayoutId id="2147483659" r:id="rId5"/>
    <p:sldLayoutId id="2147483660" r:id="rId6"/>
  </p:sldLayoutIdLst>
  <p:transition spd="med"/>
  <p:txStyles>
    <p:titleStyle>
      <a:lvl1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1pPr>
      <a:lvl2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2pPr>
      <a:lvl3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3pPr>
      <a:lvl4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4pPr>
      <a:lvl5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5pPr>
      <a:lvl6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6pPr>
      <a:lvl7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7pPr>
      <a:lvl8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8pPr>
      <a:lvl9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9pPr>
    </p:titleStyle>
    <p:bodyStyle>
      <a:lvl1pPr marL="0" marR="0" indent="0"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1pPr>
      <a:lvl2pPr marL="0" marR="0" indent="0"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2pPr>
      <a:lvl3pPr marL="0" marR="0" indent="0"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3pPr>
      <a:lvl4pPr marL="0" marR="0" indent="0"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4pPr>
      <a:lvl5pPr marL="0" marR="0" indent="0"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5pPr>
      <a:lvl6pPr marL="0" marR="0" indent="474157"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6pPr>
      <a:lvl7pPr marL="0" marR="0" indent="948314"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7pPr>
      <a:lvl8pPr marL="0" marR="0" indent="1422471"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8pPr>
      <a:lvl9pPr marL="0" marR="0" indent="1896628"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1pPr>
      <a:lvl2pPr marL="0" marR="0" indent="304815"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2pPr>
      <a:lvl3pPr marL="0" marR="0" indent="609630"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3pPr>
      <a:lvl4pPr marL="0" marR="0" indent="914446"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4pPr>
      <a:lvl5pPr marL="0" marR="0" indent="1219261"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5pPr>
      <a:lvl6pPr marL="0" marR="0" indent="1524076"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6pPr>
      <a:lvl7pPr marL="0" marR="0" indent="1828891"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7pPr>
      <a:lvl8pPr marL="0" marR="0" indent="2133707"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8pPr>
      <a:lvl9pPr marL="0" marR="0" indent="2438522"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commons.wikimedia.org/wiki/File:Rembrandt_Man_in_Armour.jpg" TargetMode="External"/><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hyperlink" Target="https://ipkitten.blogspot.com/2015/11/copyright-term-authorship-and-moral.html" TargetMode="Externa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Img%20:https:/europeanlawblog.eu/2014/09/25/no-laughing-matter-the-right-to-parody-in-eu-copyright-law-case-deckmyn-v-vandersteen-c-20113" TargetMode="External"/><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www.thesun.co.uk/tv/17353942/david-jason-del-boy-only-fools-and-horses/" TargetMode="External"/><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slideLayout" Target="../slideLayouts/slideLayout1.xml"/><Relationship Id="rId1" Type="http://schemas.openxmlformats.org/officeDocument/2006/relationships/video" Target="https://www.youtube.com/embed/OwNoGrY4XZs?feature=oembed" TargetMode="Externa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0" name="POWER POINT_2.pdf" descr="POWER POINT_2.pdf"/>
          <p:cNvPicPr>
            <a:picLocks noChangeAspect="1"/>
          </p:cNvPicPr>
          <p:nvPr/>
        </p:nvPicPr>
        <p:blipFill>
          <a:blip r:embed="rId2"/>
          <a:stretch>
            <a:fillRect/>
          </a:stretch>
        </p:blipFill>
        <p:spPr>
          <a:xfrm>
            <a:off x="-5414" y="-3251597"/>
            <a:ext cx="17345677" cy="13005197"/>
          </a:xfrm>
          <a:prstGeom prst="rect">
            <a:avLst/>
          </a:prstGeom>
          <a:ln w="12700">
            <a:miter lim="400000"/>
          </a:ln>
        </p:spPr>
      </p:pic>
      <p:sp>
        <p:nvSpPr>
          <p:cNvPr id="121" name="PROJECT NAME…"/>
          <p:cNvSpPr txBox="1"/>
          <p:nvPr/>
        </p:nvSpPr>
        <p:spPr>
          <a:xfrm>
            <a:off x="449654" y="8171244"/>
            <a:ext cx="4958379" cy="8128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chor="b">
            <a:normAutofit/>
          </a:bodyPr>
          <a:lstStyle/>
          <a:p>
            <a:pPr algn="l" defTabSz="782735">
              <a:defRPr sz="2400">
                <a:solidFill>
                  <a:srgbClr val="FFFFFF"/>
                </a:solidFill>
                <a:latin typeface="Barlow Bold"/>
                <a:ea typeface="Barlow Bold"/>
                <a:cs typeface="Barlow Bold"/>
                <a:sym typeface="Barlow Bold"/>
              </a:defRPr>
            </a:pPr>
            <a:r>
              <a:rPr lang="en-GB" sz="3467" dirty="0"/>
              <a:t>4 February 2026</a:t>
            </a:r>
            <a:endParaRPr lang="en-GB" sz="3200" dirty="0"/>
          </a:p>
        </p:txBody>
      </p:sp>
      <p:sp>
        <p:nvSpPr>
          <p:cNvPr id="122" name="Shape 21"/>
          <p:cNvSpPr txBox="1"/>
          <p:nvPr/>
        </p:nvSpPr>
        <p:spPr>
          <a:xfrm>
            <a:off x="643085" y="2236193"/>
            <a:ext cx="15442981" cy="13555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67735" tIns="67735" rIns="67735" bIns="67735">
            <a:spAutoFit/>
          </a:bodyPr>
          <a:lstStyle/>
          <a:p>
            <a:pPr algn="l" defTabSz="778972">
              <a:lnSpc>
                <a:spcPct val="90000"/>
              </a:lnSpc>
              <a:defRPr sz="8300">
                <a:solidFill>
                  <a:srgbClr val="F47A63"/>
                </a:solidFill>
                <a:latin typeface="Barlow-Medium"/>
                <a:ea typeface="Barlow-Medium"/>
                <a:cs typeface="Barlow-Medium"/>
                <a:sym typeface="Barlow-Medium"/>
              </a:defRPr>
            </a:pPr>
            <a:r>
              <a:rPr lang="en-GB" sz="8800" dirty="0"/>
              <a:t>Exceptions and Limitations</a:t>
            </a:r>
          </a:p>
        </p:txBody>
      </p:sp>
      <p:sp>
        <p:nvSpPr>
          <p:cNvPr id="123" name="Shape 21"/>
          <p:cNvSpPr txBox="1"/>
          <p:nvPr/>
        </p:nvSpPr>
        <p:spPr>
          <a:xfrm>
            <a:off x="620857" y="3591820"/>
            <a:ext cx="6000578" cy="8589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67735" tIns="67735" rIns="67735" bIns="67735">
            <a:spAutoFit/>
          </a:bodyPr>
          <a:lstStyle>
            <a:lvl1pPr algn="l" defTabSz="584200">
              <a:lnSpc>
                <a:spcPct val="80000"/>
              </a:lnSpc>
              <a:defRPr sz="2200">
                <a:solidFill>
                  <a:srgbClr val="575453"/>
                </a:solidFill>
                <a:latin typeface="Source Sans Pro"/>
                <a:ea typeface="Source Sans Pro"/>
                <a:cs typeface="Source Sans Pro"/>
                <a:sym typeface="Source Sans Pro"/>
              </a:defRPr>
            </a:lvl1pPr>
          </a:lstStyle>
          <a:p>
            <a:r>
              <a:rPr lang="en-GB" sz="2933" b="0" dirty="0">
                <a:latin typeface="Barlow" pitchFamily="2" charset="77"/>
              </a:rPr>
              <a:t>Copyright in the Digital Environment</a:t>
            </a:r>
          </a:p>
          <a:p>
            <a:r>
              <a:rPr lang="en-GB" sz="2933" b="0" dirty="0">
                <a:latin typeface="Barlow" pitchFamily="2" charset="77"/>
              </a:rPr>
              <a:t>Amy Thomas</a:t>
            </a:r>
            <a:endParaRPr sz="2933" b="0" dirty="0">
              <a:latin typeface="Barlow" pitchFamily="2" charset="77"/>
            </a:endParaRPr>
          </a:p>
        </p:txBody>
      </p:sp>
      <p:pic>
        <p:nvPicPr>
          <p:cNvPr id="128" name="CREATe_logo.pdf" descr="CREATe_logo.pdf"/>
          <p:cNvPicPr>
            <a:picLocks noChangeAspect="1"/>
          </p:cNvPicPr>
          <p:nvPr/>
        </p:nvPicPr>
        <p:blipFill>
          <a:blip r:embed="rId3"/>
          <a:stretch>
            <a:fillRect/>
          </a:stretch>
        </p:blipFill>
        <p:spPr>
          <a:xfrm>
            <a:off x="14800771" y="8771894"/>
            <a:ext cx="2458227" cy="837875"/>
          </a:xfrm>
          <a:prstGeom prst="rect">
            <a:avLst/>
          </a:prstGeom>
          <a:ln w="12700">
            <a:miter lim="400000"/>
          </a:ln>
        </p:spPr>
      </p:pic>
      <p:pic>
        <p:nvPicPr>
          <p:cNvPr id="3" name="Picture 2" descr="Logo&#10;&#10;Description automatically generated with medium confidence">
            <a:extLst>
              <a:ext uri="{FF2B5EF4-FFF2-40B4-BE49-F238E27FC236}">
                <a16:creationId xmlns:a16="http://schemas.microsoft.com/office/drawing/2014/main" id="{C3063262-4A96-2F70-7806-EDB3098D322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094759" y="8796944"/>
            <a:ext cx="2624747" cy="812825"/>
          </a:xfrm>
          <a:prstGeom prst="rect">
            <a:avLst/>
          </a:prstGeom>
        </p:spPr>
      </p:pic>
    </p:spTree>
    <p:extLst>
      <p:ext uri="{BB962C8B-B14F-4D97-AF65-F5344CB8AC3E}">
        <p14:creationId xmlns:p14="http://schemas.microsoft.com/office/powerpoint/2010/main" val="1671474396"/>
      </p:ext>
    </p:extLst>
  </p:cSld>
  <p:clrMapOvr>
    <a:masterClrMapping/>
  </p:clrMapOvr>
  <p:transition spd="med" advTm="27815"/>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ITLE TEXT"/>
          <p:cNvSpPr txBox="1"/>
          <p:nvPr/>
        </p:nvSpPr>
        <p:spPr>
          <a:xfrm>
            <a:off x="1028459" y="730197"/>
            <a:ext cx="9641622"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Format: 4 February</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p:cNvSpPr txBox="1"/>
          <p:nvPr/>
        </p:nvSpPr>
        <p:spPr>
          <a:xfrm>
            <a:off x="1028459"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45BED730-319F-B81C-01BA-95190CA990FA}"/>
              </a:ext>
            </a:extLst>
          </p:cNvPr>
          <p:cNvSpPr/>
          <p:nvPr/>
        </p:nvSpPr>
        <p:spPr>
          <a:xfrm>
            <a:off x="1028459" y="1947120"/>
            <a:ext cx="14862995" cy="2981329"/>
          </a:xfrm>
          <a:prstGeom prst="rect">
            <a:avLst/>
          </a:prstGeom>
        </p:spPr>
        <p:txBody>
          <a:bodyPr wrap="square">
            <a:sp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Limitations (duration and insubstantial parts)</a:t>
            </a:r>
          </a:p>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Exceptions (whole work and fair dealing)</a:t>
            </a:r>
          </a:p>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lang="en-GB" sz="3200" dirty="0">
              <a:solidFill>
                <a:schemeClr val="tx2"/>
              </a:solidFill>
              <a:latin typeface="Barlow" pitchFamily="2" charset="77"/>
            </a:endParaRPr>
          </a:p>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Assignment notes: Formative and summative assessment questions are now available on the Moodle</a:t>
            </a:r>
          </a:p>
        </p:txBody>
      </p:sp>
    </p:spTree>
    <p:extLst>
      <p:ext uri="{BB962C8B-B14F-4D97-AF65-F5344CB8AC3E}">
        <p14:creationId xmlns:p14="http://schemas.microsoft.com/office/powerpoint/2010/main" val="347818077"/>
      </p:ext>
    </p:extLst>
  </p:cSld>
  <p:clrMapOvr>
    <a:masterClrMapping/>
  </p:clrMapOvr>
  <p:transition spd="med" advTm="222639"/>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p:cNvSpPr txBox="1"/>
          <p:nvPr/>
        </p:nvSpPr>
        <p:spPr>
          <a:xfrm>
            <a:off x="1162334" y="2528910"/>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0589387A-0B28-2406-071D-7D405E578C4F}"/>
              </a:ext>
            </a:extLst>
          </p:cNvPr>
          <p:cNvSpPr/>
          <p:nvPr/>
        </p:nvSpPr>
        <p:spPr>
          <a:xfrm>
            <a:off x="1162335" y="2699757"/>
            <a:ext cx="15450294" cy="4031873"/>
          </a:xfrm>
          <a:prstGeom prst="rect">
            <a:avLst/>
          </a:prstGeom>
        </p:spPr>
        <p:txBody>
          <a:bodyPr wrap="square">
            <a:spAutoFit/>
          </a:bodyPr>
          <a:lstStyle/>
          <a:p>
            <a:r>
              <a:rPr lang="en-US" sz="3200" b="0" dirty="0">
                <a:solidFill>
                  <a:schemeClr val="tx2"/>
                </a:solidFill>
                <a:latin typeface="Barlow" pitchFamily="2" charset="77"/>
              </a:rPr>
              <a:t>Work falls within copyrightable subject-matter + fixed permanently + meets the originality standard = copyright </a:t>
            </a:r>
          </a:p>
          <a:p>
            <a:pPr marL="457223" indent="-457223">
              <a:buFont typeface="Arial" panose="020B0604020202020204" pitchFamily="34" charset="0"/>
              <a:buChar char="•"/>
            </a:pPr>
            <a:endParaRPr lang="en-GB" sz="3200" b="0" dirty="0">
              <a:solidFill>
                <a:schemeClr val="tx2"/>
              </a:solidFill>
              <a:latin typeface="Barlow" pitchFamily="2" charset="77"/>
            </a:endParaRPr>
          </a:p>
          <a:p>
            <a:r>
              <a:rPr lang="en-GB" sz="3200" b="0" dirty="0">
                <a:solidFill>
                  <a:schemeClr val="tx2"/>
                </a:solidFill>
                <a:latin typeface="Barlow" pitchFamily="2" charset="77"/>
              </a:rPr>
              <a:t>Copyright = Economic and moral rights</a:t>
            </a:r>
          </a:p>
          <a:p>
            <a:pPr marL="457223" indent="-457223" algn="just">
              <a:buFont typeface="Arial" panose="020B0604020202020204" pitchFamily="34" charset="0"/>
              <a:buChar char="•"/>
            </a:pPr>
            <a:endParaRPr lang="en-GB" sz="3200" b="0" dirty="0">
              <a:solidFill>
                <a:schemeClr val="tx2"/>
              </a:solidFill>
              <a:latin typeface="Barlow" pitchFamily="2" charset="77"/>
            </a:endParaRPr>
          </a:p>
          <a:p>
            <a:pPr marL="457223" indent="-457223" algn="just">
              <a:buFont typeface="Arial" panose="020B0604020202020204" pitchFamily="34" charset="0"/>
              <a:buChar char="•"/>
            </a:pPr>
            <a:r>
              <a:rPr lang="en-GB" sz="3200" b="0" dirty="0">
                <a:solidFill>
                  <a:schemeClr val="tx2"/>
                </a:solidFill>
                <a:latin typeface="Barlow" pitchFamily="2" charset="77"/>
              </a:rPr>
              <a:t>… But copyright is not an ‘absolute’ right and includes many:</a:t>
            </a:r>
          </a:p>
          <a:p>
            <a:pPr marL="457223" indent="-457223" algn="just">
              <a:buFont typeface="Arial" panose="020B0604020202020204" pitchFamily="34" charset="0"/>
              <a:buChar char="•"/>
            </a:pPr>
            <a:r>
              <a:rPr lang="en-GB" sz="3200" b="0" dirty="0">
                <a:solidFill>
                  <a:schemeClr val="tx2"/>
                </a:solidFill>
                <a:latin typeface="Barlow" pitchFamily="2" charset="77"/>
              </a:rPr>
              <a:t>Limitations (spaces where copyright doesn’t exist)</a:t>
            </a:r>
          </a:p>
          <a:p>
            <a:pPr marL="457223" indent="-457223" algn="just">
              <a:buFont typeface="Arial" panose="020B0604020202020204" pitchFamily="34" charset="0"/>
              <a:buChar char="•"/>
            </a:pPr>
            <a:r>
              <a:rPr lang="en-GB" sz="3200" b="0" dirty="0">
                <a:solidFill>
                  <a:schemeClr val="tx2"/>
                </a:solidFill>
                <a:latin typeface="Barlow" pitchFamily="2" charset="77"/>
              </a:rPr>
              <a:t>Exceptions (instances where infringement doesn’t exist)</a:t>
            </a:r>
            <a:endParaRPr lang="en-US" sz="3200" b="0" dirty="0">
              <a:solidFill>
                <a:schemeClr val="tx2"/>
              </a:solidFill>
              <a:latin typeface="Barlow" pitchFamily="2" charset="77"/>
            </a:endParaRPr>
          </a:p>
        </p:txBody>
      </p:sp>
    </p:spTree>
    <p:extLst>
      <p:ext uri="{BB962C8B-B14F-4D97-AF65-F5344CB8AC3E}">
        <p14:creationId xmlns:p14="http://schemas.microsoft.com/office/powerpoint/2010/main" val="2821585659"/>
      </p:ext>
    </p:extLst>
  </p:cSld>
  <p:clrMapOvr>
    <a:masterClrMapping/>
  </p:clrMapOvr>
  <p:transition spd="med" advTm="222639"/>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ITLE TEXT"/>
          <p:cNvSpPr txBox="1"/>
          <p:nvPr/>
        </p:nvSpPr>
        <p:spPr>
          <a:xfrm>
            <a:off x="1010874" y="730197"/>
            <a:ext cx="9641622"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Limitations</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p:cNvSpPr txBox="1"/>
          <p:nvPr/>
        </p:nvSpPr>
        <p:spPr>
          <a:xfrm>
            <a:off x="1010874"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0589387A-0B28-2406-071D-7D405E578C4F}"/>
              </a:ext>
            </a:extLst>
          </p:cNvPr>
          <p:cNvSpPr/>
          <p:nvPr/>
        </p:nvSpPr>
        <p:spPr>
          <a:xfrm>
            <a:off x="1010874" y="1947120"/>
            <a:ext cx="15015594" cy="2062103"/>
          </a:xfrm>
          <a:prstGeom prst="rect">
            <a:avLst/>
          </a:prstGeom>
        </p:spPr>
        <p:txBody>
          <a:bodyPr wrap="square">
            <a:spAutoFit/>
          </a:bodyPr>
          <a:lstStyle/>
          <a:p>
            <a:pPr marL="609630" indent="-609630" algn="just">
              <a:buFont typeface="Arial" panose="020B0604020202020204" pitchFamily="34" charset="0"/>
              <a:buChar char="•"/>
            </a:pPr>
            <a:r>
              <a:rPr lang="en-US" sz="3200" b="0" dirty="0">
                <a:solidFill>
                  <a:schemeClr val="tx2"/>
                </a:solidFill>
                <a:latin typeface="Barlow" pitchFamily="2" charset="77"/>
              </a:rPr>
              <a:t>Idea-expression dichotomy (see Seminar 2 materials)</a:t>
            </a:r>
          </a:p>
          <a:p>
            <a:pPr marL="609630" indent="-609630" algn="just">
              <a:buFont typeface="Arial" panose="020B0604020202020204" pitchFamily="34" charset="0"/>
              <a:buChar char="•"/>
            </a:pPr>
            <a:r>
              <a:rPr lang="en-US" sz="3200" b="0" dirty="0">
                <a:solidFill>
                  <a:schemeClr val="tx2"/>
                </a:solidFill>
                <a:latin typeface="Barlow" pitchFamily="2" charset="77"/>
              </a:rPr>
              <a:t>(Open) licensing </a:t>
            </a:r>
          </a:p>
          <a:p>
            <a:pPr marL="609630" indent="-609630" algn="just">
              <a:buFont typeface="Arial" panose="020B0604020202020204" pitchFamily="34" charset="0"/>
              <a:buChar char="•"/>
            </a:pPr>
            <a:r>
              <a:rPr lang="en-US" sz="3200" b="0" dirty="0">
                <a:solidFill>
                  <a:srgbClr val="FF7765"/>
                </a:solidFill>
                <a:latin typeface="Barlow" pitchFamily="2" charset="77"/>
              </a:rPr>
              <a:t>Duration of rights</a:t>
            </a:r>
          </a:p>
          <a:p>
            <a:pPr marL="609630" indent="-609630" algn="just">
              <a:buFont typeface="Arial" panose="020B0604020202020204" pitchFamily="34" charset="0"/>
              <a:buChar char="•"/>
            </a:pPr>
            <a:r>
              <a:rPr lang="en-US" sz="3200" b="0" dirty="0">
                <a:solidFill>
                  <a:srgbClr val="FF7765"/>
                </a:solidFill>
                <a:latin typeface="Barlow" pitchFamily="2" charset="77"/>
              </a:rPr>
              <a:t>Insubstantial parts of works</a:t>
            </a:r>
          </a:p>
        </p:txBody>
      </p:sp>
      <p:sp>
        <p:nvSpPr>
          <p:cNvPr id="3" name="Right Brace 2">
            <a:extLst>
              <a:ext uri="{FF2B5EF4-FFF2-40B4-BE49-F238E27FC236}">
                <a16:creationId xmlns:a16="http://schemas.microsoft.com/office/drawing/2014/main" id="{690FBCA2-644A-F565-F118-4533218DCEE4}"/>
              </a:ext>
            </a:extLst>
          </p:cNvPr>
          <p:cNvSpPr/>
          <p:nvPr/>
        </p:nvSpPr>
        <p:spPr>
          <a:xfrm>
            <a:off x="7764905" y="2930666"/>
            <a:ext cx="857927" cy="925591"/>
          </a:xfrm>
          <a:prstGeom prst="rightBrace">
            <a:avLst>
              <a:gd name="adj1" fmla="val 0"/>
              <a:gd name="adj2" fmla="val 50000"/>
            </a:avLst>
          </a:prstGeom>
          <a:noFill/>
          <a:ln w="3175" cap="flat">
            <a:solidFill>
              <a:srgbClr val="00000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21922" tIns="60961" rIns="121922" bIns="60961" numCol="1" spcCol="38100" rtlCol="0" anchor="t">
            <a:noAutofit/>
          </a:bodyPr>
          <a:lstStyle/>
          <a:p>
            <a:pPr algn="l" defTabSz="1219261" latinLnBrk="1"/>
            <a:endParaRPr lang="en-GB" sz="2400" b="0"/>
          </a:p>
        </p:txBody>
      </p:sp>
      <p:sp>
        <p:nvSpPr>
          <p:cNvPr id="4" name="TextBox 3">
            <a:extLst>
              <a:ext uri="{FF2B5EF4-FFF2-40B4-BE49-F238E27FC236}">
                <a16:creationId xmlns:a16="http://schemas.microsoft.com/office/drawing/2014/main" id="{C1B034BB-90E0-0D42-9E93-A87B3C2F18F2}"/>
              </a:ext>
            </a:extLst>
          </p:cNvPr>
          <p:cNvSpPr txBox="1"/>
          <p:nvPr/>
        </p:nvSpPr>
        <p:spPr>
          <a:xfrm>
            <a:off x="8717432" y="3078780"/>
            <a:ext cx="5426381" cy="629362"/>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27094" tIns="27094" rIns="27094" bIns="27094" numCol="1" spcCol="38100" rtlCol="0" anchor="ctr">
            <a:spAutoFit/>
          </a:bodyPr>
          <a:lstStyle/>
          <a:p>
            <a:pPr defTabSz="782735"/>
            <a:r>
              <a:rPr lang="en-GB" sz="3734" b="0" dirty="0">
                <a:solidFill>
                  <a:schemeClr val="tx2"/>
                </a:solidFill>
                <a:latin typeface="Barlow" pitchFamily="2" charset="77"/>
              </a:rPr>
              <a:t>We’ll focus on these today</a:t>
            </a:r>
          </a:p>
        </p:txBody>
      </p:sp>
    </p:spTree>
    <p:extLst>
      <p:ext uri="{BB962C8B-B14F-4D97-AF65-F5344CB8AC3E}">
        <p14:creationId xmlns:p14="http://schemas.microsoft.com/office/powerpoint/2010/main" val="634460539"/>
      </p:ext>
    </p:extLst>
  </p:cSld>
  <p:clrMapOvr>
    <a:masterClrMapping/>
  </p:clrMapOvr>
  <p:transition spd="med" advTm="222639"/>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ITLE TEXT"/>
          <p:cNvSpPr txBox="1"/>
          <p:nvPr/>
        </p:nvSpPr>
        <p:spPr>
          <a:xfrm>
            <a:off x="993289" y="712613"/>
            <a:ext cx="964162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Limitation: Duration of rights</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p:cNvSpPr txBox="1"/>
          <p:nvPr/>
        </p:nvSpPr>
        <p:spPr>
          <a:xfrm>
            <a:off x="993289" y="1758688"/>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0589387A-0B28-2406-071D-7D405E578C4F}"/>
              </a:ext>
            </a:extLst>
          </p:cNvPr>
          <p:cNvSpPr/>
          <p:nvPr/>
        </p:nvSpPr>
        <p:spPr>
          <a:xfrm>
            <a:off x="993289" y="1929535"/>
            <a:ext cx="15015594" cy="5016758"/>
          </a:xfrm>
          <a:prstGeom prst="rect">
            <a:avLst/>
          </a:prstGeom>
        </p:spPr>
        <p:txBody>
          <a:bodyPr wrap="square">
            <a:spAutoFit/>
          </a:bodyPr>
          <a:lstStyle/>
          <a:p>
            <a:pPr marL="457223" indent="-457223" algn="just">
              <a:buFont typeface="Arial" panose="020B0604020202020204" pitchFamily="34" charset="0"/>
              <a:buChar char="•"/>
            </a:pPr>
            <a:r>
              <a:rPr lang="en-GB" sz="3200" b="0" dirty="0">
                <a:solidFill>
                  <a:schemeClr val="tx2"/>
                </a:solidFill>
                <a:latin typeface="Barlow" pitchFamily="2" charset="77"/>
              </a:rPr>
              <a:t>Written, dramatic, musical and artistic work -&gt; </a:t>
            </a:r>
            <a:r>
              <a:rPr lang="en-GB" sz="3200" dirty="0">
                <a:solidFill>
                  <a:schemeClr val="tx2"/>
                </a:solidFill>
                <a:latin typeface="Barlow" pitchFamily="2" charset="77"/>
              </a:rPr>
              <a:t>70 years after the author’s death</a:t>
            </a:r>
          </a:p>
          <a:p>
            <a:pPr marL="457223" indent="-457223" algn="just">
              <a:buFont typeface="Arial" panose="020B0604020202020204" pitchFamily="34" charset="0"/>
              <a:buChar char="•"/>
            </a:pPr>
            <a:r>
              <a:rPr lang="en-GB" sz="3200" b="0" dirty="0">
                <a:solidFill>
                  <a:schemeClr val="tx2"/>
                </a:solidFill>
                <a:latin typeface="Barlow" pitchFamily="2" charset="77"/>
              </a:rPr>
              <a:t>Sound and music recording -&gt; 70 years from when it’s first published</a:t>
            </a:r>
          </a:p>
          <a:p>
            <a:pPr marL="457223" indent="-457223" algn="just">
              <a:buFont typeface="Arial" panose="020B0604020202020204" pitchFamily="34" charset="0"/>
              <a:buChar char="•"/>
            </a:pPr>
            <a:r>
              <a:rPr lang="en-GB" sz="3200" b="0" dirty="0">
                <a:solidFill>
                  <a:schemeClr val="tx2"/>
                </a:solidFill>
                <a:latin typeface="Barlow" pitchFamily="2" charset="77"/>
              </a:rPr>
              <a:t>Films -&gt; 70 years after the death of the director, screenplay author and composer</a:t>
            </a:r>
          </a:p>
          <a:p>
            <a:pPr marL="457223" indent="-457223" algn="just">
              <a:buFont typeface="Arial" panose="020B0604020202020204" pitchFamily="34" charset="0"/>
              <a:buChar char="•"/>
            </a:pPr>
            <a:r>
              <a:rPr lang="en-GB" sz="3200" b="0" dirty="0">
                <a:solidFill>
                  <a:schemeClr val="tx2"/>
                </a:solidFill>
                <a:latin typeface="Barlow" pitchFamily="2" charset="77"/>
              </a:rPr>
              <a:t>Broadcasts -&gt; 50 years from when it’s first broadcast</a:t>
            </a:r>
          </a:p>
          <a:p>
            <a:pPr marL="457223" indent="-457223" algn="just">
              <a:buFont typeface="Arial" panose="020B0604020202020204" pitchFamily="34" charset="0"/>
              <a:buChar char="•"/>
            </a:pPr>
            <a:r>
              <a:rPr lang="en-GB" sz="3200" b="0" dirty="0">
                <a:solidFill>
                  <a:schemeClr val="tx2"/>
                </a:solidFill>
                <a:latin typeface="Barlow" pitchFamily="2" charset="77"/>
              </a:rPr>
              <a:t>Layout of published editions of written, dramatic or musical works -&gt; 25 years from when it’s first published</a:t>
            </a:r>
          </a:p>
          <a:p>
            <a:pPr marL="457223" indent="-457223" algn="just">
              <a:buFont typeface="Arial" panose="020B0604020202020204" pitchFamily="34" charset="0"/>
              <a:buChar char="•"/>
            </a:pPr>
            <a:r>
              <a:rPr lang="en-GB" sz="3200" dirty="0">
                <a:solidFill>
                  <a:schemeClr val="tx2"/>
                </a:solidFill>
                <a:latin typeface="Barlow" pitchFamily="2" charset="77"/>
              </a:rPr>
              <a:t>Joint authorship: </a:t>
            </a:r>
            <a:r>
              <a:rPr lang="en-GB" sz="3200" b="0" dirty="0">
                <a:solidFill>
                  <a:schemeClr val="tx2"/>
                </a:solidFill>
                <a:latin typeface="Barlow" pitchFamily="2" charset="77"/>
              </a:rPr>
              <a:t>calculated from the date of the death of the last living author</a:t>
            </a:r>
          </a:p>
          <a:p>
            <a:pPr marL="457223" indent="-457223" algn="just">
              <a:buFont typeface="Arial" panose="020B0604020202020204" pitchFamily="34" charset="0"/>
              <a:buChar char="•"/>
            </a:pPr>
            <a:r>
              <a:rPr lang="en-GB" sz="3200" dirty="0">
                <a:solidFill>
                  <a:schemeClr val="tx2"/>
                </a:solidFill>
                <a:latin typeface="Barlow" pitchFamily="2" charset="77"/>
              </a:rPr>
              <a:t>Company copyright: </a:t>
            </a:r>
            <a:r>
              <a:rPr lang="en-GB" sz="3200" b="0" dirty="0">
                <a:solidFill>
                  <a:schemeClr val="tx2"/>
                </a:solidFill>
                <a:latin typeface="Barlow" pitchFamily="2" charset="77"/>
              </a:rPr>
              <a:t>calculated from the death of the author</a:t>
            </a:r>
          </a:p>
          <a:p>
            <a:pPr algn="just"/>
            <a:endParaRPr lang="en-GB" sz="3200" b="0" dirty="0">
              <a:solidFill>
                <a:schemeClr val="tx2"/>
              </a:solidFill>
              <a:latin typeface="Barlow" pitchFamily="2" charset="77"/>
            </a:endParaRPr>
          </a:p>
          <a:p>
            <a:pPr marL="457223" indent="-457223" algn="just">
              <a:buFont typeface="Arial" panose="020B0604020202020204" pitchFamily="34" charset="0"/>
              <a:buChar char="•"/>
            </a:pPr>
            <a:r>
              <a:rPr lang="en-GB" sz="3200" b="0" dirty="0">
                <a:solidFill>
                  <a:schemeClr val="tx2"/>
                </a:solidFill>
                <a:latin typeface="Barlow" pitchFamily="2" charset="77"/>
              </a:rPr>
              <a:t>After copyright expires, works enter the </a:t>
            </a:r>
            <a:r>
              <a:rPr lang="en-GB" sz="3200" dirty="0">
                <a:solidFill>
                  <a:schemeClr val="tx2"/>
                </a:solidFill>
                <a:latin typeface="Barlow" pitchFamily="2" charset="77"/>
              </a:rPr>
              <a:t>public domain</a:t>
            </a:r>
            <a:endParaRPr lang="en-US" sz="3200" b="0" dirty="0">
              <a:solidFill>
                <a:schemeClr val="tx2"/>
              </a:solidFill>
              <a:latin typeface="Barlow" pitchFamily="2" charset="77"/>
            </a:endParaRPr>
          </a:p>
        </p:txBody>
      </p:sp>
    </p:spTree>
    <p:extLst>
      <p:ext uri="{BB962C8B-B14F-4D97-AF65-F5344CB8AC3E}">
        <p14:creationId xmlns:p14="http://schemas.microsoft.com/office/powerpoint/2010/main" val="2093682552"/>
      </p:ext>
    </p:extLst>
  </p:cSld>
  <p:clrMapOvr>
    <a:masterClrMapping/>
  </p:clrMapOvr>
  <p:transition spd="med" advTm="222639"/>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7E9A3-5FA0-08B7-7DB2-23E7846BBEF9}"/>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3A611AA7-3C21-60EF-661B-F374827FFFF5}"/>
              </a:ext>
            </a:extLst>
          </p:cNvPr>
          <p:cNvSpPr txBox="1"/>
          <p:nvPr/>
        </p:nvSpPr>
        <p:spPr>
          <a:xfrm>
            <a:off x="1028458" y="1002549"/>
            <a:ext cx="11218505"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Limitation: Duration of rights</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6A34C0F1-A0CB-96C9-1B77-2F5839552CEA}"/>
              </a:ext>
            </a:extLst>
          </p:cNvPr>
          <p:cNvSpPr txBox="1"/>
          <p:nvPr/>
        </p:nvSpPr>
        <p:spPr>
          <a:xfrm>
            <a:off x="1028459" y="1002549"/>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5" name="Rectangle 4">
            <a:extLst>
              <a:ext uri="{FF2B5EF4-FFF2-40B4-BE49-F238E27FC236}">
                <a16:creationId xmlns:a16="http://schemas.microsoft.com/office/drawing/2014/main" id="{BE606A95-872A-ED83-E104-AECB3EF8EC5A}"/>
              </a:ext>
            </a:extLst>
          </p:cNvPr>
          <p:cNvSpPr/>
          <p:nvPr/>
        </p:nvSpPr>
        <p:spPr>
          <a:xfrm>
            <a:off x="1028458" y="3419309"/>
            <a:ext cx="8535266" cy="3108543"/>
          </a:xfrm>
          <a:prstGeom prst="rect">
            <a:avLst/>
          </a:prstGeom>
        </p:spPr>
        <p:txBody>
          <a:bodyPr wrap="square">
            <a:spAutoFit/>
          </a:bodyPr>
          <a:lstStyle/>
          <a:p>
            <a:pPr marL="457200" indent="-457200" algn="just">
              <a:buFont typeface="Arial" panose="020B0604020202020204" pitchFamily="34" charset="0"/>
              <a:buChar char="•"/>
            </a:pPr>
            <a:r>
              <a:rPr lang="en-GB" sz="2800" b="0" dirty="0">
                <a:solidFill>
                  <a:schemeClr val="tx2"/>
                </a:solidFill>
                <a:latin typeface="Barlow" pitchFamily="2" charset="77"/>
              </a:rPr>
              <a:t>You find this picture of Rembrandt’s ‘A Man in Armour’ (1655) in a Google Image search.</a:t>
            </a:r>
          </a:p>
          <a:p>
            <a:pPr marL="457200" indent="-457200" algn="just">
              <a:buFont typeface="Arial" panose="020B0604020202020204" pitchFamily="34" charset="0"/>
              <a:buChar char="•"/>
            </a:pPr>
            <a:r>
              <a:rPr lang="en-GB" sz="2800" b="0" dirty="0">
                <a:solidFill>
                  <a:schemeClr val="tx2"/>
                </a:solidFill>
                <a:latin typeface="Barlow" pitchFamily="2" charset="77"/>
              </a:rPr>
              <a:t>Are you allowed to copy this picture and sell it on posters on Etsy? </a:t>
            </a:r>
          </a:p>
          <a:p>
            <a:pPr marL="457200" indent="-457200" algn="just">
              <a:buFont typeface="Arial" panose="020B0604020202020204" pitchFamily="34" charset="0"/>
              <a:buChar char="•"/>
            </a:pPr>
            <a:r>
              <a:rPr lang="en-GB" sz="2800" b="0" dirty="0">
                <a:solidFill>
                  <a:schemeClr val="tx2"/>
                </a:solidFill>
                <a:latin typeface="Barlow" pitchFamily="2" charset="77"/>
              </a:rPr>
              <a:t>Would your answer change if you were the person taking the picture (rather than copying someone else’s from Google)?</a:t>
            </a:r>
            <a:endParaRPr lang="en-GB" sz="2800" b="0" dirty="0">
              <a:solidFill>
                <a:schemeClr val="tx2"/>
              </a:solidFill>
              <a:latin typeface="Barlow" pitchFamily="2" charset="77"/>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3416EA28-E5D1-EEC2-FF3A-E3CA5D01B4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07060" y="1409095"/>
            <a:ext cx="5404744" cy="712897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4681F43-2CED-3C1D-E483-2BB1BC5CFCC1}"/>
              </a:ext>
            </a:extLst>
          </p:cNvPr>
          <p:cNvSpPr txBox="1"/>
          <p:nvPr/>
        </p:nvSpPr>
        <p:spPr>
          <a:xfrm>
            <a:off x="12897217" y="8626575"/>
            <a:ext cx="1424429" cy="318036"/>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20320" tIns="20320" rIns="20320" bIns="20320" numCol="1" spcCol="38100" rtlCol="0" anchor="ctr">
            <a:spAutoFit/>
          </a:bodyPr>
          <a:lstStyle/>
          <a:p>
            <a:pPr marL="0" marR="0" indent="0" algn="ctr" defTabSz="587022" rtl="0" fontAlgn="auto" latinLnBrk="0" hangingPunct="0">
              <a:lnSpc>
                <a:spcPct val="100000"/>
              </a:lnSpc>
              <a:spcBef>
                <a:spcPts val="0"/>
              </a:spcBef>
              <a:spcAft>
                <a:spcPts val="0"/>
              </a:spcAft>
              <a:buClrTx/>
              <a:buSzTx/>
              <a:buFontTx/>
              <a:buNone/>
              <a:tabLst/>
            </a:pPr>
            <a:r>
              <a:rPr kumimoji="0" lang="en-GB" sz="1800" b="1" i="0" u="none" strike="noStrike" cap="none" spc="0" normalizeH="0" baseline="0" dirty="0">
                <a:ln>
                  <a:noFill/>
                </a:ln>
                <a:solidFill>
                  <a:schemeClr val="tx2"/>
                </a:solidFill>
                <a:effectLst/>
                <a:uFillTx/>
                <a:latin typeface="Barlow" pitchFamily="2" charset="77"/>
                <a:sym typeface="Helvetica Neue"/>
                <a:hlinkClick r:id="rId3">
                  <a:extLst>
                    <a:ext uri="{A12FA001-AC4F-418D-AE19-62706E023703}">
                      <ahyp:hlinkClr xmlns:ahyp="http://schemas.microsoft.com/office/drawing/2018/hyperlinkcolor" val="tx"/>
                    </a:ext>
                  </a:extLst>
                </a:hlinkClick>
              </a:rPr>
              <a:t>Image source</a:t>
            </a:r>
            <a:endParaRPr kumimoji="0" lang="en-GB" sz="1800" b="1" i="0" u="none" strike="noStrike" cap="none" spc="0" normalizeH="0" baseline="0" dirty="0">
              <a:ln>
                <a:noFill/>
              </a:ln>
              <a:solidFill>
                <a:schemeClr val="tx2"/>
              </a:solidFill>
              <a:effectLst/>
              <a:uFillTx/>
              <a:latin typeface="Barlow" pitchFamily="2" charset="77"/>
              <a:sym typeface="Helvetica Neue"/>
            </a:endParaRPr>
          </a:p>
        </p:txBody>
      </p:sp>
    </p:spTree>
    <p:extLst>
      <p:ext uri="{BB962C8B-B14F-4D97-AF65-F5344CB8AC3E}">
        <p14:creationId xmlns:p14="http://schemas.microsoft.com/office/powerpoint/2010/main" val="3693463312"/>
      </p:ext>
    </p:extLst>
  </p:cSld>
  <p:clrMapOvr>
    <a:masterClrMapping/>
  </p:clrMapOvr>
  <p:transition spd="med" advTm="222639"/>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ITLE TEXT"/>
          <p:cNvSpPr txBox="1"/>
          <p:nvPr/>
        </p:nvSpPr>
        <p:spPr>
          <a:xfrm>
            <a:off x="1021657" y="740489"/>
            <a:ext cx="9641622"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Limitation: Duration of rights</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p:cNvSpPr txBox="1"/>
          <p:nvPr/>
        </p:nvSpPr>
        <p:spPr>
          <a:xfrm>
            <a:off x="1021657" y="1786564"/>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0589387A-0B28-2406-071D-7D405E578C4F}"/>
              </a:ext>
            </a:extLst>
          </p:cNvPr>
          <p:cNvSpPr/>
          <p:nvPr/>
        </p:nvSpPr>
        <p:spPr>
          <a:xfrm>
            <a:off x="1021657" y="1957411"/>
            <a:ext cx="15015594" cy="3046988"/>
          </a:xfrm>
          <a:prstGeom prst="rect">
            <a:avLst/>
          </a:prstGeom>
        </p:spPr>
        <p:txBody>
          <a:bodyPr wrap="square">
            <a:spAutoFit/>
          </a:bodyPr>
          <a:lstStyle/>
          <a:p>
            <a:pPr lvl="1" indent="0" algn="just"/>
            <a:r>
              <a:rPr lang="en-US" sz="3200" b="0" dirty="0">
                <a:solidFill>
                  <a:schemeClr val="tx2"/>
                </a:solidFill>
                <a:latin typeface="Barlow" pitchFamily="2" charset="77"/>
              </a:rPr>
              <a:t>1. </a:t>
            </a:r>
            <a:r>
              <a:rPr lang="en-US" sz="3200" dirty="0">
                <a:solidFill>
                  <a:schemeClr val="tx2"/>
                </a:solidFill>
                <a:latin typeface="Barlow" pitchFamily="2" charset="77"/>
              </a:rPr>
              <a:t>Original adaptations </a:t>
            </a:r>
            <a:r>
              <a:rPr lang="en-US" sz="3200" b="0" dirty="0">
                <a:solidFill>
                  <a:schemeClr val="tx2"/>
                </a:solidFill>
                <a:latin typeface="Barlow" pitchFamily="2" charset="77"/>
              </a:rPr>
              <a:t>of public domain works will often attract new copyright in themselves (e.g. Romeo + Juliet)</a:t>
            </a:r>
          </a:p>
          <a:p>
            <a:pPr lvl="1" indent="0" algn="just"/>
            <a:endParaRPr lang="en-US" sz="3200" b="0" dirty="0">
              <a:solidFill>
                <a:schemeClr val="tx2"/>
              </a:solidFill>
              <a:latin typeface="Barlow" pitchFamily="2" charset="77"/>
            </a:endParaRPr>
          </a:p>
          <a:p>
            <a:pPr lvl="1" indent="0" algn="just"/>
            <a:r>
              <a:rPr lang="en-US" sz="3200" b="0" dirty="0">
                <a:solidFill>
                  <a:schemeClr val="tx2"/>
                </a:solidFill>
                <a:latin typeface="Barlow" pitchFamily="2" charset="77"/>
              </a:rPr>
              <a:t>2.  Copyright is </a:t>
            </a:r>
            <a:r>
              <a:rPr lang="en-US" sz="3200" dirty="0">
                <a:solidFill>
                  <a:schemeClr val="tx2"/>
                </a:solidFill>
                <a:latin typeface="Barlow" pitchFamily="2" charset="77"/>
              </a:rPr>
              <a:t>territorial</a:t>
            </a:r>
            <a:r>
              <a:rPr lang="en-US" sz="3200" b="0" dirty="0">
                <a:solidFill>
                  <a:schemeClr val="tx2"/>
                </a:solidFill>
                <a:latin typeface="Barlow" pitchFamily="2" charset="77"/>
              </a:rPr>
              <a:t>: public domain works in the UK might not be public domain elsewhere (see e.g. the case of </a:t>
            </a:r>
            <a:r>
              <a:rPr lang="en-US" sz="3200" b="0" dirty="0">
                <a:solidFill>
                  <a:schemeClr val="tx2"/>
                </a:solidFill>
                <a:latin typeface="Barlow" pitchFamily="2" charset="77"/>
                <a:hlinkClick r:id="rId2">
                  <a:extLst>
                    <a:ext uri="{A12FA001-AC4F-418D-AE19-62706E023703}">
                      <ahyp:hlinkClr xmlns:ahyp="http://schemas.microsoft.com/office/drawing/2018/hyperlinkcolor" val="tx"/>
                    </a:ext>
                  </a:extLst>
                </a:hlinkClick>
              </a:rPr>
              <a:t>Anne Frank’s diary</a:t>
            </a:r>
            <a:r>
              <a:rPr lang="en-US" sz="3200" b="0" dirty="0">
                <a:solidFill>
                  <a:schemeClr val="tx2"/>
                </a:solidFill>
                <a:latin typeface="Barlow" pitchFamily="2" charset="77"/>
              </a:rPr>
              <a:t>)</a:t>
            </a:r>
          </a:p>
          <a:p>
            <a:pPr lvl="1" indent="0" algn="just"/>
            <a:endParaRPr lang="en-US" sz="3200" b="0" dirty="0">
              <a:solidFill>
                <a:schemeClr val="tx2"/>
              </a:solidFill>
              <a:latin typeface="Barlow" pitchFamily="2" charset="77"/>
            </a:endParaRPr>
          </a:p>
        </p:txBody>
      </p:sp>
    </p:spTree>
    <p:extLst>
      <p:ext uri="{BB962C8B-B14F-4D97-AF65-F5344CB8AC3E}">
        <p14:creationId xmlns:p14="http://schemas.microsoft.com/office/powerpoint/2010/main" val="1011830023"/>
      </p:ext>
    </p:extLst>
  </p:cSld>
  <p:clrMapOvr>
    <a:masterClrMapping/>
  </p:clrMapOvr>
  <p:transition spd="med" advTm="222639"/>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ITLE TEXT"/>
          <p:cNvSpPr txBox="1"/>
          <p:nvPr/>
        </p:nvSpPr>
        <p:spPr>
          <a:xfrm>
            <a:off x="1028459" y="730197"/>
            <a:ext cx="964162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Limitation: Substantial part</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p:cNvSpPr txBox="1"/>
          <p:nvPr/>
        </p:nvSpPr>
        <p:spPr>
          <a:xfrm>
            <a:off x="1028459" y="1776272"/>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0589387A-0B28-2406-071D-7D405E578C4F}"/>
              </a:ext>
            </a:extLst>
          </p:cNvPr>
          <p:cNvSpPr/>
          <p:nvPr/>
        </p:nvSpPr>
        <p:spPr>
          <a:xfrm>
            <a:off x="1028459" y="1947119"/>
            <a:ext cx="15015594" cy="6494085"/>
          </a:xfrm>
          <a:prstGeom prst="rect">
            <a:avLst/>
          </a:prstGeom>
        </p:spPr>
        <p:txBody>
          <a:bodyPr wrap="square">
            <a:spAutoFit/>
          </a:bodyPr>
          <a:lstStyle/>
          <a:p>
            <a:pPr marL="609630" indent="-609630" algn="just">
              <a:buFont typeface="Arial" panose="020B0604020202020204" pitchFamily="34" charset="0"/>
              <a:buChar char="•"/>
            </a:pPr>
            <a:r>
              <a:rPr lang="en-US" sz="3200" b="0" dirty="0">
                <a:solidFill>
                  <a:schemeClr val="tx2"/>
                </a:solidFill>
                <a:latin typeface="Barlow" pitchFamily="2" charset="77"/>
              </a:rPr>
              <a:t>s.16(2) and (3) CDPA: ‘Copyright in a work is infringed by a person who without the </a:t>
            </a:r>
            <a:r>
              <a:rPr lang="en-US" sz="3200" b="0" dirty="0" err="1">
                <a:solidFill>
                  <a:schemeClr val="tx2"/>
                </a:solidFill>
                <a:latin typeface="Barlow" pitchFamily="2" charset="77"/>
              </a:rPr>
              <a:t>licence</a:t>
            </a:r>
            <a:r>
              <a:rPr lang="en-US" sz="3200" b="0" dirty="0">
                <a:solidFill>
                  <a:schemeClr val="tx2"/>
                </a:solidFill>
                <a:latin typeface="Barlow" pitchFamily="2" charset="77"/>
              </a:rPr>
              <a:t> of the copyright owner does, or authorizes another to do, any of the acts restricted by the copyright.’</a:t>
            </a:r>
          </a:p>
          <a:p>
            <a:pPr marL="609630" indent="-609630" algn="just">
              <a:buFont typeface="Arial" panose="020B0604020202020204" pitchFamily="34" charset="0"/>
              <a:buChar char="•"/>
            </a:pPr>
            <a:r>
              <a:rPr lang="en-US" sz="3200" b="0" dirty="0">
                <a:solidFill>
                  <a:schemeClr val="tx2"/>
                </a:solidFill>
                <a:latin typeface="Barlow" pitchFamily="2" charset="77"/>
              </a:rPr>
              <a:t>[…] (a) in relation to the work as a whole or </a:t>
            </a:r>
            <a:r>
              <a:rPr lang="en-US" sz="3200" dirty="0">
                <a:solidFill>
                  <a:schemeClr val="tx2"/>
                </a:solidFill>
                <a:latin typeface="Barlow" pitchFamily="2" charset="77"/>
              </a:rPr>
              <a:t>any substantial part of it.</a:t>
            </a:r>
          </a:p>
          <a:p>
            <a:pPr marL="609630" indent="-609630" algn="just">
              <a:buFont typeface="Arial" panose="020B0604020202020204" pitchFamily="34" charset="0"/>
              <a:buChar char="•"/>
            </a:pPr>
            <a:r>
              <a:rPr lang="en-US" sz="3200" b="0" dirty="0">
                <a:solidFill>
                  <a:schemeClr val="tx2"/>
                </a:solidFill>
                <a:latin typeface="Barlow" pitchFamily="2" charset="77"/>
              </a:rPr>
              <a:t>Remember, this is a </a:t>
            </a:r>
            <a:r>
              <a:rPr lang="en-US" sz="3200" dirty="0">
                <a:solidFill>
                  <a:schemeClr val="tx2"/>
                </a:solidFill>
                <a:latin typeface="Barlow" pitchFamily="2" charset="77"/>
              </a:rPr>
              <a:t>qualitative</a:t>
            </a:r>
            <a:r>
              <a:rPr lang="en-US" sz="3200" b="0" dirty="0">
                <a:solidFill>
                  <a:schemeClr val="tx2"/>
                </a:solidFill>
                <a:latin typeface="Barlow" pitchFamily="2" charset="77"/>
              </a:rPr>
              <a:t> rather than quantitative assessment: </a:t>
            </a:r>
            <a:r>
              <a:rPr lang="en-US" sz="3200" b="0" u="sng" dirty="0">
                <a:solidFill>
                  <a:schemeClr val="tx2"/>
                </a:solidFill>
                <a:latin typeface="Barlow" pitchFamily="2" charset="77"/>
              </a:rPr>
              <a:t>not</a:t>
            </a:r>
            <a:r>
              <a:rPr lang="en-US" sz="3200" b="0" dirty="0">
                <a:solidFill>
                  <a:schemeClr val="tx2"/>
                </a:solidFill>
                <a:latin typeface="Barlow" pitchFamily="2" charset="77"/>
              </a:rPr>
              <a:t> a question of percentages/fractions of a work</a:t>
            </a:r>
          </a:p>
          <a:p>
            <a:pPr marL="609630" indent="-609630" algn="just">
              <a:buFont typeface="Arial" panose="020B0604020202020204" pitchFamily="34" charset="0"/>
              <a:buChar char="•"/>
            </a:pPr>
            <a:endParaRPr lang="en-US" sz="3200" b="0" dirty="0">
              <a:solidFill>
                <a:schemeClr val="tx2"/>
              </a:solidFill>
              <a:latin typeface="Barlow" pitchFamily="2" charset="77"/>
            </a:endParaRPr>
          </a:p>
          <a:p>
            <a:pPr marL="609630" indent="-609630" algn="just">
              <a:buFont typeface="Arial" panose="020B0604020202020204" pitchFamily="34" charset="0"/>
              <a:buChar char="•"/>
            </a:pPr>
            <a:r>
              <a:rPr lang="en-US" sz="3200" b="0" dirty="0">
                <a:solidFill>
                  <a:schemeClr val="tx2"/>
                </a:solidFill>
                <a:latin typeface="Barlow" pitchFamily="2" charset="77"/>
              </a:rPr>
              <a:t>England and Wales Cricket Board v </a:t>
            </a:r>
            <a:r>
              <a:rPr lang="en-US" sz="3200" b="0" dirty="0" err="1">
                <a:solidFill>
                  <a:schemeClr val="tx2"/>
                </a:solidFill>
                <a:latin typeface="Barlow" pitchFamily="2" charset="77"/>
              </a:rPr>
              <a:t>Tixdaq</a:t>
            </a:r>
            <a:r>
              <a:rPr lang="en-US" sz="3200" b="0" dirty="0">
                <a:solidFill>
                  <a:schemeClr val="tx2"/>
                </a:solidFill>
                <a:latin typeface="Barlow" pitchFamily="2" charset="77"/>
              </a:rPr>
              <a:t> [</a:t>
            </a:r>
            <a:r>
              <a:rPr lang="en-GB" sz="3200" b="0" dirty="0">
                <a:solidFill>
                  <a:schemeClr val="tx2"/>
                </a:solidFill>
                <a:latin typeface="Barlow" pitchFamily="2" charset="77"/>
              </a:rPr>
              <a:t>2016] EWHC 575 (Ch) </a:t>
            </a:r>
            <a:r>
              <a:rPr lang="en-US" sz="3200" b="0" dirty="0">
                <a:solidFill>
                  <a:schemeClr val="tx2"/>
                </a:solidFill>
                <a:latin typeface="Barlow" pitchFamily="2" charset="77"/>
              </a:rPr>
              <a:t>:</a:t>
            </a:r>
          </a:p>
          <a:p>
            <a:pPr marL="609630" lvl="1" indent="-609630" algn="just">
              <a:buFont typeface="Courier New" panose="02070309020205020404" pitchFamily="49" charset="0"/>
              <a:buChar char="o"/>
            </a:pPr>
            <a:r>
              <a:rPr lang="en-GB" sz="3200" b="0" dirty="0">
                <a:solidFill>
                  <a:schemeClr val="tx2"/>
                </a:solidFill>
                <a:latin typeface="Barlow" pitchFamily="2" charset="77"/>
              </a:rPr>
              <a:t>"[q]</a:t>
            </a:r>
            <a:r>
              <a:rPr lang="en-GB" sz="3200" b="0" dirty="0" err="1">
                <a:solidFill>
                  <a:schemeClr val="tx2"/>
                </a:solidFill>
                <a:latin typeface="Barlow" pitchFamily="2" charset="77"/>
              </a:rPr>
              <a:t>uantitatively</a:t>
            </a:r>
            <a:r>
              <a:rPr lang="en-GB" sz="3200" b="0" dirty="0">
                <a:solidFill>
                  <a:schemeClr val="tx2"/>
                </a:solidFill>
                <a:latin typeface="Barlow" pitchFamily="2" charset="77"/>
              </a:rPr>
              <a:t>, </a:t>
            </a:r>
            <a:r>
              <a:rPr lang="en-GB" sz="3200" dirty="0">
                <a:solidFill>
                  <a:schemeClr val="tx2"/>
                </a:solidFill>
                <a:latin typeface="Barlow" pitchFamily="2" charset="77"/>
              </a:rPr>
              <a:t>8 seconds </a:t>
            </a:r>
            <a:r>
              <a:rPr lang="en-GB" sz="3200" b="0" dirty="0">
                <a:solidFill>
                  <a:schemeClr val="tx2"/>
                </a:solidFill>
                <a:latin typeface="Barlow" pitchFamily="2" charset="77"/>
              </a:rPr>
              <a:t>is not a large proportion of a broadcast or film lasting two hours or more. Qualitatively, however, it is clear that most of the clips uploaded constituted highlights of the matches […] Thus most of clips showed </a:t>
            </a:r>
            <a:r>
              <a:rPr lang="en-GB" sz="3200" dirty="0">
                <a:solidFill>
                  <a:schemeClr val="tx2"/>
                </a:solidFill>
                <a:latin typeface="Barlow" pitchFamily="2" charset="77"/>
              </a:rPr>
              <a:t>something of interest, and hence value</a:t>
            </a:r>
            <a:r>
              <a:rPr lang="en-GB" sz="3200" b="0" dirty="0">
                <a:solidFill>
                  <a:schemeClr val="tx2"/>
                </a:solidFill>
                <a:latin typeface="Barlow" pitchFamily="2" charset="77"/>
              </a:rPr>
              <a:t> […] Accordingly ... each such clip constituted a substantial part of the relevant copyright work(s)."</a:t>
            </a:r>
          </a:p>
        </p:txBody>
      </p:sp>
    </p:spTree>
    <p:extLst>
      <p:ext uri="{BB962C8B-B14F-4D97-AF65-F5344CB8AC3E}">
        <p14:creationId xmlns:p14="http://schemas.microsoft.com/office/powerpoint/2010/main" val="2136730177"/>
      </p:ext>
    </p:extLst>
  </p:cSld>
  <p:clrMapOvr>
    <a:masterClrMapping/>
  </p:clrMapOvr>
  <p:transition spd="med" advTm="222639"/>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ITLE TEXT"/>
          <p:cNvSpPr txBox="1"/>
          <p:nvPr/>
        </p:nvSpPr>
        <p:spPr>
          <a:xfrm>
            <a:off x="1010874" y="730197"/>
            <a:ext cx="964162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Exceptions: Legal framework</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p:cNvSpPr txBox="1"/>
          <p:nvPr/>
        </p:nvSpPr>
        <p:spPr>
          <a:xfrm>
            <a:off x="1010874" y="1776272"/>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0589387A-0B28-2406-071D-7D405E578C4F}"/>
              </a:ext>
            </a:extLst>
          </p:cNvPr>
          <p:cNvSpPr/>
          <p:nvPr/>
        </p:nvSpPr>
        <p:spPr>
          <a:xfrm>
            <a:off x="1010874" y="1947120"/>
            <a:ext cx="15015594" cy="6986528"/>
          </a:xfrm>
          <a:prstGeom prst="rect">
            <a:avLst/>
          </a:prstGeom>
        </p:spPr>
        <p:txBody>
          <a:bodyPr wrap="square">
            <a:spAutoFit/>
          </a:bodyPr>
          <a:lstStyle/>
          <a:p>
            <a:pPr marL="457223" indent="-457223" algn="just">
              <a:buFont typeface="Arial" panose="020B0604020202020204" pitchFamily="34" charset="0"/>
              <a:buChar char="•"/>
            </a:pPr>
            <a:r>
              <a:rPr lang="en-US" sz="3200" b="0" dirty="0">
                <a:solidFill>
                  <a:schemeClr val="tx2"/>
                </a:solidFill>
                <a:latin typeface="Barlow" pitchFamily="2" charset="77"/>
              </a:rPr>
              <a:t>Berne ‘three step’ test Art 9(2)</a:t>
            </a:r>
          </a:p>
          <a:p>
            <a:pPr marL="381019" lvl="1" indent="-381019" algn="just">
              <a:buFont typeface="Arial" panose="020B0604020202020204" pitchFamily="34" charset="0"/>
              <a:buChar char="•"/>
            </a:pPr>
            <a:r>
              <a:rPr lang="en-US" sz="3200" b="0" dirty="0">
                <a:solidFill>
                  <a:schemeClr val="tx2"/>
                </a:solidFill>
                <a:latin typeface="Barlow" pitchFamily="2" charset="77"/>
              </a:rPr>
              <a:t>‘</a:t>
            </a:r>
            <a:r>
              <a:rPr lang="en-GB" sz="3200" b="0" dirty="0">
                <a:solidFill>
                  <a:schemeClr val="tx2"/>
                </a:solidFill>
                <a:latin typeface="Barlow" pitchFamily="2" charset="77"/>
              </a:rPr>
              <a:t>It shall be a matter for legislation in the countries of the Union to permit the reproduction of such works in (1) </a:t>
            </a:r>
            <a:r>
              <a:rPr lang="en-GB" sz="3200" dirty="0">
                <a:solidFill>
                  <a:schemeClr val="tx2"/>
                </a:solidFill>
                <a:latin typeface="Barlow" pitchFamily="2" charset="77"/>
              </a:rPr>
              <a:t>certain special cases</a:t>
            </a:r>
            <a:r>
              <a:rPr lang="en-GB" sz="3200" b="0" dirty="0">
                <a:solidFill>
                  <a:schemeClr val="tx2"/>
                </a:solidFill>
                <a:latin typeface="Barlow" pitchFamily="2" charset="77"/>
              </a:rPr>
              <a:t>, provided that such reproduction (2) </a:t>
            </a:r>
            <a:r>
              <a:rPr lang="en-GB" sz="3200" dirty="0">
                <a:solidFill>
                  <a:schemeClr val="tx2"/>
                </a:solidFill>
                <a:latin typeface="Barlow" pitchFamily="2" charset="77"/>
              </a:rPr>
              <a:t>does not conflict with a normal exploitation of the work </a:t>
            </a:r>
            <a:r>
              <a:rPr lang="en-GB" sz="3200" b="0" dirty="0">
                <a:solidFill>
                  <a:schemeClr val="tx2"/>
                </a:solidFill>
                <a:latin typeface="Barlow" pitchFamily="2" charset="77"/>
              </a:rPr>
              <a:t>and does not (3) </a:t>
            </a:r>
            <a:r>
              <a:rPr lang="en-GB" sz="3200" dirty="0">
                <a:solidFill>
                  <a:schemeClr val="tx2"/>
                </a:solidFill>
                <a:latin typeface="Barlow" pitchFamily="2" charset="77"/>
              </a:rPr>
              <a:t>unreasonably prejudice the legitimate interests of the author</a:t>
            </a:r>
            <a:r>
              <a:rPr lang="en-GB" sz="3200" b="0" dirty="0">
                <a:solidFill>
                  <a:schemeClr val="tx2"/>
                </a:solidFill>
                <a:latin typeface="Barlow" pitchFamily="2" charset="77"/>
              </a:rPr>
              <a:t>.</a:t>
            </a:r>
          </a:p>
          <a:p>
            <a:pPr lvl="1" indent="0" algn="just"/>
            <a:endParaRPr lang="en-GB" sz="3200" b="0" dirty="0">
              <a:solidFill>
                <a:schemeClr val="tx2"/>
              </a:solidFill>
              <a:latin typeface="Barlow" pitchFamily="2" charset="77"/>
            </a:endParaRPr>
          </a:p>
          <a:p>
            <a:pPr marL="381019" indent="-381019" algn="just">
              <a:buFont typeface="Arial" panose="020B0604020202020204" pitchFamily="34" charset="0"/>
              <a:buChar char="•"/>
            </a:pPr>
            <a:r>
              <a:rPr lang="en-US" sz="3200" b="0" dirty="0">
                <a:solidFill>
                  <a:schemeClr val="tx2"/>
                </a:solidFill>
                <a:latin typeface="Barlow" pitchFamily="2" charset="77"/>
              </a:rPr>
              <a:t>EU influence: </a:t>
            </a:r>
            <a:r>
              <a:rPr lang="en-US" sz="3200" b="0" dirty="0" err="1">
                <a:solidFill>
                  <a:schemeClr val="tx2"/>
                </a:solidFill>
                <a:latin typeface="Barlow" pitchFamily="2" charset="77"/>
              </a:rPr>
              <a:t>InfoSoc</a:t>
            </a:r>
            <a:r>
              <a:rPr lang="en-US" sz="3200" b="0" dirty="0">
                <a:solidFill>
                  <a:schemeClr val="tx2"/>
                </a:solidFill>
                <a:latin typeface="Barlow" pitchFamily="2" charset="77"/>
              </a:rPr>
              <a:t> Directive (2001) Art 5</a:t>
            </a:r>
          </a:p>
          <a:p>
            <a:pPr marL="609630" indent="-609630" algn="just">
              <a:buFont typeface="Courier New" panose="02070309020205020404" pitchFamily="49" charset="0"/>
              <a:buChar char="o"/>
            </a:pPr>
            <a:r>
              <a:rPr lang="en-US" sz="3200" b="0" dirty="0">
                <a:solidFill>
                  <a:schemeClr val="tx2"/>
                </a:solidFill>
                <a:latin typeface="Barlow" pitchFamily="2" charset="77"/>
              </a:rPr>
              <a:t>Exhaustive and optional list of exceptions</a:t>
            </a:r>
          </a:p>
          <a:p>
            <a:pPr marL="609630" lvl="1" indent="-609630" algn="just">
              <a:buFont typeface="Courier New" panose="02070309020205020404" pitchFamily="49" charset="0"/>
              <a:buChar char="o"/>
            </a:pPr>
            <a:r>
              <a:rPr lang="en-US" sz="3200" b="0" dirty="0">
                <a:solidFill>
                  <a:schemeClr val="tx2"/>
                </a:solidFill>
                <a:latin typeface="Barlow" pitchFamily="2" charset="77"/>
              </a:rPr>
              <a:t>Exceptions are not harmonized at EU level</a:t>
            </a:r>
          </a:p>
          <a:p>
            <a:pPr marL="609630" lvl="1" indent="-609630" algn="just">
              <a:buFont typeface="Courier New" panose="02070309020205020404" pitchFamily="49" charset="0"/>
              <a:buChar char="o"/>
            </a:pPr>
            <a:r>
              <a:rPr lang="en-US" sz="3200" b="0" dirty="0">
                <a:solidFill>
                  <a:schemeClr val="tx2"/>
                </a:solidFill>
                <a:latin typeface="Barlow" pitchFamily="2" charset="77"/>
              </a:rPr>
              <a:t>Only mandatory exception is </a:t>
            </a:r>
            <a:r>
              <a:rPr lang="en-GB" sz="3200" b="0" dirty="0">
                <a:solidFill>
                  <a:schemeClr val="tx2"/>
                </a:solidFill>
                <a:latin typeface="Barlow" pitchFamily="2" charset="77"/>
              </a:rPr>
              <a:t>transient or incidental copying as part of a network transmission or legal use </a:t>
            </a:r>
            <a:r>
              <a:rPr lang="en-US" sz="3200" b="0" dirty="0">
                <a:solidFill>
                  <a:schemeClr val="tx2"/>
                </a:solidFill>
                <a:latin typeface="Barlow" pitchFamily="2" charset="77"/>
              </a:rPr>
              <a:t>(Art 5.1)</a:t>
            </a:r>
          </a:p>
          <a:p>
            <a:pPr lvl="1" indent="0" algn="just"/>
            <a:endParaRPr lang="en-US" sz="3200" b="0" dirty="0">
              <a:solidFill>
                <a:schemeClr val="tx2"/>
              </a:solidFill>
              <a:latin typeface="Barlow" pitchFamily="2" charset="77"/>
            </a:endParaRPr>
          </a:p>
          <a:p>
            <a:pPr marL="457223" indent="-457223" algn="just">
              <a:buFont typeface="Arial" panose="020B0604020202020204" pitchFamily="34" charset="0"/>
              <a:buChar char="•"/>
            </a:pPr>
            <a:r>
              <a:rPr lang="en-US" sz="3200" b="0" dirty="0">
                <a:solidFill>
                  <a:schemeClr val="tx2"/>
                </a:solidFill>
                <a:latin typeface="Barlow" pitchFamily="2" charset="77"/>
              </a:rPr>
              <a:t>National implementation: CDPA 1988 Chapter 3</a:t>
            </a:r>
          </a:p>
          <a:p>
            <a:pPr marL="457223" indent="-457223" algn="just">
              <a:buFont typeface="Arial" panose="020B0604020202020204" pitchFamily="34" charset="0"/>
              <a:buChar char="•"/>
            </a:pPr>
            <a:r>
              <a:rPr lang="en-US" sz="3200" b="0" dirty="0">
                <a:solidFill>
                  <a:schemeClr val="tx2"/>
                </a:solidFill>
                <a:latin typeface="Barlow" pitchFamily="2" charset="77"/>
              </a:rPr>
              <a:t>Some exceptions </a:t>
            </a:r>
            <a:r>
              <a:rPr lang="en-US" sz="3200" dirty="0">
                <a:solidFill>
                  <a:schemeClr val="tx2"/>
                </a:solidFill>
                <a:latin typeface="Barlow" pitchFamily="2" charset="77"/>
              </a:rPr>
              <a:t>cannot be overridden by contract law</a:t>
            </a:r>
          </a:p>
        </p:txBody>
      </p:sp>
    </p:spTree>
    <p:extLst>
      <p:ext uri="{BB962C8B-B14F-4D97-AF65-F5344CB8AC3E}">
        <p14:creationId xmlns:p14="http://schemas.microsoft.com/office/powerpoint/2010/main" val="2825711976"/>
      </p:ext>
    </p:extLst>
  </p:cSld>
  <p:clrMapOvr>
    <a:masterClrMapping/>
  </p:clrMapOvr>
  <p:transition spd="med" advTm="222639"/>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ITLE TEXT"/>
          <p:cNvSpPr txBox="1"/>
          <p:nvPr/>
        </p:nvSpPr>
        <p:spPr>
          <a:xfrm>
            <a:off x="1028459" y="730197"/>
            <a:ext cx="13088022"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Exceptions: ‘Whole work’ exceptions</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p:cNvSpPr txBox="1"/>
          <p:nvPr/>
        </p:nvSpPr>
        <p:spPr>
          <a:xfrm>
            <a:off x="1028459"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0589387A-0B28-2406-071D-7D405E578C4F}"/>
              </a:ext>
            </a:extLst>
          </p:cNvPr>
          <p:cNvSpPr/>
          <p:nvPr/>
        </p:nvSpPr>
        <p:spPr>
          <a:xfrm>
            <a:off x="1028459" y="1947120"/>
            <a:ext cx="15015594" cy="3539430"/>
          </a:xfrm>
          <a:prstGeom prst="rect">
            <a:avLst/>
          </a:prstGeom>
        </p:spPr>
        <p:txBody>
          <a:bodyPr wrap="square">
            <a:spAutoFit/>
          </a:bodyPr>
          <a:lstStyle/>
          <a:p>
            <a:pPr marL="609630" indent="-609630" algn="just">
              <a:buFont typeface="Arial" panose="020B0604020202020204" pitchFamily="34" charset="0"/>
              <a:buChar char="•"/>
            </a:pPr>
            <a:r>
              <a:rPr lang="en-US" sz="3200" b="0" dirty="0">
                <a:solidFill>
                  <a:schemeClr val="tx2"/>
                </a:solidFill>
                <a:latin typeface="Barlow" pitchFamily="2" charset="77"/>
              </a:rPr>
              <a:t>Necessary, temporary copies (Art 5.1. </a:t>
            </a:r>
            <a:r>
              <a:rPr lang="en-US" sz="3200" b="0" dirty="0" err="1">
                <a:solidFill>
                  <a:schemeClr val="tx2"/>
                </a:solidFill>
                <a:latin typeface="Barlow" pitchFamily="2" charset="77"/>
              </a:rPr>
              <a:t>InfoSoc</a:t>
            </a:r>
            <a:r>
              <a:rPr lang="en-US" sz="3200" b="0" dirty="0">
                <a:solidFill>
                  <a:schemeClr val="tx2"/>
                </a:solidFill>
                <a:latin typeface="Barlow" pitchFamily="2" charset="77"/>
              </a:rPr>
              <a:t>) (remember </a:t>
            </a:r>
            <a:r>
              <a:rPr lang="en-US" sz="3200" b="0" i="1" dirty="0">
                <a:solidFill>
                  <a:schemeClr val="tx2"/>
                </a:solidFill>
                <a:latin typeface="Barlow" pitchFamily="2" charset="77"/>
              </a:rPr>
              <a:t>FAPL v Karen Murphy</a:t>
            </a:r>
            <a:r>
              <a:rPr lang="en-US" sz="3200" b="0" dirty="0">
                <a:solidFill>
                  <a:schemeClr val="tx2"/>
                </a:solidFill>
                <a:latin typeface="Barlow" pitchFamily="2" charset="77"/>
              </a:rPr>
              <a:t>)</a:t>
            </a:r>
          </a:p>
          <a:p>
            <a:pPr marL="609630" indent="-609630" algn="just">
              <a:buFont typeface="Arial" panose="020B0604020202020204" pitchFamily="34" charset="0"/>
              <a:buChar char="•"/>
            </a:pPr>
            <a:r>
              <a:rPr lang="en-US" sz="3200" b="0" dirty="0">
                <a:solidFill>
                  <a:schemeClr val="tx2"/>
                </a:solidFill>
                <a:latin typeface="Barlow" pitchFamily="2" charset="77"/>
              </a:rPr>
              <a:t>Text and data mining (CDPA s29A) – more on this in Seminar 8</a:t>
            </a:r>
          </a:p>
          <a:p>
            <a:pPr marL="609630" indent="-609630" algn="just">
              <a:buFont typeface="Arial" panose="020B0604020202020204" pitchFamily="34" charset="0"/>
              <a:buChar char="•"/>
            </a:pPr>
            <a:r>
              <a:rPr lang="en-US" sz="3200" b="0" dirty="0">
                <a:solidFill>
                  <a:schemeClr val="tx2"/>
                </a:solidFill>
                <a:latin typeface="Barlow" pitchFamily="2" charset="77"/>
              </a:rPr>
              <a:t>Incidental inclusion (CDPA s31)</a:t>
            </a:r>
          </a:p>
          <a:p>
            <a:pPr marL="609630" indent="-609630" algn="just">
              <a:buFont typeface="Arial" panose="020B0604020202020204" pitchFamily="34" charset="0"/>
              <a:buChar char="•"/>
            </a:pPr>
            <a:r>
              <a:rPr lang="en-US" sz="3200" b="0" dirty="0">
                <a:solidFill>
                  <a:schemeClr val="tx2"/>
                </a:solidFill>
                <a:latin typeface="Barlow" pitchFamily="2" charset="77"/>
              </a:rPr>
              <a:t>Education (CDPA s34)</a:t>
            </a:r>
          </a:p>
          <a:p>
            <a:pPr marL="609630" indent="-609630" algn="just">
              <a:buFont typeface="Arial" panose="020B0604020202020204" pitchFamily="34" charset="0"/>
              <a:buChar char="•"/>
            </a:pPr>
            <a:r>
              <a:rPr lang="en-US" sz="3200" b="0" dirty="0">
                <a:solidFill>
                  <a:schemeClr val="tx2"/>
                </a:solidFill>
                <a:latin typeface="Barlow" pitchFamily="2" charset="77"/>
              </a:rPr>
              <a:t>Accessible copies (CDPA s31A-31F)</a:t>
            </a:r>
          </a:p>
          <a:p>
            <a:pPr marL="609630" indent="-609630" algn="just">
              <a:buFont typeface="Arial" panose="020B0604020202020204" pitchFamily="34" charset="0"/>
              <a:buChar char="•"/>
            </a:pPr>
            <a:r>
              <a:rPr lang="en-US" sz="3200" b="0" dirty="0">
                <a:solidFill>
                  <a:schemeClr val="tx2"/>
                </a:solidFill>
                <a:latin typeface="Barlow" pitchFamily="2" charset="77"/>
              </a:rPr>
              <a:t>Freedom of panorama (CDPA s62)</a:t>
            </a:r>
          </a:p>
          <a:p>
            <a:pPr marL="609630" indent="-609630" algn="just">
              <a:buFont typeface="Arial" panose="020B0604020202020204" pitchFamily="34" charset="0"/>
              <a:buChar char="•"/>
            </a:pPr>
            <a:r>
              <a:rPr lang="en-US" sz="3200" b="0" dirty="0">
                <a:solidFill>
                  <a:schemeClr val="tx2"/>
                </a:solidFill>
                <a:latin typeface="Barlow" pitchFamily="2" charset="77"/>
              </a:rPr>
              <a:t>Preservation of a work (s40A – 43A)</a:t>
            </a:r>
            <a:endParaRPr lang="en-GB" sz="3200" b="0" dirty="0">
              <a:solidFill>
                <a:schemeClr val="tx2"/>
              </a:solidFill>
              <a:latin typeface="Barlow" pitchFamily="2" charset="77"/>
            </a:endParaRPr>
          </a:p>
        </p:txBody>
      </p:sp>
    </p:spTree>
    <p:extLst>
      <p:ext uri="{BB962C8B-B14F-4D97-AF65-F5344CB8AC3E}">
        <p14:creationId xmlns:p14="http://schemas.microsoft.com/office/powerpoint/2010/main" val="3595836489"/>
      </p:ext>
    </p:extLst>
  </p:cSld>
  <p:clrMapOvr>
    <a:masterClrMapping/>
  </p:clrMapOvr>
  <p:transition spd="med" advTm="222639"/>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9F4FF-9E1C-09A4-61F6-A2FA22F5856D}"/>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0A25AE92-6CCB-0448-432C-8CFFAE1A2267}"/>
              </a:ext>
            </a:extLst>
          </p:cNvPr>
          <p:cNvSpPr txBox="1"/>
          <p:nvPr/>
        </p:nvSpPr>
        <p:spPr>
          <a:xfrm>
            <a:off x="1028459" y="730197"/>
            <a:ext cx="13088022"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Exceptions: Private copying</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89B5E38E-E787-55B7-9DED-FDDDF33BDDF5}"/>
              </a:ext>
            </a:extLst>
          </p:cNvPr>
          <p:cNvSpPr txBox="1"/>
          <p:nvPr/>
        </p:nvSpPr>
        <p:spPr>
          <a:xfrm>
            <a:off x="1028459"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66537FF3-B35A-1178-D911-40DE1DAA4AD1}"/>
              </a:ext>
            </a:extLst>
          </p:cNvPr>
          <p:cNvSpPr/>
          <p:nvPr/>
        </p:nvSpPr>
        <p:spPr>
          <a:xfrm>
            <a:off x="1028459" y="3599527"/>
            <a:ext cx="7641672" cy="2554545"/>
          </a:xfrm>
          <a:prstGeom prst="rect">
            <a:avLst/>
          </a:prstGeom>
        </p:spPr>
        <p:txBody>
          <a:bodyPr wrap="square">
            <a:spAutoFit/>
          </a:bodyPr>
          <a:lstStyle/>
          <a:p>
            <a:pPr marL="609630" indent="-609630" algn="just">
              <a:buFont typeface="Arial" panose="020B0604020202020204" pitchFamily="34" charset="0"/>
              <a:buChar char="•"/>
            </a:pPr>
            <a:r>
              <a:rPr lang="en-US" sz="3200" b="0" dirty="0">
                <a:solidFill>
                  <a:schemeClr val="tx2"/>
                </a:solidFill>
                <a:latin typeface="Barlow" pitchFamily="2" charset="77"/>
              </a:rPr>
              <a:t>Does the UK have an exception that allows people to copy works for purely private purposes? e.g., to use a picture as the background on your phone, to back up your expensive software etc.</a:t>
            </a:r>
            <a:endParaRPr lang="en-GB" sz="3200" b="0" dirty="0">
              <a:solidFill>
                <a:schemeClr val="tx2"/>
              </a:solidFill>
              <a:latin typeface="Barlow" pitchFamily="2" charset="77"/>
            </a:endParaRPr>
          </a:p>
        </p:txBody>
      </p:sp>
      <p:pic>
        <p:nvPicPr>
          <p:cNvPr id="1026" name="Picture 2" descr="QR code">
            <a:extLst>
              <a:ext uri="{FF2B5EF4-FFF2-40B4-BE49-F238E27FC236}">
                <a16:creationId xmlns:a16="http://schemas.microsoft.com/office/drawing/2014/main" id="{243E6725-0F34-778B-29FF-AFEA4AB124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11004" y="1944473"/>
            <a:ext cx="6400800" cy="64008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7F25175-A780-90DE-E8A5-F09755DB1D0D}"/>
              </a:ext>
            </a:extLst>
          </p:cNvPr>
          <p:cNvSpPr txBox="1"/>
          <p:nvPr/>
        </p:nvSpPr>
        <p:spPr>
          <a:xfrm>
            <a:off x="8777148" y="8387794"/>
            <a:ext cx="8668512" cy="369332"/>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b="0" dirty="0">
                <a:solidFill>
                  <a:schemeClr val="tx2"/>
                </a:solidFill>
                <a:latin typeface="Barlow" pitchFamily="2" charset="77"/>
              </a:rPr>
              <a:t>https://</a:t>
            </a:r>
            <a:r>
              <a:rPr lang="en-GB" b="0" dirty="0" err="1">
                <a:solidFill>
                  <a:schemeClr val="tx2"/>
                </a:solidFill>
                <a:latin typeface="Barlow" pitchFamily="2" charset="77"/>
              </a:rPr>
              <a:t>forms.cloud.microsoft</a:t>
            </a:r>
            <a:r>
              <a:rPr lang="en-GB" b="0" dirty="0">
                <a:solidFill>
                  <a:schemeClr val="tx2"/>
                </a:solidFill>
                <a:latin typeface="Barlow" pitchFamily="2" charset="77"/>
              </a:rPr>
              <a:t>/e/ZHkNj6KziU</a:t>
            </a:r>
          </a:p>
        </p:txBody>
      </p:sp>
    </p:spTree>
    <p:extLst>
      <p:ext uri="{BB962C8B-B14F-4D97-AF65-F5344CB8AC3E}">
        <p14:creationId xmlns:p14="http://schemas.microsoft.com/office/powerpoint/2010/main" val="2867762757"/>
      </p:ext>
    </p:extLst>
  </p:cSld>
  <p:clrMapOvr>
    <a:masterClrMapping/>
  </p:clrMapOvr>
  <p:transition spd="med" advTm="222639"/>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ITLE TEXT"/>
          <p:cNvSpPr txBox="1"/>
          <p:nvPr/>
        </p:nvSpPr>
        <p:spPr>
          <a:xfrm>
            <a:off x="1028459" y="730197"/>
            <a:ext cx="13259477"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Exceptions: ‘Fair dealing’ exceptions</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p:cNvSpPr txBox="1"/>
          <p:nvPr/>
        </p:nvSpPr>
        <p:spPr>
          <a:xfrm>
            <a:off x="1028459"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0589387A-0B28-2406-071D-7D405E578C4F}"/>
              </a:ext>
            </a:extLst>
          </p:cNvPr>
          <p:cNvSpPr/>
          <p:nvPr/>
        </p:nvSpPr>
        <p:spPr>
          <a:xfrm>
            <a:off x="1028459" y="1947120"/>
            <a:ext cx="15015594" cy="2554545"/>
          </a:xfrm>
          <a:prstGeom prst="rect">
            <a:avLst/>
          </a:prstGeom>
        </p:spPr>
        <p:txBody>
          <a:bodyPr wrap="square">
            <a:spAutoFit/>
          </a:bodyPr>
          <a:lstStyle/>
          <a:p>
            <a:pPr marL="609630" indent="-609630" algn="just">
              <a:buFont typeface="Arial" panose="020B0604020202020204" pitchFamily="34" charset="0"/>
              <a:buChar char="•"/>
            </a:pPr>
            <a:r>
              <a:rPr lang="en-GB" sz="3200" b="0" dirty="0">
                <a:solidFill>
                  <a:schemeClr val="tx2"/>
                </a:solidFill>
                <a:latin typeface="Barlow" pitchFamily="2" charset="77"/>
              </a:rPr>
              <a:t>Illustration for instruction (CDPA s32)</a:t>
            </a:r>
          </a:p>
          <a:p>
            <a:pPr marL="609630" indent="-609630" algn="just">
              <a:buFont typeface="Arial" panose="020B0604020202020204" pitchFamily="34" charset="0"/>
              <a:buChar char="•"/>
            </a:pPr>
            <a:r>
              <a:rPr lang="en-GB" sz="3200" b="0" dirty="0">
                <a:solidFill>
                  <a:schemeClr val="tx2"/>
                </a:solidFill>
                <a:latin typeface="Barlow" pitchFamily="2" charset="77"/>
              </a:rPr>
              <a:t>Research and private study (CDPA s29)</a:t>
            </a:r>
          </a:p>
          <a:p>
            <a:pPr marL="609630" indent="-609630" algn="just">
              <a:buFont typeface="Arial" panose="020B0604020202020204" pitchFamily="34" charset="0"/>
              <a:buChar char="•"/>
            </a:pPr>
            <a:r>
              <a:rPr lang="en-GB" sz="3200" b="0" dirty="0">
                <a:solidFill>
                  <a:srgbClr val="FF7765"/>
                </a:solidFill>
                <a:latin typeface="Barlow" pitchFamily="2" charset="77"/>
              </a:rPr>
              <a:t>Criticism and review (CDPA s30(1))</a:t>
            </a:r>
          </a:p>
          <a:p>
            <a:pPr marL="609630" indent="-609630" algn="just">
              <a:buFont typeface="Arial" panose="020B0604020202020204" pitchFamily="34" charset="0"/>
              <a:buChar char="•"/>
            </a:pPr>
            <a:r>
              <a:rPr lang="en-GB" sz="3200" b="0" dirty="0">
                <a:solidFill>
                  <a:srgbClr val="FF7765"/>
                </a:solidFill>
                <a:latin typeface="Barlow" pitchFamily="2" charset="77"/>
              </a:rPr>
              <a:t>Caricature, parody and pastiche (CDPA s30A)</a:t>
            </a:r>
          </a:p>
          <a:p>
            <a:pPr marL="609630" indent="-609630" algn="just">
              <a:buFont typeface="Arial" panose="020B0604020202020204" pitchFamily="34" charset="0"/>
              <a:buChar char="•"/>
            </a:pPr>
            <a:r>
              <a:rPr lang="en-GB" sz="3200" b="0" dirty="0">
                <a:solidFill>
                  <a:schemeClr val="tx2"/>
                </a:solidFill>
                <a:latin typeface="Barlow" pitchFamily="2" charset="77"/>
              </a:rPr>
              <a:t>Quotation (CDPA s30(1ZA)</a:t>
            </a:r>
          </a:p>
        </p:txBody>
      </p:sp>
      <p:sp>
        <p:nvSpPr>
          <p:cNvPr id="3" name="Right Brace 2">
            <a:extLst>
              <a:ext uri="{FF2B5EF4-FFF2-40B4-BE49-F238E27FC236}">
                <a16:creationId xmlns:a16="http://schemas.microsoft.com/office/drawing/2014/main" id="{5CC5C08F-089E-EAB9-BA57-65E39AC05D54}"/>
              </a:ext>
            </a:extLst>
          </p:cNvPr>
          <p:cNvSpPr/>
          <p:nvPr/>
        </p:nvSpPr>
        <p:spPr>
          <a:xfrm>
            <a:off x="10303153" y="3009494"/>
            <a:ext cx="857927" cy="925591"/>
          </a:xfrm>
          <a:prstGeom prst="rightBrace">
            <a:avLst>
              <a:gd name="adj1" fmla="val 0"/>
              <a:gd name="adj2" fmla="val 50000"/>
            </a:avLst>
          </a:prstGeom>
          <a:noFill/>
          <a:ln w="3175" cap="flat">
            <a:solidFill>
              <a:srgbClr val="00000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21922" tIns="60961" rIns="121922" bIns="60961" numCol="1" spcCol="38100" rtlCol="0" anchor="t">
            <a:noAutofit/>
          </a:bodyPr>
          <a:lstStyle/>
          <a:p>
            <a:pPr algn="l" defTabSz="1219261" latinLnBrk="1"/>
            <a:endParaRPr lang="en-GB" sz="2400" b="0"/>
          </a:p>
        </p:txBody>
      </p:sp>
      <p:sp>
        <p:nvSpPr>
          <p:cNvPr id="4" name="TextBox 3">
            <a:extLst>
              <a:ext uri="{FF2B5EF4-FFF2-40B4-BE49-F238E27FC236}">
                <a16:creationId xmlns:a16="http://schemas.microsoft.com/office/drawing/2014/main" id="{7EA79DB1-E226-E24F-8BAA-D35609993E45}"/>
              </a:ext>
            </a:extLst>
          </p:cNvPr>
          <p:cNvSpPr txBox="1"/>
          <p:nvPr/>
        </p:nvSpPr>
        <p:spPr>
          <a:xfrm>
            <a:off x="11255680" y="3157608"/>
            <a:ext cx="5426381" cy="629362"/>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27094" tIns="27094" rIns="27094" bIns="27094" numCol="1" spcCol="38100" rtlCol="0" anchor="ctr">
            <a:spAutoFit/>
          </a:bodyPr>
          <a:lstStyle/>
          <a:p>
            <a:pPr defTabSz="782735"/>
            <a:r>
              <a:rPr lang="en-GB" sz="3734" b="0" dirty="0">
                <a:solidFill>
                  <a:schemeClr val="tx2"/>
                </a:solidFill>
                <a:latin typeface="Barlow" pitchFamily="2" charset="77"/>
              </a:rPr>
              <a:t>We’ll focus on these today</a:t>
            </a:r>
          </a:p>
        </p:txBody>
      </p:sp>
    </p:spTree>
    <p:extLst>
      <p:ext uri="{BB962C8B-B14F-4D97-AF65-F5344CB8AC3E}">
        <p14:creationId xmlns:p14="http://schemas.microsoft.com/office/powerpoint/2010/main" val="3458694249"/>
      </p:ext>
    </p:extLst>
  </p:cSld>
  <p:clrMapOvr>
    <a:masterClrMapping/>
  </p:clrMapOvr>
  <p:transition spd="med" advTm="222639"/>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ITLE TEXT"/>
          <p:cNvSpPr txBox="1"/>
          <p:nvPr/>
        </p:nvSpPr>
        <p:spPr>
          <a:xfrm>
            <a:off x="1028459" y="730197"/>
            <a:ext cx="12345049"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What is ‘fair dealing’?</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p:cNvSpPr txBox="1"/>
          <p:nvPr/>
        </p:nvSpPr>
        <p:spPr>
          <a:xfrm>
            <a:off x="1028459"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0589387A-0B28-2406-071D-7D405E578C4F}"/>
              </a:ext>
            </a:extLst>
          </p:cNvPr>
          <p:cNvSpPr/>
          <p:nvPr/>
        </p:nvSpPr>
        <p:spPr>
          <a:xfrm>
            <a:off x="1028459" y="1947120"/>
            <a:ext cx="15015594" cy="6494085"/>
          </a:xfrm>
          <a:prstGeom prst="rect">
            <a:avLst/>
          </a:prstGeom>
        </p:spPr>
        <p:txBody>
          <a:bodyPr wrap="square">
            <a:spAutoFit/>
          </a:bodyPr>
          <a:lstStyle/>
          <a:p>
            <a:pPr marL="457223" indent="-457223" algn="just">
              <a:buFont typeface="Arial" panose="020B0604020202020204" pitchFamily="34" charset="0"/>
              <a:buChar char="•"/>
            </a:pPr>
            <a:r>
              <a:rPr lang="en-US" sz="3200" b="0" dirty="0">
                <a:solidFill>
                  <a:schemeClr val="tx2"/>
                </a:solidFill>
                <a:latin typeface="Barlow" pitchFamily="2" charset="77"/>
              </a:rPr>
              <a:t>Some exceptions only apply when there is ‘fair dealing’ with the work</a:t>
            </a:r>
            <a:endParaRPr lang="en-US" sz="3200" dirty="0">
              <a:solidFill>
                <a:schemeClr val="tx2"/>
              </a:solidFill>
              <a:latin typeface="Barlow" pitchFamily="2" charset="77"/>
            </a:endParaRPr>
          </a:p>
          <a:p>
            <a:pPr marL="457223" indent="-457223" algn="just">
              <a:buFont typeface="Arial" panose="020B0604020202020204" pitchFamily="34" charset="0"/>
              <a:buChar char="•"/>
            </a:pPr>
            <a:r>
              <a:rPr lang="en-US" sz="3200" dirty="0">
                <a:solidFill>
                  <a:schemeClr val="tx2"/>
                </a:solidFill>
                <a:latin typeface="Barlow" pitchFamily="2" charset="77"/>
              </a:rPr>
              <a:t>No statutory definition of ‘fair’</a:t>
            </a:r>
            <a:r>
              <a:rPr lang="en-US" sz="3200" b="0" dirty="0">
                <a:solidFill>
                  <a:schemeClr val="tx2"/>
                </a:solidFill>
                <a:latin typeface="Barlow" pitchFamily="2" charset="77"/>
              </a:rPr>
              <a:t>: case-to-case basis based on degree and impression</a:t>
            </a:r>
          </a:p>
          <a:p>
            <a:pPr marL="457223" lvl="1" indent="-457223" algn="just">
              <a:buFont typeface="Arial" panose="020B0604020202020204" pitchFamily="34" charset="0"/>
              <a:buChar char="•"/>
            </a:pPr>
            <a:r>
              <a:rPr lang="en-US" sz="3200" b="0" dirty="0">
                <a:solidFill>
                  <a:schemeClr val="tx2"/>
                </a:solidFill>
                <a:latin typeface="Barlow" pitchFamily="2" charset="77"/>
              </a:rPr>
              <a:t>Would a ”</a:t>
            </a:r>
            <a:r>
              <a:rPr lang="en-US" sz="3200" dirty="0">
                <a:solidFill>
                  <a:schemeClr val="tx2"/>
                </a:solidFill>
                <a:latin typeface="Barlow" pitchFamily="2" charset="77"/>
              </a:rPr>
              <a:t>fair minded and honest person</a:t>
            </a:r>
            <a:r>
              <a:rPr lang="en-US" sz="3200" b="0" dirty="0">
                <a:solidFill>
                  <a:schemeClr val="tx2"/>
                </a:solidFill>
                <a:latin typeface="Barlow" pitchFamily="2" charset="77"/>
              </a:rPr>
              <a:t>” regard the dealing as fair? </a:t>
            </a:r>
            <a:r>
              <a:rPr lang="en-US" sz="3200" b="0" i="1" dirty="0">
                <a:solidFill>
                  <a:schemeClr val="tx2"/>
                </a:solidFill>
                <a:latin typeface="Barlow" pitchFamily="2" charset="77"/>
              </a:rPr>
              <a:t>Hyde Park v Yelland</a:t>
            </a:r>
          </a:p>
          <a:p>
            <a:pPr marL="457223" indent="-457223" algn="just">
              <a:buFont typeface="Arial" panose="020B0604020202020204" pitchFamily="34" charset="0"/>
              <a:buChar char="•"/>
            </a:pPr>
            <a:r>
              <a:rPr lang="en-US" sz="3200" b="0" dirty="0">
                <a:solidFill>
                  <a:schemeClr val="tx2"/>
                </a:solidFill>
                <a:latin typeface="Barlow" pitchFamily="2" charset="77"/>
              </a:rPr>
              <a:t>Suggested factors:</a:t>
            </a:r>
          </a:p>
          <a:p>
            <a:pPr marL="609630" lvl="1" indent="-609630" algn="just">
              <a:buFont typeface="Courier New" panose="02070309020205020404" pitchFamily="49" charset="0"/>
              <a:buChar char="o"/>
            </a:pPr>
            <a:r>
              <a:rPr lang="en-US" sz="3200" b="0" dirty="0">
                <a:solidFill>
                  <a:schemeClr val="tx2"/>
                </a:solidFill>
                <a:latin typeface="Barlow" pitchFamily="2" charset="77"/>
              </a:rPr>
              <a:t>The </a:t>
            </a:r>
            <a:r>
              <a:rPr lang="en-US" sz="3200" dirty="0">
                <a:solidFill>
                  <a:schemeClr val="tx2"/>
                </a:solidFill>
                <a:latin typeface="Barlow" pitchFamily="2" charset="77"/>
              </a:rPr>
              <a:t>extent</a:t>
            </a:r>
            <a:r>
              <a:rPr lang="en-US" sz="3200" b="0" dirty="0">
                <a:solidFill>
                  <a:schemeClr val="tx2"/>
                </a:solidFill>
                <a:latin typeface="Barlow" pitchFamily="2" charset="77"/>
              </a:rPr>
              <a:t> of what has been used;</a:t>
            </a:r>
          </a:p>
          <a:p>
            <a:pPr marL="609630" lvl="1" indent="-609630" algn="just">
              <a:buFont typeface="Courier New" panose="02070309020205020404" pitchFamily="49" charset="0"/>
              <a:buChar char="o"/>
            </a:pPr>
            <a:r>
              <a:rPr lang="en-US" sz="3200" b="0" dirty="0">
                <a:solidFill>
                  <a:schemeClr val="tx2"/>
                </a:solidFill>
                <a:latin typeface="Barlow" pitchFamily="2" charset="77"/>
              </a:rPr>
              <a:t>The </a:t>
            </a:r>
            <a:r>
              <a:rPr lang="en-US" sz="3200" dirty="0">
                <a:solidFill>
                  <a:schemeClr val="tx2"/>
                </a:solidFill>
                <a:latin typeface="Barlow" pitchFamily="2" charset="77"/>
              </a:rPr>
              <a:t>amount and importance </a:t>
            </a:r>
            <a:r>
              <a:rPr lang="en-US" sz="3200" b="0" dirty="0">
                <a:solidFill>
                  <a:schemeClr val="tx2"/>
                </a:solidFill>
                <a:latin typeface="Barlow" pitchFamily="2" charset="77"/>
              </a:rPr>
              <a:t>of the work taken;</a:t>
            </a:r>
          </a:p>
          <a:p>
            <a:pPr marL="609630" lvl="1" indent="-609630" algn="just">
              <a:buFont typeface="Courier New" panose="02070309020205020404" pitchFamily="49" charset="0"/>
              <a:buChar char="o"/>
            </a:pPr>
            <a:r>
              <a:rPr lang="en-US" sz="3200" b="0" dirty="0">
                <a:solidFill>
                  <a:schemeClr val="tx2"/>
                </a:solidFill>
                <a:latin typeface="Barlow" pitchFamily="2" charset="77"/>
              </a:rPr>
              <a:t>The </a:t>
            </a:r>
            <a:r>
              <a:rPr lang="en-US" sz="3200" dirty="0">
                <a:solidFill>
                  <a:schemeClr val="tx2"/>
                </a:solidFill>
                <a:latin typeface="Barlow" pitchFamily="2" charset="77"/>
              </a:rPr>
              <a:t>proportion of what has been used in relation to the rest </a:t>
            </a:r>
            <a:r>
              <a:rPr lang="en-US" sz="3200" b="0" dirty="0">
                <a:solidFill>
                  <a:schemeClr val="tx2"/>
                </a:solidFill>
                <a:latin typeface="Barlow" pitchFamily="2" charset="77"/>
              </a:rPr>
              <a:t>of the work or the commentary;</a:t>
            </a:r>
          </a:p>
          <a:p>
            <a:pPr marL="609630" lvl="1" indent="-609630" algn="just">
              <a:buFont typeface="Courier New" panose="02070309020205020404" pitchFamily="49" charset="0"/>
              <a:buChar char="o"/>
            </a:pPr>
            <a:r>
              <a:rPr lang="en-US" sz="3200" dirty="0">
                <a:solidFill>
                  <a:schemeClr val="tx2"/>
                </a:solidFill>
                <a:latin typeface="Barlow" pitchFamily="2" charset="77"/>
              </a:rPr>
              <a:t>Dishonest acquisition </a:t>
            </a:r>
            <a:r>
              <a:rPr lang="en-US" sz="3200" b="0" dirty="0">
                <a:solidFill>
                  <a:schemeClr val="tx2"/>
                </a:solidFill>
                <a:latin typeface="Barlow" pitchFamily="2" charset="77"/>
              </a:rPr>
              <a:t>of the work;</a:t>
            </a:r>
          </a:p>
          <a:p>
            <a:pPr marL="609630" lvl="1" indent="-609630" algn="just">
              <a:buFont typeface="Courier New" panose="02070309020205020404" pitchFamily="49" charset="0"/>
              <a:buChar char="o"/>
            </a:pPr>
            <a:r>
              <a:rPr lang="en-US" sz="3200" dirty="0">
                <a:solidFill>
                  <a:schemeClr val="tx2"/>
                </a:solidFill>
                <a:latin typeface="Barlow" pitchFamily="2" charset="77"/>
              </a:rPr>
              <a:t>Excessive use </a:t>
            </a:r>
            <a:r>
              <a:rPr lang="en-US" sz="3200" b="0" dirty="0">
                <a:solidFill>
                  <a:schemeClr val="tx2"/>
                </a:solidFill>
                <a:latin typeface="Barlow" pitchFamily="2" charset="77"/>
              </a:rPr>
              <a:t>in relation to the purpose;</a:t>
            </a:r>
          </a:p>
          <a:p>
            <a:pPr marL="609630" lvl="1" indent="-609630" algn="just">
              <a:buFont typeface="Courier New" panose="02070309020205020404" pitchFamily="49" charset="0"/>
              <a:buChar char="o"/>
            </a:pPr>
            <a:r>
              <a:rPr lang="en-US" sz="3200" dirty="0">
                <a:solidFill>
                  <a:schemeClr val="tx2"/>
                </a:solidFill>
                <a:latin typeface="Barlow" pitchFamily="2" charset="77"/>
              </a:rPr>
              <a:t>Commercially competing </a:t>
            </a:r>
            <a:r>
              <a:rPr lang="en-US" sz="3200" b="0" dirty="0">
                <a:solidFill>
                  <a:schemeClr val="tx2"/>
                </a:solidFill>
                <a:latin typeface="Barlow" pitchFamily="2" charset="77"/>
              </a:rPr>
              <a:t>with the claimant’s work.</a:t>
            </a:r>
          </a:p>
        </p:txBody>
      </p:sp>
    </p:spTree>
    <p:extLst>
      <p:ext uri="{BB962C8B-B14F-4D97-AF65-F5344CB8AC3E}">
        <p14:creationId xmlns:p14="http://schemas.microsoft.com/office/powerpoint/2010/main" val="1940774791"/>
      </p:ext>
    </p:extLst>
  </p:cSld>
  <p:clrMapOvr>
    <a:masterClrMapping/>
  </p:clrMapOvr>
  <p:transition spd="med" advTm="222639"/>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ITLE TEXT"/>
          <p:cNvSpPr txBox="1"/>
          <p:nvPr/>
        </p:nvSpPr>
        <p:spPr>
          <a:xfrm>
            <a:off x="1028459" y="712613"/>
            <a:ext cx="964162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What is ‘fair use’?</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p:cNvSpPr txBox="1"/>
          <p:nvPr/>
        </p:nvSpPr>
        <p:spPr>
          <a:xfrm>
            <a:off x="1028459" y="1758688"/>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0589387A-0B28-2406-071D-7D405E578C4F}"/>
              </a:ext>
            </a:extLst>
          </p:cNvPr>
          <p:cNvSpPr/>
          <p:nvPr/>
        </p:nvSpPr>
        <p:spPr>
          <a:xfrm>
            <a:off x="1028459" y="1929536"/>
            <a:ext cx="15015594" cy="4524315"/>
          </a:xfrm>
          <a:prstGeom prst="rect">
            <a:avLst/>
          </a:prstGeom>
        </p:spPr>
        <p:txBody>
          <a:bodyPr wrap="square">
            <a:spAutoFit/>
          </a:bodyPr>
          <a:lstStyle/>
          <a:p>
            <a:pPr marL="609630" indent="-609630" algn="just">
              <a:buFont typeface="Arial" panose="020B0604020202020204" pitchFamily="34" charset="0"/>
              <a:buChar char="•"/>
            </a:pPr>
            <a:r>
              <a:rPr lang="en-GB" sz="3200" b="0" dirty="0">
                <a:solidFill>
                  <a:schemeClr val="tx2"/>
                </a:solidFill>
                <a:latin typeface="Barlow" pitchFamily="2" charset="77"/>
              </a:rPr>
              <a:t>US version of exceptions system</a:t>
            </a:r>
          </a:p>
          <a:p>
            <a:pPr marL="609630" indent="-609630" algn="just">
              <a:buFont typeface="Arial" panose="020B0604020202020204" pitchFamily="34" charset="0"/>
              <a:buChar char="•"/>
            </a:pPr>
            <a:r>
              <a:rPr lang="en-GB" sz="3200" b="0" dirty="0">
                <a:solidFill>
                  <a:schemeClr val="tx2"/>
                </a:solidFill>
                <a:latin typeface="Barlow" pitchFamily="2" charset="77"/>
              </a:rPr>
              <a:t>A </a:t>
            </a:r>
            <a:r>
              <a:rPr lang="en-GB" sz="3200" dirty="0">
                <a:solidFill>
                  <a:schemeClr val="tx2"/>
                </a:solidFill>
                <a:latin typeface="Barlow" pitchFamily="2" charset="77"/>
              </a:rPr>
              <a:t>defence</a:t>
            </a:r>
            <a:r>
              <a:rPr lang="en-GB" sz="3200" b="0" dirty="0">
                <a:solidFill>
                  <a:schemeClr val="tx2"/>
                </a:solidFill>
                <a:latin typeface="Barlow" pitchFamily="2" charset="77"/>
              </a:rPr>
              <a:t> (excused infringement) not an exception</a:t>
            </a:r>
          </a:p>
          <a:p>
            <a:pPr marL="609630" indent="-609630" algn="just">
              <a:buFont typeface="Arial" panose="020B0604020202020204" pitchFamily="34" charset="0"/>
              <a:buChar char="•"/>
            </a:pPr>
            <a:r>
              <a:rPr lang="en-GB" sz="3200" b="0" dirty="0">
                <a:solidFill>
                  <a:schemeClr val="tx2"/>
                </a:solidFill>
                <a:latin typeface="Barlow" pitchFamily="2" charset="77"/>
              </a:rPr>
              <a:t>Not limited in purpose, </a:t>
            </a:r>
            <a:r>
              <a:rPr lang="en-GB" sz="3200" dirty="0">
                <a:solidFill>
                  <a:schemeClr val="tx2"/>
                </a:solidFill>
                <a:latin typeface="Barlow" pitchFamily="2" charset="77"/>
              </a:rPr>
              <a:t>non-exhaustive</a:t>
            </a:r>
            <a:r>
              <a:rPr lang="en-GB" sz="3200" b="0" dirty="0">
                <a:solidFill>
                  <a:schemeClr val="tx2"/>
                </a:solidFill>
                <a:latin typeface="Barlow" pitchFamily="2" charset="77"/>
              </a:rPr>
              <a:t> list of applications</a:t>
            </a:r>
          </a:p>
          <a:p>
            <a:pPr marL="609630" indent="-609630" algn="just">
              <a:buFont typeface="Arial" panose="020B0604020202020204" pitchFamily="34" charset="0"/>
              <a:buChar char="•"/>
            </a:pPr>
            <a:r>
              <a:rPr lang="en-GB" sz="3200" b="0" dirty="0">
                <a:solidFill>
                  <a:schemeClr val="tx2"/>
                </a:solidFill>
                <a:latin typeface="Barlow" pitchFamily="2" charset="77"/>
              </a:rPr>
              <a:t>Broader, multifactorial test (e.g., is the use ‘</a:t>
            </a:r>
            <a:r>
              <a:rPr lang="en-GB" sz="3200" dirty="0">
                <a:solidFill>
                  <a:schemeClr val="tx2"/>
                </a:solidFill>
                <a:latin typeface="Barlow" pitchFamily="2" charset="77"/>
              </a:rPr>
              <a:t>transformative</a:t>
            </a:r>
            <a:r>
              <a:rPr lang="en-GB" sz="3200" b="0" dirty="0">
                <a:solidFill>
                  <a:schemeClr val="tx2"/>
                </a:solidFill>
                <a:latin typeface="Barlow" pitchFamily="2" charset="77"/>
              </a:rPr>
              <a:t>’)</a:t>
            </a:r>
          </a:p>
          <a:p>
            <a:pPr marL="609630" indent="-609630" algn="just">
              <a:buFont typeface="Arial" panose="020B0604020202020204" pitchFamily="34" charset="0"/>
              <a:buChar char="•"/>
            </a:pPr>
            <a:r>
              <a:rPr lang="en-GB" sz="3200" b="0" dirty="0">
                <a:solidFill>
                  <a:schemeClr val="tx2"/>
                </a:solidFill>
                <a:latin typeface="Barlow" pitchFamily="2" charset="77"/>
              </a:rPr>
              <a:t>Wider scope, but also more subjective (difficult to predict)</a:t>
            </a:r>
          </a:p>
          <a:p>
            <a:pPr marL="609630" indent="-609630" algn="just">
              <a:buFont typeface="Arial" panose="020B0604020202020204" pitchFamily="34" charset="0"/>
              <a:buChar char="•"/>
            </a:pPr>
            <a:endParaRPr lang="en-GB" sz="3200" b="0" dirty="0">
              <a:solidFill>
                <a:schemeClr val="tx2"/>
              </a:solidFill>
              <a:latin typeface="Barlow" pitchFamily="2" charset="77"/>
            </a:endParaRPr>
          </a:p>
          <a:p>
            <a:pPr marL="609630" indent="-609630" algn="just">
              <a:buFont typeface="Arial" panose="020B0604020202020204" pitchFamily="34" charset="0"/>
              <a:buChar char="•"/>
            </a:pPr>
            <a:r>
              <a:rPr lang="en-GB" sz="3200" b="0" dirty="0">
                <a:solidFill>
                  <a:schemeClr val="tx2"/>
                </a:solidFill>
                <a:latin typeface="Barlow" pitchFamily="2" charset="77"/>
              </a:rPr>
              <a:t>Main difference is that fair dealing (UK) is </a:t>
            </a:r>
            <a:r>
              <a:rPr lang="en-GB" sz="3200" dirty="0">
                <a:solidFill>
                  <a:schemeClr val="tx2"/>
                </a:solidFill>
                <a:latin typeface="Barlow" pitchFamily="2" charset="77"/>
              </a:rPr>
              <a:t>limited to purpose and form </a:t>
            </a:r>
            <a:r>
              <a:rPr lang="en-GB" sz="3200" b="0" dirty="0">
                <a:solidFill>
                  <a:schemeClr val="tx2"/>
                </a:solidFill>
                <a:latin typeface="Barlow" pitchFamily="2" charset="77"/>
              </a:rPr>
              <a:t>– new uses/technologies must be able to fit into an existing category or it is </a:t>
            </a:r>
            <a:r>
              <a:rPr lang="en-GB" sz="3200" b="0" i="1" dirty="0">
                <a:solidFill>
                  <a:schemeClr val="tx2"/>
                </a:solidFill>
                <a:latin typeface="Barlow" pitchFamily="2" charset="77"/>
              </a:rPr>
              <a:t>de facto </a:t>
            </a:r>
            <a:r>
              <a:rPr lang="en-GB" sz="3200" b="0" dirty="0">
                <a:solidFill>
                  <a:schemeClr val="tx2"/>
                </a:solidFill>
                <a:latin typeface="Barlow" pitchFamily="2" charset="77"/>
              </a:rPr>
              <a:t>infringement.</a:t>
            </a:r>
          </a:p>
        </p:txBody>
      </p:sp>
    </p:spTree>
    <p:extLst>
      <p:ext uri="{BB962C8B-B14F-4D97-AF65-F5344CB8AC3E}">
        <p14:creationId xmlns:p14="http://schemas.microsoft.com/office/powerpoint/2010/main" val="1934992862"/>
      </p:ext>
    </p:extLst>
  </p:cSld>
  <p:clrMapOvr>
    <a:masterClrMapping/>
  </p:clrMapOvr>
  <p:transition spd="med" advTm="222639"/>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ITLE TEXT"/>
          <p:cNvSpPr txBox="1"/>
          <p:nvPr/>
        </p:nvSpPr>
        <p:spPr>
          <a:xfrm>
            <a:off x="993290" y="730197"/>
            <a:ext cx="13888146"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Exception: Quotation for criticism and review</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p:cNvSpPr txBox="1"/>
          <p:nvPr/>
        </p:nvSpPr>
        <p:spPr>
          <a:xfrm>
            <a:off x="993290" y="1776272"/>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0589387A-0B28-2406-071D-7D405E578C4F}"/>
              </a:ext>
            </a:extLst>
          </p:cNvPr>
          <p:cNvSpPr/>
          <p:nvPr/>
        </p:nvSpPr>
        <p:spPr>
          <a:xfrm>
            <a:off x="993290" y="1947120"/>
            <a:ext cx="15015594" cy="6494085"/>
          </a:xfrm>
          <a:prstGeom prst="rect">
            <a:avLst/>
          </a:prstGeom>
        </p:spPr>
        <p:txBody>
          <a:bodyPr wrap="square">
            <a:spAutoFit/>
          </a:bodyPr>
          <a:lstStyle/>
          <a:p>
            <a:pPr marL="457223" indent="-457223" algn="just">
              <a:buFont typeface="Arial" panose="020B0604020202020204" pitchFamily="34" charset="0"/>
              <a:buChar char="•"/>
            </a:pPr>
            <a:r>
              <a:rPr lang="en-US" sz="3200" b="0" dirty="0">
                <a:solidFill>
                  <a:schemeClr val="tx2"/>
                </a:solidFill>
                <a:latin typeface="Barlow" pitchFamily="2" charset="77"/>
              </a:rPr>
              <a:t>S30(1) CDPA</a:t>
            </a:r>
            <a:r>
              <a:rPr lang="en-GB" sz="3200" b="0" dirty="0">
                <a:solidFill>
                  <a:schemeClr val="tx2"/>
                </a:solidFill>
                <a:latin typeface="Barlow" pitchFamily="2" charset="77"/>
              </a:rPr>
              <a:t> requirements:</a:t>
            </a:r>
          </a:p>
          <a:p>
            <a:pPr marL="457223" lvl="1" indent="-457223" algn="just">
              <a:buFont typeface="Arial" panose="020B0604020202020204" pitchFamily="34" charset="0"/>
              <a:buChar char="•"/>
            </a:pPr>
            <a:r>
              <a:rPr lang="en-GB" sz="3200" b="0" dirty="0">
                <a:solidFill>
                  <a:schemeClr val="tx2"/>
                </a:solidFill>
                <a:latin typeface="Barlow" pitchFamily="2" charset="77"/>
              </a:rPr>
              <a:t>1) The purpose is really for criticism or review</a:t>
            </a:r>
          </a:p>
          <a:p>
            <a:pPr marL="457223" lvl="1" indent="-457223" algn="just">
              <a:buFont typeface="Arial" panose="020B0604020202020204" pitchFamily="34" charset="0"/>
              <a:buChar char="•"/>
            </a:pPr>
            <a:r>
              <a:rPr lang="en-GB" sz="3200" b="0" dirty="0">
                <a:solidFill>
                  <a:schemeClr val="tx2"/>
                </a:solidFill>
                <a:latin typeface="Barlow" pitchFamily="2" charset="77"/>
              </a:rPr>
              <a:t>2) The material used is available to the public</a:t>
            </a:r>
          </a:p>
          <a:p>
            <a:pPr marL="457223" lvl="1" indent="-457223" algn="just">
              <a:buFont typeface="Arial" panose="020B0604020202020204" pitchFamily="34" charset="0"/>
              <a:buChar char="•"/>
            </a:pPr>
            <a:r>
              <a:rPr lang="en-GB" sz="3200" b="0" dirty="0">
                <a:solidFill>
                  <a:schemeClr val="tx2"/>
                </a:solidFill>
                <a:latin typeface="Barlow" pitchFamily="2" charset="77"/>
              </a:rPr>
              <a:t>3) The use of the material is fair</a:t>
            </a:r>
          </a:p>
          <a:p>
            <a:pPr marL="457223" lvl="1" indent="-457223" algn="just">
              <a:buFont typeface="Arial" panose="020B0604020202020204" pitchFamily="34" charset="0"/>
              <a:buChar char="•"/>
            </a:pPr>
            <a:r>
              <a:rPr lang="en-GB" sz="3200" b="0" dirty="0">
                <a:solidFill>
                  <a:schemeClr val="tx2"/>
                </a:solidFill>
                <a:latin typeface="Barlow" pitchFamily="2" charset="77"/>
              </a:rPr>
              <a:t>4) Where practical, the use is accompanied by a sufficient acknowledgement</a:t>
            </a:r>
          </a:p>
          <a:p>
            <a:pPr marL="609630" indent="-609630" algn="just">
              <a:buFont typeface="Arial" panose="020B0604020202020204" pitchFamily="34" charset="0"/>
              <a:buChar char="•"/>
            </a:pPr>
            <a:endParaRPr lang="en-GB" sz="3200" b="0" dirty="0">
              <a:solidFill>
                <a:schemeClr val="tx2"/>
              </a:solidFill>
              <a:latin typeface="Barlow" pitchFamily="2" charset="77"/>
            </a:endParaRPr>
          </a:p>
          <a:p>
            <a:pPr marL="609630" indent="-609630" algn="just">
              <a:buFont typeface="Arial" panose="020B0604020202020204" pitchFamily="34" charset="0"/>
              <a:buChar char="•"/>
            </a:pPr>
            <a:r>
              <a:rPr lang="en-GB" sz="3200" b="0" dirty="0">
                <a:solidFill>
                  <a:schemeClr val="tx2"/>
                </a:solidFill>
                <a:latin typeface="Barlow" pitchFamily="2" charset="77"/>
              </a:rPr>
              <a:t>e.g. to support the merit or particulars of a work, morals or philosophy, social implications etc.</a:t>
            </a:r>
          </a:p>
          <a:p>
            <a:pPr marL="609630" indent="-609630" algn="just">
              <a:buFont typeface="Arial" panose="020B0604020202020204" pitchFamily="34" charset="0"/>
              <a:buChar char="•"/>
            </a:pPr>
            <a:r>
              <a:rPr lang="en-GB" sz="3200" b="0" i="1" dirty="0">
                <a:solidFill>
                  <a:schemeClr val="tx2"/>
                </a:solidFill>
                <a:latin typeface="Barlow" pitchFamily="2" charset="77"/>
              </a:rPr>
              <a:t>Pelham GmbH and Others v Ralf </a:t>
            </a:r>
            <a:r>
              <a:rPr lang="en-GB" sz="3200" b="0" i="1" dirty="0" err="1">
                <a:solidFill>
                  <a:schemeClr val="tx2"/>
                </a:solidFill>
                <a:latin typeface="Barlow" pitchFamily="2" charset="77"/>
              </a:rPr>
              <a:t>Hütter</a:t>
            </a:r>
            <a:r>
              <a:rPr lang="en-GB" sz="3200" b="0" i="1" dirty="0">
                <a:solidFill>
                  <a:schemeClr val="tx2"/>
                </a:solidFill>
                <a:latin typeface="Barlow" pitchFamily="2" charset="77"/>
              </a:rPr>
              <a:t>: </a:t>
            </a:r>
            <a:r>
              <a:rPr lang="en-GB" sz="3200" b="0" dirty="0">
                <a:solidFill>
                  <a:schemeClr val="tx2"/>
                </a:solidFill>
                <a:latin typeface="Barlow" pitchFamily="2" charset="77"/>
              </a:rPr>
              <a:t>quotation should be</a:t>
            </a:r>
            <a:r>
              <a:rPr lang="en-GB" sz="3200" b="0" i="1" dirty="0">
                <a:solidFill>
                  <a:schemeClr val="tx2"/>
                </a:solidFill>
                <a:latin typeface="Barlow" pitchFamily="2" charset="77"/>
              </a:rPr>
              <a:t> ‘</a:t>
            </a:r>
            <a:r>
              <a:rPr lang="en-GB" sz="3200" b="0" dirty="0">
                <a:solidFill>
                  <a:schemeClr val="tx2"/>
                </a:solidFill>
                <a:latin typeface="Barlow" pitchFamily="2" charset="77"/>
              </a:rPr>
              <a:t>‘for the purposes of </a:t>
            </a:r>
            <a:r>
              <a:rPr lang="en-GB" sz="3200" dirty="0">
                <a:solidFill>
                  <a:schemeClr val="tx2"/>
                </a:solidFill>
                <a:latin typeface="Barlow" pitchFamily="2" charset="77"/>
              </a:rPr>
              <a:t>illustrating an assertion</a:t>
            </a:r>
            <a:r>
              <a:rPr lang="en-GB" sz="3200" b="0" dirty="0">
                <a:solidFill>
                  <a:schemeClr val="tx2"/>
                </a:solidFill>
                <a:latin typeface="Barlow" pitchFamily="2" charset="77"/>
              </a:rPr>
              <a:t>, of </a:t>
            </a:r>
            <a:r>
              <a:rPr lang="en-GB" sz="3200" dirty="0">
                <a:solidFill>
                  <a:schemeClr val="tx2"/>
                </a:solidFill>
                <a:latin typeface="Barlow" pitchFamily="2" charset="77"/>
              </a:rPr>
              <a:t>defending an opinion </a:t>
            </a:r>
            <a:r>
              <a:rPr lang="en-GB" sz="3200" b="0" dirty="0">
                <a:solidFill>
                  <a:schemeClr val="tx2"/>
                </a:solidFill>
                <a:latin typeface="Barlow" pitchFamily="2" charset="77"/>
              </a:rPr>
              <a:t>or of allowing an </a:t>
            </a:r>
            <a:r>
              <a:rPr lang="en-GB" sz="3200" dirty="0">
                <a:solidFill>
                  <a:schemeClr val="tx2"/>
                </a:solidFill>
                <a:latin typeface="Barlow" pitchFamily="2" charset="77"/>
              </a:rPr>
              <a:t>intellectual comparison </a:t>
            </a:r>
            <a:r>
              <a:rPr lang="en-GB" sz="3200" b="0" dirty="0">
                <a:solidFill>
                  <a:schemeClr val="tx2"/>
                </a:solidFill>
                <a:latin typeface="Barlow" pitchFamily="2" charset="77"/>
              </a:rPr>
              <a:t>between that work and the assertions of that user’</a:t>
            </a:r>
          </a:p>
          <a:p>
            <a:pPr marL="609630" indent="-609630" algn="just">
              <a:buFont typeface="Arial" panose="020B0604020202020204" pitchFamily="34" charset="0"/>
              <a:buChar char="•"/>
            </a:pPr>
            <a:r>
              <a:rPr lang="en-GB" sz="3200" b="0" i="1" dirty="0" err="1">
                <a:solidFill>
                  <a:schemeClr val="tx2"/>
                </a:solidFill>
                <a:latin typeface="Barlow" pitchFamily="2" charset="77"/>
              </a:rPr>
              <a:t>Speigel</a:t>
            </a:r>
            <a:r>
              <a:rPr lang="en-GB" sz="3200" b="0" i="1" dirty="0">
                <a:solidFill>
                  <a:schemeClr val="tx2"/>
                </a:solidFill>
                <a:latin typeface="Barlow" pitchFamily="2" charset="77"/>
              </a:rPr>
              <a:t> v Beck</a:t>
            </a:r>
            <a:r>
              <a:rPr lang="en-GB" sz="3200" b="0" dirty="0">
                <a:solidFill>
                  <a:schemeClr val="tx2"/>
                </a:solidFill>
                <a:latin typeface="Barlow" pitchFamily="2" charset="77"/>
              </a:rPr>
              <a:t>: need to demonstrate a </a:t>
            </a:r>
            <a:r>
              <a:rPr lang="en-GB" sz="3200" dirty="0">
                <a:solidFill>
                  <a:schemeClr val="tx2"/>
                </a:solidFill>
                <a:latin typeface="Barlow" pitchFamily="2" charset="77"/>
              </a:rPr>
              <a:t>direct and close link </a:t>
            </a:r>
            <a:r>
              <a:rPr lang="en-GB" sz="3200" b="0" dirty="0">
                <a:solidFill>
                  <a:schemeClr val="tx2"/>
                </a:solidFill>
                <a:latin typeface="Barlow" pitchFamily="2" charset="77"/>
              </a:rPr>
              <a:t>between the quoted work and your reflections</a:t>
            </a:r>
          </a:p>
        </p:txBody>
      </p:sp>
    </p:spTree>
    <p:extLst>
      <p:ext uri="{BB962C8B-B14F-4D97-AF65-F5344CB8AC3E}">
        <p14:creationId xmlns:p14="http://schemas.microsoft.com/office/powerpoint/2010/main" val="4057498978"/>
      </p:ext>
    </p:extLst>
  </p:cSld>
  <p:clrMapOvr>
    <a:masterClrMapping/>
  </p:clrMapOvr>
  <p:transition spd="med" advTm="222639"/>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ITLE TEXT"/>
          <p:cNvSpPr txBox="1"/>
          <p:nvPr/>
        </p:nvSpPr>
        <p:spPr>
          <a:xfrm>
            <a:off x="1028458" y="730197"/>
            <a:ext cx="15015594"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Exception: Quotation for criticism and review</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p:cNvSpPr txBox="1"/>
          <p:nvPr/>
        </p:nvSpPr>
        <p:spPr>
          <a:xfrm>
            <a:off x="1028458"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0589387A-0B28-2406-071D-7D405E578C4F}"/>
              </a:ext>
            </a:extLst>
          </p:cNvPr>
          <p:cNvSpPr/>
          <p:nvPr/>
        </p:nvSpPr>
        <p:spPr>
          <a:xfrm>
            <a:off x="1028459" y="1932721"/>
            <a:ext cx="8225900" cy="5509200"/>
          </a:xfrm>
          <a:prstGeom prst="rect">
            <a:avLst/>
          </a:prstGeom>
        </p:spPr>
        <p:txBody>
          <a:bodyPr wrap="square">
            <a:spAutoFit/>
          </a:bodyPr>
          <a:lstStyle/>
          <a:p>
            <a:pPr marL="457223" indent="-457223" algn="just">
              <a:buFont typeface="Arial" panose="020B0604020202020204" pitchFamily="34" charset="0"/>
              <a:buChar char="•"/>
            </a:pPr>
            <a:r>
              <a:rPr lang="en-GB" sz="3200" b="0" i="1" dirty="0">
                <a:solidFill>
                  <a:schemeClr val="tx2"/>
                </a:solidFill>
                <a:latin typeface="Barlow" pitchFamily="2" charset="77"/>
                <a:sym typeface="Montserrat-Regular"/>
              </a:rPr>
              <a:t>Time Warner Entertainments Company LP v Channel Four Television Corporation </a:t>
            </a:r>
            <a:r>
              <a:rPr lang="en-GB" sz="3200" b="0" dirty="0">
                <a:solidFill>
                  <a:schemeClr val="tx2"/>
                </a:solidFill>
                <a:latin typeface="Barlow" pitchFamily="2" charset="77"/>
                <a:sym typeface="Montserrat-Regular"/>
              </a:rPr>
              <a:t>[2004]</a:t>
            </a:r>
          </a:p>
          <a:p>
            <a:pPr marL="457223" indent="-457223" algn="just">
              <a:buFont typeface="Arial" panose="020B0604020202020204" pitchFamily="34" charset="0"/>
              <a:buChar char="•"/>
            </a:pPr>
            <a:r>
              <a:rPr lang="en-GB" sz="3200" b="0" dirty="0">
                <a:solidFill>
                  <a:schemeClr val="tx2"/>
                </a:solidFill>
                <a:latin typeface="Barlow" pitchFamily="2" charset="77"/>
              </a:rPr>
              <a:t>The documentary (about the decision to withdraw </a:t>
            </a:r>
            <a:r>
              <a:rPr lang="en-GB" sz="3200" b="0" i="1" dirty="0">
                <a:solidFill>
                  <a:schemeClr val="tx2"/>
                </a:solidFill>
                <a:latin typeface="Barlow" pitchFamily="2" charset="77"/>
              </a:rPr>
              <a:t>A Clockwork Orange </a:t>
            </a:r>
            <a:r>
              <a:rPr lang="en-GB" sz="3200" b="0" dirty="0">
                <a:solidFill>
                  <a:schemeClr val="tx2"/>
                </a:solidFill>
                <a:latin typeface="Barlow" pitchFamily="2" charset="77"/>
              </a:rPr>
              <a:t>in UK) contained 12 clips of between 10 seconds and 115 seconds and in aggregate to 12½ mins (8 per cent of the film and about 40 per cent of the programme)</a:t>
            </a:r>
          </a:p>
          <a:p>
            <a:pPr marL="457223" lvl="1" indent="-457223" algn="just">
              <a:buFont typeface="Arial" panose="020B0604020202020204" pitchFamily="34" charset="0"/>
              <a:buChar char="•"/>
            </a:pPr>
            <a:r>
              <a:rPr lang="en-GB" sz="3200" dirty="0">
                <a:solidFill>
                  <a:schemeClr val="tx2"/>
                </a:solidFill>
                <a:latin typeface="Barlow" pitchFamily="2" charset="77"/>
                <a:sym typeface="Wingdings" pitchFamily="2" charset="2"/>
              </a:rPr>
              <a:t>The more you engage with the content, the easier is to benefit from the exception.</a:t>
            </a:r>
            <a:endParaRPr lang="en-GB" sz="3200" dirty="0">
              <a:solidFill>
                <a:schemeClr val="tx2"/>
              </a:solidFill>
              <a:latin typeface="Barlow" pitchFamily="2" charset="77"/>
            </a:endParaRPr>
          </a:p>
        </p:txBody>
      </p:sp>
      <p:pic>
        <p:nvPicPr>
          <p:cNvPr id="2050" name="Picture 2" descr="Game poster image">
            <a:extLst>
              <a:ext uri="{FF2B5EF4-FFF2-40B4-BE49-F238E27FC236}">
                <a16:creationId xmlns:a16="http://schemas.microsoft.com/office/drawing/2014/main" id="{6B207401-341E-A258-E8E7-1AEC68E940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47659" y="2006316"/>
            <a:ext cx="5786328" cy="69974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3382467"/>
      </p:ext>
    </p:extLst>
  </p:cSld>
  <p:clrMapOvr>
    <a:masterClrMapping/>
  </p:clrMapOvr>
  <p:transition spd="med" advTm="222639"/>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ITLE TEXT"/>
          <p:cNvSpPr txBox="1"/>
          <p:nvPr/>
        </p:nvSpPr>
        <p:spPr>
          <a:xfrm>
            <a:off x="876058" y="905278"/>
            <a:ext cx="14516815"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Exception: Parody, caricature and pastiche</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p:cNvSpPr txBox="1"/>
          <p:nvPr/>
        </p:nvSpPr>
        <p:spPr>
          <a:xfrm>
            <a:off x="876059" y="1951353"/>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0589387A-0B28-2406-071D-7D405E578C4F}"/>
              </a:ext>
            </a:extLst>
          </p:cNvPr>
          <p:cNvSpPr/>
          <p:nvPr/>
        </p:nvSpPr>
        <p:spPr>
          <a:xfrm>
            <a:off x="876059" y="2122200"/>
            <a:ext cx="15015594" cy="5509200"/>
          </a:xfrm>
          <a:prstGeom prst="rect">
            <a:avLst/>
          </a:prstGeom>
        </p:spPr>
        <p:txBody>
          <a:bodyPr wrap="square">
            <a:spAutoFit/>
          </a:bodyPr>
          <a:lstStyle/>
          <a:p>
            <a:pPr marL="609630" indent="-609630" algn="just">
              <a:buFont typeface="Arial" panose="020B0604020202020204" pitchFamily="34" charset="0"/>
              <a:buChar char="•"/>
            </a:pPr>
            <a:r>
              <a:rPr lang="en-GB" sz="3200" b="0" dirty="0">
                <a:solidFill>
                  <a:schemeClr val="tx2"/>
                </a:solidFill>
                <a:latin typeface="Barlow" pitchFamily="2" charset="77"/>
              </a:rPr>
              <a:t>s30A CDPA requirements:</a:t>
            </a:r>
          </a:p>
          <a:p>
            <a:pPr marL="609630" lvl="1" indent="-609630" algn="just">
              <a:buFont typeface="Arial" panose="020B0604020202020204" pitchFamily="34" charset="0"/>
              <a:buChar char="•"/>
              <a:defRPr>
                <a:solidFill>
                  <a:srgbClr val="474C55"/>
                </a:solidFill>
              </a:defRPr>
            </a:pPr>
            <a:r>
              <a:rPr lang="en-US" sz="3200" b="0" dirty="0">
                <a:solidFill>
                  <a:schemeClr val="tx2"/>
                </a:solidFill>
                <a:latin typeface="Barlow" pitchFamily="2" charset="77"/>
              </a:rPr>
              <a:t>1) Fair dealing with a work for the purposes of caricature, parody or pastiche does not infringe copyright in the work. </a:t>
            </a:r>
          </a:p>
          <a:p>
            <a:pPr marL="609630" lvl="1" indent="-609630" algn="just">
              <a:buFont typeface="Arial" panose="020B0604020202020204" pitchFamily="34" charset="0"/>
              <a:buChar char="•"/>
              <a:defRPr>
                <a:solidFill>
                  <a:srgbClr val="474C55"/>
                </a:solidFill>
              </a:defRPr>
            </a:pPr>
            <a:r>
              <a:rPr lang="en-US" sz="3200" b="0" dirty="0">
                <a:solidFill>
                  <a:schemeClr val="tx2"/>
                </a:solidFill>
                <a:latin typeface="Barlow" pitchFamily="2" charset="77"/>
              </a:rPr>
              <a:t>2) To the extent that a term of a contract purports to prevent or restrict the doing of any act which, by virtue of this section, would not infringe copyright, that term is unenforceable.</a:t>
            </a:r>
          </a:p>
          <a:p>
            <a:pPr lvl="1" indent="0" algn="just">
              <a:defRPr>
                <a:solidFill>
                  <a:srgbClr val="474C55"/>
                </a:solidFill>
              </a:defRPr>
            </a:pPr>
            <a:endParaRPr lang="en-US" sz="3200" b="0" dirty="0">
              <a:solidFill>
                <a:schemeClr val="tx2"/>
              </a:solidFill>
              <a:latin typeface="Barlow" pitchFamily="2" charset="77"/>
            </a:endParaRPr>
          </a:p>
          <a:p>
            <a:pPr marL="609630" indent="-609630" algn="just">
              <a:buFont typeface="Arial" panose="020B0604020202020204" pitchFamily="34" charset="0"/>
              <a:buChar char="•"/>
              <a:defRPr>
                <a:solidFill>
                  <a:srgbClr val="474C55"/>
                </a:solidFill>
              </a:defRPr>
            </a:pPr>
            <a:r>
              <a:rPr lang="en-GB" sz="3200" dirty="0">
                <a:solidFill>
                  <a:schemeClr val="tx2"/>
                </a:solidFill>
                <a:latin typeface="Barlow" pitchFamily="2" charset="77"/>
              </a:rPr>
              <a:t>Parody</a:t>
            </a:r>
            <a:r>
              <a:rPr lang="en-GB" sz="3200" b="0" dirty="0">
                <a:solidFill>
                  <a:schemeClr val="tx2"/>
                </a:solidFill>
                <a:latin typeface="Barlow" pitchFamily="2" charset="77"/>
              </a:rPr>
              <a:t>: </a:t>
            </a:r>
            <a:r>
              <a:rPr lang="en-GB" sz="3200" b="0" dirty="0">
                <a:latin typeface="Barlow" pitchFamily="2" charset="77"/>
              </a:rPr>
              <a:t>new creative work which uses an existing work for humour or mockery</a:t>
            </a:r>
            <a:endParaRPr lang="en-GB" sz="3200" b="0" dirty="0">
              <a:solidFill>
                <a:schemeClr val="tx2"/>
              </a:solidFill>
              <a:latin typeface="Barlow" pitchFamily="2" charset="77"/>
            </a:endParaRPr>
          </a:p>
          <a:p>
            <a:pPr marL="609630" indent="-609630" algn="just">
              <a:buFont typeface="Arial" panose="020B0604020202020204" pitchFamily="34" charset="0"/>
              <a:buChar char="•"/>
              <a:defRPr>
                <a:solidFill>
                  <a:srgbClr val="474C55"/>
                </a:solidFill>
              </a:defRPr>
            </a:pPr>
            <a:r>
              <a:rPr lang="en-GB" sz="3200" dirty="0">
                <a:solidFill>
                  <a:schemeClr val="tx2"/>
                </a:solidFill>
                <a:latin typeface="Barlow" pitchFamily="2" charset="77"/>
              </a:rPr>
              <a:t>Caricature: </a:t>
            </a:r>
            <a:r>
              <a:rPr lang="en-GB" sz="3200" b="0" dirty="0">
                <a:solidFill>
                  <a:schemeClr val="tx2"/>
                </a:solidFill>
                <a:latin typeface="Barlow" pitchFamily="2" charset="77"/>
              </a:rPr>
              <a:t>something that portrays subject in a simplified or exaggerated manner</a:t>
            </a:r>
          </a:p>
          <a:p>
            <a:pPr marL="609630" indent="-609630" algn="just">
              <a:buFont typeface="Arial" panose="020B0604020202020204" pitchFamily="34" charset="0"/>
              <a:buChar char="•"/>
              <a:defRPr>
                <a:solidFill>
                  <a:srgbClr val="474C55"/>
                </a:solidFill>
              </a:defRPr>
            </a:pPr>
            <a:r>
              <a:rPr lang="en-GB" sz="3200" dirty="0">
                <a:solidFill>
                  <a:schemeClr val="tx2"/>
                </a:solidFill>
                <a:latin typeface="Barlow" pitchFamily="2" charset="77"/>
              </a:rPr>
              <a:t>Pastiche</a:t>
            </a:r>
            <a:r>
              <a:rPr lang="en-GB" sz="3200" b="0" dirty="0">
                <a:solidFill>
                  <a:schemeClr val="tx2"/>
                </a:solidFill>
                <a:latin typeface="Barlow" pitchFamily="2" charset="77"/>
              </a:rPr>
              <a:t>: imitation of the style of another artist</a:t>
            </a:r>
          </a:p>
        </p:txBody>
      </p:sp>
    </p:spTree>
    <p:extLst>
      <p:ext uri="{BB962C8B-B14F-4D97-AF65-F5344CB8AC3E}">
        <p14:creationId xmlns:p14="http://schemas.microsoft.com/office/powerpoint/2010/main" val="2395402637"/>
      </p:ext>
    </p:extLst>
  </p:cSld>
  <p:clrMapOvr>
    <a:masterClrMapping/>
  </p:clrMapOvr>
  <p:transition spd="med" advTm="222639"/>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ITLE TEXT"/>
          <p:cNvSpPr txBox="1"/>
          <p:nvPr/>
        </p:nvSpPr>
        <p:spPr>
          <a:xfrm>
            <a:off x="1028459" y="712612"/>
            <a:ext cx="14669220"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Exception: </a:t>
            </a:r>
            <a:r>
              <a:rPr lang="en-GB" sz="5334" u="sng" dirty="0"/>
              <a:t>Parody</a:t>
            </a:r>
            <a:r>
              <a:rPr lang="en-GB" sz="5334" dirty="0"/>
              <a:t>, caricature and pastiche</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p:cNvSpPr txBox="1"/>
          <p:nvPr/>
        </p:nvSpPr>
        <p:spPr>
          <a:xfrm>
            <a:off x="1028459" y="1758687"/>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0589387A-0B28-2406-071D-7D405E578C4F}"/>
              </a:ext>
            </a:extLst>
          </p:cNvPr>
          <p:cNvSpPr/>
          <p:nvPr/>
        </p:nvSpPr>
        <p:spPr>
          <a:xfrm>
            <a:off x="1028459" y="1929535"/>
            <a:ext cx="15015594" cy="2062103"/>
          </a:xfrm>
          <a:prstGeom prst="rect">
            <a:avLst/>
          </a:prstGeom>
        </p:spPr>
        <p:txBody>
          <a:bodyPr wrap="square">
            <a:spAutoFit/>
          </a:bodyPr>
          <a:lstStyle/>
          <a:p>
            <a:pPr marL="609630" indent="-609630" algn="just">
              <a:buFont typeface="Arial" panose="020B0604020202020204" pitchFamily="34" charset="0"/>
              <a:buChar char="•"/>
            </a:pPr>
            <a:r>
              <a:rPr lang="en-GB" sz="3200" b="0" i="1" dirty="0" err="1">
                <a:solidFill>
                  <a:schemeClr val="tx2"/>
                </a:solidFill>
                <a:latin typeface="Barlow" pitchFamily="2" charset="77"/>
              </a:rPr>
              <a:t>Deckmyn</a:t>
            </a:r>
            <a:r>
              <a:rPr lang="en-GB" sz="3200" b="0" i="1" dirty="0">
                <a:solidFill>
                  <a:schemeClr val="tx2"/>
                </a:solidFill>
                <a:latin typeface="Barlow" pitchFamily="2" charset="77"/>
              </a:rPr>
              <a:t> and </a:t>
            </a:r>
            <a:r>
              <a:rPr lang="en-GB" sz="3200" b="0" i="1" dirty="0" err="1">
                <a:solidFill>
                  <a:schemeClr val="tx2"/>
                </a:solidFill>
                <a:latin typeface="Barlow" pitchFamily="2" charset="77"/>
              </a:rPr>
              <a:t>Vrijheidsfonds</a:t>
            </a:r>
            <a:r>
              <a:rPr lang="en-GB" sz="3200" b="0" i="1" dirty="0">
                <a:solidFill>
                  <a:schemeClr val="tx2"/>
                </a:solidFill>
                <a:latin typeface="Barlow" pitchFamily="2" charset="77"/>
              </a:rPr>
              <a:t> v. </a:t>
            </a:r>
            <a:r>
              <a:rPr lang="en-GB" sz="3200" b="0" i="1" dirty="0" err="1">
                <a:solidFill>
                  <a:schemeClr val="tx2"/>
                </a:solidFill>
                <a:latin typeface="Barlow" pitchFamily="2" charset="77"/>
              </a:rPr>
              <a:t>Vandersteen</a:t>
            </a:r>
            <a:r>
              <a:rPr lang="en-GB" sz="3200" b="0" i="1" dirty="0">
                <a:solidFill>
                  <a:schemeClr val="tx2"/>
                </a:solidFill>
                <a:latin typeface="Barlow" pitchFamily="2" charset="77"/>
              </a:rPr>
              <a:t> </a:t>
            </a:r>
            <a:r>
              <a:rPr lang="en-GB" sz="3200" b="0" dirty="0">
                <a:solidFill>
                  <a:schemeClr val="tx2"/>
                </a:solidFill>
                <a:latin typeface="Barlow" pitchFamily="2" charset="77"/>
              </a:rPr>
              <a:t>(2014), essential characteristics of a parody:</a:t>
            </a:r>
          </a:p>
          <a:p>
            <a:pPr marL="609630" lvl="1" indent="-609630" algn="just">
              <a:buFont typeface="Courier New" panose="02070309020205020404" pitchFamily="49" charset="0"/>
              <a:buChar char="o"/>
            </a:pPr>
            <a:r>
              <a:rPr lang="en-GB" sz="3200" b="0" dirty="0">
                <a:solidFill>
                  <a:schemeClr val="tx2"/>
                </a:solidFill>
                <a:latin typeface="Barlow" pitchFamily="2" charset="77"/>
              </a:rPr>
              <a:t>to </a:t>
            </a:r>
            <a:r>
              <a:rPr lang="en-GB" sz="3200" dirty="0">
                <a:solidFill>
                  <a:schemeClr val="tx2"/>
                </a:solidFill>
                <a:latin typeface="Barlow" pitchFamily="2" charset="77"/>
              </a:rPr>
              <a:t>evoke an existing work while being noticeably different </a:t>
            </a:r>
            <a:r>
              <a:rPr lang="en-GB" sz="3200" b="0" dirty="0">
                <a:solidFill>
                  <a:schemeClr val="tx2"/>
                </a:solidFill>
                <a:latin typeface="Barlow" pitchFamily="2" charset="77"/>
              </a:rPr>
              <a:t>from it, and </a:t>
            </a:r>
          </a:p>
          <a:p>
            <a:pPr marL="609630" lvl="1" indent="-609630" algn="just">
              <a:buFont typeface="Courier New" panose="02070309020205020404" pitchFamily="49" charset="0"/>
              <a:buChar char="o"/>
            </a:pPr>
            <a:r>
              <a:rPr lang="en-GB" sz="3200" b="0" dirty="0">
                <a:solidFill>
                  <a:schemeClr val="tx2"/>
                </a:solidFill>
                <a:latin typeface="Barlow" pitchFamily="2" charset="77"/>
              </a:rPr>
              <a:t>to constitute an expression of </a:t>
            </a:r>
            <a:r>
              <a:rPr lang="en-GB" sz="3200" dirty="0">
                <a:solidFill>
                  <a:schemeClr val="tx2"/>
                </a:solidFill>
                <a:latin typeface="Barlow" pitchFamily="2" charset="77"/>
              </a:rPr>
              <a:t>humour or mockery</a:t>
            </a:r>
            <a:r>
              <a:rPr lang="en-GB" sz="3200" b="0" dirty="0">
                <a:solidFill>
                  <a:schemeClr val="tx2"/>
                </a:solidFill>
                <a:latin typeface="Barlow" pitchFamily="2" charset="77"/>
              </a:rPr>
              <a:t>.</a:t>
            </a:r>
          </a:p>
        </p:txBody>
      </p:sp>
      <p:pic>
        <p:nvPicPr>
          <p:cNvPr id="3" name="Picture 4" descr="Présentation PowerPoint">
            <a:extLst>
              <a:ext uri="{FF2B5EF4-FFF2-40B4-BE49-F238E27FC236}">
                <a16:creationId xmlns:a16="http://schemas.microsoft.com/office/drawing/2014/main" id="{40D17E25-BCEB-68D1-4EA0-6E75492575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9163" y="4084476"/>
            <a:ext cx="7521932" cy="498736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05012F7C-91F8-39F7-BC3D-89E9D83DC95D}"/>
              </a:ext>
            </a:extLst>
          </p:cNvPr>
          <p:cNvSpPr/>
          <p:nvPr/>
        </p:nvSpPr>
        <p:spPr>
          <a:xfrm>
            <a:off x="5919372" y="8933848"/>
            <a:ext cx="5501513" cy="461665"/>
          </a:xfrm>
          <a:prstGeom prst="rect">
            <a:avLst/>
          </a:prstGeom>
        </p:spPr>
        <p:txBody>
          <a:bodyPr wrap="square">
            <a:spAutoFit/>
          </a:bodyPr>
          <a:lstStyle/>
          <a:p>
            <a:pPr lvl="0"/>
            <a:r>
              <a:rPr lang="en-GB" sz="2400" b="0" dirty="0">
                <a:solidFill>
                  <a:schemeClr val="tx2"/>
                </a:solidFill>
                <a:latin typeface="Barlow" pitchFamily="2" charset="77"/>
                <a:cs typeface="Calibri" panose="020F0502020204030204" pitchFamily="34" charset="0"/>
                <a:hlinkClick r:id="rId3">
                  <a:extLst>
                    <a:ext uri="{A12FA001-AC4F-418D-AE19-62706E023703}">
                      <ahyp:hlinkClr xmlns:ahyp="http://schemas.microsoft.com/office/drawing/2018/hyperlinkcolor" val="tx"/>
                    </a:ext>
                  </a:extLst>
                </a:hlinkClick>
              </a:rPr>
              <a:t>Image Source</a:t>
            </a:r>
            <a:endParaRPr lang="en-GB" sz="2400" b="0" dirty="0">
              <a:solidFill>
                <a:schemeClr val="tx2"/>
              </a:solidFill>
              <a:latin typeface="Barlow" pitchFamily="2" charset="77"/>
              <a:cs typeface="Calibri" panose="020F0502020204030204" pitchFamily="34" charset="0"/>
            </a:endParaRPr>
          </a:p>
        </p:txBody>
      </p:sp>
    </p:spTree>
    <p:extLst>
      <p:ext uri="{BB962C8B-B14F-4D97-AF65-F5344CB8AC3E}">
        <p14:creationId xmlns:p14="http://schemas.microsoft.com/office/powerpoint/2010/main" val="3904141681"/>
      </p:ext>
    </p:extLst>
  </p:cSld>
  <p:clrMapOvr>
    <a:masterClrMapping/>
  </p:clrMapOvr>
  <p:transition spd="med" advTm="222639"/>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ITLE TEXT"/>
          <p:cNvSpPr txBox="1"/>
          <p:nvPr/>
        </p:nvSpPr>
        <p:spPr>
          <a:xfrm>
            <a:off x="1010873" y="730197"/>
            <a:ext cx="14669220"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Exception: </a:t>
            </a:r>
            <a:r>
              <a:rPr lang="en-GB" sz="5334" u="sng" dirty="0"/>
              <a:t>Parody</a:t>
            </a:r>
            <a:r>
              <a:rPr lang="en-GB" sz="5334" dirty="0"/>
              <a:t>, caricature and pastiche</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p:cNvSpPr txBox="1"/>
          <p:nvPr/>
        </p:nvSpPr>
        <p:spPr>
          <a:xfrm>
            <a:off x="1010874" y="1776272"/>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0589387A-0B28-2406-071D-7D405E578C4F}"/>
              </a:ext>
            </a:extLst>
          </p:cNvPr>
          <p:cNvSpPr/>
          <p:nvPr/>
        </p:nvSpPr>
        <p:spPr>
          <a:xfrm>
            <a:off x="1010874" y="1947120"/>
            <a:ext cx="8534932" cy="6001643"/>
          </a:xfrm>
          <a:prstGeom prst="rect">
            <a:avLst/>
          </a:prstGeom>
        </p:spPr>
        <p:txBody>
          <a:bodyPr wrap="square">
            <a:spAutoFit/>
          </a:bodyPr>
          <a:lstStyle/>
          <a:p>
            <a:pPr marL="609630" indent="-609630" algn="just">
              <a:buFont typeface="Arial" panose="020B0604020202020204" pitchFamily="34" charset="0"/>
              <a:buChar char="•"/>
              <a:defRPr>
                <a:solidFill>
                  <a:srgbClr val="474C55"/>
                </a:solidFill>
              </a:defRPr>
            </a:pPr>
            <a:r>
              <a:rPr lang="en-GB" sz="3200" b="0" dirty="0">
                <a:solidFill>
                  <a:schemeClr val="tx2"/>
                </a:solidFill>
                <a:latin typeface="Barlow" pitchFamily="2" charset="77"/>
              </a:rPr>
              <a:t>‘… </a:t>
            </a:r>
            <a:r>
              <a:rPr lang="en-GB" sz="3200" dirty="0">
                <a:solidFill>
                  <a:schemeClr val="tx2"/>
                </a:solidFill>
                <a:latin typeface="Barlow" pitchFamily="2" charset="77"/>
              </a:rPr>
              <a:t>mere imitation (of a work of comedy) is not enough to constitute parody.’</a:t>
            </a:r>
            <a:r>
              <a:rPr lang="en-GB" sz="3200" b="0" dirty="0">
                <a:solidFill>
                  <a:schemeClr val="tx2"/>
                </a:solidFill>
                <a:latin typeface="Barlow" pitchFamily="2" charset="77"/>
              </a:rPr>
              <a:t> (at 180)</a:t>
            </a:r>
          </a:p>
          <a:p>
            <a:pPr marL="609630" indent="-609630" algn="just">
              <a:buFont typeface="Arial" panose="020B0604020202020204" pitchFamily="34" charset="0"/>
              <a:buChar char="•"/>
            </a:pPr>
            <a:r>
              <a:rPr lang="en-GB" sz="3200" b="0" dirty="0">
                <a:solidFill>
                  <a:schemeClr val="tx2"/>
                </a:solidFill>
                <a:latin typeface="Barlow" pitchFamily="2" charset="77"/>
              </a:rPr>
              <a:t>(a) … Rather it takes the characters, with their full back story and catch phrases and simply (re)presents them in a live dining format.</a:t>
            </a:r>
          </a:p>
          <a:p>
            <a:pPr marL="609630" indent="-609630" algn="just">
              <a:buFont typeface="Arial" panose="020B0604020202020204" pitchFamily="34" charset="0"/>
              <a:buChar char="•"/>
            </a:pPr>
            <a:r>
              <a:rPr lang="en-GB" sz="3200" b="0" dirty="0">
                <a:solidFill>
                  <a:schemeClr val="tx2"/>
                </a:solidFill>
                <a:latin typeface="Barlow" pitchFamily="2" charset="77"/>
              </a:rPr>
              <a:t>(b) The use made of Del Boy and the other characters, their language, jokes and backstories from OFAH in the setting of an imaginary pub quiz involves a </a:t>
            </a:r>
            <a:r>
              <a:rPr lang="en-GB" sz="3200" dirty="0">
                <a:solidFill>
                  <a:schemeClr val="tx2"/>
                </a:solidFill>
                <a:latin typeface="Barlow" pitchFamily="2" charset="77"/>
              </a:rPr>
              <a:t>wholesale borrowing of content</a:t>
            </a:r>
            <a:r>
              <a:rPr lang="en-GB" sz="3200" b="0" dirty="0">
                <a:solidFill>
                  <a:schemeClr val="tx2"/>
                </a:solidFill>
                <a:latin typeface="Barlow" pitchFamily="2" charset="77"/>
              </a:rPr>
              <a:t>. It is close to reproduction by adaptation than pastiche.</a:t>
            </a:r>
          </a:p>
        </p:txBody>
      </p:sp>
      <p:pic>
        <p:nvPicPr>
          <p:cNvPr id="5" name="Picture 2" descr="Delboy Trotter | Villains Wiki | Fandom">
            <a:extLst>
              <a:ext uri="{FF2B5EF4-FFF2-40B4-BE49-F238E27FC236}">
                <a16:creationId xmlns:a16="http://schemas.microsoft.com/office/drawing/2014/main" id="{80213510-BDDB-E3DF-B038-4FB55A5CAF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20399" y="1776272"/>
            <a:ext cx="4859692" cy="703305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007D6AF-7398-2D1A-E74F-D0C53526CD8C}"/>
              </a:ext>
            </a:extLst>
          </p:cNvPr>
          <p:cNvSpPr txBox="1"/>
          <p:nvPr/>
        </p:nvSpPr>
        <p:spPr>
          <a:xfrm>
            <a:off x="12307571" y="8791883"/>
            <a:ext cx="1885347" cy="424049"/>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27094" tIns="27094" rIns="27094" bIns="27094" numCol="1" spcCol="38100" rtlCol="0" anchor="ctr">
            <a:spAutoFit/>
          </a:bodyPr>
          <a:lstStyle/>
          <a:p>
            <a:pPr defTabSz="782735"/>
            <a:r>
              <a:rPr lang="en-GB" sz="2400" b="0" dirty="0">
                <a:solidFill>
                  <a:schemeClr val="tx2"/>
                </a:solidFill>
                <a:latin typeface="Barlow" pitchFamily="2" charset="77"/>
                <a:hlinkClick r:id="rId3">
                  <a:extLst>
                    <a:ext uri="{A12FA001-AC4F-418D-AE19-62706E023703}">
                      <ahyp:hlinkClr xmlns:ahyp="http://schemas.microsoft.com/office/drawing/2018/hyperlinkcolor" val="tx"/>
                    </a:ext>
                  </a:extLst>
                </a:hlinkClick>
              </a:rPr>
              <a:t>Image Source</a:t>
            </a:r>
            <a:endParaRPr lang="en-GB" sz="2400" b="0" dirty="0">
              <a:solidFill>
                <a:schemeClr val="tx2"/>
              </a:solidFill>
              <a:latin typeface="Barlow" pitchFamily="2" charset="77"/>
            </a:endParaRPr>
          </a:p>
        </p:txBody>
      </p:sp>
    </p:spTree>
    <p:extLst>
      <p:ext uri="{BB962C8B-B14F-4D97-AF65-F5344CB8AC3E}">
        <p14:creationId xmlns:p14="http://schemas.microsoft.com/office/powerpoint/2010/main" val="4278844153"/>
      </p:ext>
    </p:extLst>
  </p:cSld>
  <p:clrMapOvr>
    <a:masterClrMapping/>
  </p:clrMapOvr>
  <p:transition spd="med" advTm="222639"/>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ITLE TEXT"/>
          <p:cNvSpPr txBox="1"/>
          <p:nvPr/>
        </p:nvSpPr>
        <p:spPr>
          <a:xfrm>
            <a:off x="1028459" y="730197"/>
            <a:ext cx="9267685"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Exception: </a:t>
            </a:r>
            <a:r>
              <a:rPr lang="en-GB" sz="5334" u="sng" dirty="0"/>
              <a:t>Parody</a:t>
            </a:r>
            <a:r>
              <a:rPr lang="en-GB" sz="5334" dirty="0"/>
              <a:t>, caricature and pastiche</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p:cNvSpPr txBox="1"/>
          <p:nvPr/>
        </p:nvSpPr>
        <p:spPr>
          <a:xfrm>
            <a:off x="1028459" y="1776272"/>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pic>
        <p:nvPicPr>
          <p:cNvPr id="7" name="Online Media 6" descr="Legend Says He Never Finished 🤣😭 #breathless">
            <a:hlinkClick r:id="" action="ppaction://media"/>
            <a:extLst>
              <a:ext uri="{FF2B5EF4-FFF2-40B4-BE49-F238E27FC236}">
                <a16:creationId xmlns:a16="http://schemas.microsoft.com/office/drawing/2014/main" id="{5302E78A-1A7A-71C9-C383-DDB05B64FD37}"/>
              </a:ext>
            </a:extLst>
          </p:cNvPr>
          <p:cNvPicPr>
            <a:picLocks noRot="1" noChangeAspect="1"/>
          </p:cNvPicPr>
          <p:nvPr>
            <a:videoFile r:link="rId1"/>
          </p:nvPr>
        </p:nvPicPr>
        <p:blipFill>
          <a:blip r:embed="rId3"/>
          <a:stretch>
            <a:fillRect/>
          </a:stretch>
        </p:blipFill>
        <p:spPr>
          <a:xfrm>
            <a:off x="11300576" y="730197"/>
            <a:ext cx="4743477" cy="8395535"/>
          </a:xfrm>
          <a:prstGeom prst="rect">
            <a:avLst/>
          </a:prstGeom>
        </p:spPr>
      </p:pic>
      <p:sp>
        <p:nvSpPr>
          <p:cNvPr id="8" name="Rectangle 7">
            <a:extLst>
              <a:ext uri="{FF2B5EF4-FFF2-40B4-BE49-F238E27FC236}">
                <a16:creationId xmlns:a16="http://schemas.microsoft.com/office/drawing/2014/main" id="{D7349D63-1408-7574-B6F3-31D80FD3785E}"/>
              </a:ext>
            </a:extLst>
          </p:cNvPr>
          <p:cNvSpPr/>
          <p:nvPr/>
        </p:nvSpPr>
        <p:spPr>
          <a:xfrm>
            <a:off x="1028459" y="3146270"/>
            <a:ext cx="5390629" cy="5016758"/>
          </a:xfrm>
          <a:prstGeom prst="rect">
            <a:avLst/>
          </a:prstGeom>
        </p:spPr>
        <p:txBody>
          <a:bodyPr wrap="square">
            <a:spAutoFit/>
          </a:bodyPr>
          <a:lstStyle/>
          <a:p>
            <a:pPr marL="609630" indent="-609630" algn="just">
              <a:buFont typeface="Arial" panose="020B0604020202020204" pitchFamily="34" charset="0"/>
              <a:buChar char="•"/>
              <a:defRPr>
                <a:solidFill>
                  <a:srgbClr val="474C55"/>
                </a:solidFill>
              </a:defRPr>
            </a:pPr>
            <a:r>
              <a:rPr lang="en-GB" sz="3200" b="0" dirty="0">
                <a:solidFill>
                  <a:schemeClr val="tx2"/>
                </a:solidFill>
                <a:latin typeface="Barlow" pitchFamily="2" charset="77"/>
              </a:rPr>
              <a:t>Assume the original creator (the singer) is unhappy with how their video has been used by the musician/pianist. What would you advise them and why?</a:t>
            </a:r>
          </a:p>
          <a:p>
            <a:pPr marL="609630" indent="-609630" algn="just">
              <a:buFont typeface="Arial" panose="020B0604020202020204" pitchFamily="34" charset="0"/>
              <a:buChar char="•"/>
              <a:defRPr>
                <a:solidFill>
                  <a:srgbClr val="474C55"/>
                </a:solidFill>
              </a:defRPr>
            </a:pPr>
            <a:endParaRPr lang="en-GB" sz="3200" b="0" dirty="0">
              <a:solidFill>
                <a:schemeClr val="tx2"/>
              </a:solidFill>
              <a:latin typeface="Barlow" pitchFamily="2" charset="77"/>
            </a:endParaRPr>
          </a:p>
          <a:p>
            <a:pPr marL="609630" indent="-609630" algn="just">
              <a:buFont typeface="Arial" panose="020B0604020202020204" pitchFamily="34" charset="0"/>
              <a:buChar char="•"/>
              <a:defRPr>
                <a:solidFill>
                  <a:srgbClr val="474C55"/>
                </a:solidFill>
              </a:defRPr>
            </a:pPr>
            <a:r>
              <a:rPr lang="en-GB" sz="3200" b="0" dirty="0">
                <a:solidFill>
                  <a:schemeClr val="tx2"/>
                </a:solidFill>
                <a:latin typeface="Barlow" pitchFamily="2" charset="77"/>
              </a:rPr>
              <a:t>Note: this is today’s participation activity</a:t>
            </a:r>
          </a:p>
        </p:txBody>
      </p:sp>
      <p:pic>
        <p:nvPicPr>
          <p:cNvPr id="2050" name="Picture 2" descr="QR code">
            <a:extLst>
              <a:ext uri="{FF2B5EF4-FFF2-40B4-BE49-F238E27FC236}">
                <a16:creationId xmlns:a16="http://schemas.microsoft.com/office/drawing/2014/main" id="{3A0E0450-2737-36E2-CD94-F4DAA6BA6E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94229" y="3740113"/>
            <a:ext cx="3331205" cy="33312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6919828"/>
      </p:ext>
    </p:extLst>
  </p:cSld>
  <p:clrMapOvr>
    <a:masterClrMapping/>
  </p:clrMapOvr>
  <p:transition spd="med" advTm="222639"/>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2EB38-B685-6A6D-2082-B1F1390BEA25}"/>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F685663E-1DA6-4B0B-5D04-2BAAF8FF0DCC}"/>
              </a:ext>
            </a:extLst>
          </p:cNvPr>
          <p:cNvSpPr txBox="1"/>
          <p:nvPr/>
        </p:nvSpPr>
        <p:spPr>
          <a:xfrm>
            <a:off x="1028459" y="730197"/>
            <a:ext cx="14396309"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Exceptions: A summary</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ED119C77-877D-0C90-A096-AD8FBA93FBD2}"/>
              </a:ext>
            </a:extLst>
          </p:cNvPr>
          <p:cNvSpPr txBox="1"/>
          <p:nvPr/>
        </p:nvSpPr>
        <p:spPr>
          <a:xfrm>
            <a:off x="1028459" y="1776272"/>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4" name="TextBox 3">
            <a:extLst>
              <a:ext uri="{FF2B5EF4-FFF2-40B4-BE49-F238E27FC236}">
                <a16:creationId xmlns:a16="http://schemas.microsoft.com/office/drawing/2014/main" id="{1131928C-E2F6-EE0D-D2A6-F9F598CFB6FC}"/>
              </a:ext>
            </a:extLst>
          </p:cNvPr>
          <p:cNvSpPr txBox="1"/>
          <p:nvPr/>
        </p:nvSpPr>
        <p:spPr>
          <a:xfrm>
            <a:off x="1028460" y="4338191"/>
            <a:ext cx="15283344" cy="1077218"/>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a:solidFill>
                  <a:srgbClr val="474C55"/>
                </a:solidFill>
              </a:defRPr>
            </a:pPr>
            <a:r>
              <a:rPr lang="en-GB" sz="3200" b="0" dirty="0">
                <a:solidFill>
                  <a:schemeClr val="tx2"/>
                </a:solidFill>
                <a:latin typeface="Barlow" pitchFamily="2" charset="77"/>
              </a:rPr>
              <a:t>Does the use fall into one of the listed exceptions/purpose? + (if a fair dealing exception) is it fair (multifactorial test)?</a:t>
            </a:r>
          </a:p>
        </p:txBody>
      </p:sp>
    </p:spTree>
    <p:extLst>
      <p:ext uri="{BB962C8B-B14F-4D97-AF65-F5344CB8AC3E}">
        <p14:creationId xmlns:p14="http://schemas.microsoft.com/office/powerpoint/2010/main" val="2226541858"/>
      </p:ext>
    </p:extLst>
  </p:cSld>
  <p:clrMapOvr>
    <a:masterClrMapping/>
  </p:clrMapOvr>
  <p:transition spd="med" advTm="222639"/>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ITLE TEXT"/>
          <p:cNvSpPr txBox="1"/>
          <p:nvPr/>
        </p:nvSpPr>
        <p:spPr>
          <a:xfrm>
            <a:off x="1028459" y="730198"/>
            <a:ext cx="10441401"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Next week…</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p:cNvSpPr txBox="1"/>
          <p:nvPr/>
        </p:nvSpPr>
        <p:spPr>
          <a:xfrm>
            <a:off x="1028459" y="1776273"/>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2" name="Rectangle 1">
            <a:extLst>
              <a:ext uri="{FF2B5EF4-FFF2-40B4-BE49-F238E27FC236}">
                <a16:creationId xmlns:a16="http://schemas.microsoft.com/office/drawing/2014/main" id="{0589387A-0B28-2406-071D-7D405E578C4F}"/>
              </a:ext>
            </a:extLst>
          </p:cNvPr>
          <p:cNvSpPr/>
          <p:nvPr/>
        </p:nvSpPr>
        <p:spPr>
          <a:xfrm>
            <a:off x="1028459" y="1947121"/>
            <a:ext cx="15283344" cy="1799467"/>
          </a:xfrm>
          <a:prstGeom prst="rect">
            <a:avLst/>
          </a:prstGeom>
        </p:spPr>
        <p:txBody>
          <a:bodyPr wrap="square">
            <a:spAutoFit/>
          </a:bodyPr>
          <a:lstStyle/>
          <a:p>
            <a:pPr marL="457200" indent="-457200" algn="just"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Any questions/concerns, office hours are Wednesdays 1:30 – 2:30 (please email </a:t>
            </a:r>
            <a:r>
              <a:rPr lang="en-GB" sz="3200" dirty="0" err="1">
                <a:solidFill>
                  <a:schemeClr val="tx2"/>
                </a:solidFill>
                <a:latin typeface="Barlow" pitchFamily="2" charset="77"/>
              </a:rPr>
              <a:t>amy.thomas@glasgow.ac.uk</a:t>
            </a:r>
            <a:r>
              <a:rPr lang="en-GB" sz="3200" dirty="0">
                <a:solidFill>
                  <a:schemeClr val="tx2"/>
                </a:solidFill>
                <a:latin typeface="Barlow" pitchFamily="2" charset="77"/>
              </a:rPr>
              <a:t>)</a:t>
            </a:r>
          </a:p>
          <a:p>
            <a:pPr marL="457200" indent="-457200" algn="just"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3200" dirty="0">
                <a:solidFill>
                  <a:schemeClr val="tx2"/>
                </a:solidFill>
                <a:latin typeface="Barlow" pitchFamily="2" charset="77"/>
              </a:rPr>
              <a:t>Readings/preparation for 11 February (Infringement)</a:t>
            </a:r>
          </a:p>
        </p:txBody>
      </p:sp>
    </p:spTree>
    <p:extLst>
      <p:ext uri="{BB962C8B-B14F-4D97-AF65-F5344CB8AC3E}">
        <p14:creationId xmlns:p14="http://schemas.microsoft.com/office/powerpoint/2010/main" val="2832927906"/>
      </p:ext>
    </p:extLst>
  </p:cSld>
  <p:clrMapOvr>
    <a:masterClrMapping/>
  </p:clrMapOvr>
  <p:transition spd="med" advTm="222639"/>
</p:sld>
</file>

<file path=ppt/theme/theme1.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3175"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587022"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175"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20320" tIns="20320" rIns="20320" bIns="20320" numCol="1" spcCol="38100" rtlCol="0" anchor="ctr">
        <a:spAutoFit/>
      </a:bodyPr>
      <a:lstStyle>
        <a:defPPr marL="0" marR="0" indent="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3175"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587022"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175"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20320" tIns="20320" rIns="20320" bIns="20320" numCol="1" spcCol="38100" rtlCol="0" anchor="ctr">
        <a:spAutoFit/>
      </a:bodyPr>
      <a:lstStyle>
        <a:defPPr marL="0" marR="0" indent="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2198</TotalTime>
  <Words>1641</Words>
  <Application>Microsoft Macintosh PowerPoint</Application>
  <PresentationFormat>Custom</PresentationFormat>
  <Paragraphs>137</Paragraphs>
  <Slides>22</Slides>
  <Notes>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Barlow</vt:lpstr>
      <vt:lpstr>Courier New</vt:lpstr>
      <vt:lpstr>Helvetica Neue</vt:lpstr>
      <vt:lpstr>Helvetica Neue Light</vt:lpstr>
      <vt:lpstr>Helvetica Neue Medium</vt:lpstr>
      <vt:lpstr>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MEMES AND PARASITES: ANALYSING DISCOURSE ON THE COPYRIGHT DIRECTIVE  Ula Furgal Amy Thomas Gikii 2020</dc:title>
  <dc:creator>Amy Thomas (student)</dc:creator>
  <cp:lastModifiedBy>Amy Thomas</cp:lastModifiedBy>
  <cp:revision>99</cp:revision>
  <dcterms:created xsi:type="dcterms:W3CDTF">2020-07-21T13:40:18Z</dcterms:created>
  <dcterms:modified xsi:type="dcterms:W3CDTF">2026-02-03T16:28:55Z</dcterms:modified>
</cp:coreProperties>
</file>