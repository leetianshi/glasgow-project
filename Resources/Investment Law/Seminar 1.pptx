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675" r:id="rId3"/>
    <p:sldId id="257" r:id="rId4"/>
    <p:sldId id="258" r:id="rId5"/>
    <p:sldId id="260" r:id="rId6"/>
    <p:sldId id="676" r:id="rId7"/>
    <p:sldId id="486" r:id="rId8"/>
    <p:sldId id="497" r:id="rId9"/>
    <p:sldId id="496" r:id="rId10"/>
    <p:sldId id="261" r:id="rId11"/>
    <p:sldId id="450" r:id="rId12"/>
    <p:sldId id="262" r:id="rId13"/>
    <p:sldId id="263" r:id="rId14"/>
    <p:sldId id="264" r:id="rId15"/>
    <p:sldId id="265" r:id="rId16"/>
    <p:sldId id="266" r:id="rId17"/>
    <p:sldId id="267" r:id="rId18"/>
    <p:sldId id="268" r:id="rId19"/>
    <p:sldId id="269" r:id="rId20"/>
    <p:sldId id="270" r:id="rId21"/>
    <p:sldId id="271"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53"/>
    <p:restoredTop sz="94637"/>
  </p:normalViewPr>
  <p:slideViewPr>
    <p:cSldViewPr snapToGrid="0">
      <p:cViewPr>
        <p:scale>
          <a:sx n="112" d="100"/>
          <a:sy n="112" d="100"/>
        </p:scale>
        <p:origin x="149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Calibri"/>
      </a:defRPr>
    </a:lvl1pPr>
    <a:lvl2pPr indent="228600" latinLnBrk="0">
      <a:spcBef>
        <a:spcPts val="400"/>
      </a:spcBef>
      <a:defRPr sz="1200">
        <a:latin typeface="+mn-lt"/>
        <a:ea typeface="+mn-ea"/>
        <a:cs typeface="+mn-cs"/>
        <a:sym typeface="Calibri"/>
      </a:defRPr>
    </a:lvl2pPr>
    <a:lvl3pPr indent="457200" latinLnBrk="0">
      <a:spcBef>
        <a:spcPts val="400"/>
      </a:spcBef>
      <a:defRPr sz="1200">
        <a:latin typeface="+mn-lt"/>
        <a:ea typeface="+mn-ea"/>
        <a:cs typeface="+mn-cs"/>
        <a:sym typeface="Calibri"/>
      </a:defRPr>
    </a:lvl3pPr>
    <a:lvl4pPr indent="685800" latinLnBrk="0">
      <a:spcBef>
        <a:spcPts val="400"/>
      </a:spcBef>
      <a:defRPr sz="1200">
        <a:latin typeface="+mn-lt"/>
        <a:ea typeface="+mn-ea"/>
        <a:cs typeface="+mn-cs"/>
        <a:sym typeface="Calibri"/>
      </a:defRPr>
    </a:lvl4pPr>
    <a:lvl5pPr indent="914400" latinLnBrk="0">
      <a:spcBef>
        <a:spcPts val="400"/>
      </a:spcBef>
      <a:defRPr sz="1200">
        <a:latin typeface="+mn-lt"/>
        <a:ea typeface="+mn-ea"/>
        <a:cs typeface="+mn-cs"/>
        <a:sym typeface="Calibri"/>
      </a:defRPr>
    </a:lvl5pPr>
    <a:lvl6pPr indent="1143000" latinLnBrk="0">
      <a:spcBef>
        <a:spcPts val="400"/>
      </a:spcBef>
      <a:defRPr sz="1200">
        <a:latin typeface="+mn-lt"/>
        <a:ea typeface="+mn-ea"/>
        <a:cs typeface="+mn-cs"/>
        <a:sym typeface="Calibri"/>
      </a:defRPr>
    </a:lvl6pPr>
    <a:lvl7pPr indent="1371600" latinLnBrk="0">
      <a:spcBef>
        <a:spcPts val="400"/>
      </a:spcBef>
      <a:defRPr sz="1200">
        <a:latin typeface="+mn-lt"/>
        <a:ea typeface="+mn-ea"/>
        <a:cs typeface="+mn-cs"/>
        <a:sym typeface="Calibri"/>
      </a:defRPr>
    </a:lvl7pPr>
    <a:lvl8pPr indent="1600200" latinLnBrk="0">
      <a:spcBef>
        <a:spcPts val="400"/>
      </a:spcBef>
      <a:defRPr sz="1200">
        <a:latin typeface="+mn-lt"/>
        <a:ea typeface="+mn-ea"/>
        <a:cs typeface="+mn-cs"/>
        <a:sym typeface="Calibri"/>
      </a:defRPr>
    </a:lvl8pPr>
    <a:lvl9pPr indent="1828800" latinLnBrk="0">
      <a:spcBef>
        <a:spcPts val="400"/>
      </a:spcBef>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Folienbildplatzhalter 1">
            <a:extLst>
              <a:ext uri="{FF2B5EF4-FFF2-40B4-BE49-F238E27FC236}">
                <a16:creationId xmlns:a16="http://schemas.microsoft.com/office/drawing/2014/main" id="{34D3EE88-7B04-6742-AD5B-860636706F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izenplatzhalter 2">
            <a:extLst>
              <a:ext uri="{FF2B5EF4-FFF2-40B4-BE49-F238E27FC236}">
                <a16:creationId xmlns:a16="http://schemas.microsoft.com/office/drawing/2014/main" id="{70DDE016-560A-3C48-BD30-88515C43C0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en-US" b="1">
              <a:solidFill>
                <a:srgbClr val="FF0000"/>
              </a:solidFill>
              <a:ea typeface="ＭＳ Ｐゴシック" panose="020B0600070205080204" pitchFamily="34" charset="-128"/>
            </a:endParaRPr>
          </a:p>
        </p:txBody>
      </p:sp>
      <p:sp>
        <p:nvSpPr>
          <p:cNvPr id="20483" name="Foliennummernplatzhalter 3">
            <a:extLst>
              <a:ext uri="{FF2B5EF4-FFF2-40B4-BE49-F238E27FC236}">
                <a16:creationId xmlns:a16="http://schemas.microsoft.com/office/drawing/2014/main" id="{2944FC2B-8A29-B84C-9A72-B343C9FD87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A8D07468-13B4-EC4A-886A-D00DBF8E3B81}" type="slidenum">
              <a:rPr lang="de-DE" altLang="en-US" smtClean="0">
                <a:latin typeface="Arial" panose="020B0604020202020204" pitchFamily="34" charset="0"/>
              </a:rPr>
              <a:pPr>
                <a:spcBef>
                  <a:spcPct val="0"/>
                </a:spcBef>
              </a:pPr>
              <a:t>6</a:t>
            </a:fld>
            <a:endParaRPr lang="de-DE" altLang="en-US">
              <a:latin typeface="Arial" panose="020B0604020202020204" pitchFamily="34" charset="0"/>
            </a:endParaRPr>
          </a:p>
        </p:txBody>
      </p:sp>
    </p:spTree>
    <p:extLst>
      <p:ext uri="{BB962C8B-B14F-4D97-AF65-F5344CB8AC3E}">
        <p14:creationId xmlns:p14="http://schemas.microsoft.com/office/powerpoint/2010/main" val="3132263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8434" name="Notizenplatzhalt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de-DE" altLang="en-US" b="1">
              <a:solidFill>
                <a:srgbClr val="FF0000"/>
              </a:solidFill>
              <a:ea typeface="ＭＳ Ｐゴシック" charset="-128"/>
            </a:endParaRPr>
          </a:p>
        </p:txBody>
      </p:sp>
      <p:sp>
        <p:nvSpPr>
          <p:cNvPr id="18435" name="Foliennummernplatzhalt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623C99A-8D6B-9843-8212-311E9038D04A}" type="slidenum">
              <a:rPr lang="de-DE" altLang="en-US">
                <a:latin typeface="Arial" charset="0"/>
              </a:rPr>
              <a:pPr>
                <a:spcBef>
                  <a:spcPct val="0"/>
                </a:spcBef>
              </a:pPr>
              <a:t>7</a:t>
            </a:fld>
            <a:endParaRPr lang="de-DE" altLang="en-US">
              <a:latin typeface="Arial" charset="0"/>
            </a:endParaRPr>
          </a:p>
        </p:txBody>
      </p:sp>
    </p:spTree>
    <p:extLst>
      <p:ext uri="{BB962C8B-B14F-4D97-AF65-F5344CB8AC3E}">
        <p14:creationId xmlns:p14="http://schemas.microsoft.com/office/powerpoint/2010/main" val="1621471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DD0CA-5D51-3763-C269-07F145677454}"/>
            </a:ext>
          </a:extLst>
        </p:cNvPr>
        <p:cNvGrpSpPr/>
        <p:nvPr/>
      </p:nvGrpSpPr>
      <p:grpSpPr>
        <a:xfrm>
          <a:off x="0" y="0"/>
          <a:ext cx="0" cy="0"/>
          <a:chOff x="0" y="0"/>
          <a:chExt cx="0" cy="0"/>
        </a:xfrm>
      </p:grpSpPr>
      <p:sp>
        <p:nvSpPr>
          <p:cNvPr id="18433" name="Folienbildplatzhalter 1">
            <a:extLst>
              <a:ext uri="{FF2B5EF4-FFF2-40B4-BE49-F238E27FC236}">
                <a16:creationId xmlns:a16="http://schemas.microsoft.com/office/drawing/2014/main" id="{294CEAE7-A22F-602D-5768-E265C3EF2B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434" name="Notizenplatzhalter 2">
            <a:extLst>
              <a:ext uri="{FF2B5EF4-FFF2-40B4-BE49-F238E27FC236}">
                <a16:creationId xmlns:a16="http://schemas.microsoft.com/office/drawing/2014/main" id="{715B7EAE-4E7F-A24E-1429-698AB9EF19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de-DE" altLang="en-US" b="1">
              <a:solidFill>
                <a:srgbClr val="FF0000"/>
              </a:solidFill>
              <a:ea typeface="ＭＳ Ｐゴシック" charset="-128"/>
            </a:endParaRPr>
          </a:p>
        </p:txBody>
      </p:sp>
      <p:sp>
        <p:nvSpPr>
          <p:cNvPr id="18435" name="Foliennummernplatzhalter 3">
            <a:extLst>
              <a:ext uri="{FF2B5EF4-FFF2-40B4-BE49-F238E27FC236}">
                <a16:creationId xmlns:a16="http://schemas.microsoft.com/office/drawing/2014/main" id="{2EB95583-0B98-C945-61F6-C700183A0B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623C99A-8D6B-9843-8212-311E9038D04A}" type="slidenum">
              <a:rPr lang="de-DE" altLang="en-US">
                <a:latin typeface="Arial" charset="0"/>
              </a:rPr>
              <a:pPr>
                <a:spcBef>
                  <a:spcPct val="0"/>
                </a:spcBef>
              </a:pPr>
              <a:t>8</a:t>
            </a:fld>
            <a:endParaRPr lang="de-DE" altLang="en-US">
              <a:latin typeface="Arial" charset="0"/>
            </a:endParaRPr>
          </a:p>
        </p:txBody>
      </p:sp>
    </p:spTree>
    <p:extLst>
      <p:ext uri="{BB962C8B-B14F-4D97-AF65-F5344CB8AC3E}">
        <p14:creationId xmlns:p14="http://schemas.microsoft.com/office/powerpoint/2010/main" val="727521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434" name="Notizenplatzhalt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de-DE" altLang="en-US" b="1">
              <a:solidFill>
                <a:srgbClr val="FF0000"/>
              </a:solidFill>
              <a:ea typeface="ＭＳ Ｐゴシック" charset="-128"/>
            </a:endParaRPr>
          </a:p>
        </p:txBody>
      </p:sp>
      <p:sp>
        <p:nvSpPr>
          <p:cNvPr id="18435" name="Foliennummernplatzhalt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623C99A-8D6B-9843-8212-311E9038D04A}" type="slidenum">
              <a:rPr lang="de-DE" altLang="en-US">
                <a:latin typeface="Arial" charset="0"/>
              </a:rPr>
              <a:pPr>
                <a:spcBef>
                  <a:spcPct val="0"/>
                </a:spcBef>
              </a:pPr>
              <a:t>11</a:t>
            </a:fld>
            <a:endParaRPr lang="de-DE" altLang="en-US">
              <a:latin typeface="Arial" charset="0"/>
            </a:endParaRPr>
          </a:p>
        </p:txBody>
      </p:sp>
    </p:spTree>
    <p:extLst>
      <p:ext uri="{BB962C8B-B14F-4D97-AF65-F5344CB8AC3E}">
        <p14:creationId xmlns:p14="http://schemas.microsoft.com/office/powerpoint/2010/main" val="1900393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130"/>
          <p:cNvSpPr>
            <a:spLocks noGrp="1" noRot="1" noChangeAspect="1"/>
          </p:cNvSpPr>
          <p:nvPr>
            <p:ph type="sldImg"/>
          </p:nvPr>
        </p:nvSpPr>
        <p:spPr>
          <a:prstGeom prst="rect">
            <a:avLst/>
          </a:prstGeom>
        </p:spPr>
        <p:txBody>
          <a:bodyPr/>
          <a:lstStyle/>
          <a:p>
            <a:endParaRPr/>
          </a:p>
        </p:txBody>
      </p:sp>
      <p:sp>
        <p:nvSpPr>
          <p:cNvPr id="131" name="Shape 131"/>
          <p:cNvSpPr>
            <a:spLocks noGrp="1"/>
          </p:cNvSpPr>
          <p:nvPr>
            <p:ph type="body" sz="quarter" idx="1"/>
          </p:nvPr>
        </p:nvSpPr>
        <p:spPr>
          <a:prstGeom prst="rect">
            <a:avLst/>
          </a:prstGeom>
        </p:spPr>
        <p:txBody>
          <a:bodyPr/>
          <a:lstStyle/>
          <a:p>
            <a:r>
              <a:t>Carlos Calvo (1824–1906) was born in Buenos Aires, at a time when Argentina had just achieved independence from Spain. Preservation of its sovereignty was thus one of the main concerns of the new nation, as it continued to be for quite a while, a shown by the Drago Doctrine (1902) </a:t>
            </a:r>
          </a:p>
          <a:p>
            <a:endParaRPr/>
          </a:p>
          <a:p>
            <a:r>
              <a:t>Harry Roberts case – facts?</a:t>
            </a:r>
          </a:p>
          <a:p>
            <a:r>
              <a:t>US Citizen, arrested for murder, detained for 19 months. US brought case against Mexico (under an inter-State arbitration). Leaving aside the murder aspect of the case, in relation to Mr. Roberts’s treatment by the Mexican authorities the Tribunal rejected the National Treatment standard in favour of the </a:t>
            </a:r>
            <a:r>
              <a:rPr b="1"/>
              <a:t>“ordinary standards of civilisation” </a:t>
            </a:r>
            <a:r>
              <a:t>standard.</a:t>
            </a:r>
          </a:p>
          <a:p>
            <a:r>
              <a:t>What is the significance of this? Well, </a:t>
            </a:r>
            <a:r>
              <a:rPr b="1"/>
              <a:t>This is a minimum standard, not national treatment, and crucially is not a domestic law standard but an international law standard – taking the power out of the domestic State’s hands.</a:t>
            </a:r>
          </a:p>
          <a:p>
            <a:endParaRPr b="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eltext"/>
          <p:cNvSpPr txBox="1">
            <a:spLocks noGrp="1"/>
          </p:cNvSpPr>
          <p:nvPr>
            <p:ph type="title"/>
          </p:nvPr>
        </p:nvSpPr>
        <p:spPr>
          <a:xfrm>
            <a:off x="1143000" y="1122362"/>
            <a:ext cx="6858000" cy="2387601"/>
          </a:xfrm>
          <a:prstGeom prst="rect">
            <a:avLst/>
          </a:prstGeom>
        </p:spPr>
        <p:txBody>
          <a:bodyPr anchor="b"/>
          <a:lstStyle>
            <a:lvl1pPr algn="ctr">
              <a:defRPr sz="4500"/>
            </a:lvl1pPr>
          </a:lstStyle>
          <a:p>
            <a:r>
              <a:t>Titeltext</a:t>
            </a:r>
          </a:p>
        </p:txBody>
      </p:sp>
      <p:sp>
        <p:nvSpPr>
          <p:cNvPr id="12" name="Textebene 1…"/>
          <p:cNvSpPr txBox="1">
            <a:spLocks noGrp="1"/>
          </p:cNvSpPr>
          <p:nvPr>
            <p:ph type="body" sz="quarter" idx="1"/>
          </p:nvPr>
        </p:nvSpPr>
        <p:spPr>
          <a:xfrm>
            <a:off x="1143000" y="3602037"/>
            <a:ext cx="6858000" cy="1655763"/>
          </a:xfrm>
          <a:prstGeom prst="rect">
            <a:avLst/>
          </a:prstGeom>
        </p:spPr>
        <p:txBody>
          <a:bodyPr/>
          <a:lstStyle>
            <a:lvl1pPr marL="0" indent="0" algn="ctr">
              <a:buSzTx/>
              <a:buFontTx/>
              <a:buNone/>
              <a:defRPr sz="1800"/>
            </a:lvl1pPr>
            <a:lvl2pPr marL="0" indent="342900" algn="ctr">
              <a:buSzTx/>
              <a:buFontTx/>
              <a:buNone/>
              <a:defRPr sz="1800"/>
            </a:lvl2pPr>
            <a:lvl3pPr marL="0" indent="685800" algn="ctr">
              <a:buSzTx/>
              <a:buFontTx/>
              <a:buNone/>
              <a:defRPr sz="1800"/>
            </a:lvl3pPr>
            <a:lvl4pPr marL="0" indent="1028700" algn="ctr">
              <a:buSzTx/>
              <a:buFontTx/>
              <a:buNone/>
              <a:defRPr sz="1800"/>
            </a:lvl4pPr>
            <a:lvl5pPr marL="0" indent="1371600" algn="ctr">
              <a:buSzTx/>
              <a:buFontTx/>
              <a:buNone/>
              <a:defRPr sz="1800"/>
            </a:lvl5pPr>
          </a:lstStyle>
          <a:p>
            <a:r>
              <a:t>Textebene 1</a:t>
            </a:r>
          </a:p>
          <a:p>
            <a:pPr lvl="1"/>
            <a:r>
              <a:t>Textebene 2</a:t>
            </a:r>
          </a:p>
          <a:p>
            <a:pPr lvl="2"/>
            <a:r>
              <a:t>Textebene 3</a:t>
            </a:r>
          </a:p>
          <a:p>
            <a:pPr lvl="3"/>
            <a:r>
              <a:t>Textebene 4</a:t>
            </a:r>
          </a:p>
          <a:p>
            <a:pPr lvl="4"/>
            <a:r>
              <a:t>Textebene 5</a:t>
            </a:r>
          </a:p>
        </p:txBody>
      </p:sp>
      <p:sp>
        <p:nvSpPr>
          <p:cNvPr id="13"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eltext"/>
          <p:cNvSpPr txBox="1">
            <a:spLocks noGrp="1"/>
          </p:cNvSpPr>
          <p:nvPr>
            <p:ph type="title"/>
          </p:nvPr>
        </p:nvSpPr>
        <p:spPr>
          <a:prstGeom prst="rect">
            <a:avLst/>
          </a:prstGeom>
        </p:spPr>
        <p:txBody>
          <a:bodyPr/>
          <a:lstStyle/>
          <a:p>
            <a:r>
              <a:t>Titeltext</a:t>
            </a:r>
          </a:p>
        </p:txBody>
      </p:sp>
      <p:sp>
        <p:nvSpPr>
          <p:cNvPr id="21" name="Textebene 1…"/>
          <p:cNvSpPr txBox="1">
            <a:spLocks noGrp="1"/>
          </p:cNvSpPr>
          <p:nvPr>
            <p:ph type="body" idx="1"/>
          </p:nvPr>
        </p:nvSpPr>
        <p:spPr>
          <a:prstGeom prst="rect">
            <a:avLst/>
          </a:prstGeom>
        </p:spPr>
        <p:txBody>
          <a:bodyPr/>
          <a:lstStyle/>
          <a:p>
            <a:r>
              <a:t>Textebene 1</a:t>
            </a:r>
          </a:p>
          <a:p>
            <a:pPr lvl="1"/>
            <a:r>
              <a:t>Textebene 2</a:t>
            </a:r>
          </a:p>
          <a:p>
            <a:pPr lvl="2"/>
            <a:r>
              <a:t>Textebene 3</a:t>
            </a:r>
          </a:p>
          <a:p>
            <a:pPr lvl="3"/>
            <a:r>
              <a:t>Textebene 4</a:t>
            </a:r>
          </a:p>
          <a:p>
            <a:pPr lvl="4"/>
            <a:r>
              <a:t>Textebene 5</a:t>
            </a:r>
          </a:p>
        </p:txBody>
      </p:sp>
      <p:sp>
        <p:nvSpPr>
          <p:cNvPr id="22"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eltext"/>
          <p:cNvSpPr txBox="1">
            <a:spLocks noGrp="1"/>
          </p:cNvSpPr>
          <p:nvPr>
            <p:ph type="title"/>
          </p:nvPr>
        </p:nvSpPr>
        <p:spPr>
          <a:xfrm>
            <a:off x="623887" y="1709739"/>
            <a:ext cx="7886701" cy="2852737"/>
          </a:xfrm>
          <a:prstGeom prst="rect">
            <a:avLst/>
          </a:prstGeom>
        </p:spPr>
        <p:txBody>
          <a:bodyPr anchor="b"/>
          <a:lstStyle>
            <a:lvl1pPr>
              <a:defRPr sz="4500"/>
            </a:lvl1pPr>
          </a:lstStyle>
          <a:p>
            <a:r>
              <a:t>Titeltext</a:t>
            </a:r>
          </a:p>
        </p:txBody>
      </p:sp>
      <p:sp>
        <p:nvSpPr>
          <p:cNvPr id="30" name="Textebene 1…"/>
          <p:cNvSpPr txBox="1">
            <a:spLocks noGrp="1"/>
          </p:cNvSpPr>
          <p:nvPr>
            <p:ph type="body" sz="quarter" idx="1"/>
          </p:nvPr>
        </p:nvSpPr>
        <p:spPr>
          <a:xfrm>
            <a:off x="623887" y="4589464"/>
            <a:ext cx="7886701" cy="1500188"/>
          </a:xfrm>
          <a:prstGeom prst="rect">
            <a:avLst/>
          </a:prstGeom>
        </p:spPr>
        <p:txBody>
          <a:bodyPr/>
          <a:lstStyle>
            <a:lvl1pPr marL="0" indent="0">
              <a:buSzTx/>
              <a:buFontTx/>
              <a:buNone/>
              <a:defRPr sz="1800">
                <a:solidFill>
                  <a:srgbClr val="888888"/>
                </a:solidFill>
              </a:defRPr>
            </a:lvl1pPr>
            <a:lvl2pPr marL="0" indent="342900">
              <a:buSzTx/>
              <a:buFontTx/>
              <a:buNone/>
              <a:defRPr sz="1800">
                <a:solidFill>
                  <a:srgbClr val="888888"/>
                </a:solidFill>
              </a:defRPr>
            </a:lvl2pPr>
            <a:lvl3pPr marL="0" indent="685800">
              <a:buSzTx/>
              <a:buFontTx/>
              <a:buNone/>
              <a:defRPr sz="1800">
                <a:solidFill>
                  <a:srgbClr val="888888"/>
                </a:solidFill>
              </a:defRPr>
            </a:lvl3pPr>
            <a:lvl4pPr marL="0" indent="1028700">
              <a:buSzTx/>
              <a:buFontTx/>
              <a:buNone/>
              <a:defRPr sz="1800">
                <a:solidFill>
                  <a:srgbClr val="888888"/>
                </a:solidFill>
              </a:defRPr>
            </a:lvl4pPr>
            <a:lvl5pPr marL="0" indent="1371600">
              <a:buSzTx/>
              <a:buFontTx/>
              <a:buNone/>
              <a:defRPr sz="1800">
                <a:solidFill>
                  <a:srgbClr val="888888"/>
                </a:solidFill>
              </a:defRPr>
            </a:lvl5pPr>
          </a:lstStyle>
          <a:p>
            <a:r>
              <a:t>Textebene 1</a:t>
            </a:r>
          </a:p>
          <a:p>
            <a:pPr lvl="1"/>
            <a:r>
              <a:t>Textebene 2</a:t>
            </a:r>
          </a:p>
          <a:p>
            <a:pPr lvl="2"/>
            <a:r>
              <a:t>Textebene 3</a:t>
            </a:r>
          </a:p>
          <a:p>
            <a:pPr lvl="3"/>
            <a:r>
              <a:t>Textebene 4</a:t>
            </a:r>
          </a:p>
          <a:p>
            <a:pPr lvl="4"/>
            <a:r>
              <a:t>Textebene 5</a:t>
            </a:r>
          </a:p>
        </p:txBody>
      </p:sp>
      <p:sp>
        <p:nvSpPr>
          <p:cNvPr id="31"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eltext"/>
          <p:cNvSpPr txBox="1">
            <a:spLocks noGrp="1"/>
          </p:cNvSpPr>
          <p:nvPr>
            <p:ph type="title"/>
          </p:nvPr>
        </p:nvSpPr>
        <p:spPr>
          <a:prstGeom prst="rect">
            <a:avLst/>
          </a:prstGeom>
        </p:spPr>
        <p:txBody>
          <a:bodyPr/>
          <a:lstStyle/>
          <a:p>
            <a:r>
              <a:t>Titeltext</a:t>
            </a:r>
          </a:p>
        </p:txBody>
      </p:sp>
      <p:sp>
        <p:nvSpPr>
          <p:cNvPr id="39" name="Textebene 1…"/>
          <p:cNvSpPr txBox="1">
            <a:spLocks noGrp="1"/>
          </p:cNvSpPr>
          <p:nvPr>
            <p:ph type="body" sz="half" idx="1"/>
          </p:nvPr>
        </p:nvSpPr>
        <p:spPr>
          <a:xfrm>
            <a:off x="628650" y="1825625"/>
            <a:ext cx="3886200" cy="4351338"/>
          </a:xfrm>
          <a:prstGeom prst="rect">
            <a:avLst/>
          </a:prstGeom>
        </p:spPr>
        <p:txBody>
          <a:bodyPr/>
          <a:lstStyle/>
          <a:p>
            <a:r>
              <a:t>Textebene 1</a:t>
            </a:r>
          </a:p>
          <a:p>
            <a:pPr lvl="1"/>
            <a:r>
              <a:t>Textebene 2</a:t>
            </a:r>
          </a:p>
          <a:p>
            <a:pPr lvl="2"/>
            <a:r>
              <a:t>Textebene 3</a:t>
            </a:r>
          </a:p>
          <a:p>
            <a:pPr lvl="3"/>
            <a:r>
              <a:t>Textebene 4</a:t>
            </a:r>
          </a:p>
          <a:p>
            <a:pPr lvl="4"/>
            <a:r>
              <a:t>Textebene 5</a:t>
            </a:r>
          </a:p>
        </p:txBody>
      </p:sp>
      <p:sp>
        <p:nvSpPr>
          <p:cNvPr id="40"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eltext"/>
          <p:cNvSpPr txBox="1">
            <a:spLocks noGrp="1"/>
          </p:cNvSpPr>
          <p:nvPr>
            <p:ph type="title"/>
          </p:nvPr>
        </p:nvSpPr>
        <p:spPr>
          <a:xfrm>
            <a:off x="629841" y="365125"/>
            <a:ext cx="7886701" cy="1325564"/>
          </a:xfrm>
          <a:prstGeom prst="rect">
            <a:avLst/>
          </a:prstGeom>
        </p:spPr>
        <p:txBody>
          <a:bodyPr/>
          <a:lstStyle/>
          <a:p>
            <a:r>
              <a:t>Titeltext</a:t>
            </a:r>
          </a:p>
        </p:txBody>
      </p:sp>
      <p:sp>
        <p:nvSpPr>
          <p:cNvPr id="48" name="Textebene 1…"/>
          <p:cNvSpPr txBox="1">
            <a:spLocks noGrp="1"/>
          </p:cNvSpPr>
          <p:nvPr>
            <p:ph type="body" sz="quarter" idx="1"/>
          </p:nvPr>
        </p:nvSpPr>
        <p:spPr>
          <a:xfrm>
            <a:off x="629841" y="1681163"/>
            <a:ext cx="3868341" cy="823913"/>
          </a:xfrm>
          <a:prstGeom prst="rect">
            <a:avLst/>
          </a:prstGeom>
        </p:spPr>
        <p:txBody>
          <a:bodyPr anchor="b"/>
          <a:lstStyle>
            <a:lvl1pPr marL="0" indent="0">
              <a:buSzTx/>
              <a:buFontTx/>
              <a:buNone/>
              <a:defRPr sz="1800" b="1"/>
            </a:lvl1pPr>
            <a:lvl2pPr marL="0" indent="342900">
              <a:buSzTx/>
              <a:buFontTx/>
              <a:buNone/>
              <a:defRPr sz="1800" b="1"/>
            </a:lvl2pPr>
            <a:lvl3pPr marL="0" indent="685800">
              <a:buSzTx/>
              <a:buFontTx/>
              <a:buNone/>
              <a:defRPr sz="1800" b="1"/>
            </a:lvl3pPr>
            <a:lvl4pPr marL="0" indent="1028700">
              <a:buSzTx/>
              <a:buFontTx/>
              <a:buNone/>
              <a:defRPr sz="1800" b="1"/>
            </a:lvl4pPr>
            <a:lvl5pPr marL="0" indent="1371600">
              <a:buSzTx/>
              <a:buFontTx/>
              <a:buNone/>
              <a:defRPr sz="1800" b="1"/>
            </a:lvl5pPr>
          </a:lstStyle>
          <a:p>
            <a:r>
              <a:t>Textebene 1</a:t>
            </a:r>
          </a:p>
          <a:p>
            <a:pPr lvl="1"/>
            <a:r>
              <a:t>Textebene 2</a:t>
            </a:r>
          </a:p>
          <a:p>
            <a:pPr lvl="2"/>
            <a:r>
              <a:t>Textebene 3</a:t>
            </a:r>
          </a:p>
          <a:p>
            <a:pPr lvl="3"/>
            <a:r>
              <a:t>Textebene 4</a:t>
            </a:r>
          </a:p>
          <a:p>
            <a:pPr lvl="4"/>
            <a:r>
              <a:t>Textebene 5</a:t>
            </a:r>
          </a:p>
        </p:txBody>
      </p:sp>
      <p:sp>
        <p:nvSpPr>
          <p:cNvPr id="49" name="Text Placeholder 4"/>
          <p:cNvSpPr>
            <a:spLocks noGrp="1"/>
          </p:cNvSpPr>
          <p:nvPr>
            <p:ph type="body" sz="quarter" idx="21"/>
          </p:nvPr>
        </p:nvSpPr>
        <p:spPr>
          <a:xfrm>
            <a:off x="4629150" y="1681163"/>
            <a:ext cx="3887392" cy="823913"/>
          </a:xfrm>
          <a:prstGeom prst="rect">
            <a:avLst/>
          </a:prstGeom>
        </p:spPr>
        <p:txBody>
          <a:bodyPr anchor="b"/>
          <a:lstStyle/>
          <a:p>
            <a:pPr marL="0" indent="0">
              <a:buSzTx/>
              <a:buFontTx/>
              <a:buNone/>
              <a:defRPr sz="1800" b="1"/>
            </a:pPr>
            <a:endParaRPr/>
          </a:p>
        </p:txBody>
      </p:sp>
      <p:sp>
        <p:nvSpPr>
          <p:cNvPr id="50"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eltext"/>
          <p:cNvSpPr txBox="1">
            <a:spLocks noGrp="1"/>
          </p:cNvSpPr>
          <p:nvPr>
            <p:ph type="title"/>
          </p:nvPr>
        </p:nvSpPr>
        <p:spPr>
          <a:prstGeom prst="rect">
            <a:avLst/>
          </a:prstGeom>
        </p:spPr>
        <p:txBody>
          <a:bodyPr/>
          <a:lstStyle/>
          <a:p>
            <a:r>
              <a:t>Titeltext</a:t>
            </a:r>
          </a:p>
        </p:txBody>
      </p:sp>
      <p:sp>
        <p:nvSpPr>
          <p:cNvPr id="58"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eltext"/>
          <p:cNvSpPr txBox="1">
            <a:spLocks noGrp="1"/>
          </p:cNvSpPr>
          <p:nvPr>
            <p:ph type="title"/>
          </p:nvPr>
        </p:nvSpPr>
        <p:spPr>
          <a:xfrm>
            <a:off x="629841" y="457200"/>
            <a:ext cx="2949178" cy="1600200"/>
          </a:xfrm>
          <a:prstGeom prst="rect">
            <a:avLst/>
          </a:prstGeom>
        </p:spPr>
        <p:txBody>
          <a:bodyPr anchor="b"/>
          <a:lstStyle>
            <a:lvl1pPr>
              <a:defRPr sz="2400"/>
            </a:lvl1pPr>
          </a:lstStyle>
          <a:p>
            <a:r>
              <a:t>Titeltext</a:t>
            </a:r>
          </a:p>
        </p:txBody>
      </p:sp>
      <p:sp>
        <p:nvSpPr>
          <p:cNvPr id="73" name="Textebene 1…"/>
          <p:cNvSpPr txBox="1">
            <a:spLocks noGrp="1"/>
          </p:cNvSpPr>
          <p:nvPr>
            <p:ph type="body" sz="half" idx="1"/>
          </p:nvPr>
        </p:nvSpPr>
        <p:spPr>
          <a:xfrm>
            <a:off x="3887391" y="987425"/>
            <a:ext cx="4629151" cy="4873626"/>
          </a:xfrm>
          <a:prstGeom prst="rect">
            <a:avLst/>
          </a:prstGeom>
        </p:spPr>
        <p:txBody>
          <a:bodyPr/>
          <a:lstStyle>
            <a:lvl1pPr>
              <a:defRPr sz="2400"/>
            </a:lvl1pPr>
            <a:lvl2pPr marL="538842" indent="-195942">
              <a:defRPr sz="2400"/>
            </a:lvl2pPr>
            <a:lvl3pPr marL="914400" indent="-228600">
              <a:defRPr sz="2400"/>
            </a:lvl3pPr>
            <a:lvl4pPr marL="1303019" indent="-274319">
              <a:defRPr sz="2400"/>
            </a:lvl4pPr>
            <a:lvl5pPr marL="1645920" indent="-274320">
              <a:defRPr sz="2400"/>
            </a:lvl5pPr>
          </a:lstStyle>
          <a:p>
            <a:r>
              <a:t>Textebene 1</a:t>
            </a:r>
          </a:p>
          <a:p>
            <a:pPr lvl="1"/>
            <a:r>
              <a:t>Textebene 2</a:t>
            </a:r>
          </a:p>
          <a:p>
            <a:pPr lvl="2"/>
            <a:r>
              <a:t>Textebene 3</a:t>
            </a:r>
          </a:p>
          <a:p>
            <a:pPr lvl="3"/>
            <a:r>
              <a:t>Textebene 4</a:t>
            </a:r>
          </a:p>
          <a:p>
            <a:pPr lvl="4"/>
            <a:r>
              <a:t>Textebene 5</a:t>
            </a:r>
          </a:p>
        </p:txBody>
      </p:sp>
      <p:sp>
        <p:nvSpPr>
          <p:cNvPr id="74" name="Text Placeholder 3"/>
          <p:cNvSpPr>
            <a:spLocks noGrp="1"/>
          </p:cNvSpPr>
          <p:nvPr>
            <p:ph type="body" sz="quarter" idx="21"/>
          </p:nvPr>
        </p:nvSpPr>
        <p:spPr>
          <a:xfrm>
            <a:off x="629840" y="2057400"/>
            <a:ext cx="2949180" cy="3811588"/>
          </a:xfrm>
          <a:prstGeom prst="rect">
            <a:avLst/>
          </a:prstGeom>
        </p:spPr>
        <p:txBody>
          <a:bodyPr/>
          <a:lstStyle/>
          <a:p>
            <a:pPr marL="0" indent="0">
              <a:buSzTx/>
              <a:buFontTx/>
              <a:buNone/>
              <a:defRPr sz="1200"/>
            </a:pPr>
            <a:endParaRPr/>
          </a:p>
        </p:txBody>
      </p:sp>
      <p:sp>
        <p:nvSpPr>
          <p:cNvPr id="75"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eltext"/>
          <p:cNvSpPr txBox="1">
            <a:spLocks noGrp="1"/>
          </p:cNvSpPr>
          <p:nvPr>
            <p:ph type="title"/>
          </p:nvPr>
        </p:nvSpPr>
        <p:spPr>
          <a:xfrm>
            <a:off x="629841" y="457200"/>
            <a:ext cx="2949178" cy="1600200"/>
          </a:xfrm>
          <a:prstGeom prst="rect">
            <a:avLst/>
          </a:prstGeom>
        </p:spPr>
        <p:txBody>
          <a:bodyPr anchor="b"/>
          <a:lstStyle>
            <a:lvl1pPr>
              <a:defRPr sz="2400"/>
            </a:lvl1pPr>
          </a:lstStyle>
          <a:p>
            <a:r>
              <a:t>Titeltext</a:t>
            </a:r>
          </a:p>
        </p:txBody>
      </p:sp>
      <p:sp>
        <p:nvSpPr>
          <p:cNvPr id="83" name="Picture Placeholder 2"/>
          <p:cNvSpPr>
            <a:spLocks noGrp="1"/>
          </p:cNvSpPr>
          <p:nvPr>
            <p:ph type="pic" sz="half" idx="21"/>
          </p:nvPr>
        </p:nvSpPr>
        <p:spPr>
          <a:xfrm>
            <a:off x="3887391" y="987425"/>
            <a:ext cx="4629151" cy="4873626"/>
          </a:xfrm>
          <a:prstGeom prst="rect">
            <a:avLst/>
          </a:prstGeom>
        </p:spPr>
        <p:txBody>
          <a:bodyPr lIns="91439" rIns="91439">
            <a:noAutofit/>
          </a:bodyPr>
          <a:lstStyle/>
          <a:p>
            <a:endParaRPr/>
          </a:p>
        </p:txBody>
      </p:sp>
      <p:sp>
        <p:nvSpPr>
          <p:cNvPr id="84" name="Textebene 1…"/>
          <p:cNvSpPr txBox="1">
            <a:spLocks noGrp="1"/>
          </p:cNvSpPr>
          <p:nvPr>
            <p:ph type="body" sz="quarter" idx="1"/>
          </p:nvPr>
        </p:nvSpPr>
        <p:spPr>
          <a:xfrm>
            <a:off x="629841" y="2057400"/>
            <a:ext cx="2949178" cy="3811588"/>
          </a:xfrm>
          <a:prstGeom prst="rect">
            <a:avLst/>
          </a:prstGeom>
        </p:spPr>
        <p:txBody>
          <a:bodyPr/>
          <a:lstStyle>
            <a:lvl1pPr marL="0" indent="0">
              <a:buSzTx/>
              <a:buFontTx/>
              <a:buNone/>
              <a:defRPr sz="1200"/>
            </a:lvl1pPr>
            <a:lvl2pPr marL="0" indent="342900">
              <a:buSzTx/>
              <a:buFontTx/>
              <a:buNone/>
              <a:defRPr sz="1200"/>
            </a:lvl2pPr>
            <a:lvl3pPr marL="0" indent="685800">
              <a:buSzTx/>
              <a:buFontTx/>
              <a:buNone/>
              <a:defRPr sz="1200"/>
            </a:lvl3pPr>
            <a:lvl4pPr marL="0" indent="1028700">
              <a:buSzTx/>
              <a:buFontTx/>
              <a:buNone/>
              <a:defRPr sz="1200"/>
            </a:lvl4pPr>
            <a:lvl5pPr marL="0" indent="1371600">
              <a:buSzTx/>
              <a:buFontTx/>
              <a:buNone/>
              <a:defRPr sz="1200"/>
            </a:lvl5pPr>
          </a:lstStyle>
          <a:p>
            <a:r>
              <a:t>Textebene 1</a:t>
            </a:r>
          </a:p>
          <a:p>
            <a:pPr lvl="1"/>
            <a:r>
              <a:t>Textebene 2</a:t>
            </a:r>
          </a:p>
          <a:p>
            <a:pPr lvl="2"/>
            <a:r>
              <a:t>Textebene 3</a:t>
            </a:r>
          </a:p>
          <a:p>
            <a:pPr lvl="3"/>
            <a:r>
              <a:t>Textebene 4</a:t>
            </a:r>
          </a:p>
          <a:p>
            <a:pPr lvl="4"/>
            <a:r>
              <a:t>Textebene 5</a:t>
            </a:r>
          </a:p>
        </p:txBody>
      </p:sp>
      <p:sp>
        <p:nvSpPr>
          <p:cNvPr id="85"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eltext"/>
          <p:cNvSpPr txBox="1">
            <a:spLocks noGrp="1"/>
          </p:cNvSpPr>
          <p:nvPr>
            <p:ph type="title"/>
          </p:nvPr>
        </p:nvSpPr>
        <p:spPr>
          <a:xfrm>
            <a:off x="628650" y="365125"/>
            <a:ext cx="78867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Titeltext</a:t>
            </a:r>
          </a:p>
        </p:txBody>
      </p:sp>
      <p:sp>
        <p:nvSpPr>
          <p:cNvPr id="3" name="Textebene 1…"/>
          <p:cNvSpPr txBox="1">
            <a:spLocks noGrp="1"/>
          </p:cNvSpPr>
          <p:nvPr>
            <p:ph type="body" idx="1"/>
          </p:nvPr>
        </p:nvSpPr>
        <p:spPr>
          <a:xfrm>
            <a:off x="628650" y="1825625"/>
            <a:ext cx="7886700"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Textebene 1</a:t>
            </a:r>
          </a:p>
          <a:p>
            <a:pPr lvl="1"/>
            <a:r>
              <a:t>Textebene 2</a:t>
            </a:r>
          </a:p>
          <a:p>
            <a:pPr lvl="2"/>
            <a:r>
              <a:t>Textebene 3</a:t>
            </a:r>
          </a:p>
          <a:p>
            <a:pPr lvl="3"/>
            <a:r>
              <a:t>Textebene 4</a:t>
            </a:r>
          </a:p>
          <a:p>
            <a:pPr lvl="4"/>
            <a:r>
              <a:t>Textebene 5</a:t>
            </a:r>
          </a:p>
        </p:txBody>
      </p:sp>
      <p:sp>
        <p:nvSpPr>
          <p:cNvPr id="4" name="Foliennummer"/>
          <p:cNvSpPr txBox="1">
            <a:spLocks noGrp="1"/>
          </p:cNvSpPr>
          <p:nvPr>
            <p:ph type="sldNum" sz="quarter" idx="2"/>
          </p:nvPr>
        </p:nvSpPr>
        <p:spPr>
          <a:xfrm>
            <a:off x="8284073" y="6431562"/>
            <a:ext cx="231278" cy="214701"/>
          </a:xfrm>
          <a:prstGeom prst="rect">
            <a:avLst/>
          </a:prstGeom>
          <a:ln w="12700">
            <a:miter lim="400000"/>
          </a:ln>
        </p:spPr>
        <p:txBody>
          <a:bodyPr wrap="none" lIns="45719" rIns="45719" anchor="ctr">
            <a:spAutoFit/>
          </a:bodyPr>
          <a:lstStyle>
            <a:lvl1pPr algn="r">
              <a:defRPr sz="900">
                <a:solidFill>
                  <a:srgbClr val="888888"/>
                </a:solidFill>
                <a:latin typeface="Arial"/>
                <a:ea typeface="Arial"/>
                <a:cs typeface="Arial"/>
                <a:sym typeface="Aria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6858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libri Light"/>
          <a:ea typeface="Calibri Light"/>
          <a:cs typeface="Calibri Light"/>
          <a:sym typeface="Calibri Light"/>
        </a:defRPr>
      </a:lvl1pPr>
      <a:lvl2pPr marL="0" marR="0" indent="0" algn="l" defTabSz="6858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libri Light"/>
          <a:ea typeface="Calibri Light"/>
          <a:cs typeface="Calibri Light"/>
          <a:sym typeface="Calibri Light"/>
        </a:defRPr>
      </a:lvl2pPr>
      <a:lvl3pPr marL="0" marR="0" indent="0" algn="l" defTabSz="6858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libri Light"/>
          <a:ea typeface="Calibri Light"/>
          <a:cs typeface="Calibri Light"/>
          <a:sym typeface="Calibri Light"/>
        </a:defRPr>
      </a:lvl3pPr>
      <a:lvl4pPr marL="0" marR="0" indent="0" algn="l" defTabSz="6858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libri Light"/>
          <a:ea typeface="Calibri Light"/>
          <a:cs typeface="Calibri Light"/>
          <a:sym typeface="Calibri Light"/>
        </a:defRPr>
      </a:lvl4pPr>
      <a:lvl5pPr marL="0" marR="0" indent="0" algn="l" defTabSz="6858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libri Light"/>
          <a:ea typeface="Calibri Light"/>
          <a:cs typeface="Calibri Light"/>
          <a:sym typeface="Calibri Light"/>
        </a:defRPr>
      </a:lvl5pPr>
      <a:lvl6pPr marL="0" marR="0" indent="457200" algn="l" defTabSz="6858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libri Light"/>
          <a:ea typeface="Calibri Light"/>
          <a:cs typeface="Calibri Light"/>
          <a:sym typeface="Calibri Light"/>
        </a:defRPr>
      </a:lvl6pPr>
      <a:lvl7pPr marL="0" marR="0" indent="914400" algn="l" defTabSz="6858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libri Light"/>
          <a:ea typeface="Calibri Light"/>
          <a:cs typeface="Calibri Light"/>
          <a:sym typeface="Calibri Light"/>
        </a:defRPr>
      </a:lvl7pPr>
      <a:lvl8pPr marL="0" marR="0" indent="1371600" algn="l" defTabSz="6858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libri Light"/>
          <a:ea typeface="Calibri Light"/>
          <a:cs typeface="Calibri Light"/>
          <a:sym typeface="Calibri Light"/>
        </a:defRPr>
      </a:lvl8pPr>
      <a:lvl9pPr marL="0" marR="0" indent="1828800" algn="l" defTabSz="6858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libri Light"/>
          <a:ea typeface="Calibri Light"/>
          <a:cs typeface="Calibri Light"/>
          <a:sym typeface="Calibri Light"/>
        </a:defRPr>
      </a:lvl9pPr>
    </p:titleStyle>
    <p:bodyStyle>
      <a:lvl1pPr marL="171450" marR="0" indent="-171450" algn="l" defTabSz="685800" rtl="0" latinLnBrk="0">
        <a:lnSpc>
          <a:spcPct val="90000"/>
        </a:lnSpc>
        <a:spcBef>
          <a:spcPts val="700"/>
        </a:spcBef>
        <a:spcAft>
          <a:spcPts val="0"/>
        </a:spcAft>
        <a:buClrTx/>
        <a:buSzPct val="100000"/>
        <a:buFont typeface="Arial"/>
        <a:buChar char="•"/>
        <a:tabLst/>
        <a:defRPr sz="2100" b="0" i="0" u="none" strike="noStrike" cap="none" spc="0" baseline="0">
          <a:solidFill>
            <a:srgbClr val="000000"/>
          </a:solidFill>
          <a:uFillTx/>
          <a:latin typeface="+mn-lt"/>
          <a:ea typeface="+mn-ea"/>
          <a:cs typeface="+mn-cs"/>
          <a:sym typeface="Calibri"/>
        </a:defRPr>
      </a:lvl1pPr>
      <a:lvl2pPr marL="542925" marR="0" indent="-200025" algn="l" defTabSz="685800" rtl="0" latinLnBrk="0">
        <a:lnSpc>
          <a:spcPct val="90000"/>
        </a:lnSpc>
        <a:spcBef>
          <a:spcPts val="700"/>
        </a:spcBef>
        <a:spcAft>
          <a:spcPts val="0"/>
        </a:spcAft>
        <a:buClrTx/>
        <a:buSzPct val="100000"/>
        <a:buFont typeface="Arial"/>
        <a:buChar char="•"/>
        <a:tabLst/>
        <a:defRPr sz="2100" b="0" i="0" u="none" strike="noStrike" cap="none" spc="0" baseline="0">
          <a:solidFill>
            <a:srgbClr val="000000"/>
          </a:solidFill>
          <a:uFillTx/>
          <a:latin typeface="+mn-lt"/>
          <a:ea typeface="+mn-ea"/>
          <a:cs typeface="+mn-cs"/>
          <a:sym typeface="Calibri"/>
        </a:defRPr>
      </a:lvl2pPr>
      <a:lvl3pPr marL="925830" marR="0" indent="-240030" algn="l" defTabSz="685800" rtl="0" latinLnBrk="0">
        <a:lnSpc>
          <a:spcPct val="90000"/>
        </a:lnSpc>
        <a:spcBef>
          <a:spcPts val="700"/>
        </a:spcBef>
        <a:spcAft>
          <a:spcPts val="0"/>
        </a:spcAft>
        <a:buClrTx/>
        <a:buSzPct val="100000"/>
        <a:buFont typeface="Arial"/>
        <a:buChar char="•"/>
        <a:tabLst/>
        <a:defRPr sz="2100" b="0" i="0" u="none" strike="noStrike" cap="none" spc="0" baseline="0">
          <a:solidFill>
            <a:srgbClr val="000000"/>
          </a:solidFill>
          <a:uFillTx/>
          <a:latin typeface="+mn-lt"/>
          <a:ea typeface="+mn-ea"/>
          <a:cs typeface="+mn-cs"/>
          <a:sym typeface="Calibri"/>
        </a:defRPr>
      </a:lvl3pPr>
      <a:lvl4pPr marL="1305657" marR="0" indent="-276957" algn="l" defTabSz="685800" rtl="0" latinLnBrk="0">
        <a:lnSpc>
          <a:spcPct val="90000"/>
        </a:lnSpc>
        <a:spcBef>
          <a:spcPts val="700"/>
        </a:spcBef>
        <a:spcAft>
          <a:spcPts val="0"/>
        </a:spcAft>
        <a:buClrTx/>
        <a:buSzPct val="100000"/>
        <a:buFont typeface="Arial"/>
        <a:buChar char="•"/>
        <a:tabLst/>
        <a:defRPr sz="2100" b="0" i="0" u="none" strike="noStrike" cap="none" spc="0" baseline="0">
          <a:solidFill>
            <a:srgbClr val="000000"/>
          </a:solidFill>
          <a:uFillTx/>
          <a:latin typeface="+mn-lt"/>
          <a:ea typeface="+mn-ea"/>
          <a:cs typeface="+mn-cs"/>
          <a:sym typeface="Calibri"/>
        </a:defRPr>
      </a:lvl4pPr>
      <a:lvl5pPr marL="1648557" marR="0" indent="-276957" algn="l" defTabSz="685800" rtl="0" latinLnBrk="0">
        <a:lnSpc>
          <a:spcPct val="90000"/>
        </a:lnSpc>
        <a:spcBef>
          <a:spcPts val="700"/>
        </a:spcBef>
        <a:spcAft>
          <a:spcPts val="0"/>
        </a:spcAft>
        <a:buClrTx/>
        <a:buSzPct val="100000"/>
        <a:buFont typeface="Arial"/>
        <a:buChar char="•"/>
        <a:tabLst/>
        <a:defRPr sz="2100" b="0" i="0" u="none" strike="noStrike" cap="none" spc="0" baseline="0">
          <a:solidFill>
            <a:srgbClr val="000000"/>
          </a:solidFill>
          <a:uFillTx/>
          <a:latin typeface="+mn-lt"/>
          <a:ea typeface="+mn-ea"/>
          <a:cs typeface="+mn-cs"/>
          <a:sym typeface="Calibri"/>
        </a:defRPr>
      </a:lvl5pPr>
      <a:lvl6pPr marL="1991457" marR="0" indent="-276957" algn="l" defTabSz="685800" rtl="0" latinLnBrk="0">
        <a:lnSpc>
          <a:spcPct val="90000"/>
        </a:lnSpc>
        <a:spcBef>
          <a:spcPts val="700"/>
        </a:spcBef>
        <a:spcAft>
          <a:spcPts val="0"/>
        </a:spcAft>
        <a:buClrTx/>
        <a:buSzPct val="100000"/>
        <a:buFont typeface="Arial"/>
        <a:buChar char="•"/>
        <a:tabLst/>
        <a:defRPr sz="2100" b="0" i="0" u="none" strike="noStrike" cap="none" spc="0" baseline="0">
          <a:solidFill>
            <a:srgbClr val="000000"/>
          </a:solidFill>
          <a:uFillTx/>
          <a:latin typeface="+mn-lt"/>
          <a:ea typeface="+mn-ea"/>
          <a:cs typeface="+mn-cs"/>
          <a:sym typeface="Calibri"/>
        </a:defRPr>
      </a:lvl6pPr>
      <a:lvl7pPr marL="2334357" marR="0" indent="-276957" algn="l" defTabSz="685800" rtl="0" latinLnBrk="0">
        <a:lnSpc>
          <a:spcPct val="90000"/>
        </a:lnSpc>
        <a:spcBef>
          <a:spcPts val="700"/>
        </a:spcBef>
        <a:spcAft>
          <a:spcPts val="0"/>
        </a:spcAft>
        <a:buClrTx/>
        <a:buSzPct val="100000"/>
        <a:buFont typeface="Arial"/>
        <a:buChar char="•"/>
        <a:tabLst/>
        <a:defRPr sz="2100" b="0" i="0" u="none" strike="noStrike" cap="none" spc="0" baseline="0">
          <a:solidFill>
            <a:srgbClr val="000000"/>
          </a:solidFill>
          <a:uFillTx/>
          <a:latin typeface="+mn-lt"/>
          <a:ea typeface="+mn-ea"/>
          <a:cs typeface="+mn-cs"/>
          <a:sym typeface="Calibri"/>
        </a:defRPr>
      </a:lvl7pPr>
      <a:lvl8pPr marL="2677257" marR="0" indent="-276957" algn="l" defTabSz="685800" rtl="0" latinLnBrk="0">
        <a:lnSpc>
          <a:spcPct val="90000"/>
        </a:lnSpc>
        <a:spcBef>
          <a:spcPts val="700"/>
        </a:spcBef>
        <a:spcAft>
          <a:spcPts val="0"/>
        </a:spcAft>
        <a:buClrTx/>
        <a:buSzPct val="100000"/>
        <a:buFont typeface="Arial"/>
        <a:buChar char="•"/>
        <a:tabLst/>
        <a:defRPr sz="2100" b="0" i="0" u="none" strike="noStrike" cap="none" spc="0" baseline="0">
          <a:solidFill>
            <a:srgbClr val="000000"/>
          </a:solidFill>
          <a:uFillTx/>
          <a:latin typeface="+mn-lt"/>
          <a:ea typeface="+mn-ea"/>
          <a:cs typeface="+mn-cs"/>
          <a:sym typeface="Calibri"/>
        </a:defRPr>
      </a:lvl8pPr>
      <a:lvl9pPr marL="3020157" marR="0" indent="-276957" algn="l" defTabSz="685800" rtl="0" latinLnBrk="0">
        <a:lnSpc>
          <a:spcPct val="90000"/>
        </a:lnSpc>
        <a:spcBef>
          <a:spcPts val="700"/>
        </a:spcBef>
        <a:spcAft>
          <a:spcPts val="0"/>
        </a:spcAft>
        <a:buClrTx/>
        <a:buSzPct val="100000"/>
        <a:buFont typeface="Arial"/>
        <a:buChar char="•"/>
        <a:tabLst/>
        <a:defRPr sz="21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mailto:james.devaney@glasgow.ac.uk"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hyperlink" Target="https://www.youtube.com/watch?v=Ig4OhGjDjPY"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tif"/></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1" descr="Picture 1"/>
          <p:cNvPicPr>
            <a:picLocks noChangeAspect="1"/>
          </p:cNvPicPr>
          <p:nvPr/>
        </p:nvPicPr>
        <p:blipFill>
          <a:blip r:embed="rId2"/>
          <a:stretch>
            <a:fillRect/>
          </a:stretch>
        </p:blipFill>
        <p:spPr>
          <a:xfrm>
            <a:off x="0" y="857250"/>
            <a:ext cx="9144000" cy="5143500"/>
          </a:xfrm>
          <a:prstGeom prst="rect">
            <a:avLst/>
          </a:prstGeom>
          <a:ln w="12700">
            <a:miter lim="400000"/>
          </a:ln>
        </p:spPr>
      </p:pic>
      <p:pic>
        <p:nvPicPr>
          <p:cNvPr id="95" name="Picture 5" descr="Picture 5"/>
          <p:cNvPicPr>
            <a:picLocks noChangeAspect="1"/>
          </p:cNvPicPr>
          <p:nvPr/>
        </p:nvPicPr>
        <p:blipFill>
          <a:blip r:embed="rId3"/>
          <a:stretch>
            <a:fillRect/>
          </a:stretch>
        </p:blipFill>
        <p:spPr>
          <a:xfrm>
            <a:off x="0" y="857250"/>
            <a:ext cx="9144000" cy="1352550"/>
          </a:xfrm>
          <a:prstGeom prst="rect">
            <a:avLst/>
          </a:prstGeom>
          <a:ln w="12700">
            <a:miter lim="400000"/>
          </a:ln>
        </p:spPr>
      </p:pic>
      <p:grpSp>
        <p:nvGrpSpPr>
          <p:cNvPr id="98" name="Rectangle 6"/>
          <p:cNvGrpSpPr/>
          <p:nvPr/>
        </p:nvGrpSpPr>
        <p:grpSpPr>
          <a:xfrm>
            <a:off x="215515" y="2348880"/>
            <a:ext cx="5796647" cy="1791453"/>
            <a:chOff x="0" y="-1"/>
            <a:chExt cx="5796645" cy="1791452"/>
          </a:xfrm>
        </p:grpSpPr>
        <p:sp>
          <p:nvSpPr>
            <p:cNvPr id="96" name="Rechteck"/>
            <p:cNvSpPr/>
            <p:nvPr/>
          </p:nvSpPr>
          <p:spPr>
            <a:xfrm>
              <a:off x="0" y="-1"/>
              <a:ext cx="5796645" cy="1555804"/>
            </a:xfrm>
            <a:prstGeom prst="rect">
              <a:avLst/>
            </a:prstGeom>
            <a:solidFill>
              <a:srgbClr val="FFFFFF">
                <a:alpha val="84000"/>
              </a:srgbClr>
            </a:solidFill>
            <a:ln w="12700" cap="flat">
              <a:solidFill>
                <a:srgbClr val="000000"/>
              </a:solidFill>
              <a:prstDash val="solid"/>
              <a:miter lim="800000"/>
            </a:ln>
            <a:effectLst/>
          </p:spPr>
          <p:txBody>
            <a:bodyPr wrap="square" lIns="45719" tIns="45719" rIns="45719" bIns="45719" numCol="1" anchor="t">
              <a:noAutofit/>
            </a:bodyPr>
            <a:lstStyle/>
            <a:p>
              <a:pPr>
                <a:defRPr b="1"/>
              </a:pPr>
              <a:endParaRPr dirty="0"/>
            </a:p>
          </p:txBody>
        </p:sp>
        <p:sp>
          <p:nvSpPr>
            <p:cNvPr id="97" name="International Investment Law…"/>
            <p:cNvSpPr txBox="1"/>
            <p:nvPr/>
          </p:nvSpPr>
          <p:spPr>
            <a:xfrm>
              <a:off x="52069" y="6350"/>
              <a:ext cx="5692506" cy="1785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2200" b="1"/>
              </a:pPr>
              <a:r>
                <a:rPr dirty="0"/>
                <a:t>International Investment Law</a:t>
              </a:r>
              <a:endParaRPr lang="en-US" dirty="0"/>
            </a:p>
            <a:p>
              <a:pPr>
                <a:defRPr sz="2200" b="1"/>
              </a:pPr>
              <a:r>
                <a:rPr lang="en-GB" dirty="0"/>
                <a:t>2025/2026</a:t>
              </a:r>
              <a:endParaRPr dirty="0"/>
            </a:p>
            <a:p>
              <a:pPr>
                <a:defRPr sz="2200" b="1"/>
              </a:pPr>
              <a:r>
                <a:rPr dirty="0"/>
                <a:t>Seminar 1 </a:t>
              </a:r>
            </a:p>
            <a:p>
              <a:pPr>
                <a:defRPr sz="2200" b="1"/>
              </a:pPr>
              <a:r>
                <a:rPr dirty="0"/>
                <a:t>Introduction and historical development			</a:t>
              </a:r>
            </a:p>
          </p:txBody>
        </p:sp>
      </p:grpSp>
      <p:grpSp>
        <p:nvGrpSpPr>
          <p:cNvPr id="101" name="Rectangle 9"/>
          <p:cNvGrpSpPr/>
          <p:nvPr/>
        </p:nvGrpSpPr>
        <p:grpSpPr>
          <a:xfrm>
            <a:off x="323527" y="4352812"/>
            <a:ext cx="3816427" cy="1199812"/>
            <a:chOff x="0" y="0"/>
            <a:chExt cx="3816425" cy="1199809"/>
          </a:xfrm>
        </p:grpSpPr>
        <p:sp>
          <p:nvSpPr>
            <p:cNvPr id="99" name="Rechteck"/>
            <p:cNvSpPr/>
            <p:nvPr/>
          </p:nvSpPr>
          <p:spPr>
            <a:xfrm>
              <a:off x="0" y="0"/>
              <a:ext cx="3816425" cy="939548"/>
            </a:xfrm>
            <a:prstGeom prst="rect">
              <a:avLst/>
            </a:prstGeom>
            <a:solidFill>
              <a:srgbClr val="FFFFFF">
                <a:alpha val="84000"/>
              </a:srgbClr>
            </a:solidFill>
            <a:ln w="12700" cap="flat">
              <a:solidFill>
                <a:srgbClr val="000000"/>
              </a:solidFill>
              <a:prstDash val="solid"/>
              <a:miter lim="800000"/>
            </a:ln>
            <a:effectLst/>
          </p:spPr>
          <p:txBody>
            <a:bodyPr wrap="square" lIns="45719" tIns="45719" rIns="45719" bIns="45719" numCol="1" anchor="t">
              <a:noAutofit/>
            </a:bodyPr>
            <a:lstStyle/>
            <a:p>
              <a:pPr algn="r">
                <a:defRPr b="1"/>
              </a:pPr>
              <a:endParaRPr/>
            </a:p>
          </p:txBody>
        </p:sp>
        <p:sp>
          <p:nvSpPr>
            <p:cNvPr id="100" name="Christian J. Tams…"/>
            <p:cNvSpPr/>
            <p:nvPr/>
          </p:nvSpPr>
          <p:spPr>
            <a:xfrm>
              <a:off x="52069" y="184150"/>
              <a:ext cx="3712285" cy="101565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2000" b="1"/>
              </a:pPr>
              <a:r>
                <a:rPr lang="en-US" dirty="0"/>
                <a:t>Professor James Devaney</a:t>
              </a:r>
              <a:endParaRPr dirty="0"/>
            </a:p>
            <a:p>
              <a:pPr>
                <a:defRPr sz="2000" b="1"/>
              </a:pPr>
              <a:r>
                <a:rPr lang="en-US" dirty="0">
                  <a:hlinkClick r:id="rId4"/>
                </a:rPr>
                <a:t>james.devaney</a:t>
              </a:r>
              <a:r>
                <a:rPr dirty="0">
                  <a:hlinkClick r:id="rId4"/>
                </a:rPr>
                <a:t>@glasgow.ac.uk</a:t>
              </a:r>
              <a:r>
                <a:rPr lang="en-US"/>
                <a:t> </a:t>
              </a:r>
              <a:r>
                <a:rPr dirty="0"/>
                <a:t>			</a:t>
              </a:r>
            </a:p>
          </p:txBody>
        </p:sp>
      </p:gr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FB49CC-CC73-9562-96E7-E634371214A6}"/>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GB"/>
            </a:defPPr>
            <a:lvl1pPr algn="r" rtl="0" eaLnBrk="0" fontAlgn="base" hangingPunct="0">
              <a:spcBef>
                <a:spcPct val="0"/>
              </a:spcBef>
              <a:spcAft>
                <a:spcPct val="0"/>
              </a:spcAft>
              <a:defRPr sz="900" kern="1200">
                <a:solidFill>
                  <a:schemeClr val="tx1">
                    <a:tint val="75000"/>
                  </a:schemeClr>
                </a:solidFill>
                <a:latin typeface="Arial"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900159E8-8918-C644-B5D2-A737C8758A0C}" type="slidenum">
              <a:rPr lang="en-GB" altLang="en-US" smtClean="0"/>
              <a:pPr>
                <a:defRPr/>
              </a:pPr>
              <a:t>2</a:t>
            </a:fld>
            <a:endParaRPr lang="en-GB" altLang="en-US"/>
          </a:p>
        </p:txBody>
      </p:sp>
      <p:pic>
        <p:nvPicPr>
          <p:cNvPr id="4" name="Picture 3" descr="A close-up of a card&#10;&#10;AI-generated content may be incorrect.">
            <a:hlinkClick r:id="rId2"/>
            <a:extLst>
              <a:ext uri="{FF2B5EF4-FFF2-40B4-BE49-F238E27FC236}">
                <a16:creationId xmlns:a16="http://schemas.microsoft.com/office/drawing/2014/main" id="{E2F34377-A350-50BB-0344-8BD26CC293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92696"/>
            <a:ext cx="9089010" cy="5112568"/>
          </a:xfrm>
          <a:prstGeom prst="rect">
            <a:avLst/>
          </a:prstGeom>
        </p:spPr>
      </p:pic>
    </p:spTree>
    <p:extLst>
      <p:ext uri="{BB962C8B-B14F-4D97-AF65-F5344CB8AC3E}">
        <p14:creationId xmlns:p14="http://schemas.microsoft.com/office/powerpoint/2010/main" val="255020778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Futura"/>
                <a:ea typeface="Futura"/>
                <a:cs typeface="Futura"/>
                <a:sym typeface="Futura"/>
              </a:defRPr>
            </a:lvl1pPr>
          </a:lstStyle>
          <a:p>
            <a:r>
              <a:t>Our Job Today</a:t>
            </a:r>
          </a:p>
        </p:txBody>
      </p:sp>
      <p:sp>
        <p:nvSpPr>
          <p:cNvPr id="104" name="Rectangle 3"/>
          <p:cNvSpPr txBox="1">
            <a:spLocks noGrp="1"/>
          </p:cNvSpPr>
          <p:nvPr>
            <p:ph type="body" idx="1"/>
          </p:nvPr>
        </p:nvSpPr>
        <p:spPr>
          <a:xfrm>
            <a:off x="395288" y="1341437"/>
            <a:ext cx="8748712" cy="4979988"/>
          </a:xfrm>
          <a:prstGeom prst="rect">
            <a:avLst/>
          </a:prstGeom>
        </p:spPr>
        <p:txBody>
          <a:bodyPr/>
          <a:lstStyle/>
          <a:p>
            <a:pPr marL="514350" indent="-514350">
              <a:lnSpc>
                <a:spcPct val="72000"/>
              </a:lnSpc>
              <a:buFontTx/>
              <a:buAutoNum type="arabicPeriod"/>
              <a:defRPr sz="2800">
                <a:latin typeface="Futura"/>
                <a:ea typeface="Futura"/>
                <a:cs typeface="Futura"/>
                <a:sym typeface="Futura"/>
              </a:defRPr>
            </a:pPr>
            <a:endParaRPr dirty="0">
              <a:latin typeface="Arial" panose="020B0604020202020204" pitchFamily="34" charset="0"/>
              <a:cs typeface="Arial" panose="020B0604020202020204" pitchFamily="34" charset="0"/>
            </a:endParaRPr>
          </a:p>
          <a:p>
            <a:pPr marL="514350" indent="-514350">
              <a:lnSpc>
                <a:spcPct val="72000"/>
              </a:lnSpc>
              <a:buFontTx/>
              <a:buAutoNum type="arabicPeriod" startAt="2"/>
              <a:defRPr sz="2800">
                <a:latin typeface="Futura"/>
                <a:ea typeface="Futura"/>
                <a:cs typeface="Futura"/>
                <a:sym typeface="Futura"/>
              </a:defRPr>
            </a:pPr>
            <a:endParaRPr dirty="0">
              <a:latin typeface="Arial" panose="020B0604020202020204" pitchFamily="34" charset="0"/>
              <a:cs typeface="Arial" panose="020B0604020202020204" pitchFamily="34" charset="0"/>
            </a:endParaRPr>
          </a:p>
          <a:p>
            <a:pPr marL="514350" indent="-514350">
              <a:lnSpc>
                <a:spcPct val="72000"/>
              </a:lnSpc>
              <a:buFontTx/>
              <a:buAutoNum type="arabicPeriod"/>
              <a:defRPr sz="2500">
                <a:latin typeface="Futura"/>
                <a:ea typeface="Futura"/>
                <a:cs typeface="Futura"/>
                <a:sym typeface="Futura"/>
              </a:defRPr>
            </a:pPr>
            <a:r>
              <a:rPr dirty="0">
                <a:latin typeface="Arial" panose="020B0604020202020204" pitchFamily="34" charset="0"/>
                <a:cs typeface="Arial" panose="020B0604020202020204" pitchFamily="34" charset="0"/>
              </a:rPr>
              <a:t>To introduce you to the main features, and to highlight important details, of the course.</a:t>
            </a:r>
            <a:endParaRPr sz="1900" dirty="0">
              <a:latin typeface="Arial" panose="020B0604020202020204" pitchFamily="34" charset="0"/>
              <a:cs typeface="Arial" panose="020B0604020202020204" pitchFamily="34" charset="0"/>
            </a:endParaRPr>
          </a:p>
          <a:p>
            <a:pPr marL="514350" indent="-514350">
              <a:lnSpc>
                <a:spcPct val="72000"/>
              </a:lnSpc>
              <a:buFontTx/>
              <a:buAutoNum type="arabicPeriod"/>
              <a:defRPr sz="2500">
                <a:latin typeface="Futura"/>
                <a:ea typeface="Futura"/>
                <a:cs typeface="Futura"/>
                <a:sym typeface="Futura"/>
              </a:defRPr>
            </a:pPr>
            <a:r>
              <a:rPr dirty="0">
                <a:latin typeface="Arial" panose="020B0604020202020204" pitchFamily="34" charset="0"/>
                <a:cs typeface="Arial" panose="020B0604020202020204" pitchFamily="34" charset="0"/>
              </a:rPr>
              <a:t>To trace the development of international investment law.</a:t>
            </a:r>
            <a:endParaRPr sz="1900" dirty="0">
              <a:latin typeface="Arial" panose="020B0604020202020204" pitchFamily="34" charset="0"/>
              <a:cs typeface="Arial" panose="020B0604020202020204" pitchFamily="34" charset="0"/>
            </a:endParaRPr>
          </a:p>
          <a:p>
            <a:pPr marL="514350" indent="-514350">
              <a:lnSpc>
                <a:spcPct val="72000"/>
              </a:lnSpc>
              <a:buFontTx/>
              <a:buAutoNum type="arabicPeriod"/>
              <a:defRPr sz="2500">
                <a:latin typeface="Futura"/>
                <a:ea typeface="Futura"/>
                <a:cs typeface="Futura"/>
                <a:sym typeface="Futura"/>
              </a:defRPr>
            </a:pPr>
            <a:r>
              <a:rPr dirty="0">
                <a:latin typeface="Arial" panose="020B0604020202020204" pitchFamily="34" charset="0"/>
                <a:cs typeface="Arial" panose="020B0604020202020204" pitchFamily="34" charset="0"/>
              </a:rPr>
              <a:t>To highlight the key milestones and their continuing significance.</a:t>
            </a:r>
            <a:endParaRPr sz="1900" dirty="0">
              <a:latin typeface="Arial" panose="020B0604020202020204" pitchFamily="34" charset="0"/>
              <a:cs typeface="Arial" panose="020B0604020202020204" pitchFamily="34" charset="0"/>
            </a:endParaRPr>
          </a:p>
          <a:p>
            <a:pPr marL="514350" indent="-514350">
              <a:lnSpc>
                <a:spcPct val="72000"/>
              </a:lnSpc>
              <a:buFontTx/>
              <a:buAutoNum type="arabicPeriod"/>
              <a:defRPr sz="2500">
                <a:latin typeface="Futura"/>
                <a:ea typeface="Futura"/>
                <a:cs typeface="Futura"/>
                <a:sym typeface="Futura"/>
              </a:defRPr>
            </a:pPr>
            <a:r>
              <a:rPr dirty="0">
                <a:latin typeface="Arial" panose="020B0604020202020204" pitchFamily="34" charset="0"/>
                <a:cs typeface="Arial" panose="020B0604020202020204" pitchFamily="34" charset="0"/>
              </a:rPr>
              <a:t>To explore the basic architecture of international investment law.</a:t>
            </a:r>
            <a:endParaRPr sz="1900" dirty="0">
              <a:latin typeface="Arial" panose="020B0604020202020204" pitchFamily="34" charset="0"/>
              <a:cs typeface="Arial" panose="020B0604020202020204" pitchFamily="34" charset="0"/>
            </a:endParaRPr>
          </a:p>
          <a:p>
            <a:pPr marL="514350" indent="-514350">
              <a:lnSpc>
                <a:spcPct val="72000"/>
              </a:lnSpc>
              <a:buFontTx/>
              <a:buAutoNum type="arabicPeriod"/>
              <a:defRPr sz="2500">
                <a:latin typeface="Futura"/>
                <a:ea typeface="Futura"/>
                <a:cs typeface="Futura"/>
                <a:sym typeface="Futura"/>
              </a:defRPr>
            </a:pPr>
            <a:r>
              <a:rPr dirty="0">
                <a:latin typeface="Arial" panose="020B0604020202020204" pitchFamily="34" charset="0"/>
                <a:cs typeface="Arial" panose="020B0604020202020204" pitchFamily="34" charset="0"/>
              </a:rPr>
              <a:t>To consider its main actors.</a:t>
            </a:r>
            <a:endParaRPr sz="1900" dirty="0">
              <a:latin typeface="Arial" panose="020B0604020202020204" pitchFamily="34" charset="0"/>
              <a:cs typeface="Arial" panose="020B0604020202020204" pitchFamily="34" charset="0"/>
            </a:endParaRPr>
          </a:p>
          <a:p>
            <a:pPr marL="514350" indent="-514350">
              <a:lnSpc>
                <a:spcPct val="72000"/>
              </a:lnSpc>
              <a:buFontTx/>
              <a:buAutoNum type="arabicPeriod"/>
              <a:defRPr sz="2500">
                <a:latin typeface="Futura"/>
                <a:ea typeface="Futura"/>
                <a:cs typeface="Futura"/>
                <a:sym typeface="Futura"/>
              </a:defRPr>
            </a:pPr>
            <a:r>
              <a:rPr dirty="0">
                <a:latin typeface="Arial" panose="020B0604020202020204" pitchFamily="34" charset="0"/>
                <a:cs typeface="Arial" panose="020B0604020202020204" pitchFamily="34" charset="0"/>
              </a:rPr>
              <a:t>To lay the groundwork for the weeks to come.</a:t>
            </a:r>
            <a:endParaRPr sz="1900" dirty="0">
              <a:latin typeface="Arial" panose="020B0604020202020204" pitchFamily="34" charset="0"/>
              <a:cs typeface="Arial" panose="020B0604020202020204" pitchFamily="34" charset="0"/>
            </a:endParaRPr>
          </a:p>
          <a:p>
            <a:pPr marL="514350" indent="-514350">
              <a:lnSpc>
                <a:spcPct val="72000"/>
              </a:lnSpc>
              <a:buFontTx/>
              <a:buAutoNum type="arabicPeriod"/>
              <a:defRPr sz="2500">
                <a:latin typeface="Futura"/>
                <a:ea typeface="Futura"/>
                <a:cs typeface="Futura"/>
                <a:sym typeface="Futura"/>
              </a:defRPr>
            </a:pPr>
            <a:r>
              <a:rPr dirty="0">
                <a:latin typeface="Arial" panose="020B0604020202020204" pitchFamily="34" charset="0"/>
                <a:cs typeface="Arial" panose="020B0604020202020204" pitchFamily="34" charset="0"/>
              </a:rPr>
              <a:t>But first, a little housekeeping…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0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0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0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10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iterate>
                                    <p:tmAbs val="0"/>
                                  </p:iterate>
                                  <p:childTnLst>
                                    <p:set>
                                      <p:cBhvr>
                                        <p:cTn id="26" fill="hold"/>
                                        <p:tgtEl>
                                          <p:spTgt spid="10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iterate>
                                    <p:tmAbs val="0"/>
                                  </p:iterate>
                                  <p:childTnLst>
                                    <p:set>
                                      <p:cBhvr>
                                        <p:cTn id="30" fill="hold"/>
                                        <p:tgtEl>
                                          <p:spTgt spid="10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1" build="p"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 name="Rectangle 2"/>
          <p:cNvSpPr txBox="1">
            <a:spLocks noGrp="1"/>
          </p:cNvSpPr>
          <p:nvPr>
            <p:ph type="title"/>
          </p:nvPr>
        </p:nvSpPr>
        <p:spPr>
          <a:xfrm>
            <a:off x="657520" y="741391"/>
            <a:ext cx="2124993" cy="1616203"/>
          </a:xfrm>
          <a:prstGeom prst="rect">
            <a:avLst/>
          </a:prstGeom>
        </p:spPr>
        <p:txBody>
          <a:bodyPr vert="horz" lIns="91440" tIns="45720" rIns="91440" bIns="45720" rtlCol="0" anchor="b">
            <a:normAutofit/>
          </a:bodyPr>
          <a:lstStyle>
            <a:lvl1pPr algn="ctr">
              <a:defRPr sz="2600">
                <a:solidFill>
                  <a:srgbClr val="00B050"/>
                </a:solidFill>
                <a:latin typeface="Futura"/>
                <a:ea typeface="Futura"/>
                <a:cs typeface="Futura"/>
                <a:sym typeface="Futura"/>
              </a:defRPr>
            </a:lvl1pPr>
          </a:lstStyle>
          <a:p>
            <a:pPr algn="l" defTabSz="914400">
              <a:spcBef>
                <a:spcPct val="0"/>
              </a:spcBef>
            </a:pPr>
            <a:r>
              <a:rPr lang="en-US" sz="2200" kern="1200">
                <a:solidFill>
                  <a:schemeClr val="tx1"/>
                </a:solidFill>
                <a:latin typeface="+mj-lt"/>
                <a:ea typeface="+mj-ea"/>
                <a:cs typeface="+mj-cs"/>
              </a:rPr>
              <a:t>Housekeeping</a:t>
            </a:r>
          </a:p>
        </p:txBody>
      </p:sp>
      <p:sp>
        <p:nvSpPr>
          <p:cNvPr id="107" name="Rectangle 3"/>
          <p:cNvSpPr txBox="1">
            <a:spLocks noGrp="1"/>
          </p:cNvSpPr>
          <p:nvPr>
            <p:ph type="body" idx="1"/>
          </p:nvPr>
        </p:nvSpPr>
        <p:spPr>
          <a:xfrm>
            <a:off x="657520" y="2533476"/>
            <a:ext cx="2124993" cy="3447832"/>
          </a:xfrm>
          <a:prstGeom prst="rect">
            <a:avLst/>
          </a:prstGeom>
        </p:spPr>
        <p:txBody>
          <a:bodyPr vert="horz" lIns="91440" tIns="45720" rIns="91440" bIns="45720" rtlCol="0" anchor="t">
            <a:normAutofit/>
          </a:bodyPr>
          <a:lstStyle/>
          <a:p>
            <a:pPr indent="-228600" defTabSz="914400">
              <a:buFont typeface="Arial" panose="020B0604020202020204" pitchFamily="34" charset="0"/>
              <a:buChar char="•"/>
              <a:defRPr sz="2600">
                <a:latin typeface="Futura"/>
                <a:ea typeface="Futura"/>
                <a:cs typeface="Futura"/>
                <a:sym typeface="Futura"/>
              </a:defRPr>
            </a:pPr>
            <a:endParaRPr lang="en-US" sz="2000" kern="1200" dirty="0">
              <a:solidFill>
                <a:schemeClr val="tx1"/>
              </a:solidFill>
              <a:latin typeface="Calibri" panose="020F0502020204030204" pitchFamily="34" charset="0"/>
              <a:cs typeface="Calibri" panose="020F0502020204030204" pitchFamily="34" charset="0"/>
            </a:endParaRPr>
          </a:p>
          <a:p>
            <a:pPr indent="-228600" defTabSz="914400">
              <a:buFont typeface="Arial" panose="020B0604020202020204" pitchFamily="34" charset="0"/>
              <a:buChar char="•"/>
              <a:defRPr sz="2600">
                <a:latin typeface="Futura"/>
                <a:ea typeface="Futura"/>
                <a:cs typeface="Futura"/>
                <a:sym typeface="Futura"/>
              </a:defRPr>
            </a:pPr>
            <a:endParaRPr lang="en-US" sz="2000" kern="1200" dirty="0">
              <a:solidFill>
                <a:schemeClr val="tx1"/>
              </a:solidFill>
              <a:latin typeface="Calibri" panose="020F0502020204030204" pitchFamily="34" charset="0"/>
              <a:cs typeface="Calibri" panose="020F0502020204030204" pitchFamily="34" charset="0"/>
            </a:endParaRPr>
          </a:p>
          <a:p>
            <a:pPr indent="-228600" defTabSz="914400">
              <a:buFont typeface="Arial" panose="020B0604020202020204" pitchFamily="34" charset="0"/>
              <a:buChar char="•"/>
              <a:defRPr sz="2600">
                <a:latin typeface="Futura"/>
                <a:ea typeface="Futura"/>
                <a:cs typeface="Futura"/>
                <a:sym typeface="Futura"/>
              </a:defRPr>
            </a:pPr>
            <a:r>
              <a:rPr lang="en-US" sz="2000" kern="1200" dirty="0">
                <a:solidFill>
                  <a:schemeClr val="tx1"/>
                </a:solidFill>
                <a:latin typeface="Calibri" panose="020F0502020204030204" pitchFamily="34" charset="0"/>
                <a:cs typeface="Calibri" panose="020F0502020204030204" pitchFamily="34" charset="0"/>
              </a:rPr>
              <a:t>Course team.</a:t>
            </a:r>
          </a:p>
          <a:p>
            <a:pPr indent="-228600" defTabSz="914400">
              <a:buFont typeface="Arial" panose="020B0604020202020204" pitchFamily="34" charset="0"/>
              <a:buChar char="•"/>
              <a:defRPr sz="2600">
                <a:latin typeface="Futura"/>
                <a:ea typeface="Futura"/>
                <a:cs typeface="Futura"/>
                <a:sym typeface="Futura"/>
              </a:defRPr>
            </a:pPr>
            <a:r>
              <a:rPr lang="en-US" sz="2000" kern="1200" dirty="0">
                <a:solidFill>
                  <a:schemeClr val="tx1"/>
                </a:solidFill>
                <a:latin typeface="Calibri" panose="020F0502020204030204" pitchFamily="34" charset="0"/>
                <a:cs typeface="Calibri" panose="020F0502020204030204" pitchFamily="34" charset="0"/>
              </a:rPr>
              <a:t>Readings and slides.</a:t>
            </a:r>
          </a:p>
          <a:p>
            <a:pPr indent="-228600" defTabSz="914400">
              <a:buFont typeface="Arial" panose="020B0604020202020204" pitchFamily="34" charset="0"/>
              <a:buChar char="•"/>
              <a:defRPr sz="2600">
                <a:latin typeface="Futura"/>
                <a:ea typeface="Futura"/>
                <a:cs typeface="Futura"/>
                <a:sym typeface="Futura"/>
              </a:defRPr>
            </a:pPr>
            <a:r>
              <a:rPr lang="en-US" sz="2000" kern="1200" dirty="0">
                <a:solidFill>
                  <a:schemeClr val="tx1"/>
                </a:solidFill>
                <a:latin typeface="Calibri" panose="020F0502020204030204" pitchFamily="34" charset="0"/>
                <a:cs typeface="Calibri" panose="020F0502020204030204" pitchFamily="34" charset="0"/>
              </a:rPr>
              <a:t>Textbooks and statute books.</a:t>
            </a:r>
          </a:p>
        </p:txBody>
      </p:sp>
      <p:pic>
        <p:nvPicPr>
          <p:cNvPr id="5" name="Picture 4" descr="A book cover with blue and purple paint&#10;&#10;Description automatically generated">
            <a:extLst>
              <a:ext uri="{FF2B5EF4-FFF2-40B4-BE49-F238E27FC236}">
                <a16:creationId xmlns:a16="http://schemas.microsoft.com/office/drawing/2014/main" id="{7C3FCD1F-B2A5-D035-A099-2818117E96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1853" y="1560909"/>
            <a:ext cx="2465880" cy="3736181"/>
          </a:xfrm>
          <a:prstGeom prst="rect">
            <a:avLst/>
          </a:prstGeom>
        </p:spPr>
      </p:pic>
      <p:pic>
        <p:nvPicPr>
          <p:cNvPr id="3" name="Picture 2" descr="A book cover of a book&#10;&#10;Description automatically generated">
            <a:extLst>
              <a:ext uri="{FF2B5EF4-FFF2-40B4-BE49-F238E27FC236}">
                <a16:creationId xmlns:a16="http://schemas.microsoft.com/office/drawing/2014/main" id="{F9987B3D-C4A7-10BC-F8F1-72C8B3619D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7835" y="1557356"/>
            <a:ext cx="2498644" cy="3743286"/>
          </a:xfrm>
          <a:prstGeom prst="rect">
            <a:avLst/>
          </a:prstGeom>
        </p:spPr>
      </p:pic>
      <p:grpSp>
        <p:nvGrpSpPr>
          <p:cNvPr id="112" name="Group 111">
            <a:extLst>
              <a:ext uri="{FF2B5EF4-FFF2-40B4-BE49-F238E27FC236}">
                <a16:creationId xmlns:a16="http://schemas.microsoft.com/office/drawing/2014/main" id="{792AA144-DDFF-C43B-6866-516C9091D0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737460"/>
            <a:ext cx="9144000" cy="123364"/>
            <a:chOff x="1" y="6737460"/>
            <a:chExt cx="12192000" cy="123364"/>
          </a:xfrm>
        </p:grpSpPr>
        <p:sp>
          <p:nvSpPr>
            <p:cNvPr id="113" name="Rectangle 112">
              <a:extLst>
                <a:ext uri="{FF2B5EF4-FFF2-40B4-BE49-F238E27FC236}">
                  <a16:creationId xmlns:a16="http://schemas.microsoft.com/office/drawing/2014/main" id="{56557A69-9517-26A8-EF3F-E65057EEC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47C5987E-7AB5-0A21-D727-68B38B342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0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1" build="p"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rPr lang="en-GB" b="1" dirty="0">
                <a:latin typeface="Arial" panose="020B0604020202020204" pitchFamily="34" charset="0"/>
                <a:cs typeface="Arial" panose="020B0604020202020204" pitchFamily="34" charset="0"/>
              </a:rPr>
              <a:t>Assessment</a:t>
            </a:r>
            <a:endParaRPr b="1" dirty="0">
              <a:latin typeface="Arial" panose="020B0604020202020204" pitchFamily="34" charset="0"/>
              <a:cs typeface="Arial" panose="020B0604020202020204" pitchFamily="34" charset="0"/>
            </a:endParaRPr>
          </a:p>
        </p:txBody>
      </p:sp>
      <p:sp>
        <p:nvSpPr>
          <p:cNvPr id="114" name="Rectangle 3"/>
          <p:cNvSpPr txBox="1">
            <a:spLocks noGrp="1"/>
          </p:cNvSpPr>
          <p:nvPr>
            <p:ph type="body" idx="1"/>
          </p:nvPr>
        </p:nvSpPr>
        <p:spPr>
          <a:xfrm>
            <a:off x="395288" y="1341437"/>
            <a:ext cx="8748712" cy="4979988"/>
          </a:xfrm>
          <a:prstGeom prst="rect">
            <a:avLst/>
          </a:prstGeom>
        </p:spPr>
        <p:txBody>
          <a:bodyPr/>
          <a:lstStyle/>
          <a:p>
            <a:pPr>
              <a:defRPr sz="2800"/>
            </a:pPr>
            <a:endParaRPr lang="en-GB" dirty="0"/>
          </a:p>
          <a:p>
            <a:pPr>
              <a:defRPr sz="2800"/>
            </a:pPr>
            <a:endParaRPr lang="en-GB" dirty="0"/>
          </a:p>
          <a:p>
            <a:pPr>
              <a:defRPr sz="2800"/>
            </a:pPr>
            <a:r>
              <a:rPr lang="en-GB" dirty="0"/>
              <a:t>Students will be required to write a 4,000 word essay (research paper) which will be due on </a:t>
            </a:r>
            <a:r>
              <a:rPr lang="en-GB" b="1" u="sng" dirty="0"/>
              <a:t>3 December 2025 </a:t>
            </a:r>
            <a:r>
              <a:rPr lang="en-GB" dirty="0"/>
              <a:t>(4pm) and which will account for </a:t>
            </a:r>
            <a:r>
              <a:rPr lang="en-GB" b="1" u="sng" dirty="0"/>
              <a:t>100% of the final mark </a:t>
            </a:r>
            <a:r>
              <a:rPr lang="en-GB" dirty="0"/>
              <a:t>for the course. </a:t>
            </a:r>
          </a:p>
          <a:p>
            <a:pPr>
              <a:defRPr sz="2800"/>
            </a:pPr>
            <a:endParaRPr lang="en-GB" dirty="0"/>
          </a:p>
          <a:p>
            <a:pPr>
              <a:defRPr sz="2800"/>
            </a:pPr>
            <a:r>
              <a:rPr lang="en-GB" dirty="0"/>
              <a:t>The formative essay, due on </a:t>
            </a:r>
            <a:r>
              <a:rPr lang="en-GB" b="1" u="sng" dirty="0"/>
              <a:t>31 October 2025</a:t>
            </a:r>
            <a:r>
              <a:rPr lang="en-GB" dirty="0"/>
              <a:t>, will be used to scaffold students’ approach to the summative essay.</a:t>
            </a:r>
          </a:p>
          <a:p>
            <a:pPr>
              <a:defRPr sz="2800"/>
            </a:pPr>
            <a:endParaRPr lang="en-GB" dirty="0"/>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14">
                                            <p:txEl>
                                              <p:pRg st="2" end="2"/>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1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1" build="p"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FB53B47F-FB2E-DA42-8474-49B0E0ECD506}"/>
              </a:ext>
            </a:extLst>
          </p:cNvPr>
          <p:cNvSpPr>
            <a:spLocks noGrp="1"/>
          </p:cNvSpPr>
          <p:nvPr>
            <p:ph type="title"/>
          </p:nvPr>
        </p:nvSpPr>
        <p:spPr>
          <a:xfrm>
            <a:off x="395287" y="-171400"/>
            <a:ext cx="8120062" cy="1690688"/>
          </a:xfrm>
        </p:spPr>
        <p:txBody>
          <a:bodyPr/>
          <a:lstStyle/>
          <a:p>
            <a:pPr algn="ctr" eaLnBrk="1" hangingPunct="1"/>
            <a:r>
              <a:rPr lang="en-GB" altLang="en-US" sz="2600" b="1" dirty="0">
                <a:solidFill>
                  <a:srgbClr val="00B050"/>
                </a:solidFill>
                <a:latin typeface="Arial" panose="020B0604020202020204" pitchFamily="34" charset="0"/>
                <a:ea typeface="Futura Medium" panose="020B0602020204020303" pitchFamily="34" charset="-79"/>
                <a:cs typeface="Arial" panose="020B0604020202020204" pitchFamily="34" charset="0"/>
              </a:rPr>
              <a:t>Timetable</a:t>
            </a:r>
          </a:p>
        </p:txBody>
      </p:sp>
      <p:sp>
        <p:nvSpPr>
          <p:cNvPr id="27650" name="Rectangle 3">
            <a:extLst>
              <a:ext uri="{FF2B5EF4-FFF2-40B4-BE49-F238E27FC236}">
                <a16:creationId xmlns:a16="http://schemas.microsoft.com/office/drawing/2014/main" id="{C5F4A9DD-C1F3-1647-8126-EB3C539EE7FC}"/>
              </a:ext>
            </a:extLst>
          </p:cNvPr>
          <p:cNvSpPr>
            <a:spLocks noGrp="1"/>
          </p:cNvSpPr>
          <p:nvPr>
            <p:ph idx="1"/>
          </p:nvPr>
        </p:nvSpPr>
        <p:spPr>
          <a:xfrm>
            <a:off x="395288" y="1341438"/>
            <a:ext cx="8748712" cy="4979987"/>
          </a:xfrm>
        </p:spPr>
        <p:txBody>
          <a:bodyPr/>
          <a:lstStyle/>
          <a:p>
            <a:pPr eaLnBrk="1" hangingPunct="1">
              <a:defRPr/>
            </a:pPr>
            <a:endParaRPr lang="en-GB" altLang="en-US" dirty="0">
              <a:latin typeface="Futura Medium" panose="020B0602020204020303" pitchFamily="34" charset="-79"/>
              <a:ea typeface="Futura Medium" panose="020B0602020204020303" pitchFamily="34" charset="-79"/>
              <a:cs typeface="Futura Medium" panose="020B0602020204020303" pitchFamily="34" charset="-79"/>
            </a:endParaRPr>
          </a:p>
        </p:txBody>
      </p:sp>
      <p:graphicFrame>
        <p:nvGraphicFramePr>
          <p:cNvPr id="2" name="Table 1">
            <a:extLst>
              <a:ext uri="{FF2B5EF4-FFF2-40B4-BE49-F238E27FC236}">
                <a16:creationId xmlns:a16="http://schemas.microsoft.com/office/drawing/2014/main" id="{337DC0AC-DA6B-8A42-9D7E-476935AC01C4}"/>
              </a:ext>
            </a:extLst>
          </p:cNvPr>
          <p:cNvGraphicFramePr>
            <a:graphicFrameLocks noGrp="1"/>
          </p:cNvGraphicFramePr>
          <p:nvPr>
            <p:extLst>
              <p:ext uri="{D42A27DB-BD31-4B8C-83A1-F6EECF244321}">
                <p14:modId xmlns:p14="http://schemas.microsoft.com/office/powerpoint/2010/main" val="2534287748"/>
              </p:ext>
            </p:extLst>
          </p:nvPr>
        </p:nvGraphicFramePr>
        <p:xfrm>
          <a:off x="395289" y="1026955"/>
          <a:ext cx="8120062" cy="5714420"/>
        </p:xfrm>
        <a:graphic>
          <a:graphicData uri="http://schemas.openxmlformats.org/drawingml/2006/table">
            <a:tbl>
              <a:tblPr firstRow="1" firstCol="1" bandRow="1">
                <a:tableStyleId>{93296810-A885-4BE3-A3E7-6D5BEEA58F35}</a:tableStyleId>
              </a:tblPr>
              <a:tblGrid>
                <a:gridCol w="1190180">
                  <a:extLst>
                    <a:ext uri="{9D8B030D-6E8A-4147-A177-3AD203B41FA5}">
                      <a16:colId xmlns:a16="http://schemas.microsoft.com/office/drawing/2014/main" val="3657698647"/>
                    </a:ext>
                  </a:extLst>
                </a:gridCol>
                <a:gridCol w="1679913">
                  <a:extLst>
                    <a:ext uri="{9D8B030D-6E8A-4147-A177-3AD203B41FA5}">
                      <a16:colId xmlns:a16="http://schemas.microsoft.com/office/drawing/2014/main" val="991628037"/>
                    </a:ext>
                  </a:extLst>
                </a:gridCol>
                <a:gridCol w="5249969">
                  <a:extLst>
                    <a:ext uri="{9D8B030D-6E8A-4147-A177-3AD203B41FA5}">
                      <a16:colId xmlns:a16="http://schemas.microsoft.com/office/drawing/2014/main" val="779738613"/>
                    </a:ext>
                  </a:extLst>
                </a:gridCol>
              </a:tblGrid>
              <a:tr h="372756">
                <a:tc>
                  <a:txBody>
                    <a:bodyPr/>
                    <a:lstStyle/>
                    <a:p>
                      <a:pPr marL="0" marR="0">
                        <a:spcBef>
                          <a:spcPts val="0"/>
                        </a:spcBef>
                        <a:spcAft>
                          <a:spcPts val="0"/>
                        </a:spcAft>
                      </a:pPr>
                      <a:r>
                        <a:rPr lang="en-US" sz="1600" b="1">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Date</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b="1">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Seminar</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b="1">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Topic</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3398359413"/>
                  </a:ext>
                </a:extLst>
              </a:tr>
              <a:tr h="408896">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22/9/25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1</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Basic Features and Historical Development (Devaney)</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4011352555"/>
                  </a:ext>
                </a:extLst>
              </a:tr>
              <a:tr h="372756">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23/9/25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2</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‘Investment’ and ‘Investor’ Defined (Tams)</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3715789672"/>
                  </a:ext>
                </a:extLst>
              </a:tr>
              <a:tr h="476832">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6/10/25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3</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Treaty standards (1): Protection against Expropriation (Papadaki/Devaney)</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1455036556"/>
                  </a:ext>
                </a:extLst>
              </a:tr>
              <a:tr h="372756">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13/10/25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4</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Treaty standards (2): Fair and equitable treatment (Devaney)</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3762327828"/>
                  </a:ext>
                </a:extLst>
              </a:tr>
              <a:tr h="372756">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20/10/25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5</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Treaty standards (3): MFN and national treatment (Devaney)</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255820186"/>
                  </a:ext>
                </a:extLst>
              </a:tr>
              <a:tr h="372756">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27/10/25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6</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Investment Contracts / </a:t>
                      </a:r>
                      <a:r>
                        <a:rPr lang="en-US" sz="1600" dirty="0" err="1">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Defences</a:t>
                      </a: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 (</a:t>
                      </a:r>
                      <a:r>
                        <a:rPr lang="en-US" sz="1600" dirty="0" err="1">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Crampin</a:t>
                      </a: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3050686170"/>
                  </a:ext>
                </a:extLst>
              </a:tr>
              <a:tr h="372756">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31/10/25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gridSpan="2">
                  <a:txBody>
                    <a:bodyPr/>
                    <a:lstStyle/>
                    <a:p>
                      <a:pPr marL="0" marR="0" algn="ctr">
                        <a:spcBef>
                          <a:spcPts val="0"/>
                        </a:spcBef>
                        <a:spcAft>
                          <a:spcPts val="0"/>
                        </a:spcAft>
                      </a:pPr>
                      <a:r>
                        <a:rPr lang="en-US" sz="1600" b="1"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Formative essay due</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hMerge="1">
                  <a:txBody>
                    <a:bodyPr/>
                    <a:lstStyle/>
                    <a:p>
                      <a:endParaRPr lang="en-GB"/>
                    </a:p>
                  </a:txBody>
                  <a:tcPr/>
                </a:tc>
                <a:extLst>
                  <a:ext uri="{0D108BD9-81ED-4DB2-BD59-A6C34878D82A}">
                    <a16:rowId xmlns:a16="http://schemas.microsoft.com/office/drawing/2014/main" val="2924350294"/>
                  </a:ext>
                </a:extLst>
              </a:tr>
              <a:tr h="372756">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3/11/25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gridSpan="2">
                  <a:txBody>
                    <a:bodyPr/>
                    <a:lstStyle/>
                    <a:p>
                      <a:pPr marL="0" marR="0" algn="ctr">
                        <a:spcBef>
                          <a:spcPts val="0"/>
                        </a:spcBef>
                        <a:spcAft>
                          <a:spcPts val="0"/>
                        </a:spcAft>
                      </a:pPr>
                      <a:r>
                        <a:rPr lang="en-US" sz="1600" b="1"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Reading Week</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hMerge="1">
                  <a:txBody>
                    <a:bodyPr/>
                    <a:lstStyle/>
                    <a:p>
                      <a:endParaRPr lang="en-GB"/>
                    </a:p>
                  </a:txBody>
                  <a:tcPr/>
                </a:tc>
                <a:extLst>
                  <a:ext uri="{0D108BD9-81ED-4DB2-BD59-A6C34878D82A}">
                    <a16:rowId xmlns:a16="http://schemas.microsoft.com/office/drawing/2014/main" val="4157925772"/>
                  </a:ext>
                </a:extLst>
              </a:tr>
              <a:tr h="476832">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10/11/25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7</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Investment arbitration &amp; </a:t>
                      </a:r>
                      <a:r>
                        <a:rPr lang="en-US" sz="1600" b="1"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formative essay feedback </a:t>
                      </a:r>
                      <a:r>
                        <a:rPr lang="en-US" sz="1600" b="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(Devaney)</a:t>
                      </a:r>
                      <a:endParaRPr lang="en-GB" sz="1600" b="1"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2825475947"/>
                  </a:ext>
                </a:extLst>
              </a:tr>
              <a:tr h="372756">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17/11/25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8</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Challenging and Enforcing Awards (Devaney)</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436258386"/>
                  </a:ext>
                </a:extLst>
              </a:tr>
              <a:tr h="476832">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24/11/25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9</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The ‘legitimacy crisis’ in international investment law (Devaney)</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2034350432"/>
                  </a:ext>
                </a:extLst>
              </a:tr>
              <a:tr h="476832">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1/12/25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10</a:t>
                      </a:r>
                      <a:endParaRPr lang="en-GB" sz="160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Synthesis: &amp; Special Issues in International Investment Law (Papadaki/Devaney)</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extLst>
                  <a:ext uri="{0D108BD9-81ED-4DB2-BD59-A6C34878D82A}">
                    <a16:rowId xmlns:a16="http://schemas.microsoft.com/office/drawing/2014/main" val="4079508614"/>
                  </a:ext>
                </a:extLst>
              </a:tr>
              <a:tr h="372756">
                <a:tc>
                  <a:txBody>
                    <a:bodyPr/>
                    <a:lstStyle/>
                    <a:p>
                      <a:pPr marL="0" marR="0">
                        <a:spcBef>
                          <a:spcPts val="0"/>
                        </a:spcBef>
                        <a:spcAft>
                          <a:spcPts val="0"/>
                        </a:spcAft>
                      </a:pPr>
                      <a:r>
                        <a:rPr lang="en-US" sz="1600"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3/12/25</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gridSpan="2">
                  <a:txBody>
                    <a:bodyPr/>
                    <a:lstStyle/>
                    <a:p>
                      <a:pPr marL="0" marR="0" algn="ctr">
                        <a:spcBef>
                          <a:spcPts val="0"/>
                        </a:spcBef>
                        <a:spcAft>
                          <a:spcPts val="0"/>
                        </a:spcAft>
                      </a:pPr>
                      <a:r>
                        <a:rPr lang="en-US" sz="1600" b="1" dirty="0">
                          <a:solidFill>
                            <a:srgbClr val="000000"/>
                          </a:solidFill>
                          <a:effectLst/>
                          <a:uFill>
                            <a:solidFill>
                              <a:srgbClr val="000000"/>
                            </a:solidFill>
                          </a:uFill>
                          <a:latin typeface="Calibri" panose="020F0502020204030204" pitchFamily="34" charset="0"/>
                          <a:ea typeface="Arial Unicode MS" panose="020B0604020202020204" pitchFamily="34" charset="-128"/>
                          <a:cs typeface="Arial Unicode MS" panose="020B0604020202020204" pitchFamily="34" charset="-128"/>
                        </a:rPr>
                        <a:t>Summative essay due</a:t>
                      </a:r>
                      <a:endParaRPr lang="en-GB" sz="16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a:txBody>
                  <a:tcPr marL="68580" marR="68580" marT="0" marB="0"/>
                </a:tc>
                <a:tc hMerge="1">
                  <a:txBody>
                    <a:bodyPr/>
                    <a:lstStyle/>
                    <a:p>
                      <a:endParaRPr lang="en-GB" dirty="0"/>
                    </a:p>
                  </a:txBody>
                  <a:tcPr/>
                </a:tc>
                <a:extLst>
                  <a:ext uri="{0D108BD9-81ED-4DB2-BD59-A6C34878D82A}">
                    <a16:rowId xmlns:a16="http://schemas.microsoft.com/office/drawing/2014/main" val="2199885822"/>
                  </a:ext>
                </a:extLst>
              </a:tr>
            </a:tbl>
          </a:graphicData>
        </a:graphic>
      </p:graphicFrame>
    </p:spTree>
    <p:extLst>
      <p:ext uri="{BB962C8B-B14F-4D97-AF65-F5344CB8AC3E}">
        <p14:creationId xmlns:p14="http://schemas.microsoft.com/office/powerpoint/2010/main" val="72721622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395288" y="0"/>
            <a:ext cx="8120062" cy="1690688"/>
          </a:xfrm>
        </p:spPr>
        <p:txBody>
          <a:bodyPr/>
          <a:lstStyle/>
          <a:p>
            <a:pPr algn="ctr" eaLnBrk="1" hangingPunct="1"/>
            <a:endParaRPr lang="en-GB" altLang="en-US" sz="2600" dirty="0">
              <a:solidFill>
                <a:srgbClr val="00B050"/>
              </a:solidFill>
              <a:latin typeface="Futura Medium" charset="0"/>
              <a:ea typeface="Futura Medium" charset="0"/>
              <a:cs typeface="Futura Medium" charset="0"/>
            </a:endParaRPr>
          </a:p>
        </p:txBody>
      </p:sp>
      <p:pic>
        <p:nvPicPr>
          <p:cNvPr id="2" name="The dark side of investment agreements">
            <a:hlinkClick r:id="" action="ppaction://media"/>
            <a:extLst>
              <a:ext uri="{FF2B5EF4-FFF2-40B4-BE49-F238E27FC236}">
                <a16:creationId xmlns:a16="http://schemas.microsoft.com/office/drawing/2014/main" id="{BC120D73-F14A-C911-67DC-1A98CE6D4D97}"/>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97644" y="1382370"/>
            <a:ext cx="8748712" cy="4921250"/>
          </a:xfrm>
        </p:spPr>
      </p:pic>
    </p:spTree>
    <p:extLst>
      <p:ext uri="{BB962C8B-B14F-4D97-AF65-F5344CB8AC3E}">
        <p14:creationId xmlns:p14="http://schemas.microsoft.com/office/powerpoint/2010/main" val="144112227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309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C3C09-8AE9-E4F4-EE37-C94B50FBF564}"/>
            </a:ext>
          </a:extLst>
        </p:cNvPr>
        <p:cNvGrpSpPr/>
        <p:nvPr/>
      </p:nvGrpSpPr>
      <p:grpSpPr>
        <a:xfrm>
          <a:off x="0" y="0"/>
          <a:ext cx="0" cy="0"/>
          <a:chOff x="0" y="0"/>
          <a:chExt cx="0" cy="0"/>
        </a:xfrm>
      </p:grpSpPr>
      <p:sp>
        <p:nvSpPr>
          <p:cNvPr id="17409" name="Rectangle 2">
            <a:extLst>
              <a:ext uri="{FF2B5EF4-FFF2-40B4-BE49-F238E27FC236}">
                <a16:creationId xmlns:a16="http://schemas.microsoft.com/office/drawing/2014/main" id="{E439C3B3-25B7-0731-3FE5-F7A7C647EA9D}"/>
              </a:ext>
            </a:extLst>
          </p:cNvPr>
          <p:cNvSpPr>
            <a:spLocks noGrp="1" noChangeArrowheads="1"/>
          </p:cNvSpPr>
          <p:nvPr>
            <p:ph type="title"/>
          </p:nvPr>
        </p:nvSpPr>
        <p:spPr>
          <a:xfrm>
            <a:off x="395288" y="0"/>
            <a:ext cx="8120062" cy="1690688"/>
          </a:xfrm>
        </p:spPr>
        <p:txBody>
          <a:bodyPr/>
          <a:lstStyle/>
          <a:p>
            <a:pPr algn="ctr" eaLnBrk="1" hangingPunct="1"/>
            <a:r>
              <a:rPr lang="en-GB" altLang="en-US" sz="2600" dirty="0">
                <a:solidFill>
                  <a:srgbClr val="00B050"/>
                </a:solidFill>
                <a:latin typeface="Futura Medium" charset="0"/>
                <a:ea typeface="Futura Medium" charset="0"/>
                <a:cs typeface="Futura Medium" charset="0"/>
              </a:rPr>
              <a:t>Group Task</a:t>
            </a:r>
          </a:p>
        </p:txBody>
      </p:sp>
      <p:sp>
        <p:nvSpPr>
          <p:cNvPr id="9218" name="Rectangle 3">
            <a:extLst>
              <a:ext uri="{FF2B5EF4-FFF2-40B4-BE49-F238E27FC236}">
                <a16:creationId xmlns:a16="http://schemas.microsoft.com/office/drawing/2014/main" id="{6AEEECFB-4FD2-4114-8BDE-BC1D177D3D3C}"/>
              </a:ext>
            </a:extLst>
          </p:cNvPr>
          <p:cNvSpPr>
            <a:spLocks noGrp="1" noChangeArrowheads="1"/>
          </p:cNvSpPr>
          <p:nvPr>
            <p:ph idx="1"/>
          </p:nvPr>
        </p:nvSpPr>
        <p:spPr>
          <a:xfrm>
            <a:off x="395288" y="1341438"/>
            <a:ext cx="8748712" cy="4979987"/>
          </a:xfrm>
        </p:spPr>
        <p:txBody>
          <a:bodyPr rtlCol="0">
            <a:normAutofit/>
          </a:bodyPr>
          <a:lstStyle/>
          <a:p>
            <a:pPr marL="0" indent="0" eaLnBrk="1" fontAlgn="auto" hangingPunct="1">
              <a:spcAft>
                <a:spcPts val="0"/>
              </a:spcAft>
              <a:buFontTx/>
              <a:buNone/>
              <a:defRPr/>
            </a:pPr>
            <a:r>
              <a:rPr lang="en-GB" altLang="en-US" sz="2600" dirty="0">
                <a:latin typeface="Arial" panose="020B0604020202020204" pitchFamily="34" charset="0"/>
                <a:ea typeface="Futura Medium" charset="0"/>
                <a:cs typeface="Arial" panose="020B0604020202020204" pitchFamily="34" charset="0"/>
              </a:rPr>
              <a:t>You are a lawyer for </a:t>
            </a:r>
            <a:r>
              <a:rPr lang="en-GB" altLang="en-US" sz="2600" dirty="0" err="1">
                <a:latin typeface="Arial" panose="020B0604020202020204" pitchFamily="34" charset="0"/>
                <a:ea typeface="Futura Medium" charset="0"/>
                <a:cs typeface="Arial" panose="020B0604020202020204" pitchFamily="34" charset="0"/>
              </a:rPr>
              <a:t>BioLife</a:t>
            </a:r>
            <a:r>
              <a:rPr lang="en-GB" altLang="en-US" sz="2600" dirty="0">
                <a:latin typeface="Arial" panose="020B0604020202020204" pitchFamily="34" charset="0"/>
                <a:ea typeface="Futura Medium" charset="0"/>
                <a:cs typeface="Arial" panose="020B0604020202020204" pitchFamily="34" charset="0"/>
              </a:rPr>
              <a:t> Inc., a French health food company which has recently made a large investment in the Philippines in the form of the construction of a factory to produce coconut oil. In recent months, however, riding a wave of nationalism, the President of the Philippines has pledged to ‘take back control’ of the country’s resources from foreigners, and to that end has unilaterally and without warning revoked a number of safety certificates that </a:t>
            </a:r>
            <a:r>
              <a:rPr lang="en-GB" altLang="en-US" sz="2600" dirty="0" err="1">
                <a:latin typeface="Arial" panose="020B0604020202020204" pitchFamily="34" charset="0"/>
                <a:ea typeface="Futura Medium" charset="0"/>
                <a:cs typeface="Arial" panose="020B0604020202020204" pitchFamily="34" charset="0"/>
              </a:rPr>
              <a:t>BioLife</a:t>
            </a:r>
            <a:r>
              <a:rPr lang="en-GB" altLang="en-US" sz="2600" dirty="0">
                <a:latin typeface="Arial" panose="020B0604020202020204" pitchFamily="34" charset="0"/>
                <a:ea typeface="Futura Medium" charset="0"/>
                <a:cs typeface="Arial" panose="020B0604020202020204" pitchFamily="34" charset="0"/>
              </a:rPr>
              <a:t> requires under the law of the Philippines in order to operate. </a:t>
            </a:r>
          </a:p>
          <a:p>
            <a:pPr marL="0" indent="0" eaLnBrk="1" fontAlgn="auto" hangingPunct="1">
              <a:spcAft>
                <a:spcPts val="0"/>
              </a:spcAft>
              <a:buFontTx/>
              <a:buNone/>
              <a:defRPr/>
            </a:pPr>
            <a:endParaRPr lang="en-GB" altLang="en-US" sz="2600" dirty="0">
              <a:latin typeface="Arial" panose="020B0604020202020204" pitchFamily="34" charset="0"/>
              <a:ea typeface="Futura Medium" charset="0"/>
              <a:cs typeface="Arial" panose="020B0604020202020204" pitchFamily="34" charset="0"/>
            </a:endParaRPr>
          </a:p>
          <a:p>
            <a:pPr marL="0" indent="0" eaLnBrk="1" fontAlgn="auto" hangingPunct="1">
              <a:spcAft>
                <a:spcPts val="0"/>
              </a:spcAft>
              <a:buFontTx/>
              <a:buNone/>
              <a:defRPr/>
            </a:pPr>
            <a:r>
              <a:rPr lang="en-GB" altLang="en-US" sz="2600" dirty="0">
                <a:latin typeface="Arial" panose="020B0604020202020204" pitchFamily="34" charset="0"/>
                <a:ea typeface="Futura Medium" charset="0"/>
                <a:cs typeface="Arial" panose="020B0604020202020204" pitchFamily="34" charset="0"/>
              </a:rPr>
              <a:t>Advise the board of </a:t>
            </a:r>
            <a:r>
              <a:rPr lang="en-GB" altLang="en-US" sz="2600" dirty="0" err="1">
                <a:latin typeface="Arial" panose="020B0604020202020204" pitchFamily="34" charset="0"/>
                <a:ea typeface="Futura Medium" charset="0"/>
                <a:cs typeface="Arial" panose="020B0604020202020204" pitchFamily="34" charset="0"/>
              </a:rPr>
              <a:t>BioLife</a:t>
            </a:r>
            <a:r>
              <a:rPr lang="en-GB" altLang="en-US" sz="2600" dirty="0">
                <a:latin typeface="Arial" panose="020B0604020202020204" pitchFamily="34" charset="0"/>
                <a:ea typeface="Futura Medium" charset="0"/>
                <a:cs typeface="Arial" panose="020B0604020202020204" pitchFamily="34" charset="0"/>
              </a:rPr>
              <a:t> as to how they might seek to protect their investment using international law.</a:t>
            </a:r>
          </a:p>
          <a:p>
            <a:pPr marL="0" indent="0" eaLnBrk="1" fontAlgn="auto" hangingPunct="1">
              <a:spcAft>
                <a:spcPts val="0"/>
              </a:spcAft>
              <a:buFontTx/>
              <a:buNone/>
              <a:defRPr/>
            </a:pPr>
            <a:endParaRPr lang="en-GB" altLang="en-US" sz="2800" b="1" dirty="0">
              <a:latin typeface="Arial" panose="020B0604020202020204" pitchFamily="34" charset="0"/>
              <a:ea typeface="Futura Medium" charset="0"/>
              <a:cs typeface="Arial" panose="020B0604020202020204" pitchFamily="34" charset="0"/>
            </a:endParaRPr>
          </a:p>
        </p:txBody>
      </p:sp>
    </p:spTree>
    <p:extLst>
      <p:ext uri="{BB962C8B-B14F-4D97-AF65-F5344CB8AC3E}">
        <p14:creationId xmlns:p14="http://schemas.microsoft.com/office/powerpoint/2010/main" val="375000159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Foundational Concepts</a:t>
            </a:r>
          </a:p>
        </p:txBody>
      </p:sp>
      <p:sp>
        <p:nvSpPr>
          <p:cNvPr id="114" name="Rectangle 3"/>
          <p:cNvSpPr txBox="1">
            <a:spLocks noGrp="1"/>
          </p:cNvSpPr>
          <p:nvPr>
            <p:ph type="body" idx="1"/>
          </p:nvPr>
        </p:nvSpPr>
        <p:spPr>
          <a:xfrm>
            <a:off x="395288" y="1341437"/>
            <a:ext cx="8748712" cy="4979988"/>
          </a:xfrm>
          <a:prstGeom prst="rect">
            <a:avLst/>
          </a:prstGeom>
        </p:spPr>
        <p:txBody>
          <a:bodyPr/>
          <a:lstStyle/>
          <a:p>
            <a:pPr>
              <a:defRPr sz="2800"/>
            </a:pPr>
            <a:r>
              <a:rPr dirty="0"/>
              <a:t>What is foreign direct investment (FDI)?</a:t>
            </a:r>
          </a:p>
          <a:p>
            <a:pPr>
              <a:defRPr sz="2800"/>
            </a:pPr>
            <a:r>
              <a:rPr dirty="0"/>
              <a:t>Why do investors engage in FDI?</a:t>
            </a:r>
          </a:p>
          <a:p>
            <a:pPr>
              <a:defRPr sz="2800"/>
            </a:pPr>
            <a:r>
              <a:rPr dirty="0"/>
              <a:t>Why do States engage in FDI?</a:t>
            </a:r>
          </a:p>
          <a:p>
            <a:pPr>
              <a:defRPr sz="2800"/>
            </a:pPr>
            <a:r>
              <a:rPr dirty="0"/>
              <a:t>Why is International Investment Law necessary?</a:t>
            </a:r>
          </a:p>
          <a:p>
            <a:pPr>
              <a:defRPr sz="2800"/>
            </a:pPr>
            <a:r>
              <a:rPr dirty="0"/>
              <a:t>Answer lies in the nature of FDI itself</a:t>
            </a:r>
          </a:p>
          <a:p>
            <a:pPr>
              <a:defRPr sz="2800"/>
            </a:pPr>
            <a:r>
              <a:rPr dirty="0"/>
              <a:t>FDI is a form of long-term investment. But what is the significance of this to investors?</a:t>
            </a:r>
          </a:p>
          <a:p>
            <a:pPr>
              <a:defRPr sz="2800"/>
            </a:pPr>
            <a:r>
              <a:rPr dirty="0"/>
              <a:t>Risk: The fact that the investor spends money up front to invest in a country often with a long period before the investor can hope to see any return on this investment represents risk.</a:t>
            </a:r>
          </a:p>
        </p:txBody>
      </p:sp>
    </p:spTree>
    <p:extLst>
      <p:ext uri="{BB962C8B-B14F-4D97-AF65-F5344CB8AC3E}">
        <p14:creationId xmlns:p14="http://schemas.microsoft.com/office/powerpoint/2010/main" val="275338094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14">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1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1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1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1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1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11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1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build="p"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International Investment Law - Fundamentals</a:t>
            </a:r>
          </a:p>
        </p:txBody>
      </p:sp>
      <p:sp>
        <p:nvSpPr>
          <p:cNvPr id="117" name="Rectangle 3"/>
          <p:cNvSpPr txBox="1">
            <a:spLocks noGrp="1"/>
          </p:cNvSpPr>
          <p:nvPr>
            <p:ph type="body" idx="1"/>
          </p:nvPr>
        </p:nvSpPr>
        <p:spPr>
          <a:xfrm>
            <a:off x="395288" y="1341437"/>
            <a:ext cx="8748712" cy="4979988"/>
          </a:xfrm>
          <a:prstGeom prst="rect">
            <a:avLst/>
          </a:prstGeom>
        </p:spPr>
        <p:txBody>
          <a:bodyPr/>
          <a:lstStyle/>
          <a:p>
            <a:pPr>
              <a:defRPr sz="2800"/>
            </a:pPr>
            <a:r>
              <a:t>What do investors gain from International Investment Law? </a:t>
            </a:r>
          </a:p>
          <a:p>
            <a:pPr>
              <a:defRPr sz="2800" u="sng"/>
            </a:pPr>
            <a:r>
              <a:t>Investment protection mitigates the risk that investors incur when engaging in FDI.</a:t>
            </a:r>
          </a:p>
          <a:p>
            <a:pPr>
              <a:defRPr sz="2800"/>
            </a:pPr>
            <a:endParaRPr/>
          </a:p>
          <a:p>
            <a:pPr>
              <a:defRPr sz="2800"/>
            </a:pPr>
            <a:r>
              <a:t>What do States gain from International Investment Law?</a:t>
            </a:r>
          </a:p>
          <a:p>
            <a:pPr>
              <a:defRPr sz="2800" u="sng"/>
            </a:pPr>
            <a:r>
              <a:t>The creation of a legal regime for FDI that is attractive to investors and as such acts as a magnet for FDI.</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7">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1" nodeType="afterEffect">
                                  <p:stCondLst>
                                    <p:cond delay="0"/>
                                  </p:stCondLst>
                                  <p:iterate>
                                    <p:tmAbs val="0"/>
                                  </p:iterate>
                                  <p:childTnLst>
                                    <p:set>
                                      <p:cBhvr>
                                        <p:cTn id="9" fill="hold"/>
                                        <p:tgtEl>
                                          <p:spTgt spid="117">
                                            <p:txEl>
                                              <p:pRg st="2" end="2"/>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1" nodeType="clickEffect">
                                  <p:stCondLst>
                                    <p:cond delay="0"/>
                                  </p:stCondLst>
                                  <p:iterate>
                                    <p:tmAbs val="0"/>
                                  </p:iterate>
                                  <p:childTnLst>
                                    <p:set>
                                      <p:cBhvr>
                                        <p:cTn id="13" fill="hold"/>
                                        <p:tgtEl>
                                          <p:spTgt spid="117">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1" nodeType="clickEffect">
                                  <p:stCondLst>
                                    <p:cond delay="0"/>
                                  </p:stCondLst>
                                  <p:iterate>
                                    <p:tmAbs val="0"/>
                                  </p:iterate>
                                  <p:childTnLst>
                                    <p:set>
                                      <p:cBhvr>
                                        <p:cTn id="17" fill="hold"/>
                                        <p:tgtEl>
                                          <p:spTgt spid="1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1" build="p" bldLvl="5"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395288" y="0"/>
            <a:ext cx="8120062" cy="1690688"/>
          </a:xfrm>
        </p:spPr>
        <p:txBody>
          <a:bodyPr/>
          <a:lstStyle/>
          <a:p>
            <a:pPr algn="ctr" eaLnBrk="1" hangingPunct="1"/>
            <a:r>
              <a:rPr lang="en-GB" altLang="en-US" sz="2600" dirty="0">
                <a:solidFill>
                  <a:srgbClr val="00B050"/>
                </a:solidFill>
                <a:latin typeface="Arial" panose="020B0604020202020204" pitchFamily="34" charset="0"/>
                <a:ea typeface="Futura Medium" charset="0"/>
                <a:cs typeface="Arial" panose="020B0604020202020204" pitchFamily="34" charset="0"/>
              </a:rPr>
              <a:t>Means of Protecting Foreign Direct Investments</a:t>
            </a:r>
          </a:p>
        </p:txBody>
      </p:sp>
      <p:sp>
        <p:nvSpPr>
          <p:cNvPr id="9218" name="Rectangle 3"/>
          <p:cNvSpPr>
            <a:spLocks noGrp="1" noChangeArrowheads="1"/>
          </p:cNvSpPr>
          <p:nvPr>
            <p:ph idx="1"/>
          </p:nvPr>
        </p:nvSpPr>
        <p:spPr>
          <a:xfrm>
            <a:off x="395288" y="1341438"/>
            <a:ext cx="8748712" cy="4979987"/>
          </a:xfrm>
        </p:spPr>
        <p:txBody>
          <a:bodyPr rtlCol="0">
            <a:normAutofit/>
          </a:bodyPr>
          <a:lstStyle/>
          <a:p>
            <a:pPr marL="514350" indent="-514350">
              <a:buFontTx/>
              <a:buAutoNum type="arabicPeriod"/>
            </a:pPr>
            <a:endParaRPr lang="en-US" altLang="en-US" sz="2800" dirty="0">
              <a:latin typeface="Arial" panose="020B0604020202020204" pitchFamily="34" charset="0"/>
              <a:ea typeface="Futura Medium" charset="0"/>
              <a:cs typeface="Arial" panose="020B0604020202020204" pitchFamily="34" charset="0"/>
            </a:endParaRPr>
          </a:p>
          <a:p>
            <a:pPr marL="514350" indent="-514350">
              <a:buFontTx/>
              <a:buAutoNum type="arabicPeriod"/>
            </a:pPr>
            <a:r>
              <a:rPr lang="en-US" altLang="en-US" sz="2800" dirty="0">
                <a:latin typeface="Arial" panose="020B0604020202020204" pitchFamily="34" charset="0"/>
                <a:ea typeface="Futura Medium" charset="0"/>
                <a:cs typeface="Arial" panose="020B0604020202020204" pitchFamily="34" charset="0"/>
              </a:rPr>
              <a:t>Use of force (Drago-Porter Convention, 1907)</a:t>
            </a:r>
          </a:p>
          <a:p>
            <a:pPr marL="514350" indent="-514350">
              <a:buFontTx/>
              <a:buAutoNum type="arabicPeriod"/>
            </a:pPr>
            <a:r>
              <a:rPr lang="en-US" altLang="en-US" sz="2800" dirty="0">
                <a:latin typeface="Arial" panose="020B0604020202020204" pitchFamily="34" charset="0"/>
                <a:ea typeface="Futura Medium" charset="0"/>
                <a:cs typeface="Arial" panose="020B0604020202020204" pitchFamily="34" charset="0"/>
              </a:rPr>
              <a:t>Domestic law of host state</a:t>
            </a:r>
          </a:p>
          <a:p>
            <a:pPr marL="514350" indent="-514350">
              <a:buFontTx/>
              <a:buAutoNum type="arabicPeriod"/>
            </a:pPr>
            <a:r>
              <a:rPr lang="en-US" altLang="en-US" sz="2800" dirty="0">
                <a:latin typeface="Arial" panose="020B0604020202020204" pitchFamily="34" charset="0"/>
                <a:ea typeface="Futura Medium" charset="0"/>
                <a:cs typeface="Arial" panose="020B0604020202020204" pitchFamily="34" charset="0"/>
              </a:rPr>
              <a:t>Diplomatic protection</a:t>
            </a:r>
          </a:p>
          <a:p>
            <a:pPr marL="514350" indent="-514350">
              <a:buFontTx/>
              <a:buAutoNum type="arabicPeriod"/>
            </a:pPr>
            <a:r>
              <a:rPr lang="en-US" altLang="en-US" sz="2800" dirty="0">
                <a:latin typeface="Arial" panose="020B0604020202020204" pitchFamily="34" charset="0"/>
                <a:ea typeface="Futura Medium" charset="0"/>
                <a:cs typeface="Arial" panose="020B0604020202020204" pitchFamily="34" charset="0"/>
              </a:rPr>
              <a:t>State-to-State dispute resolution (arbitration and adjudication)</a:t>
            </a:r>
          </a:p>
          <a:p>
            <a:pPr marL="514350" indent="-514350">
              <a:buFontTx/>
              <a:buAutoNum type="arabicPeriod"/>
            </a:pPr>
            <a:r>
              <a:rPr lang="en-US" altLang="en-US" sz="2800" dirty="0">
                <a:latin typeface="Arial" panose="020B0604020202020204" pitchFamily="34" charset="0"/>
                <a:ea typeface="Futura Medium" charset="0"/>
                <a:cs typeface="Arial" panose="020B0604020202020204" pitchFamily="34" charset="0"/>
              </a:rPr>
              <a:t>Investor-State arbitration under investment contract</a:t>
            </a:r>
          </a:p>
          <a:p>
            <a:pPr marL="514350" indent="-514350">
              <a:buFontTx/>
              <a:buAutoNum type="arabicPeriod"/>
            </a:pPr>
            <a:r>
              <a:rPr lang="en-US" altLang="en-US" sz="2800" dirty="0">
                <a:solidFill>
                  <a:schemeClr val="tx1"/>
                </a:solidFill>
                <a:latin typeface="Arial" panose="020B0604020202020204" pitchFamily="34" charset="0"/>
                <a:ea typeface="Futura Medium" charset="0"/>
                <a:cs typeface="Arial" panose="020B0604020202020204" pitchFamily="34" charset="0"/>
              </a:rPr>
              <a:t>Investor-State arbitration under international investment agreement (bilateral investment treaties)</a:t>
            </a:r>
          </a:p>
        </p:txBody>
      </p:sp>
    </p:spTree>
    <p:extLst>
      <p:ext uri="{BB962C8B-B14F-4D97-AF65-F5344CB8AC3E}">
        <p14:creationId xmlns:p14="http://schemas.microsoft.com/office/powerpoint/2010/main" val="140161482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1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1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Historical development of international investment law</a:t>
            </a:r>
          </a:p>
        </p:txBody>
      </p:sp>
      <p:sp>
        <p:nvSpPr>
          <p:cNvPr id="120" name="Rectangle 3"/>
          <p:cNvSpPr txBox="1">
            <a:spLocks noGrp="1"/>
          </p:cNvSpPr>
          <p:nvPr>
            <p:ph type="body" idx="1"/>
          </p:nvPr>
        </p:nvSpPr>
        <p:spPr>
          <a:xfrm>
            <a:off x="395288" y="1341437"/>
            <a:ext cx="8748712" cy="4979988"/>
          </a:xfrm>
          <a:prstGeom prst="rect">
            <a:avLst/>
          </a:prstGeom>
        </p:spPr>
        <p:txBody>
          <a:bodyPr/>
          <a:lstStyle/>
          <a:p>
            <a:pPr>
              <a:defRPr sz="2800"/>
            </a:pPr>
            <a:endParaRPr dirty="0"/>
          </a:p>
          <a:p>
            <a:pPr>
              <a:defRPr sz="2800"/>
            </a:pPr>
            <a:endParaRPr dirty="0"/>
          </a:p>
          <a:p>
            <a:pPr>
              <a:defRPr sz="2800"/>
            </a:pPr>
            <a:r>
              <a:rPr dirty="0" err="1"/>
              <a:t>Vandevelde</a:t>
            </a:r>
            <a:r>
              <a:rPr dirty="0"/>
              <a:t> (2005) divides historical development of investment law into 3 broad eras:</a:t>
            </a:r>
          </a:p>
          <a:p>
            <a:pPr marL="514350" indent="-514350">
              <a:buFontTx/>
              <a:buAutoNum type="arabicPeriod"/>
              <a:defRPr sz="2800"/>
            </a:pPr>
            <a:r>
              <a:rPr dirty="0"/>
              <a:t>The colonial era</a:t>
            </a:r>
          </a:p>
          <a:p>
            <a:pPr marL="514350" indent="-514350">
              <a:buFontTx/>
              <a:buAutoNum type="arabicPeriod"/>
              <a:defRPr sz="2800"/>
            </a:pPr>
            <a:r>
              <a:rPr dirty="0"/>
              <a:t>The post-colonial era</a:t>
            </a:r>
          </a:p>
          <a:p>
            <a:pPr marL="514350" indent="-514350">
              <a:buFontTx/>
              <a:buAutoNum type="arabicPeriod"/>
              <a:defRPr sz="2800"/>
            </a:pPr>
            <a:r>
              <a:rPr dirty="0"/>
              <a:t>The global era.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2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1" build="p" bldLvl="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 The Colonial Era: Defining Characteristics</a:t>
            </a:r>
          </a:p>
        </p:txBody>
      </p:sp>
      <p:sp>
        <p:nvSpPr>
          <p:cNvPr id="123" name="Rectangle 3"/>
          <p:cNvSpPr txBox="1">
            <a:spLocks noGrp="1"/>
          </p:cNvSpPr>
          <p:nvPr>
            <p:ph type="body" idx="1"/>
          </p:nvPr>
        </p:nvSpPr>
        <p:spPr>
          <a:xfrm>
            <a:off x="395288" y="1341437"/>
            <a:ext cx="8748712" cy="4979988"/>
          </a:xfrm>
          <a:prstGeom prst="rect">
            <a:avLst/>
          </a:prstGeom>
        </p:spPr>
        <p:txBody>
          <a:bodyPr/>
          <a:lstStyle/>
          <a:p>
            <a:pPr marL="166306" indent="-166306" defTabSz="665226">
              <a:lnSpc>
                <a:spcPct val="72000"/>
              </a:lnSpc>
              <a:spcBef>
                <a:spcPts val="600"/>
              </a:spcBef>
              <a:defRPr sz="2716"/>
            </a:pPr>
            <a:endParaRPr/>
          </a:p>
          <a:p>
            <a:pPr marL="166306" indent="-166306" defTabSz="665226">
              <a:lnSpc>
                <a:spcPct val="72000"/>
              </a:lnSpc>
              <a:spcBef>
                <a:spcPts val="600"/>
              </a:spcBef>
              <a:defRPr sz="2425"/>
            </a:pPr>
            <a:r>
              <a:t>At this time international law did not play a great role in the protection of investments. Why?</a:t>
            </a:r>
            <a:endParaRPr sz="1843"/>
          </a:p>
          <a:p>
            <a:pPr marL="166306" indent="-166306" defTabSz="665226">
              <a:lnSpc>
                <a:spcPct val="72000"/>
              </a:lnSpc>
              <a:spcBef>
                <a:spcPts val="600"/>
              </a:spcBef>
              <a:defRPr sz="2425"/>
            </a:pPr>
            <a:r>
              <a:t>Imperial regimes often able to either impose terms on their colonies or apply their law extraterritorially</a:t>
            </a:r>
            <a:endParaRPr sz="1843"/>
          </a:p>
          <a:p>
            <a:pPr marL="166306" indent="-166306" defTabSz="665226">
              <a:lnSpc>
                <a:spcPct val="72000"/>
              </a:lnSpc>
              <a:spcBef>
                <a:spcPts val="600"/>
              </a:spcBef>
              <a:defRPr sz="2425"/>
            </a:pPr>
            <a:r>
              <a:t>This gave FDI association with foreign domination</a:t>
            </a:r>
            <a:endParaRPr sz="2716"/>
          </a:p>
          <a:p>
            <a:pPr marL="166306" indent="-166306" defTabSz="665226">
              <a:lnSpc>
                <a:spcPct val="72000"/>
              </a:lnSpc>
              <a:spcBef>
                <a:spcPts val="600"/>
              </a:spcBef>
              <a:defRPr sz="2425"/>
            </a:pPr>
            <a:r>
              <a:t>Prior to the WWII, protection of foreign investment not primarily concern of international agreements.</a:t>
            </a:r>
            <a:endParaRPr sz="1843"/>
          </a:p>
          <a:p>
            <a:pPr marL="166306" indent="-166306" defTabSz="665226">
              <a:lnSpc>
                <a:spcPct val="72000"/>
              </a:lnSpc>
              <a:spcBef>
                <a:spcPts val="600"/>
              </a:spcBef>
              <a:defRPr sz="2425"/>
            </a:pPr>
            <a:r>
              <a:t>Trade and limited investment protection provisions appeared in the same agreements (FCNs). But emphasis on something else, what?</a:t>
            </a:r>
            <a:endParaRPr sz="1843"/>
          </a:p>
          <a:p>
            <a:pPr marL="166306" indent="-166306" defTabSz="665226">
              <a:lnSpc>
                <a:spcPct val="72000"/>
              </a:lnSpc>
              <a:spcBef>
                <a:spcPts val="600"/>
              </a:spcBef>
              <a:defRPr sz="2425"/>
            </a:pPr>
            <a:r>
              <a:t>FCNs more focused on establishing commercial relations than providing investment protection.</a:t>
            </a:r>
            <a:endParaRPr sz="1843"/>
          </a:p>
          <a:p>
            <a:pPr marL="166306" indent="-166306" defTabSz="665226">
              <a:lnSpc>
                <a:spcPct val="72000"/>
              </a:lnSpc>
              <a:spcBef>
                <a:spcPts val="600"/>
              </a:spcBef>
              <a:defRPr sz="2425"/>
            </a:pPr>
            <a:r>
              <a:t>FCNs limited in scope and only weak protection provided, with no provision for arbitration.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2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12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iterate>
                                    <p:tmAbs val="0"/>
                                  </p:iterate>
                                  <p:childTnLst>
                                    <p:set>
                                      <p:cBhvr>
                                        <p:cTn id="26" fill="hold"/>
                                        <p:tgtEl>
                                          <p:spTgt spid="12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iterate>
                                    <p:tmAbs val="0"/>
                                  </p:iterate>
                                  <p:childTnLst>
                                    <p:set>
                                      <p:cBhvr>
                                        <p:cTn id="30" fill="hold"/>
                                        <p:tgtEl>
                                          <p:spTgt spid="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1" build="p"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 The Colonial Era: Defining Characteristics</a:t>
            </a:r>
          </a:p>
        </p:txBody>
      </p:sp>
      <p:sp>
        <p:nvSpPr>
          <p:cNvPr id="126" name="Rectangle 3"/>
          <p:cNvSpPr txBox="1">
            <a:spLocks noGrp="1"/>
          </p:cNvSpPr>
          <p:nvPr>
            <p:ph type="body" idx="1"/>
          </p:nvPr>
        </p:nvSpPr>
        <p:spPr>
          <a:xfrm>
            <a:off x="395288" y="1341437"/>
            <a:ext cx="8748712" cy="4979988"/>
          </a:xfrm>
          <a:prstGeom prst="rect">
            <a:avLst/>
          </a:prstGeom>
        </p:spPr>
        <p:txBody>
          <a:bodyPr/>
          <a:lstStyle/>
          <a:p>
            <a:pPr marL="169735" indent="-169735" defTabSz="678941">
              <a:lnSpc>
                <a:spcPct val="81000"/>
              </a:lnSpc>
              <a:spcBef>
                <a:spcPts val="600"/>
              </a:spcBef>
              <a:defRPr sz="2772"/>
            </a:pPr>
            <a:endParaRPr/>
          </a:p>
          <a:p>
            <a:pPr marL="169735" indent="-169735" defTabSz="678941">
              <a:lnSpc>
                <a:spcPct val="81000"/>
              </a:lnSpc>
              <a:spcBef>
                <a:spcPts val="600"/>
              </a:spcBef>
              <a:defRPr sz="2772"/>
            </a:pPr>
            <a:r>
              <a:t>Main source of protection of investments prior to WWII?</a:t>
            </a:r>
          </a:p>
          <a:p>
            <a:pPr marL="169735" indent="-169735" defTabSz="678941">
              <a:lnSpc>
                <a:spcPct val="81000"/>
              </a:lnSpc>
              <a:spcBef>
                <a:spcPts val="600"/>
              </a:spcBef>
              <a:defRPr sz="2772"/>
            </a:pPr>
            <a:r>
              <a:t>Customary international law (which obligated states to treat investments in accordance with contested </a:t>
            </a:r>
            <a:r>
              <a:rPr>
                <a:solidFill>
                  <a:srgbClr val="00B050"/>
                </a:solidFill>
              </a:rPr>
              <a:t>international minimum standard</a:t>
            </a:r>
            <a:r>
              <a:t>).</a:t>
            </a:r>
          </a:p>
          <a:p>
            <a:pPr marL="169735" indent="-169735" defTabSz="678941">
              <a:lnSpc>
                <a:spcPct val="81000"/>
              </a:lnSpc>
              <a:spcBef>
                <a:spcPts val="600"/>
              </a:spcBef>
              <a:defRPr sz="2772"/>
            </a:pPr>
            <a:r>
              <a:t>Elihu Root’s 1910 address to the American Society of International Law: </a:t>
            </a:r>
          </a:p>
          <a:p>
            <a:pPr marL="509206" lvl="1" indent="-169735" defTabSz="678941">
              <a:lnSpc>
                <a:spcPct val="81000"/>
              </a:lnSpc>
              <a:spcBef>
                <a:spcPts val="200"/>
              </a:spcBef>
              <a:defRPr sz="2475"/>
            </a:pPr>
            <a:r>
              <a:t>“Each country is bound to give to nationals of another country in its territory the benefit of the same laws, the same administration, the same protection, and the same redress for injury which it gives to its own citizen’s, and neither more nor less: </a:t>
            </a:r>
            <a:r>
              <a:rPr u="sng"/>
              <a:t>provided the protection which the country gives to its own citizens conforms to the established standard of civilization.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2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1"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 The Colonial Era: Lack of International Legal Consensus</a:t>
            </a:r>
          </a:p>
        </p:txBody>
      </p:sp>
      <p:sp>
        <p:nvSpPr>
          <p:cNvPr id="129" name="Rectangle 3"/>
          <p:cNvSpPr txBox="1">
            <a:spLocks noGrp="1"/>
          </p:cNvSpPr>
          <p:nvPr>
            <p:ph type="body" idx="1"/>
          </p:nvPr>
        </p:nvSpPr>
        <p:spPr>
          <a:xfrm>
            <a:off x="395288" y="1341437"/>
            <a:ext cx="8748712" cy="5399932"/>
          </a:xfrm>
          <a:prstGeom prst="rect">
            <a:avLst/>
          </a:prstGeom>
        </p:spPr>
        <p:txBody>
          <a:bodyPr/>
          <a:lstStyle/>
          <a:p>
            <a:pPr>
              <a:defRPr sz="2600"/>
            </a:pPr>
            <a:r>
              <a:t>During colonial era, disagreement over legal principles governing compensation, famously expressed in exchange of letters between US SoS Cordell Hull and Mexican counterpart in aftermath of Mexican (and Russian) revolution. Position of Mexico influenced by Calvo doctrine. What is it?</a:t>
            </a:r>
          </a:p>
          <a:p>
            <a:pPr>
              <a:defRPr sz="2600"/>
            </a:pPr>
            <a:r>
              <a:t>Calvo Doctrine: Foreign investors afforded only </a:t>
            </a:r>
            <a:r>
              <a:rPr>
                <a:solidFill>
                  <a:srgbClr val="00B050"/>
                </a:solidFill>
              </a:rPr>
              <a:t>National Protection</a:t>
            </a:r>
            <a:r>
              <a:t> and disputes settled through </a:t>
            </a:r>
            <a:r>
              <a:rPr>
                <a:solidFill>
                  <a:srgbClr val="00B050"/>
                </a:solidFill>
              </a:rPr>
              <a:t>domestic courts </a:t>
            </a:r>
            <a:r>
              <a:t>(essentially removing international law from investment protection disputes, and </a:t>
            </a:r>
            <a:r>
              <a:rPr>
                <a:solidFill>
                  <a:srgbClr val="00B050"/>
                </a:solidFill>
              </a:rPr>
              <a:t>rejecting diplomatic espousal</a:t>
            </a:r>
            <a:r>
              <a:t>).</a:t>
            </a:r>
          </a:p>
          <a:p>
            <a:pPr>
              <a:defRPr sz="2600"/>
            </a:pPr>
            <a:r>
              <a:t>Rationale: foreign investors should not be entitled to any rights or privileges not accorded to nationals. </a:t>
            </a:r>
          </a:p>
          <a:p>
            <a:pPr>
              <a:defRPr sz="2600"/>
            </a:pPr>
            <a:r>
              <a:t>Requires that aliens commit themselves, by their very contract with the State, not to seek diplomatic protection.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2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2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1" build="p" bldLvl="5"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 The Colonial Era – International Minimum Standard</a:t>
            </a:r>
          </a:p>
        </p:txBody>
      </p:sp>
      <p:sp>
        <p:nvSpPr>
          <p:cNvPr id="134" name="Rectangle 3"/>
          <p:cNvSpPr txBox="1">
            <a:spLocks noGrp="1"/>
          </p:cNvSpPr>
          <p:nvPr>
            <p:ph type="body" idx="1"/>
          </p:nvPr>
        </p:nvSpPr>
        <p:spPr>
          <a:xfrm>
            <a:off x="395288" y="1341437"/>
            <a:ext cx="8748712" cy="4979988"/>
          </a:xfrm>
          <a:prstGeom prst="rect">
            <a:avLst/>
          </a:prstGeom>
        </p:spPr>
        <p:txBody>
          <a:bodyPr/>
          <a:lstStyle/>
          <a:p>
            <a:pPr marL="0" indent="0">
              <a:buSzTx/>
              <a:buNone/>
              <a:defRPr sz="2800"/>
            </a:pPr>
            <a:r>
              <a:t>Ineffective protection of investments – why?</a:t>
            </a:r>
          </a:p>
          <a:p>
            <a:pPr marL="800100" lvl="1" indent="-457200">
              <a:spcBef>
                <a:spcPts val="300"/>
              </a:spcBef>
              <a:buFontTx/>
              <a:buAutoNum type="arabicPeriod"/>
              <a:defRPr sz="2500"/>
            </a:pPr>
            <a:r>
              <a:t>Some States disputed CIL imposed an international minimum standard, e.g. Latin American States sought to adhere to Calvo doctrine.</a:t>
            </a:r>
            <a:endParaRPr sz="1800"/>
          </a:p>
          <a:p>
            <a:pPr marL="800100" lvl="1" indent="-457200">
              <a:spcBef>
                <a:spcPts val="300"/>
              </a:spcBef>
              <a:buFontTx/>
              <a:buAutoNum type="arabicPeriod"/>
              <a:defRPr sz="2500"/>
            </a:pPr>
            <a:r>
              <a:t>Even where international minimum standard agreed, in practice content was vague and arguably quite low.</a:t>
            </a:r>
            <a:endParaRPr sz="1800"/>
          </a:p>
          <a:p>
            <a:pPr marL="800100" lvl="1" indent="-457200">
              <a:spcBef>
                <a:spcPts val="300"/>
              </a:spcBef>
              <a:buFontTx/>
              <a:buAutoNum type="arabicPeriod"/>
              <a:defRPr sz="2500"/>
            </a:pPr>
            <a:r>
              <a:t>In absence of agreement by host State to submit any dispute to arbitration, only mechanism offered by customary international law to enforce customary norms was espousal under diplomatic protection.</a:t>
            </a:r>
            <a:endParaRPr sz="1800"/>
          </a:p>
          <a:p>
            <a:pPr marL="514350" lvl="1" indent="-171450">
              <a:spcBef>
                <a:spcPts val="300"/>
              </a:spcBef>
              <a:defRPr sz="2500"/>
            </a:pPr>
            <a:r>
              <a:t>As such, non-legal means such as military force and diplomatic protection were only means to protect foreign investments.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3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3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1" build="p" bldLvl="5"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 The Colonial Era: Diplomatic Espousal</a:t>
            </a:r>
          </a:p>
        </p:txBody>
      </p:sp>
      <p:sp>
        <p:nvSpPr>
          <p:cNvPr id="137" name="Rectangle 3"/>
          <p:cNvSpPr txBox="1">
            <a:spLocks noGrp="1"/>
          </p:cNvSpPr>
          <p:nvPr>
            <p:ph type="body" idx="1"/>
          </p:nvPr>
        </p:nvSpPr>
        <p:spPr>
          <a:xfrm>
            <a:off x="395288" y="1341437"/>
            <a:ext cx="8748712" cy="4979988"/>
          </a:xfrm>
          <a:prstGeom prst="rect">
            <a:avLst/>
          </a:prstGeom>
        </p:spPr>
        <p:txBody>
          <a:bodyPr/>
          <a:lstStyle/>
          <a:p>
            <a:pPr>
              <a:defRPr sz="2800"/>
            </a:pPr>
            <a:r>
              <a:t>How does it work?</a:t>
            </a:r>
          </a:p>
          <a:p>
            <a:pPr>
              <a:defRPr sz="2800"/>
            </a:pPr>
            <a:r>
              <a:t>Home State ‘espouses’ claim of its national against Host State. </a:t>
            </a:r>
          </a:p>
          <a:p>
            <a:pPr>
              <a:defRPr sz="2800"/>
            </a:pPr>
            <a:r>
              <a:t>Based on legal fiction dating back to Vattel that any injury against a national is to be considered injury against the State of which that individual is also a national.</a:t>
            </a:r>
          </a:p>
          <a:p>
            <a:pPr>
              <a:defRPr sz="2800"/>
            </a:pPr>
            <a:r>
              <a:t>Operated widely throughout 18th and 19th Centuries,</a:t>
            </a:r>
          </a:p>
          <a:p>
            <a:pPr>
              <a:defRPr sz="2800"/>
            </a:pPr>
            <a:r>
              <a:t>By 1924 PCIJ in </a:t>
            </a:r>
            <a:r>
              <a:rPr i="1"/>
              <a:t>Mavrommatis </a:t>
            </a:r>
            <a:r>
              <a:t>described it as ‘an elementary principle of international law’.</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3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1" build="p" bldLvl="5"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 The Colonial Era: Diplomatic Protection</a:t>
            </a:r>
          </a:p>
        </p:txBody>
      </p:sp>
      <p:sp>
        <p:nvSpPr>
          <p:cNvPr id="140" name="Rectangle 3"/>
          <p:cNvSpPr txBox="1">
            <a:spLocks noGrp="1"/>
          </p:cNvSpPr>
          <p:nvPr>
            <p:ph type="body" idx="1"/>
          </p:nvPr>
        </p:nvSpPr>
        <p:spPr>
          <a:xfrm>
            <a:off x="395288" y="1341437"/>
            <a:ext cx="8748712" cy="4979988"/>
          </a:xfrm>
          <a:prstGeom prst="rect">
            <a:avLst/>
          </a:prstGeom>
        </p:spPr>
        <p:txBody>
          <a:bodyPr/>
          <a:lstStyle/>
          <a:p>
            <a:pPr marL="514350" indent="-514350">
              <a:buFontTx/>
              <a:buAutoNum type="arabicPeriod"/>
              <a:defRPr sz="2900"/>
            </a:pPr>
            <a:endParaRPr/>
          </a:p>
          <a:p>
            <a:pPr marL="514350" indent="-514350">
              <a:buFontTx/>
              <a:buAutoNum type="arabicPeriod"/>
              <a:defRPr sz="2900"/>
            </a:pPr>
            <a:r>
              <a:t>Claim must be brought in accordance with specific conditions regarding, for example, how long a person must live in a State before they can be considered a national and diplomatically protected</a:t>
            </a:r>
          </a:p>
          <a:p>
            <a:pPr marL="514350" indent="-514350">
              <a:buFontTx/>
              <a:buAutoNum type="arabicPeriod"/>
              <a:defRPr sz="2900"/>
            </a:pPr>
            <a:r>
              <a:t>Local remedies must first be exhausted</a:t>
            </a:r>
          </a:p>
          <a:p>
            <a:pPr marL="514350" indent="-514350">
              <a:buFontTx/>
              <a:buAutoNum type="arabicPeriod"/>
              <a:defRPr sz="2900"/>
            </a:pPr>
            <a:r>
              <a:t>The right to exercise diplomatic protection completely at the discretion of the State. Investor subject to willingness of Home State to bring a claim.</a:t>
            </a:r>
          </a:p>
          <a:p>
            <a:pPr marL="514350" indent="-514350">
              <a:buFontTx/>
              <a:buAutoNum type="arabicPeriod"/>
              <a:defRPr sz="2900"/>
            </a:pPr>
            <a:r>
              <a:t>Could be perceived as coercive given power imbalance between States.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4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1" build="p" bldLvl="5"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 The Colonial Era: Diplomatic Protection</a:t>
            </a:r>
          </a:p>
        </p:txBody>
      </p:sp>
      <p:sp>
        <p:nvSpPr>
          <p:cNvPr id="143" name="Rectangle 3"/>
          <p:cNvSpPr txBox="1">
            <a:spLocks noGrp="1"/>
          </p:cNvSpPr>
          <p:nvPr>
            <p:ph type="body" idx="1"/>
          </p:nvPr>
        </p:nvSpPr>
        <p:spPr>
          <a:xfrm>
            <a:off x="395288" y="1341437"/>
            <a:ext cx="8748712" cy="4979988"/>
          </a:xfrm>
          <a:prstGeom prst="rect">
            <a:avLst/>
          </a:prstGeom>
        </p:spPr>
        <p:txBody>
          <a:bodyPr/>
          <a:lstStyle/>
          <a:p>
            <a:pPr marL="205740" indent="-205740">
              <a:defRPr sz="2400"/>
            </a:pPr>
            <a:r>
              <a:t>Further problems?</a:t>
            </a:r>
          </a:p>
          <a:p>
            <a:pPr marL="205740" indent="-205740">
              <a:defRPr sz="2400"/>
            </a:pPr>
            <a:r>
              <a:t>Enforcement often problematic e.g. ‘gunboat diplomacy.’</a:t>
            </a:r>
          </a:p>
          <a:p>
            <a:pPr marL="205740" indent="-205740">
              <a:defRPr sz="2400"/>
            </a:pPr>
            <a:r>
              <a:t>UK intervened in Latin America more than 40 times between 1820 and 1914 to enforce British claims for injuries to its nationals and to protect property.</a:t>
            </a:r>
          </a:p>
          <a:p>
            <a:pPr marL="205740" indent="-205740">
              <a:defRPr sz="2400"/>
            </a:pPr>
            <a:r>
              <a:t>Latin American states pushed back against this practice. </a:t>
            </a:r>
          </a:p>
          <a:p>
            <a:pPr marL="205740" indent="-205740">
              <a:defRPr sz="2400"/>
            </a:pPr>
            <a:r>
              <a:t>After the UK, Germany and Italy intervened in 1902 in Venezuela, Argentinian Foreign Minister Luis Drago wrote diplomatic note to the US. </a:t>
            </a:r>
          </a:p>
          <a:p>
            <a:pPr marL="205740" indent="-205740">
              <a:defRPr sz="2000"/>
            </a:pPr>
            <a:r>
              <a:rPr sz="2400"/>
              <a:t>Led to the development of Drago Doctrine and the Calvo Doctrine and ultimately to the Hague Convention II of 1907, the Drago-Porter Convention.</a:t>
            </a:r>
            <a:r>
              <a:t>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4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1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1" build="p" bldLvl="5"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 The Colonial Era: Drago-Porter Convention 1907</a:t>
            </a:r>
          </a:p>
        </p:txBody>
      </p:sp>
      <p:sp>
        <p:nvSpPr>
          <p:cNvPr id="146" name="Rectangle 3"/>
          <p:cNvSpPr txBox="1">
            <a:spLocks noGrp="1"/>
          </p:cNvSpPr>
          <p:nvPr>
            <p:ph type="body" idx="1"/>
          </p:nvPr>
        </p:nvSpPr>
        <p:spPr>
          <a:xfrm>
            <a:off x="395288" y="1341437"/>
            <a:ext cx="8748712" cy="4979988"/>
          </a:xfrm>
          <a:prstGeom prst="rect">
            <a:avLst/>
          </a:prstGeom>
        </p:spPr>
        <p:txBody>
          <a:bodyPr/>
          <a:lstStyle/>
          <a:p>
            <a:pPr>
              <a:defRPr sz="2000"/>
            </a:pPr>
            <a:r>
              <a:t>Article 1:</a:t>
            </a:r>
            <a:br/>
            <a:br/>
            <a:r>
              <a:t>The Contracting Powers agree </a:t>
            </a:r>
            <a:r>
              <a:rPr>
                <a:solidFill>
                  <a:srgbClr val="00B050"/>
                </a:solidFill>
              </a:rPr>
              <a:t>not to have recourse to armed force for the recovery of contract debts claimed from the Government of one country by the Government of another country as being due to its nationals</a:t>
            </a:r>
            <a:r>
              <a:t>.</a:t>
            </a:r>
            <a:br/>
            <a:br/>
            <a:r>
              <a:t>This undertaking is, however, not applicable when the debtor State refuses or neglects to reply to an offer of arbitration, or, after accepting the offer, prevents any compromis from being agreed on, or, after the arbitration, fails to submit to the award.</a:t>
            </a:r>
            <a:br/>
            <a:br/>
            <a:r>
              <a:t>It is further agreed that the arbitration mentioned in paragraph 2 of the foregoing Article shall be subject to the procedure laid down in Part IV, Chapter 3, of The Hague Convention for the Pacific Settlement of International Disputes. The award shall determine, except where otherwise agreed between the parties, the validity of the claim, the amount of the debt, and the time and mode of payment.</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1.Moving on from colonialism: The ‘Great Compact’</a:t>
            </a:r>
          </a:p>
        </p:txBody>
      </p:sp>
      <p:sp>
        <p:nvSpPr>
          <p:cNvPr id="149" name="Rectangle 3"/>
          <p:cNvSpPr txBox="1">
            <a:spLocks noGrp="1"/>
          </p:cNvSpPr>
          <p:nvPr>
            <p:ph type="body" idx="1"/>
          </p:nvPr>
        </p:nvSpPr>
        <p:spPr>
          <a:xfrm>
            <a:off x="395288" y="1341437"/>
            <a:ext cx="8748712" cy="4979988"/>
          </a:xfrm>
          <a:prstGeom prst="rect">
            <a:avLst/>
          </a:prstGeom>
        </p:spPr>
        <p:txBody>
          <a:bodyPr/>
          <a:lstStyle/>
          <a:p>
            <a:pPr>
              <a:defRPr sz="2800"/>
            </a:pPr>
            <a:endParaRPr/>
          </a:p>
          <a:p>
            <a:pPr>
              <a:defRPr sz="2800"/>
            </a:pPr>
            <a:r>
              <a:t>Taken together, this created what Reisman has called the Great Compact: </a:t>
            </a:r>
          </a:p>
          <a:p>
            <a:pPr marL="514350" lvl="1" indent="-171450">
              <a:defRPr sz="2800"/>
            </a:pPr>
            <a:r>
              <a:t>investors’ States would waive the deployment of their superior power to protect their investors in return for host States’ agreeing to submit the disputes with those investors to international arbitration by independent third party determination.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1"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1. The Colonial Era: Recap</a:t>
            </a:r>
          </a:p>
        </p:txBody>
      </p:sp>
      <p:sp>
        <p:nvSpPr>
          <p:cNvPr id="165" name="Rectangle 3"/>
          <p:cNvSpPr txBox="1">
            <a:spLocks noGrp="1"/>
          </p:cNvSpPr>
          <p:nvPr>
            <p:ph type="body" idx="1"/>
          </p:nvPr>
        </p:nvSpPr>
        <p:spPr>
          <a:xfrm>
            <a:off x="395288" y="1341437"/>
            <a:ext cx="8748712" cy="4979988"/>
          </a:xfrm>
          <a:prstGeom prst="rect">
            <a:avLst/>
          </a:prstGeom>
        </p:spPr>
        <p:txBody>
          <a:bodyPr/>
          <a:lstStyle/>
          <a:p>
            <a:pPr>
              <a:lnSpc>
                <a:spcPct val="72000"/>
              </a:lnSpc>
              <a:defRPr sz="2800"/>
            </a:pPr>
            <a:endParaRPr/>
          </a:p>
          <a:p>
            <a:pPr marL="171449" indent="-171449">
              <a:lnSpc>
                <a:spcPct val="72000"/>
              </a:lnSpc>
              <a:defRPr sz="1900"/>
            </a:pPr>
            <a:r>
              <a:t>During colonial era, Imperial states could often impose terms or apply their own domestic law.</a:t>
            </a:r>
            <a:endParaRPr sz="1400"/>
          </a:p>
          <a:p>
            <a:pPr marL="171449" indent="-171449">
              <a:lnSpc>
                <a:spcPct val="72000"/>
              </a:lnSpc>
              <a:defRPr sz="1900"/>
            </a:pPr>
            <a:r>
              <a:t>And even in those cases where imperial states could not do so, there was no network of international investment protection through treaties. Treaties at this time like FCNS had only modest (if any) provisions on investment and were mainly intended to encourage international trade</a:t>
            </a:r>
            <a:endParaRPr sz="1400"/>
          </a:p>
          <a:p>
            <a:pPr marL="171449" indent="-171449">
              <a:lnSpc>
                <a:spcPct val="72000"/>
              </a:lnSpc>
              <a:defRPr sz="1900"/>
            </a:pPr>
            <a:r>
              <a:t>As such, customary international law was the source of protection of investments. The generally accepted standard was that of the international minimum standard – although this was not effective in protecting investments for a number of reasons, including the fact that it was not accepted by all States, and that there were no means to enforce this standard apart from military force (which was not outlawed until the Drago-Porter Convention of 1908) or through diplomatic protection.</a:t>
            </a:r>
            <a:endParaRPr sz="1400"/>
          </a:p>
          <a:p>
            <a:pPr marL="171449" indent="-171449">
              <a:lnSpc>
                <a:spcPct val="72000"/>
              </a:lnSpc>
              <a:defRPr sz="1900"/>
            </a:pPr>
            <a:r>
              <a:t>Diplomatic Protection was where States could take up the cause of their nationals and espouse it to the other State. Although conditions were imposed on diplomatic protection it was nevertheless open to abuse.</a:t>
            </a:r>
            <a:endParaRPr sz="1400"/>
          </a:p>
          <a:p>
            <a:pPr marL="171449" indent="-171449">
              <a:lnSpc>
                <a:spcPct val="72000"/>
              </a:lnSpc>
              <a:defRPr sz="1900"/>
            </a:pPr>
            <a:r>
              <a:t>This Abuse led to growing support for the so-called Calvo doctrine and the debate between the international minimum standard and the Calvo doctrine continues in one form or another to this day in international investment law.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6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6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6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1" build="p" bldLvl="5"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 name="Picture 1" descr="Picture 1"/>
          <p:cNvPicPr>
            <a:picLocks noChangeAspect="1"/>
          </p:cNvPicPr>
          <p:nvPr/>
        </p:nvPicPr>
        <p:blipFill>
          <a:blip r:embed="rId2"/>
          <a:srcRect l="667"/>
          <a:stretch>
            <a:fillRect/>
          </a:stretch>
        </p:blipFill>
        <p:spPr>
          <a:xfrm>
            <a:off x="20" y="10"/>
            <a:ext cx="9143796" cy="6857853"/>
          </a:xfrm>
          <a:prstGeom prst="rect">
            <a:avLst/>
          </a:prstGeom>
          <a:ln w="12700">
            <a:miter lim="400000"/>
          </a:ln>
        </p:spPr>
      </p:pic>
      <p:sp>
        <p:nvSpPr>
          <p:cNvPr id="168" name="Rectangle 2"/>
          <p:cNvSpPr txBox="1">
            <a:spLocks noGrp="1"/>
          </p:cNvSpPr>
          <p:nvPr>
            <p:ph type="title"/>
          </p:nvPr>
        </p:nvSpPr>
        <p:spPr>
          <a:xfrm>
            <a:off x="392906" y="425950"/>
            <a:ext cx="8408194" cy="744837"/>
          </a:xfrm>
          <a:prstGeom prst="rect">
            <a:avLst/>
          </a:prstGeom>
          <a:solidFill>
            <a:srgbClr val="FFFFFF"/>
          </a:solidFill>
        </p:spPr>
        <p:txBody>
          <a:bodyPr/>
          <a:lstStyle>
            <a:lvl1pPr algn="ctr" defTabSz="914400">
              <a:defRPr sz="3100">
                <a:solidFill>
                  <a:srgbClr val="00B050"/>
                </a:solidFill>
                <a:latin typeface="+mn-lt"/>
                <a:ea typeface="+mn-ea"/>
                <a:cs typeface="+mn-cs"/>
                <a:sym typeface="Calibri"/>
              </a:defRPr>
            </a:lvl1pPr>
          </a:lstStyle>
          <a:p>
            <a:r>
              <a:t>2.The Post-Colonial Era</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2. Post-Colonial Era</a:t>
            </a:r>
          </a:p>
        </p:txBody>
      </p:sp>
      <p:sp>
        <p:nvSpPr>
          <p:cNvPr id="171" name="Rectangle 3"/>
          <p:cNvSpPr txBox="1">
            <a:spLocks noGrp="1"/>
          </p:cNvSpPr>
          <p:nvPr>
            <p:ph type="body" idx="1"/>
          </p:nvPr>
        </p:nvSpPr>
        <p:spPr>
          <a:xfrm>
            <a:off x="395288" y="1341437"/>
            <a:ext cx="8748712" cy="4979988"/>
          </a:xfrm>
          <a:prstGeom prst="rect">
            <a:avLst/>
          </a:prstGeom>
        </p:spPr>
        <p:txBody>
          <a:bodyPr/>
          <a:lstStyle/>
          <a:p>
            <a:pPr>
              <a:defRPr sz="2600"/>
            </a:pPr>
            <a:endParaRPr/>
          </a:p>
          <a:p>
            <a:pPr>
              <a:defRPr sz="2600"/>
            </a:pPr>
            <a:r>
              <a:t>Decolonisation brought wave of expropriations and corresponding requests for investment protection and compensation. Why?</a:t>
            </a:r>
          </a:p>
          <a:p>
            <a:pPr>
              <a:defRPr sz="2600"/>
            </a:pPr>
            <a:r>
              <a:t>Newly independent States nationalised and expropriated various investments made by European companies.</a:t>
            </a:r>
          </a:p>
          <a:p>
            <a:pPr>
              <a:defRPr sz="2600"/>
            </a:pPr>
            <a:r>
              <a:t>NIS often found their natural resources still controlled by foreign companies which they believed blocked their access to means to grow and develop.</a:t>
            </a:r>
          </a:p>
          <a:p>
            <a:pPr>
              <a:defRPr sz="2600"/>
            </a:pPr>
            <a:r>
              <a:t>As well as the principle of self-determination, the principle of permanent sovereignty over natural resources was developed.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1" build="p" bldLvl="5"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2. Post-Colonial Era</a:t>
            </a:r>
          </a:p>
        </p:txBody>
      </p:sp>
      <p:sp>
        <p:nvSpPr>
          <p:cNvPr id="174" name="Rectangle 3"/>
          <p:cNvSpPr txBox="1">
            <a:spLocks noGrp="1"/>
          </p:cNvSpPr>
          <p:nvPr>
            <p:ph type="body" idx="1"/>
          </p:nvPr>
        </p:nvSpPr>
        <p:spPr>
          <a:xfrm>
            <a:off x="395288" y="1341437"/>
            <a:ext cx="8748712" cy="4979988"/>
          </a:xfrm>
          <a:prstGeom prst="rect">
            <a:avLst/>
          </a:prstGeom>
        </p:spPr>
        <p:txBody>
          <a:bodyPr/>
          <a:lstStyle/>
          <a:p>
            <a:pPr>
              <a:defRPr sz="2400"/>
            </a:pPr>
            <a:r>
              <a:t>Focal point of the NIEO? </a:t>
            </a:r>
          </a:p>
          <a:p>
            <a:pPr>
              <a:defRPr sz="2400"/>
            </a:pPr>
            <a:r>
              <a:t>Sought to use UNGA to achieve fair allocation of the world’s resources, technology transfer to developing counties and preferential trade conditions.</a:t>
            </a:r>
          </a:p>
          <a:p>
            <a:pPr>
              <a:defRPr sz="2400"/>
            </a:pPr>
            <a:r>
              <a:t>Challenged the ‘Great Compact’ by excluding application of international law by a tribunal independent of the State.</a:t>
            </a:r>
          </a:p>
          <a:p>
            <a:pPr>
              <a:defRPr sz="2400"/>
            </a:pPr>
            <a:r>
              <a:t>Passed UNGA Res such as Declaration on the Establishment of a New International Economic Order (NIEO) (A/RES/S-6/3201 (1974) and Charter of Economic Rights and Duties of States (CERDS) (A/RES/40/182 (1985).</a:t>
            </a:r>
          </a:p>
          <a:p>
            <a:pPr>
              <a:defRPr sz="2400"/>
            </a:pPr>
            <a:r>
              <a:t>The NIEO also attacked the so-called ‘Dependency Theory’ which held that FDI left developing countries dependent on foreign corporations and subject to their will.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7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7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7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1" build="p" bldLvl="5"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2. Post-Colonial Era</a:t>
            </a:r>
          </a:p>
        </p:txBody>
      </p:sp>
      <p:sp>
        <p:nvSpPr>
          <p:cNvPr id="177" name="Rectangle 3"/>
          <p:cNvSpPr txBox="1">
            <a:spLocks noGrp="1"/>
          </p:cNvSpPr>
          <p:nvPr>
            <p:ph type="body" idx="1"/>
          </p:nvPr>
        </p:nvSpPr>
        <p:spPr>
          <a:xfrm>
            <a:off x="395288" y="1341437"/>
            <a:ext cx="8748712" cy="4979988"/>
          </a:xfrm>
          <a:prstGeom prst="rect">
            <a:avLst/>
          </a:prstGeom>
        </p:spPr>
        <p:txBody>
          <a:bodyPr/>
          <a:lstStyle/>
          <a:p>
            <a:pPr>
              <a:defRPr sz="2400"/>
            </a:pPr>
            <a:endParaRPr/>
          </a:p>
          <a:p>
            <a:pPr marL="0" indent="0">
              <a:buSzTx/>
              <a:buNone/>
              <a:defRPr sz="2400"/>
            </a:pPr>
            <a:r>
              <a:t>Demise of the NIEO: </a:t>
            </a:r>
          </a:p>
          <a:p>
            <a:pPr>
              <a:defRPr sz="2400"/>
            </a:pPr>
            <a:r>
              <a:t>By end of 1970s, dominance of neo-liberal thinking and policies.</a:t>
            </a:r>
          </a:p>
          <a:p>
            <a:pPr>
              <a:defRPr sz="2400"/>
            </a:pPr>
            <a:r>
              <a:t>Legal insecurity regarding the status of foreign investment under NIEO principles led to the slowing of private investment flows to developing countries in the 1970s.   </a:t>
            </a:r>
          </a:p>
          <a:p>
            <a:pPr>
              <a:defRPr sz="2400"/>
            </a:pPr>
            <a:r>
              <a:t>1990s brought remarkable growth of the world economy, including that of many developing countries, notwithstanding recurring financial crises and inflation alarms. Market forces dominant in trade, investment, and finance.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7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7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1" build="p" bldLvl="5"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2. Post-Colonial Era</a:t>
            </a:r>
          </a:p>
        </p:txBody>
      </p:sp>
      <p:sp>
        <p:nvSpPr>
          <p:cNvPr id="180" name="Rectangle 3"/>
          <p:cNvSpPr txBox="1">
            <a:spLocks noGrp="1"/>
          </p:cNvSpPr>
          <p:nvPr>
            <p:ph type="body" idx="1"/>
          </p:nvPr>
        </p:nvSpPr>
        <p:spPr>
          <a:xfrm>
            <a:off x="395288" y="1341437"/>
            <a:ext cx="8748712" cy="4979988"/>
          </a:xfrm>
          <a:prstGeom prst="rect">
            <a:avLst/>
          </a:prstGeom>
        </p:spPr>
        <p:txBody>
          <a:bodyPr/>
          <a:lstStyle/>
          <a:p>
            <a:pPr>
              <a:defRPr sz="2800"/>
            </a:pPr>
            <a:endParaRPr/>
          </a:p>
          <a:p>
            <a:pPr>
              <a:defRPr sz="2800"/>
            </a:pPr>
            <a:r>
              <a:t>Western States in UN Charter era unable to resort to gunboat diplomacy to protect investments (although, see UK/French involvement in Suez fiasco).</a:t>
            </a:r>
          </a:p>
          <a:p>
            <a:pPr>
              <a:defRPr sz="2800"/>
            </a:pPr>
            <a:r>
              <a:t>US led multilateral efforts, e.g. pushing inclusion of a multilateral investment </a:t>
            </a:r>
            <a:r>
              <a:rPr u="sng"/>
              <a:t>code within the remit of the International Trade Organization</a:t>
            </a:r>
            <a:r>
              <a:t> (Havana Charter). Mooted but abandoned.</a:t>
            </a:r>
          </a:p>
          <a:p>
            <a:pPr>
              <a:defRPr sz="2800"/>
            </a:pPr>
            <a:r>
              <a:t>Further proposal for multilateral treaty suggested by major capital-exporting states in </a:t>
            </a:r>
            <a:r>
              <a:rPr u="sng"/>
              <a:t>1959:</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8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8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1" build="p"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2. Post-Colonial Era</a:t>
            </a:r>
          </a:p>
        </p:txBody>
      </p:sp>
      <p:pic>
        <p:nvPicPr>
          <p:cNvPr id="183" name="Picture 3" descr="Picture 3"/>
          <p:cNvPicPr>
            <a:picLocks noChangeAspect="1"/>
          </p:cNvPicPr>
          <p:nvPr/>
        </p:nvPicPr>
        <p:blipFill>
          <a:blip r:embed="rId2"/>
          <a:stretch>
            <a:fillRect/>
          </a:stretch>
        </p:blipFill>
        <p:spPr>
          <a:xfrm>
            <a:off x="1457287" y="1818967"/>
            <a:ext cx="2922629" cy="3779594"/>
          </a:xfrm>
          <a:prstGeom prst="rect">
            <a:avLst/>
          </a:prstGeom>
          <a:ln w="12700">
            <a:miter lim="400000"/>
          </a:ln>
        </p:spPr>
      </p:pic>
      <p:pic>
        <p:nvPicPr>
          <p:cNvPr id="184" name="Content Placeholder 2" descr="Content Placeholder 2"/>
          <p:cNvPicPr>
            <a:picLocks noChangeAspect="1"/>
          </p:cNvPicPr>
          <p:nvPr/>
        </p:nvPicPr>
        <p:blipFill>
          <a:blip r:embed="rId3"/>
          <a:stretch>
            <a:fillRect/>
          </a:stretch>
        </p:blipFill>
        <p:spPr>
          <a:xfrm>
            <a:off x="4726857" y="1863569"/>
            <a:ext cx="2922630" cy="3734991"/>
          </a:xfrm>
          <a:prstGeom prst="rect">
            <a:avLst/>
          </a:prstGeom>
          <a:ln w="12700">
            <a:miter lim="400000"/>
          </a:ln>
        </p:spPr>
      </p:pic>
      <p:sp>
        <p:nvSpPr>
          <p:cNvPr id="185" name="TextBox 1"/>
          <p:cNvSpPr txBox="1"/>
          <p:nvPr/>
        </p:nvSpPr>
        <p:spPr>
          <a:xfrm>
            <a:off x="475649" y="6124974"/>
            <a:ext cx="4220951" cy="350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latin typeface="Arial"/>
                <a:ea typeface="Arial"/>
                <a:cs typeface="Arial"/>
                <a:sym typeface="Arial"/>
              </a:defRPr>
            </a:lvl1pPr>
          </a:lstStyle>
          <a:p>
            <a:r>
              <a:t>Hermann Abs, Chairman Deutsche Bank</a:t>
            </a:r>
          </a:p>
        </p:txBody>
      </p:sp>
      <p:sp>
        <p:nvSpPr>
          <p:cNvPr id="186" name="TextBox 2"/>
          <p:cNvSpPr txBox="1"/>
          <p:nvPr/>
        </p:nvSpPr>
        <p:spPr>
          <a:xfrm>
            <a:off x="5061153" y="6090891"/>
            <a:ext cx="2530783"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latin typeface="Arial"/>
                <a:ea typeface="Arial"/>
                <a:cs typeface="Arial"/>
                <a:sym typeface="Arial"/>
              </a:defRPr>
            </a:lvl1pPr>
          </a:lstStyle>
          <a:p>
            <a:r>
              <a:t>Lord Hartley Shawcross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1" animBg="1" advAuto="0"/>
      <p:bldP spid="186" grpId="2"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2. Post-Colonial Era</a:t>
            </a:r>
          </a:p>
        </p:txBody>
      </p:sp>
      <p:sp>
        <p:nvSpPr>
          <p:cNvPr id="189" name="Rectangle 3"/>
          <p:cNvSpPr txBox="1">
            <a:spLocks noGrp="1"/>
          </p:cNvSpPr>
          <p:nvPr>
            <p:ph type="body" idx="1"/>
          </p:nvPr>
        </p:nvSpPr>
        <p:spPr>
          <a:xfrm>
            <a:off x="395288" y="1341437"/>
            <a:ext cx="8748712" cy="4979988"/>
          </a:xfrm>
          <a:prstGeom prst="rect">
            <a:avLst/>
          </a:prstGeom>
        </p:spPr>
        <p:txBody>
          <a:bodyPr/>
          <a:lstStyle/>
          <a:p>
            <a:pPr>
              <a:defRPr sz="2600"/>
            </a:pPr>
            <a:endParaRPr/>
          </a:p>
          <a:p>
            <a:pPr>
              <a:defRPr sz="2600"/>
            </a:pPr>
            <a:r>
              <a:t>Merged joint proposals to create Association for Promotion and Protection of Private Foreign Investment in Geneva.</a:t>
            </a:r>
          </a:p>
          <a:p>
            <a:pPr>
              <a:defRPr sz="2600"/>
            </a:pPr>
            <a:r>
              <a:t>In 1958 published draft Abs-Shawcross Convention, which included investor-State arbitration option.</a:t>
            </a:r>
          </a:p>
          <a:p>
            <a:pPr>
              <a:defRPr sz="2600"/>
            </a:pPr>
            <a:r>
              <a:t>Played major role in in shaping subsequent OECD Convention, which was essentially a revised version of this text.</a:t>
            </a:r>
          </a:p>
          <a:p>
            <a:pPr>
              <a:defRPr sz="2600"/>
            </a:pPr>
            <a:r>
              <a:t>Yet even this watered down version failed to gain support.</a:t>
            </a:r>
          </a:p>
          <a:p>
            <a:pPr>
              <a:defRPr sz="2600"/>
            </a:pPr>
            <a:r>
              <a:t>World Bank was asked to pursue issue at multilateral level. Leading, in 1965 to…</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8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8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8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 grpId="1" build="p" bldLvl="5"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2. Post-Colonial Era</a:t>
            </a:r>
          </a:p>
        </p:txBody>
      </p:sp>
      <p:pic>
        <p:nvPicPr>
          <p:cNvPr id="192" name="Content Placeholder 2" descr="Content Placeholder 2"/>
          <p:cNvPicPr>
            <a:picLocks noChangeAspect="1"/>
          </p:cNvPicPr>
          <p:nvPr/>
        </p:nvPicPr>
        <p:blipFill>
          <a:blip r:embed="rId2"/>
          <a:stretch>
            <a:fillRect/>
          </a:stretch>
        </p:blipFill>
        <p:spPr>
          <a:xfrm>
            <a:off x="866653" y="1124744"/>
            <a:ext cx="7410695" cy="4979988"/>
          </a:xfrm>
          <a:prstGeom prst="rect">
            <a:avLst/>
          </a:prstGeom>
          <a:ln w="12700">
            <a:miter lim="400000"/>
          </a:ln>
        </p:spPr>
      </p:pic>
      <p:sp>
        <p:nvSpPr>
          <p:cNvPr id="193" name="TextBox 3"/>
          <p:cNvSpPr txBox="1"/>
          <p:nvPr/>
        </p:nvSpPr>
        <p:spPr>
          <a:xfrm>
            <a:off x="555171" y="6257835"/>
            <a:ext cx="7676455" cy="4920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400" i="1">
                <a:latin typeface="Arial"/>
                <a:ea typeface="Arial"/>
                <a:cs typeface="Arial"/>
                <a:sym typeface="Arial"/>
              </a:defRPr>
            </a:lvl1pPr>
          </a:lstStyle>
          <a:p>
            <a:r>
              <a:t>Image: Bank President George Woods (r) signs the ICSID Convention, with Aron Broches (l), General Counsel of the World Bank. Courtesy of World Bank Group Archives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1"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3. The Global Era</a:t>
            </a:r>
          </a:p>
        </p:txBody>
      </p:sp>
      <p:sp>
        <p:nvSpPr>
          <p:cNvPr id="196" name="Rectangle 3"/>
          <p:cNvSpPr txBox="1">
            <a:spLocks noGrp="1"/>
          </p:cNvSpPr>
          <p:nvPr>
            <p:ph type="body" idx="1"/>
          </p:nvPr>
        </p:nvSpPr>
        <p:spPr>
          <a:xfrm>
            <a:off x="395288" y="1341437"/>
            <a:ext cx="8748712" cy="4979988"/>
          </a:xfrm>
          <a:prstGeom prst="rect">
            <a:avLst/>
          </a:prstGeom>
        </p:spPr>
        <p:txBody>
          <a:bodyPr/>
          <a:lstStyle/>
          <a:p>
            <a:pPr>
              <a:defRPr sz="2200" u="sng"/>
            </a:pPr>
            <a:r>
              <a:t>The Establishment of ICSID</a:t>
            </a:r>
          </a:p>
          <a:p>
            <a:pPr>
              <a:defRPr sz="2200"/>
            </a:pPr>
            <a:r>
              <a:t>Inclusion of investor-State arbitration provisions had been prompted by the conclusion of a 1965 convention establishing the </a:t>
            </a:r>
            <a:r>
              <a:rPr u="sng"/>
              <a:t>International Centre for the Settlement of Investment Disputes (ICSID),"</a:t>
            </a:r>
            <a:r>
              <a:t>.</a:t>
            </a:r>
          </a:p>
          <a:p>
            <a:pPr>
              <a:defRPr sz="2200"/>
            </a:pPr>
            <a:r>
              <a:t>Why was ICSID created? </a:t>
            </a:r>
          </a:p>
          <a:p>
            <a:pPr>
              <a:defRPr sz="2200"/>
            </a:pPr>
            <a:r>
              <a:t>This body, affiliated with the World Bank, intended to provide a venue for arbitration of disputes between investors and host state governments. </a:t>
            </a:r>
          </a:p>
          <a:p>
            <a:pPr>
              <a:defRPr sz="2200"/>
            </a:pPr>
            <a:r>
              <a:t>Taking up its mandate enthusiastically, in 1969 ICSID published a series of model BIT arbitration clauses for use in BITs. </a:t>
            </a:r>
          </a:p>
          <a:p>
            <a:pPr>
              <a:defRPr sz="2200"/>
            </a:pPr>
            <a:r>
              <a:t>And subsequently Chad-Italy (1969) was first BIT that provided for investor-state arbitration with unqualified state consent.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9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19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1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19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19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1" build="p" bldLvl="5"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3. The Global Era</a:t>
            </a:r>
          </a:p>
        </p:txBody>
      </p:sp>
      <p:sp>
        <p:nvSpPr>
          <p:cNvPr id="199" name="Rectangle 3"/>
          <p:cNvSpPr txBox="1">
            <a:spLocks noGrp="1"/>
          </p:cNvSpPr>
          <p:nvPr>
            <p:ph type="body" idx="1"/>
          </p:nvPr>
        </p:nvSpPr>
        <p:spPr>
          <a:xfrm>
            <a:off x="395288" y="1341437"/>
            <a:ext cx="8014274" cy="4979988"/>
          </a:xfrm>
          <a:prstGeom prst="rect">
            <a:avLst/>
          </a:prstGeom>
        </p:spPr>
        <p:txBody>
          <a:bodyPr/>
          <a:lstStyle/>
          <a:p>
            <a:pPr>
              <a:defRPr sz="2200"/>
            </a:pPr>
            <a:endParaRPr/>
          </a:p>
          <a:p>
            <a:pPr>
              <a:defRPr sz="2600"/>
            </a:pPr>
            <a:r>
              <a:t>Led to establishment of ‘Great Compact 2.0’ according to Reisman, with addition of:</a:t>
            </a:r>
          </a:p>
          <a:p>
            <a:pPr>
              <a:defRPr sz="2600"/>
            </a:pPr>
            <a:r>
              <a:t>Investor initiative to bring claim, designed to ’de-politicise’ investment disputes.</a:t>
            </a:r>
          </a:p>
          <a:p>
            <a:pPr>
              <a:defRPr sz="2600"/>
            </a:pPr>
            <a:r>
              <a:t>But developed States did not seriously imagine that they would be subject to claims through ICISD.</a:t>
            </a:r>
          </a:p>
          <a:p>
            <a:pPr>
              <a:defRPr sz="2600"/>
            </a:pPr>
            <a:r>
              <a:t>Have their chickens come home to roost, as Reisman suggests?</a:t>
            </a:r>
          </a:p>
          <a:p>
            <a:pPr>
              <a:defRPr sz="2600"/>
            </a:pPr>
            <a:r>
              <a:t>What future for the Great Compact?</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3. The Global Era</a:t>
            </a:r>
          </a:p>
        </p:txBody>
      </p:sp>
      <p:sp>
        <p:nvSpPr>
          <p:cNvPr id="202" name="Rectangle 3"/>
          <p:cNvSpPr txBox="1">
            <a:spLocks noGrp="1"/>
          </p:cNvSpPr>
          <p:nvPr>
            <p:ph type="body" idx="1"/>
          </p:nvPr>
        </p:nvSpPr>
        <p:spPr>
          <a:xfrm>
            <a:off x="395288" y="1341437"/>
            <a:ext cx="8748712" cy="4979988"/>
          </a:xfrm>
          <a:prstGeom prst="rect">
            <a:avLst/>
          </a:prstGeom>
        </p:spPr>
        <p:txBody>
          <a:bodyPr/>
          <a:lstStyle/>
          <a:p>
            <a:pPr>
              <a:defRPr sz="2600"/>
            </a:pPr>
            <a:endParaRPr/>
          </a:p>
          <a:p>
            <a:pPr>
              <a:defRPr sz="2600"/>
            </a:pPr>
            <a:r>
              <a:t>Early BIT era:</a:t>
            </a:r>
          </a:p>
          <a:p>
            <a:pPr>
              <a:defRPr sz="2600"/>
            </a:pPr>
            <a:r>
              <a:t>The first is Germany-Pakistan BIT in 1959. Other European nations soon followed such as France in 1960, Switzerland in 1961 and the Netherlands in 1963.</a:t>
            </a:r>
          </a:p>
          <a:p>
            <a:pPr>
              <a:defRPr sz="2600"/>
            </a:pPr>
            <a:r>
              <a:t>Spate of expropriations in the 1970s convinced more States to conclude BITs such as the UK in 1975 Japan in 1977.</a:t>
            </a:r>
          </a:p>
          <a:p>
            <a:pPr>
              <a:defRPr sz="2600"/>
            </a:pPr>
            <a:r>
              <a:t>US decided to start its BIT programme in this year too although did not actually conclude its first BIT until 1980.</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3. The Global Era</a:t>
            </a:r>
          </a:p>
        </p:txBody>
      </p:sp>
      <p:sp>
        <p:nvSpPr>
          <p:cNvPr id="205" name="Rectangle 3"/>
          <p:cNvSpPr txBox="1">
            <a:spLocks noGrp="1"/>
          </p:cNvSpPr>
          <p:nvPr>
            <p:ph type="body" idx="1"/>
          </p:nvPr>
        </p:nvSpPr>
        <p:spPr>
          <a:xfrm>
            <a:off x="395288" y="1341437"/>
            <a:ext cx="8748712" cy="4979988"/>
          </a:xfrm>
          <a:prstGeom prst="rect">
            <a:avLst/>
          </a:prstGeom>
        </p:spPr>
        <p:txBody>
          <a:bodyPr/>
          <a:lstStyle/>
          <a:p>
            <a:pPr marL="0" indent="0">
              <a:lnSpc>
                <a:spcPct val="81000"/>
              </a:lnSpc>
              <a:buSzTx/>
              <a:buNone/>
              <a:defRPr sz="2800"/>
            </a:pPr>
            <a:endParaRPr/>
          </a:p>
          <a:p>
            <a:pPr marL="0" indent="0">
              <a:lnSpc>
                <a:spcPct val="81000"/>
              </a:lnSpc>
              <a:buSzTx/>
              <a:buNone/>
              <a:defRPr sz="2800"/>
            </a:pPr>
            <a:r>
              <a:t>Early BIT era – characteristics?</a:t>
            </a:r>
          </a:p>
          <a:p>
            <a:pPr marL="514350" indent="-514350">
              <a:lnSpc>
                <a:spcPct val="81000"/>
              </a:lnSpc>
              <a:buFontTx/>
              <a:buAutoNum type="arabicPeriod"/>
              <a:defRPr sz="2800"/>
            </a:pPr>
            <a:r>
              <a:t>Dealt exclusively with investment</a:t>
            </a:r>
          </a:p>
          <a:p>
            <a:pPr marL="514350" indent="-514350">
              <a:lnSpc>
                <a:spcPct val="81000"/>
              </a:lnSpc>
              <a:buFontTx/>
              <a:buAutoNum type="arabicPeriod"/>
              <a:defRPr sz="2800"/>
            </a:pPr>
            <a:r>
              <a:t>Negotiated principally between one developed and one developing country</a:t>
            </a:r>
          </a:p>
          <a:p>
            <a:pPr marL="514350" indent="-514350">
              <a:lnSpc>
                <a:spcPct val="81000"/>
              </a:lnSpc>
              <a:buFontTx/>
              <a:buAutoNum type="arabicPeriod"/>
              <a:defRPr sz="2800"/>
            </a:pPr>
            <a:r>
              <a:t>Motivation for developing country: attract FDI</a:t>
            </a:r>
          </a:p>
          <a:p>
            <a:pPr marL="514350" indent="-514350">
              <a:lnSpc>
                <a:spcPct val="81000"/>
              </a:lnSpc>
              <a:buFontTx/>
              <a:buAutoNum type="arabicPeriod"/>
              <a:defRPr sz="2800"/>
            </a:pPr>
            <a:r>
              <a:t>Motivation for developed country: protect foreign investments</a:t>
            </a:r>
          </a:p>
          <a:p>
            <a:pPr marL="514350" indent="-514350">
              <a:lnSpc>
                <a:spcPct val="81000"/>
              </a:lnSpc>
              <a:buFontTx/>
              <a:buAutoNum type="arabicPeriod"/>
              <a:defRPr sz="2800"/>
            </a:pPr>
            <a:r>
              <a:t>Network of BITs remained limited</a:t>
            </a:r>
          </a:p>
          <a:p>
            <a:pPr marL="514350" indent="-514350">
              <a:lnSpc>
                <a:spcPct val="81000"/>
              </a:lnSpc>
              <a:buFontTx/>
              <a:buAutoNum type="arabicPeriod"/>
              <a:defRPr sz="2800"/>
            </a:pPr>
            <a:r>
              <a:t>Protections provided in early BITs broadly similar to those set out in FCNs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0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20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20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20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20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 grpId="1" build="p" bldLvl="5"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3. The Global Era</a:t>
            </a:r>
          </a:p>
        </p:txBody>
      </p:sp>
      <p:sp>
        <p:nvSpPr>
          <p:cNvPr id="208" name="Rectangle 3"/>
          <p:cNvSpPr txBox="1">
            <a:spLocks noGrp="1"/>
          </p:cNvSpPr>
          <p:nvPr>
            <p:ph type="body" idx="1"/>
          </p:nvPr>
        </p:nvSpPr>
        <p:spPr>
          <a:xfrm>
            <a:off x="395288" y="1341437"/>
            <a:ext cx="8748712" cy="4979988"/>
          </a:xfrm>
          <a:prstGeom prst="rect">
            <a:avLst/>
          </a:prstGeom>
        </p:spPr>
        <p:txBody>
          <a:bodyPr/>
          <a:lstStyle/>
          <a:p>
            <a:pPr marL="0" indent="0">
              <a:lnSpc>
                <a:spcPct val="81000"/>
              </a:lnSpc>
              <a:buSzTx/>
              <a:buNone/>
              <a:defRPr sz="3200"/>
            </a:pPr>
            <a:r>
              <a:t>‘Global Era’: defining developments?</a:t>
            </a:r>
          </a:p>
          <a:p>
            <a:pPr marL="0" indent="0">
              <a:lnSpc>
                <a:spcPct val="81000"/>
              </a:lnSpc>
              <a:buSzTx/>
              <a:buNone/>
              <a:defRPr sz="3200"/>
            </a:pPr>
            <a:endParaRPr/>
          </a:p>
          <a:p>
            <a:pPr marL="514350" indent="-514350">
              <a:lnSpc>
                <a:spcPct val="81000"/>
              </a:lnSpc>
              <a:buFontTx/>
              <a:buAutoNum type="arabicPeriod"/>
              <a:defRPr sz="3200"/>
            </a:pPr>
            <a:r>
              <a:t>Development of investor-State arbitration</a:t>
            </a:r>
          </a:p>
          <a:p>
            <a:pPr marL="514350" indent="-514350">
              <a:lnSpc>
                <a:spcPct val="81000"/>
              </a:lnSpc>
              <a:buFontTx/>
              <a:buAutoNum type="arabicPeriod"/>
              <a:defRPr sz="3200"/>
            </a:pPr>
            <a:r>
              <a:t>Influence of ICSID</a:t>
            </a:r>
          </a:p>
          <a:p>
            <a:pPr marL="514350" indent="-514350">
              <a:lnSpc>
                <a:spcPct val="81000"/>
              </a:lnSpc>
              <a:buFontTx/>
              <a:buAutoNum type="arabicPeriod"/>
              <a:defRPr sz="3200"/>
            </a:pPr>
            <a:r>
              <a:t>Explosion in number of BITs</a:t>
            </a:r>
          </a:p>
          <a:p>
            <a:pPr marL="514350" indent="-514350">
              <a:lnSpc>
                <a:spcPct val="81000"/>
              </a:lnSpc>
              <a:buFontTx/>
              <a:buAutoNum type="arabicPeriod"/>
              <a:defRPr sz="3200"/>
            </a:pPr>
            <a:r>
              <a:t>Development of IIAs (intermingling of trade and investment provisions)</a:t>
            </a:r>
          </a:p>
          <a:p>
            <a:pPr marL="514350" indent="-514350">
              <a:lnSpc>
                <a:spcPct val="81000"/>
              </a:lnSpc>
              <a:buFontTx/>
              <a:buAutoNum type="arabicPeriod"/>
              <a:defRPr sz="3200"/>
            </a:pPr>
            <a:r>
              <a:t>Blurring of the distinction between developed and developing countries</a:t>
            </a:r>
          </a:p>
          <a:p>
            <a:pPr marL="514350" indent="-514350">
              <a:lnSpc>
                <a:spcPct val="81000"/>
              </a:lnSpc>
              <a:buFontTx/>
              <a:buAutoNum type="arabicPeriod"/>
              <a:defRPr sz="3200"/>
            </a:pPr>
            <a:r>
              <a:t>Huge increase in investor-State arbitration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0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20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20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20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iterate>
                                    <p:tmAbs val="0"/>
                                  </p:iterate>
                                  <p:childTnLst>
                                    <p:set>
                                      <p:cBhvr>
                                        <p:cTn id="22" fill="hold"/>
                                        <p:tgtEl>
                                          <p:spTgt spid="20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1" build="p" bldLvl="5" animBg="1"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3. The Global Era: ISDS</a:t>
            </a:r>
          </a:p>
        </p:txBody>
      </p:sp>
      <p:pic>
        <p:nvPicPr>
          <p:cNvPr id="211" name="Content Placeholder 4" descr="Content Placeholder 4"/>
          <p:cNvPicPr>
            <a:picLocks noChangeAspect="1"/>
          </p:cNvPicPr>
          <p:nvPr/>
        </p:nvPicPr>
        <p:blipFill>
          <a:blip r:embed="rId2"/>
          <a:stretch>
            <a:fillRect/>
          </a:stretch>
        </p:blipFill>
        <p:spPr>
          <a:xfrm>
            <a:off x="985731" y="1825625"/>
            <a:ext cx="7172537" cy="4351338"/>
          </a:xfrm>
          <a:prstGeom prst="rect">
            <a:avLst/>
          </a:prstGeom>
          <a:ln w="12700">
            <a:miter lim="400000"/>
          </a:ln>
        </p:spPr>
      </p:pic>
      <p:pic>
        <p:nvPicPr>
          <p:cNvPr id="212" name="Picture 2" descr="Picture 2"/>
          <p:cNvPicPr>
            <a:picLocks noChangeAspect="1"/>
          </p:cNvPicPr>
          <p:nvPr/>
        </p:nvPicPr>
        <p:blipFill>
          <a:blip r:embed="rId3"/>
          <a:stretch>
            <a:fillRect/>
          </a:stretch>
        </p:blipFill>
        <p:spPr>
          <a:xfrm>
            <a:off x="1210002" y="1591143"/>
            <a:ext cx="6948266" cy="4820301"/>
          </a:xfrm>
          <a:prstGeom prst="rect">
            <a:avLst/>
          </a:prstGeom>
          <a:ln w="12700">
            <a:miter lim="400000"/>
          </a:ln>
        </p:spPr>
      </p:pic>
      <p:pic>
        <p:nvPicPr>
          <p:cNvPr id="213" name="Grafik 2" descr="Grafik 2"/>
          <p:cNvPicPr>
            <a:picLocks noChangeAspect="1"/>
          </p:cNvPicPr>
          <p:nvPr/>
        </p:nvPicPr>
        <p:blipFill>
          <a:blip r:embed="rId4"/>
          <a:stretch>
            <a:fillRect/>
          </a:stretch>
        </p:blipFill>
        <p:spPr>
          <a:xfrm>
            <a:off x="401494" y="1340767"/>
            <a:ext cx="8534405" cy="5070142"/>
          </a:xfrm>
          <a:prstGeom prst="rect">
            <a:avLst/>
          </a:prstGeom>
          <a:ln w="12700">
            <a:miter lim="400000"/>
          </a:ln>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3. The Global Era: ISDS</a:t>
            </a:r>
          </a:p>
        </p:txBody>
      </p:sp>
      <p:pic>
        <p:nvPicPr>
          <p:cNvPr id="216" name="Content Placeholder 3" descr="Content Placeholder 3"/>
          <p:cNvPicPr>
            <a:picLocks noChangeAspect="1"/>
          </p:cNvPicPr>
          <p:nvPr/>
        </p:nvPicPr>
        <p:blipFill>
          <a:blip r:embed="rId2"/>
          <a:stretch>
            <a:fillRect/>
          </a:stretch>
        </p:blipFill>
        <p:spPr>
          <a:xfrm>
            <a:off x="0" y="1340767"/>
            <a:ext cx="9286996" cy="4482229"/>
          </a:xfrm>
          <a:prstGeom prst="rect">
            <a:avLst/>
          </a:prstGeom>
          <a:ln w="12700">
            <a:miter lim="400000"/>
          </a:ln>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3. The Global Era – A Multilateral Investment Treaty?</a:t>
            </a:r>
          </a:p>
        </p:txBody>
      </p:sp>
      <p:sp>
        <p:nvSpPr>
          <p:cNvPr id="219" name="Rectangle 3"/>
          <p:cNvSpPr txBox="1">
            <a:spLocks noGrp="1"/>
          </p:cNvSpPr>
          <p:nvPr>
            <p:ph type="body" idx="1"/>
          </p:nvPr>
        </p:nvSpPr>
        <p:spPr>
          <a:xfrm>
            <a:off x="395288" y="1341437"/>
            <a:ext cx="8748712" cy="4979988"/>
          </a:xfrm>
          <a:prstGeom prst="rect">
            <a:avLst/>
          </a:prstGeom>
        </p:spPr>
        <p:txBody>
          <a:bodyPr/>
          <a:lstStyle/>
          <a:p>
            <a:pPr>
              <a:defRPr sz="2400"/>
            </a:pPr>
            <a:endParaRPr/>
          </a:p>
          <a:p>
            <a:pPr>
              <a:defRPr sz="2400"/>
            </a:pPr>
            <a:endParaRPr/>
          </a:p>
          <a:p>
            <a:pPr>
              <a:defRPr sz="2400"/>
            </a:pPr>
            <a:r>
              <a:t>Abs–Shawcross did not result in a multilateral treaty, - opposed by capital-importing states. </a:t>
            </a:r>
          </a:p>
          <a:p>
            <a:pPr>
              <a:defRPr sz="2400"/>
            </a:pPr>
            <a:r>
              <a:t>But 1967 Draft OECD Convention based on it, and this was model for early European bilateral treaties.</a:t>
            </a:r>
          </a:p>
          <a:p>
            <a:pPr>
              <a:defRPr sz="2400"/>
            </a:pPr>
            <a:r>
              <a:t>In 1980s, proposal for a multilateral investment treaty at </a:t>
            </a:r>
            <a:r>
              <a:rPr u="sng"/>
              <a:t>the Uruguay Round of GATT</a:t>
            </a:r>
            <a:r>
              <a:t> also failed. </a:t>
            </a:r>
          </a:p>
          <a:p>
            <a:pPr>
              <a:defRPr sz="2400"/>
            </a:pPr>
            <a:r>
              <a:t>Recent EU Proposals for Multilateral Investment Court.</a:t>
            </a:r>
          </a:p>
          <a:p>
            <a:pPr>
              <a:defRPr sz="2400"/>
            </a:pPr>
            <a:r>
              <a:t>Significance of this story of failure?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1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21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21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2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1" build="p" bldLvl="5" animBg="1" advAuto="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Rectangle 2"/>
          <p:cNvSpPr txBox="1">
            <a:spLocks noGrp="1"/>
          </p:cNvSpPr>
          <p:nvPr>
            <p:ph type="title"/>
          </p:nvPr>
        </p:nvSpPr>
        <p:spPr>
          <a:xfrm>
            <a:off x="395288" y="-1"/>
            <a:ext cx="8120061" cy="1690690"/>
          </a:xfrm>
          <a:prstGeom prst="rect">
            <a:avLst/>
          </a:prstGeom>
        </p:spPr>
        <p:txBody>
          <a:bodyPr/>
          <a:lstStyle>
            <a:lvl1pPr algn="ctr">
              <a:defRPr sz="2600">
                <a:solidFill>
                  <a:srgbClr val="00B050"/>
                </a:solidFill>
                <a:latin typeface="+mn-lt"/>
                <a:ea typeface="+mn-ea"/>
                <a:cs typeface="+mn-cs"/>
                <a:sym typeface="Calibri"/>
              </a:defRPr>
            </a:lvl1pPr>
          </a:lstStyle>
          <a:p>
            <a:r>
              <a:t>Food for Thought</a:t>
            </a:r>
          </a:p>
        </p:txBody>
      </p:sp>
      <p:sp>
        <p:nvSpPr>
          <p:cNvPr id="222" name="Rectangle 3"/>
          <p:cNvSpPr txBox="1">
            <a:spLocks noGrp="1"/>
          </p:cNvSpPr>
          <p:nvPr>
            <p:ph type="body" idx="1"/>
          </p:nvPr>
        </p:nvSpPr>
        <p:spPr>
          <a:xfrm>
            <a:off x="395288" y="1341437"/>
            <a:ext cx="8748712" cy="4979988"/>
          </a:xfrm>
          <a:prstGeom prst="rect">
            <a:avLst/>
          </a:prstGeom>
        </p:spPr>
        <p:txBody>
          <a:bodyPr/>
          <a:lstStyle/>
          <a:p>
            <a:pPr>
              <a:defRPr sz="3200"/>
            </a:pPr>
            <a:endParaRPr/>
          </a:p>
          <a:p>
            <a:pPr>
              <a:defRPr sz="3200"/>
            </a:pPr>
            <a:endParaRPr/>
          </a:p>
          <a:p>
            <a:pPr>
              <a:defRPr sz="3200"/>
            </a:pPr>
            <a:r>
              <a:t>Even without a multilateral code, have capital-exporting states have managed to achieve, through networks of bilateral and regional treaties, the high level of protection for foreign investors that they long sought on behalf of international business?</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1416</TotalTime>
  <Words>3053</Words>
  <Application>Microsoft Macintosh PowerPoint</Application>
  <PresentationFormat>On-screen Show (4:3)</PresentationFormat>
  <Paragraphs>257</Paragraphs>
  <Slides>39</Slides>
  <Notes>5</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ＭＳ Ｐゴシック</vt:lpstr>
      <vt:lpstr>Arial</vt:lpstr>
      <vt:lpstr>Calibri</vt:lpstr>
      <vt:lpstr>Calibri Light</vt:lpstr>
      <vt:lpstr>Futura Medium</vt:lpstr>
      <vt:lpstr>Times New Roman</vt:lpstr>
      <vt:lpstr>Office Theme</vt:lpstr>
      <vt:lpstr>PowerPoint Presentation</vt:lpstr>
      <vt:lpstr>PowerPoint Presentation</vt:lpstr>
      <vt:lpstr>Our Job Today</vt:lpstr>
      <vt:lpstr>Housekeeping</vt:lpstr>
      <vt:lpstr>Assessment</vt:lpstr>
      <vt:lpstr>Timetable</vt:lpstr>
      <vt:lpstr>PowerPoint Presentation</vt:lpstr>
      <vt:lpstr>Group Task</vt:lpstr>
      <vt:lpstr>Foundational Concepts</vt:lpstr>
      <vt:lpstr>International Investment Law - Fundamentals</vt:lpstr>
      <vt:lpstr>Means of Protecting Foreign Direct Investments</vt:lpstr>
      <vt:lpstr>Historical development of international investment law</vt:lpstr>
      <vt:lpstr>1. The Colonial Era: Defining Characteristics</vt:lpstr>
      <vt:lpstr>1. The Colonial Era: Defining Characteristics</vt:lpstr>
      <vt:lpstr>1. The Colonial Era: Lack of International Legal Consensus</vt:lpstr>
      <vt:lpstr>1. The Colonial Era – International Minimum Standard</vt:lpstr>
      <vt:lpstr>1. The Colonial Era: Diplomatic Espousal</vt:lpstr>
      <vt:lpstr>1. The Colonial Era: Diplomatic Protection</vt:lpstr>
      <vt:lpstr>1. The Colonial Era: Diplomatic Protection</vt:lpstr>
      <vt:lpstr>1. The Colonial Era: Drago-Porter Convention 1907</vt:lpstr>
      <vt:lpstr>1.Moving on from colonialism: The ‘Great Compact’</vt:lpstr>
      <vt:lpstr>1. The Colonial Era: Recap</vt:lpstr>
      <vt:lpstr>2.The Post-Colonial Era</vt:lpstr>
      <vt:lpstr>2. Post-Colonial Era</vt:lpstr>
      <vt:lpstr>2. Post-Colonial Era</vt:lpstr>
      <vt:lpstr>2. Post-Colonial Era</vt:lpstr>
      <vt:lpstr>2. Post-Colonial Era</vt:lpstr>
      <vt:lpstr>2. Post-Colonial Era</vt:lpstr>
      <vt:lpstr>2. Post-Colonial Era</vt:lpstr>
      <vt:lpstr>2. Post-Colonial Era</vt:lpstr>
      <vt:lpstr>3. The Global Era</vt:lpstr>
      <vt:lpstr>3. The Global Era</vt:lpstr>
      <vt:lpstr>3. The Global Era</vt:lpstr>
      <vt:lpstr>3. The Global Era</vt:lpstr>
      <vt:lpstr>3. The Global Era</vt:lpstr>
      <vt:lpstr>3. The Global Era: ISDS</vt:lpstr>
      <vt:lpstr>3. The Global Era: ISDS</vt:lpstr>
      <vt:lpstr>3. The Global Era – A Multilateral Investment Treaty?</vt:lpstr>
      <vt:lpstr>Food for Thought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James Devaney</cp:lastModifiedBy>
  <cp:revision>10</cp:revision>
  <dcterms:modified xsi:type="dcterms:W3CDTF">2025-09-21T17:48:05Z</dcterms:modified>
  <cp:category/>
</cp:coreProperties>
</file>