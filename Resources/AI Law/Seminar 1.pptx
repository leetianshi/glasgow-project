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10" r:id="rId3"/>
    <p:sldId id="260" r:id="rId4"/>
    <p:sldId id="321" r:id="rId5"/>
    <p:sldId id="322" r:id="rId6"/>
    <p:sldId id="313" r:id="rId7"/>
    <p:sldId id="314" r:id="rId8"/>
    <p:sldId id="315" r:id="rId9"/>
    <p:sldId id="316" r:id="rId10"/>
    <p:sldId id="317" r:id="rId11"/>
    <p:sldId id="320" r:id="rId12"/>
    <p:sldId id="323" r:id="rId13"/>
    <p:sldId id="318" r:id="rId14"/>
    <p:sldId id="258" r:id="rId15"/>
    <p:sldId id="324" r:id="rId16"/>
    <p:sldId id="326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A63"/>
    <a:srgbClr val="FCC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/>
    <p:restoredTop sz="92511"/>
  </p:normalViewPr>
  <p:slideViewPr>
    <p:cSldViewPr snapToGrid="0">
      <p:cViewPr varScale="1">
        <p:scale>
          <a:sx n="91" d="100"/>
          <a:sy n="91" d="100"/>
        </p:scale>
        <p:origin x="1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8C642-7672-6745-A350-05D608ACCA4A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00B5D-1ADF-704B-8AB0-8178063854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8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00B5D-1ADF-704B-8AB0-81780638546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35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650F-DAE2-31A0-C77A-09490D0B8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E8222-8F96-1697-1A40-A5150581A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5563-8D35-78DA-5127-F3A03409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06302-BB40-F91B-1BFD-2053B246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7CF3-B694-1803-2C8B-90202A5B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8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CB21-1F3F-486A-AAAE-AD9F04C8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10C1-4E5E-1B96-4A91-4B4BF601D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EA33B-8A96-89E6-3E01-7BFDF4B8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4B37-4BAE-1756-FC94-3ED8E822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3073-7455-3ABF-DDBF-C4DC749A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44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A793-E711-2A7B-A74A-2D0954D0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EF3F6-F6B7-3D9A-B891-ABE4D531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BA99B-5A4D-B8F3-83FA-722F2F23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133B0-8440-8ED8-5540-903CF62F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442D1-EE74-4A86-8C40-4180FFB8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278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1DA0-BED9-B03C-00E2-17E0B5D0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C5A7-B116-2152-86B9-75DF30C03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B03F1-89D1-1148-E0AD-ED6EE9F94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0367B-44B7-6EC6-A2C9-75577CD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C378E-3142-F525-444D-39B80C71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20F74-7605-B48C-1F9F-93E1DD39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43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B48A6-EF57-B0F1-9DE3-E490D5E3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7B30C-24EC-1D10-79A3-70FA8726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E4BE0-563A-EB0B-C3EB-E3464E06F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1DD7C-E7AD-2E04-287B-761A72AAF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4938C-B3A1-7823-C394-6F762C6C2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D448C-2034-5B86-1156-E3C3518D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74591-C110-38C1-D4C8-1993D7A9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7FE2B2-1090-D94D-4570-FFA1CA4F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60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495E-8B3F-9541-3F76-3B618352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28E1C-ACD2-6A8E-3753-A160F94E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7076A-EF2A-15FE-64AD-3614E7D8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93597-63DE-7A71-39AE-4AB065F5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02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442D7-C0F6-F499-E942-BF20A4FD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03E99-3186-60FA-BC98-F5A69822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F3538-1FAE-4A30-38D5-F10468F85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0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0FB7-50CF-DBDF-4B76-2D5612F1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D58C-0D5A-07A5-E80E-D2BBB1B7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F99AD-68F1-BE54-3A92-8E603EF2D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CFF18-A857-C8F8-C40B-3AECDDAD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4D373-5DFD-5C76-9D1C-03E6F6BC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185F0-3DD3-1638-F0EB-E8E733D6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60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EFC7-D95F-DA2D-3F25-8023289F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1BA16-B34B-DD3A-CC39-2D4424D98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04958-BF25-8003-9AC5-57351A653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0C087-51E0-97B4-672F-AF761E9E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145FA-8011-B404-2BB1-DFBEF5FE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80146-C3B6-EF5F-0C11-071E1522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5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3C0F-A27D-1B78-9EE5-BD11996C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81507-DA88-1146-FE5F-80F173101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E2F53-70E3-A586-C08D-BA8F221E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444C-A636-123E-9C50-1959999A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A0C3E-BC37-C5E2-0FAA-33D1A81E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0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3C1AC-2011-538E-3E56-502033A6F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A6BB6-AC09-CBD1-AC6B-D93FE0A5B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617A-65EB-EE29-244E-6C494B409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85192-6493-F553-10B4-64F336D7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90D5-95F5-2219-BCD7-58B2835B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29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399D-728F-0465-35A0-5ECFA0D3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EE432-F1C8-E42B-4388-EA55EAC29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01CC-EACB-B93A-C244-31B9895BD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3D1BF-4550-5D46-BD2C-34200D38A04F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9C47-2DC8-E0C3-92A7-36C190CEE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05CFB-F4EF-4E27-2F86-BC3F767ED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53397-A6FE-8547-814E-29FF672D3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86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a.ac.uk/schools/law/staff/alineiramina/" TargetMode="External"/><Relationship Id="rId2" Type="http://schemas.openxmlformats.org/officeDocument/2006/relationships/hyperlink" Target="https://www.gla.ac.uk/schools/law/staff/zihaoli/#biograph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gla.ac.uk/schools/law/staff/alessioazzutti/#biography,articles,orci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zihao.li@Glasgow.ac.uk" TargetMode="External"/><Relationship Id="rId2" Type="http://schemas.openxmlformats.org/officeDocument/2006/relationships/hyperlink" Target="mailto:aline.Iramina@glasgow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a.ac.uk/myglasgow/sld/ai/student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OWER POINT_2.pdf" descr="POWER POINT_2.pdf">
            <a:extLst>
              <a:ext uri="{FF2B5EF4-FFF2-40B4-BE49-F238E27FC236}">
                <a16:creationId xmlns:a16="http://schemas.microsoft.com/office/drawing/2014/main" id="{832FC262-6102-B0DC-F841-4BA5B766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50" y="-74389"/>
            <a:ext cx="12215150" cy="6943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CREATe_logo.pdf" descr="CREATe_logo.pdf">
            <a:extLst>
              <a:ext uri="{FF2B5EF4-FFF2-40B4-BE49-F238E27FC236}">
                <a16:creationId xmlns:a16="http://schemas.microsoft.com/office/drawing/2014/main" id="{58FB4FC3-4541-F71D-E03C-885A8C3DA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53" y="138469"/>
            <a:ext cx="2276326" cy="77587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2DF302D2-88C5-9B40-DC93-D72F39DFA134}"/>
              </a:ext>
            </a:extLst>
          </p:cNvPr>
          <p:cNvSpPr txBox="1"/>
          <p:nvPr/>
        </p:nvSpPr>
        <p:spPr>
          <a:xfrm>
            <a:off x="1008919" y="1706033"/>
            <a:ext cx="10174161" cy="711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400" b="1" dirty="0"/>
              <a:t>Artificial Intelligence and Law</a:t>
            </a:r>
            <a:endParaRPr sz="5400" b="1" dirty="0"/>
          </a:p>
        </p:txBody>
      </p:sp>
      <p:sp>
        <p:nvSpPr>
          <p:cNvPr id="6" name="Shape 21">
            <a:extLst>
              <a:ext uri="{FF2B5EF4-FFF2-40B4-BE49-F238E27FC236}">
                <a16:creationId xmlns:a16="http://schemas.microsoft.com/office/drawing/2014/main" id="{2B83F965-28D4-7533-36E3-C6A67793F6E2}"/>
              </a:ext>
            </a:extLst>
          </p:cNvPr>
          <p:cNvSpPr txBox="1"/>
          <p:nvPr/>
        </p:nvSpPr>
        <p:spPr>
          <a:xfrm>
            <a:off x="1008919" y="2587744"/>
            <a:ext cx="271548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 defTabSz="584200">
              <a:lnSpc>
                <a:spcPct val="80000"/>
              </a:lnSpc>
              <a:defRPr sz="2200">
                <a:solidFill>
                  <a:srgbClr val="57545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400" dirty="0"/>
              <a:t>Aline Iramina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Lecturer in Law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Course Co-convenor</a:t>
            </a:r>
            <a:endParaRPr sz="2400" dirty="0"/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B6ADE3AC-A9C3-A1AD-E21A-EB65D2B19E8B}"/>
              </a:ext>
            </a:extLst>
          </p:cNvPr>
          <p:cNvSpPr txBox="1"/>
          <p:nvPr/>
        </p:nvSpPr>
        <p:spPr>
          <a:xfrm>
            <a:off x="419684" y="6340325"/>
            <a:ext cx="2309928" cy="404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 defTabSz="584200">
              <a:lnSpc>
                <a:spcPct val="80000"/>
              </a:lnSpc>
              <a:defRPr sz="2200">
                <a:solidFill>
                  <a:srgbClr val="57545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</a:rPr>
              <a:t>16 January 2026</a:t>
            </a:r>
            <a:endParaRPr sz="2400" b="1" dirty="0">
              <a:solidFill>
                <a:schemeClr val="bg1"/>
              </a:solidFill>
            </a:endParaRPr>
          </a:p>
        </p:txBody>
      </p:sp>
      <p:grpSp>
        <p:nvGrpSpPr>
          <p:cNvPr id="9" name="Gruppo">
            <a:extLst>
              <a:ext uri="{FF2B5EF4-FFF2-40B4-BE49-F238E27FC236}">
                <a16:creationId xmlns:a16="http://schemas.microsoft.com/office/drawing/2014/main" id="{873EFBFB-70D4-263E-D2E9-E97A1B010E69}"/>
              </a:ext>
            </a:extLst>
          </p:cNvPr>
          <p:cNvGrpSpPr/>
          <p:nvPr/>
        </p:nvGrpSpPr>
        <p:grpSpPr>
          <a:xfrm>
            <a:off x="8970379" y="6377649"/>
            <a:ext cx="3054409" cy="464481"/>
            <a:chOff x="0" y="0"/>
            <a:chExt cx="3795702" cy="548104"/>
          </a:xfrm>
        </p:grpSpPr>
        <p:pic>
          <p:nvPicPr>
            <p:cNvPr id="10" name="user_logo.pdf" descr="user_logo.pdf">
              <a:extLst>
                <a:ext uri="{FF2B5EF4-FFF2-40B4-BE49-F238E27FC236}">
                  <a16:creationId xmlns:a16="http://schemas.microsoft.com/office/drawing/2014/main" id="{A344FB82-FB86-9128-58F9-3796C92A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8940" y="0"/>
              <a:ext cx="846763" cy="5481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Evidence_logo.pdf" descr="Evidence_logo.pdf">
              <a:extLst>
                <a:ext uri="{FF2B5EF4-FFF2-40B4-BE49-F238E27FC236}">
                  <a16:creationId xmlns:a16="http://schemas.microsoft.com/office/drawing/2014/main" id="{B589AB63-6C71-7A12-3E69-E76E87750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16" b="316"/>
            <a:stretch>
              <a:fillRect/>
            </a:stretch>
          </p:blipFill>
          <p:spPr>
            <a:xfrm>
              <a:off x="0" y="9515"/>
              <a:ext cx="1374013" cy="5291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HISTORY_logo.pdf" descr="HISTORY_logo.pdf">
              <a:extLst>
                <a:ext uri="{FF2B5EF4-FFF2-40B4-BE49-F238E27FC236}">
                  <a16:creationId xmlns:a16="http://schemas.microsoft.com/office/drawing/2014/main" id="{B63FD0F8-D5C1-D589-584A-A35C3DF7B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042" b="2042"/>
            <a:stretch>
              <a:fillRect/>
            </a:stretch>
          </p:blipFill>
          <p:spPr>
            <a:xfrm>
              <a:off x="1520741" y="7289"/>
              <a:ext cx="1281679" cy="5336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3" name="Picture 12" descr="Logo&#10;&#10;Description automatically generated with medium confidence">
            <a:extLst>
              <a:ext uri="{FF2B5EF4-FFF2-40B4-BE49-F238E27FC236}">
                <a16:creationId xmlns:a16="http://schemas.microsoft.com/office/drawing/2014/main" id="{E6F48EB5-1F7F-98EE-ED8D-B0D481809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122" y="254972"/>
            <a:ext cx="1753015" cy="542869"/>
          </a:xfrm>
          <a:prstGeom prst="rect">
            <a:avLst/>
          </a:prstGeom>
        </p:spPr>
      </p:pic>
      <p:sp>
        <p:nvSpPr>
          <p:cNvPr id="2" name="Shape 21">
            <a:extLst>
              <a:ext uri="{FF2B5EF4-FFF2-40B4-BE49-F238E27FC236}">
                <a16:creationId xmlns:a16="http://schemas.microsoft.com/office/drawing/2014/main" id="{81FAB03B-88AD-7AF9-75A1-DCBF44149E44}"/>
              </a:ext>
            </a:extLst>
          </p:cNvPr>
          <p:cNvSpPr txBox="1"/>
          <p:nvPr/>
        </p:nvSpPr>
        <p:spPr>
          <a:xfrm>
            <a:off x="419684" y="6007722"/>
            <a:ext cx="102657" cy="379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 defTabSz="584200">
              <a:lnSpc>
                <a:spcPct val="80000"/>
              </a:lnSpc>
              <a:defRPr sz="2200">
                <a:solidFill>
                  <a:srgbClr val="57545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02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7DFC-3EB9-13C6-C94A-2CC6FB15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0;p7" descr="PP_light background2.pdf">
            <a:extLst>
              <a:ext uri="{FF2B5EF4-FFF2-40B4-BE49-F238E27FC236}">
                <a16:creationId xmlns:a16="http://schemas.microsoft.com/office/drawing/2014/main" id="{989917F3-595C-F48C-2182-859EEFB3E2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8;p7" descr="PP_light background.pdf">
            <a:extLst>
              <a:ext uri="{FF2B5EF4-FFF2-40B4-BE49-F238E27FC236}">
                <a16:creationId xmlns:a16="http://schemas.microsoft.com/office/drawing/2014/main" id="{184C3168-FDD7-F4CD-C082-AE5B6C2BF4AD}"/>
              </a:ext>
            </a:extLst>
          </p:cNvPr>
          <p:cNvPicPr preferRelativeResize="0"/>
          <p:nvPr/>
        </p:nvPicPr>
        <p:blipFill rotWithShape="1">
          <a:blip r:embed="rId3">
            <a:alphaModFix amt="39765"/>
          </a:blip>
          <a:srcRect/>
          <a:stretch/>
        </p:blipFill>
        <p:spPr>
          <a:xfrm>
            <a:off x="0" y="1523"/>
            <a:ext cx="12192000" cy="69664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7">
            <a:extLst>
              <a:ext uri="{FF2B5EF4-FFF2-40B4-BE49-F238E27FC236}">
                <a16:creationId xmlns:a16="http://schemas.microsoft.com/office/drawing/2014/main" id="{07D5C814-F89B-D068-05F6-FB9AFB92C4ED}"/>
              </a:ext>
            </a:extLst>
          </p:cNvPr>
          <p:cNvSpPr txBox="1"/>
          <p:nvPr/>
        </p:nvSpPr>
        <p:spPr>
          <a:xfrm>
            <a:off x="1244961" y="911674"/>
            <a:ext cx="9702077" cy="454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rmAutofit/>
          </a:bodyPr>
          <a:lstStyle/>
          <a:p>
            <a:pPr algn="ctr">
              <a:buClr>
                <a:srgbClr val="575453"/>
              </a:buClr>
              <a:buSzPts val="5500"/>
            </a:pPr>
            <a:r>
              <a:rPr lang="en-GB" sz="4600" b="1" dirty="0">
                <a:solidFill>
                  <a:srgbClr val="F47A63"/>
                </a:solidFill>
                <a:latin typeface="Barlow-Medium"/>
                <a:sym typeface="Barlow"/>
              </a:rPr>
              <a:t>Part I - Overview of the course</a:t>
            </a:r>
          </a:p>
        </p:txBody>
      </p:sp>
    </p:spTree>
    <p:extLst>
      <p:ext uri="{BB962C8B-B14F-4D97-AF65-F5344CB8AC3E}">
        <p14:creationId xmlns:p14="http://schemas.microsoft.com/office/powerpoint/2010/main" val="199136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8AB4-B553-6BFC-674F-397B8424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759792"/>
            <a:ext cx="10918373" cy="394776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This course</a:t>
            </a:r>
            <a:r>
              <a:rPr lang="zh-CN" altLang="en-US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</a:t>
            </a:r>
            <a:r>
              <a:rPr lang="en-GB" altLang="zh-CN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explores the relationship between </a:t>
            </a:r>
            <a:r>
              <a:rPr lang="en-GB" altLang="zh-CN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artificial intelligence, societal implications, and the evolving landscape of legal approaches</a:t>
            </a:r>
            <a:r>
              <a:rPr lang="en-GB" altLang="zh-CN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. Students will be exposed to interdisciplinary perspectives, bridging technical insights on AI with legal theories, regulatory approaches, and emerging challenges in the digital age.</a:t>
            </a: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Throughout the semester, you will critically engage with legal issues surrounding AI within the broader context of international debates. Topics of exploration include AI’s influence on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culture and knowledge creation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; the ethical, societal, and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potential harms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presented by AI; the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use of AI in governance and policymaking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; and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AI’s intersections with privacy, data rights, data ownership, bias, and emerging global AI regulation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trends. It provides an overview of the key regulatory debates concerning the use and regulation of Artificial Intelligence across different fields of law (AI Act, data protection, platform regulation)</a:t>
            </a: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0C344FBC-BE73-4E33-9173-067876087950}"/>
              </a:ext>
            </a:extLst>
          </p:cNvPr>
          <p:cNvSpPr txBox="1"/>
          <p:nvPr/>
        </p:nvSpPr>
        <p:spPr>
          <a:xfrm>
            <a:off x="636813" y="947239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What is the course about?</a:t>
            </a:r>
            <a:endParaRPr sz="4000" dirty="0">
              <a:latin typeface="Barlow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9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7777-0484-454D-506B-AF078438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6F69C-DDC9-CEBA-42E9-DC8DE5714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629163"/>
            <a:ext cx="10918373" cy="506192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The course aims to provide: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Technical &amp; societal understanding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To provide you with insights into the technical nuances of AI and its broader societal implications.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Regulatory awareness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sym typeface="Wingdings" panose="05000000000000000000" pitchFamily="2" charset="2"/>
              </a:rPr>
              <a:t>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Introduce you to relevant regulatory frameworks governing AI, highlighting the challenges and nuances of traditional UK/EU legal systems around rapidly advancing technologies.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Analytical skills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Cultivate the ability to evaluate the complexities that AI introduces to legal systems, ethics, privacy, and societal norms from an interdisciplinary perspective.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International perspective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Foster an understanding and evaluation of different approaches adopted to regulate AI.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Independent learning --&gt;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Foster a spirit of independent learning, encouraging students to develop the skills to self-navigate through emerging issues, debates, and technological advances at the intersection between AI and law.</a:t>
            </a: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78D70964-B187-0363-1AD8-AB1920F49447}"/>
              </a:ext>
            </a:extLst>
          </p:cNvPr>
          <p:cNvSpPr txBox="1"/>
          <p:nvPr/>
        </p:nvSpPr>
        <p:spPr>
          <a:xfrm>
            <a:off x="636813" y="848296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What is the course about?</a:t>
            </a:r>
            <a:endParaRPr sz="4000" dirty="0">
              <a:latin typeface="Barlow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89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82CD0-954B-54F3-A62D-BC43B0A3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970E-C349-F711-6907-3F26D2063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629164"/>
            <a:ext cx="10918373" cy="472809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The course will allow you to:</a:t>
            </a:r>
          </a:p>
          <a:p>
            <a:pPr lvl="1"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Identify the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technical aspects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of artificial intelligence technology and the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different types of harm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which can occur when organisations deploy this technology.</a:t>
            </a:r>
          </a:p>
          <a:p>
            <a:pPr lvl="1"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Interpret and apply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key concepts and theories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in legal regulatory areas, such as international human rights, data protection and privacy, law and social justice.</a:t>
            </a:r>
          </a:p>
          <a:p>
            <a:pPr lvl="1"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Analyse and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compare AI governance strategies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across major jurisdictions.</a:t>
            </a:r>
          </a:p>
          <a:p>
            <a:pPr lvl="1"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Propose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reforms to existing legal areas concerning AI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that address both individual interests and related policy and societal concerns</a:t>
            </a: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6F63ADC6-15EC-C2AB-A719-8958F210B05D}"/>
              </a:ext>
            </a:extLst>
          </p:cNvPr>
          <p:cNvSpPr txBox="1"/>
          <p:nvPr/>
        </p:nvSpPr>
        <p:spPr>
          <a:xfrm>
            <a:off x="636813" y="848296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What is the course about?</a:t>
            </a:r>
            <a:endParaRPr sz="4000" dirty="0">
              <a:latin typeface="Barlow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73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193D-F202-A0A0-389C-54BD76BE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7EFBC-C8A2-0B6A-4496-B64A4F2A8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70" y="1844378"/>
            <a:ext cx="4869464" cy="34063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The teaching team is composed of:</a:t>
            </a:r>
          </a:p>
          <a:p>
            <a:pPr marL="0" indent="0">
              <a:lnSpc>
                <a:spcPct val="110000"/>
              </a:lnSpc>
              <a:buNone/>
            </a:pP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hlinkClick r:id="rId2"/>
              </a:rPr>
              <a:t>Zihao Li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(convenor)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hlinkClick r:id="rId3"/>
              </a:rPr>
              <a:t>Aline Iramina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(convenor)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hlinkClick r:id="rId4"/>
              </a:rPr>
              <a:t>Alessio Azzutti</a:t>
            </a: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  <a:p>
            <a:pPr marL="0" indent="0">
              <a:lnSpc>
                <a:spcPct val="110000"/>
              </a:lnSpc>
              <a:buNone/>
            </a:pPr>
            <a:endParaRPr lang="en-GB" sz="500" dirty="0">
              <a:solidFill>
                <a:srgbClr val="575453"/>
              </a:solidFill>
              <a:latin typeface="Source Sans Pro"/>
              <a:ea typeface="Source Sans Pro"/>
            </a:endParaRP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1ED92527-C0C2-0B2D-8099-11F1AB0DF9C3}"/>
              </a:ext>
            </a:extLst>
          </p:cNvPr>
          <p:cNvSpPr txBox="1"/>
          <p:nvPr/>
        </p:nvSpPr>
        <p:spPr>
          <a:xfrm>
            <a:off x="766023" y="950670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Who will be teaching you?</a:t>
            </a:r>
            <a:endParaRPr sz="4000" dirty="0">
              <a:latin typeface="Barlow Black" panose="00000A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53FEE1-177B-A18F-5FC2-B62517034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255" y="1725819"/>
            <a:ext cx="3191975" cy="340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4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FA40-91F4-641D-A7AC-5BD16239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FB24A-DFEA-5E25-DAEC-E797C0ED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505184"/>
            <a:ext cx="10918373" cy="449805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Questions on the course and assessment: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Aline Iramina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: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hlinkClick r:id="rId2"/>
              </a:rPr>
              <a:t>aline.Iramina@glasgow.ac.uk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(office hours:  Wednesdays, from 2-3pm, by appointment only)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Zihao Li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: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hlinkClick r:id="rId3"/>
              </a:rPr>
              <a:t>zihao.li@Glasgow.ac.uk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(office hours: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  <a:sym typeface="Source Sans Pro"/>
              </a:rPr>
              <a:t>Mondays, 2:00-3:00pm, by appointment only)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Questions on a particular seminar: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Contact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member of the teaching team giving the seminar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All email addresses &amp; information on office hours are available on Moodle.</a:t>
            </a: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CDB2A43A-5E00-4927-E9F1-A7B297547E41}"/>
              </a:ext>
            </a:extLst>
          </p:cNvPr>
          <p:cNvSpPr txBox="1"/>
          <p:nvPr/>
        </p:nvSpPr>
        <p:spPr>
          <a:xfrm>
            <a:off x="636813" y="714385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Who should you contact?</a:t>
            </a:r>
            <a:endParaRPr sz="4000" dirty="0">
              <a:latin typeface="Barlow Black" panose="00000A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6BA28C-B589-A4F9-B031-64665A870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962" y="5016104"/>
            <a:ext cx="1497610" cy="159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13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2BB40-526C-02A1-D917-F7215B552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">
            <a:extLst>
              <a:ext uri="{FF2B5EF4-FFF2-40B4-BE49-F238E27FC236}">
                <a16:creationId xmlns:a16="http://schemas.microsoft.com/office/drawing/2014/main" id="{680B0B4F-3F50-0D9E-69C0-B1C486FC7236}"/>
              </a:ext>
            </a:extLst>
          </p:cNvPr>
          <p:cNvSpPr txBox="1"/>
          <p:nvPr/>
        </p:nvSpPr>
        <p:spPr>
          <a:xfrm>
            <a:off x="791309" y="522458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Schedule AI and Law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99AD48-0061-835C-878E-F964913421B4}"/>
              </a:ext>
            </a:extLst>
          </p:cNvPr>
          <p:cNvSpPr/>
          <p:nvPr/>
        </p:nvSpPr>
        <p:spPr>
          <a:xfrm>
            <a:off x="5634298" y="3024291"/>
            <a:ext cx="923403" cy="8094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1A345B-1FD1-EEED-67B3-6F37EFFFB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742025"/>
              </p:ext>
            </p:extLst>
          </p:nvPr>
        </p:nvGraphicFramePr>
        <p:xfrm>
          <a:off x="791309" y="1405290"/>
          <a:ext cx="10820120" cy="529448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604200">
                  <a:extLst>
                    <a:ext uri="{9D8B030D-6E8A-4147-A177-3AD203B41FA5}">
                      <a16:colId xmlns:a16="http://schemas.microsoft.com/office/drawing/2014/main" val="2748228620"/>
                    </a:ext>
                  </a:extLst>
                </a:gridCol>
                <a:gridCol w="8215920">
                  <a:extLst>
                    <a:ext uri="{9D8B030D-6E8A-4147-A177-3AD203B41FA5}">
                      <a16:colId xmlns:a16="http://schemas.microsoft.com/office/drawing/2014/main" val="2978192849"/>
                    </a:ext>
                  </a:extLst>
                </a:gridCol>
              </a:tblGrid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16 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latin typeface="Barlow" panose="00000500000000000000" pitchFamily="2" charset="0"/>
                        </a:rPr>
                        <a:t>Introduction (Iramina) </a:t>
                      </a:r>
                      <a:endParaRPr lang="en-GB" sz="1800" b="0" dirty="0">
                        <a:latin typeface="Barlow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453687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23 January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latin typeface="Barlow" panose="00000500000000000000" pitchFamily="2" charset="0"/>
                        </a:rPr>
                        <a:t>The risks posed by AI: algorithmic discrimination, hallucinations and stochastic parrots, misuse of personal data (Li) </a:t>
                      </a:r>
                      <a:endParaRPr lang="en-GB" sz="1800" b="0" dirty="0">
                        <a:latin typeface="Barlow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71250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30 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Governing AI: introduction to the theories and principles of regulation  (Iramina)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4938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06 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Rights-based approach to governing AI technology (Li)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03881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13 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Risk-based approach to regulating AI technology: the case of the EU (Li)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50670"/>
                  </a:ext>
                </a:extLst>
              </a:tr>
              <a:tr h="446036">
                <a:tc gridSpan="2"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Barlow" panose="00000500000000000000" pitchFamily="2" charset="0"/>
                        </a:rPr>
                        <a:t>Reading week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67847"/>
                  </a:ext>
                </a:extLst>
              </a:tr>
              <a:tr h="61396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27 February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Formative Assessment | Expanding Horizons: A broad look at AI Regulation in the UK, China and the US (Li)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942572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06 March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ICO  (Topic TBC)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22690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13 March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AI lifecycle (</a:t>
                      </a:r>
                      <a:r>
                        <a:rPr lang="en-GB" sz="1800" b="0" dirty="0" err="1">
                          <a:latin typeface="Barlow" panose="00000500000000000000" pitchFamily="2" charset="0"/>
                        </a:rPr>
                        <a:t>Azzutti</a:t>
                      </a:r>
                      <a:r>
                        <a:rPr lang="en-GB" sz="1800" b="0" dirty="0">
                          <a:latin typeface="Barlow" panose="00000500000000000000" pitchFamily="2" charset="0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211569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20 March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AI value chains (</a:t>
                      </a:r>
                      <a:r>
                        <a:rPr lang="en-GB" sz="1800" b="0" dirty="0" err="1">
                          <a:latin typeface="Barlow" panose="00000500000000000000" pitchFamily="2" charset="0"/>
                        </a:rPr>
                        <a:t>Azzutti</a:t>
                      </a:r>
                      <a:r>
                        <a:rPr lang="en-GB" sz="1800" b="0" dirty="0"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778336"/>
                  </a:ext>
                </a:extLst>
              </a:tr>
              <a:tr h="446036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27 March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latin typeface="Barlow" panose="00000500000000000000" pitchFamily="2" charset="0"/>
                        </a:rPr>
                        <a:t>Revision | AI technology as a tool of governance (Iramina)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195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79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B87CD-25DA-39A6-E33C-79DD66AA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">
            <a:extLst>
              <a:ext uri="{FF2B5EF4-FFF2-40B4-BE49-F238E27FC236}">
                <a16:creationId xmlns:a16="http://schemas.microsoft.com/office/drawing/2014/main" id="{14B91346-BFB7-C17C-2322-D182C275911A}"/>
              </a:ext>
            </a:extLst>
          </p:cNvPr>
          <p:cNvSpPr txBox="1"/>
          <p:nvPr/>
        </p:nvSpPr>
        <p:spPr>
          <a:xfrm>
            <a:off x="636813" y="732181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Reading lists</a:t>
            </a:r>
            <a:endParaRPr sz="4000" dirty="0">
              <a:latin typeface="Barlow Black" panose="00000A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3D440B-BB4E-855A-258A-7851D71E4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540625"/>
            <a:ext cx="10918373" cy="45851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Readings for this course are provided in the following formats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•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Full reading list (to be updated)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Both the essential and recommended readings for all seminars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Statutory materials, recommended books, blogs and online resources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Seminar-specific reading lists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Both essential and recommended reading for a particular seminar. You are required to tackle essential reading in advance of the seminar.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Recommended reading list provides further context. Lists are made available and ‘finalised’ normally a week before each seminar.</a:t>
            </a: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23121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AFB3-8C42-C5F9-58B0-A2B6CC09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">
            <a:extLst>
              <a:ext uri="{FF2B5EF4-FFF2-40B4-BE49-F238E27FC236}">
                <a16:creationId xmlns:a16="http://schemas.microsoft.com/office/drawing/2014/main" id="{E4237B1D-9602-083B-8307-E5257C9813E7}"/>
              </a:ext>
            </a:extLst>
          </p:cNvPr>
          <p:cNvSpPr txBox="1"/>
          <p:nvPr/>
        </p:nvSpPr>
        <p:spPr>
          <a:xfrm>
            <a:off x="636813" y="804753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Formative assessment</a:t>
            </a:r>
            <a:endParaRPr sz="4000" dirty="0">
              <a:latin typeface="Barlow Black" panose="00000A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73AAE5-BB3E-C5A9-20A4-5DD981EC7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756229"/>
            <a:ext cx="10918373" cy="458519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Up to </a:t>
            </a: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1,000 words 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answer to a mock exam question 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Deadline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: </a:t>
            </a:r>
            <a:r>
              <a:rPr lang="en-GB" sz="2000" b="1" dirty="0">
                <a:solidFill>
                  <a:srgbClr val="FF0000"/>
                </a:solidFill>
                <a:latin typeface="Source Sans Pro"/>
                <a:ea typeface="Source Sans Pro"/>
              </a:rPr>
              <a:t>13 February 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Question will be released one week in advance </a:t>
            </a:r>
            <a:r>
              <a:rPr lang="en-GB" sz="2000" b="1" dirty="0">
                <a:solidFill>
                  <a:srgbClr val="FF0000"/>
                </a:solidFill>
                <a:latin typeface="Source Sans Pro"/>
                <a:ea typeface="Source Sans Pro"/>
              </a:rPr>
              <a:t>(06 February)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Feedback session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: </a:t>
            </a:r>
            <a:r>
              <a:rPr lang="en-US" altLang="zh-CN" sz="2000" dirty="0">
                <a:solidFill>
                  <a:srgbClr val="575453"/>
                </a:solidFill>
                <a:latin typeface="Source Sans Pro"/>
                <a:ea typeface="Source Sans Pro"/>
              </a:rPr>
              <a:t>27 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February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Formative assessment is not mandatory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It is an opportunity to attempt to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answer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 an exam question in advance of the summative assessment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There are </a:t>
            </a: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no extensions!</a:t>
            </a:r>
          </a:p>
        </p:txBody>
      </p:sp>
    </p:spTree>
    <p:extLst>
      <p:ext uri="{BB962C8B-B14F-4D97-AF65-F5344CB8AC3E}">
        <p14:creationId xmlns:p14="http://schemas.microsoft.com/office/powerpoint/2010/main" val="877918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2821-D0BE-C821-513A-799E3AD4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">
            <a:extLst>
              <a:ext uri="{FF2B5EF4-FFF2-40B4-BE49-F238E27FC236}">
                <a16:creationId xmlns:a16="http://schemas.microsoft.com/office/drawing/2014/main" id="{7CCD851A-5211-C621-A202-7FBA1A9CD83F}"/>
              </a:ext>
            </a:extLst>
          </p:cNvPr>
          <p:cNvSpPr txBox="1"/>
          <p:nvPr/>
        </p:nvSpPr>
        <p:spPr>
          <a:xfrm>
            <a:off x="636813" y="703153"/>
            <a:ext cx="726723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Summative assessment</a:t>
            </a:r>
            <a:endParaRPr sz="4000" dirty="0">
              <a:latin typeface="Barlow Black" panose="00000A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828E79-D07C-523F-E7D7-4E32E2E5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567543"/>
            <a:ext cx="10918373" cy="477388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3-hour seen examination (100% final mark)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You must answer 3 out of 6 questions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Max 3.750 words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Questions will be made available </a:t>
            </a:r>
            <a:r>
              <a:rPr lang="en-GB" sz="2000" b="1" dirty="0">
                <a:solidFill>
                  <a:srgbClr val="575453"/>
                </a:solidFill>
                <a:latin typeface="Source Sans Pro"/>
                <a:ea typeface="Source Sans Pro"/>
              </a:rPr>
              <a:t>at least 48h</a:t>
            </a: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 in advance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Source Sans Pro"/>
                <a:ea typeface="Source Sans Pro"/>
              </a:rPr>
              <a:t>Spring exam diet</a:t>
            </a:r>
          </a:p>
          <a:p>
            <a:pPr>
              <a:lnSpc>
                <a:spcPct val="110000"/>
              </a:lnSpc>
            </a:pP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/>
                <a:ea typeface="Source Sans Pro"/>
              </a:rPr>
              <a:t>Everything will take place online! </a:t>
            </a:r>
          </a:p>
        </p:txBody>
      </p:sp>
    </p:spTree>
    <p:extLst>
      <p:ext uri="{BB962C8B-B14F-4D97-AF65-F5344CB8AC3E}">
        <p14:creationId xmlns:p14="http://schemas.microsoft.com/office/powerpoint/2010/main" val="3700045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9C52-B168-4851-949C-A1F15CFB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">
            <a:extLst>
              <a:ext uri="{FF2B5EF4-FFF2-40B4-BE49-F238E27FC236}">
                <a16:creationId xmlns:a16="http://schemas.microsoft.com/office/drawing/2014/main" id="{D8E82561-F5A2-CAD2-8747-C21ADD62F907}"/>
              </a:ext>
            </a:extLst>
          </p:cNvPr>
          <p:cNvSpPr txBox="1"/>
          <p:nvPr/>
        </p:nvSpPr>
        <p:spPr>
          <a:xfrm>
            <a:off x="636813" y="703153"/>
            <a:ext cx="1138101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 defTabSz="584200">
              <a:lnSpc>
                <a:spcPct val="90000"/>
              </a:lnSpc>
              <a:defRPr sz="8300">
                <a:solidFill>
                  <a:srgbClr val="F47A63"/>
                </a:solidFill>
                <a:latin typeface="Barlow-Medium"/>
                <a:ea typeface="Barlow-Medium"/>
                <a:cs typeface="Barlow-Medium"/>
                <a:sym typeface="Barlow-Medium"/>
              </a:defRPr>
            </a:pPr>
            <a:r>
              <a:rPr lang="en-GB" sz="4000" dirty="0">
                <a:latin typeface="Barlow Black" panose="00000A00000000000000" pitchFamily="2" charset="0"/>
              </a:rPr>
              <a:t>Student conduct, plagiarism and AI policy </a:t>
            </a:r>
            <a:endParaRPr sz="4000" dirty="0">
              <a:latin typeface="Barlow Black" panose="00000A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A5868E-3A12-8472-0C1B-B31B4BB2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3" y="1509485"/>
            <a:ext cx="10918373" cy="516708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Plagiarism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: the incorporation of material without formal and proper acknowledgement (even if no deliberate intent to cheat) can constitute plagiarism.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e.g., direct quotation, a close paraphrase, an unacknowledged summary of a source; direct copying or transcription.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Current AI policy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: all your submitted work </a:t>
            </a:r>
            <a:r>
              <a:rPr lang="en-GB" sz="2000" u="sng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must be of your own creation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, y</a:t>
            </a:r>
            <a:r>
              <a:rPr lang="en-GB" sz="2000" u="sng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our own critical evaluation process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, </a:t>
            </a:r>
            <a:r>
              <a:rPr lang="en-GB" sz="2000" u="sng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and your own experience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. We expect your submitted work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to clearly and transparently acknowledge any sources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 –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including AI 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– that have helped you reach your conclusion or that have added to the work in any way.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Using any form of AI or other computational aids in your university coursework, study, exams, or research </a:t>
            </a:r>
            <a:r>
              <a:rPr lang="en-GB" sz="2000" b="1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without acknowledging that input counts as academic misconduct</a:t>
            </a: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Use AI with caution! AI tools are prone to biases, inaccuracies and mistakes.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>
                <a:solidFill>
                  <a:srgbClr val="575453"/>
                </a:solidFill>
                <a:latin typeface="Barlow" panose="00000500000000000000" pitchFamily="2" charset="0"/>
                <a:ea typeface="Source Sans Pro"/>
              </a:rPr>
              <a:t>More information available on Moodle and the University website: </a:t>
            </a:r>
            <a:r>
              <a:rPr lang="en-GB" sz="2000" dirty="0">
                <a:hlinkClick r:id="rId2"/>
              </a:rPr>
              <a:t>https://www.gla.ac.uk/myglasgow/sld/ai/students/ - </a:t>
            </a:r>
            <a:r>
              <a:rPr lang="en-GB" sz="2000" dirty="0"/>
              <a:t> </a:t>
            </a:r>
            <a:endParaRPr lang="en-GB" sz="2000" dirty="0">
              <a:solidFill>
                <a:srgbClr val="575453"/>
              </a:solidFill>
              <a:latin typeface="Barlow" panose="00000500000000000000" pitchFamily="2" charset="0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04808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E0A5E-CD43-E9D8-85A1-7EC051D6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0;p7" descr="PP_light background2.pdf">
            <a:extLst>
              <a:ext uri="{FF2B5EF4-FFF2-40B4-BE49-F238E27FC236}">
                <a16:creationId xmlns:a16="http://schemas.microsoft.com/office/drawing/2014/main" id="{7F458B89-46E1-98D2-7F36-0A90C821D5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8;p7" descr="PP_light background.pdf">
            <a:extLst>
              <a:ext uri="{FF2B5EF4-FFF2-40B4-BE49-F238E27FC236}">
                <a16:creationId xmlns:a16="http://schemas.microsoft.com/office/drawing/2014/main" id="{94D1310F-EF61-7DF1-1B3C-ABC4351789A9}"/>
              </a:ext>
            </a:extLst>
          </p:cNvPr>
          <p:cNvPicPr preferRelativeResize="0"/>
          <p:nvPr/>
        </p:nvPicPr>
        <p:blipFill rotWithShape="1">
          <a:blip r:embed="rId3">
            <a:alphaModFix amt="39765"/>
          </a:blip>
          <a:srcRect/>
          <a:stretch/>
        </p:blipFill>
        <p:spPr>
          <a:xfrm>
            <a:off x="0" y="1523"/>
            <a:ext cx="12192000" cy="69664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7">
            <a:extLst>
              <a:ext uri="{FF2B5EF4-FFF2-40B4-BE49-F238E27FC236}">
                <a16:creationId xmlns:a16="http://schemas.microsoft.com/office/drawing/2014/main" id="{1BE49DCF-1056-406F-38CD-F689DD2DCE69}"/>
              </a:ext>
            </a:extLst>
          </p:cNvPr>
          <p:cNvSpPr txBox="1"/>
          <p:nvPr/>
        </p:nvSpPr>
        <p:spPr>
          <a:xfrm>
            <a:off x="1244961" y="911674"/>
            <a:ext cx="9702077" cy="454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rmAutofit/>
          </a:bodyPr>
          <a:lstStyle/>
          <a:p>
            <a:pPr algn="ctr">
              <a:buClr>
                <a:srgbClr val="575453"/>
              </a:buClr>
              <a:buSzPts val="5500"/>
            </a:pPr>
            <a:r>
              <a:rPr lang="en-GB" sz="4000" b="1" i="0" u="none" strike="noStrike" cap="none" dirty="0">
                <a:solidFill>
                  <a:srgbClr val="F57A63"/>
                </a:solidFill>
                <a:latin typeface="Barlow Black" panose="00000A00000000000000" pitchFamily="2" charset="0"/>
                <a:ea typeface="Barlow"/>
                <a:cs typeface="Barlow"/>
                <a:sym typeface="Barlow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3772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0;p7" descr="PP_light background2.pdf">
            <a:extLst>
              <a:ext uri="{FF2B5EF4-FFF2-40B4-BE49-F238E27FC236}">
                <a16:creationId xmlns:a16="http://schemas.microsoft.com/office/drawing/2014/main" id="{C62F1CE8-D5CC-BB07-FF3E-5B0385AB96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8;p7" descr="PP_light background.pdf">
            <a:extLst>
              <a:ext uri="{FF2B5EF4-FFF2-40B4-BE49-F238E27FC236}">
                <a16:creationId xmlns:a16="http://schemas.microsoft.com/office/drawing/2014/main" id="{89BE7A06-A3D1-9CB5-54F0-C1E3504C1647}"/>
              </a:ext>
            </a:extLst>
          </p:cNvPr>
          <p:cNvPicPr preferRelativeResize="0"/>
          <p:nvPr/>
        </p:nvPicPr>
        <p:blipFill rotWithShape="1">
          <a:blip r:embed="rId3">
            <a:alphaModFix amt="39765"/>
          </a:blip>
          <a:srcRect/>
          <a:stretch/>
        </p:blipFill>
        <p:spPr>
          <a:xfrm>
            <a:off x="0" y="1523"/>
            <a:ext cx="12192000" cy="69664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7">
            <a:extLst>
              <a:ext uri="{FF2B5EF4-FFF2-40B4-BE49-F238E27FC236}">
                <a16:creationId xmlns:a16="http://schemas.microsoft.com/office/drawing/2014/main" id="{FC2526BB-6E79-7EE5-D72E-C6D2D2D1824E}"/>
              </a:ext>
            </a:extLst>
          </p:cNvPr>
          <p:cNvSpPr txBox="1"/>
          <p:nvPr/>
        </p:nvSpPr>
        <p:spPr>
          <a:xfrm>
            <a:off x="1244961" y="911674"/>
            <a:ext cx="9702077" cy="454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rmAutofit/>
          </a:bodyPr>
          <a:lstStyle/>
          <a:p>
            <a:pPr algn="ctr">
              <a:buClr>
                <a:srgbClr val="575453"/>
              </a:buClr>
              <a:buSzPts val="5500"/>
            </a:pPr>
            <a:r>
              <a:rPr lang="en-GB" sz="4000" b="1" dirty="0">
                <a:solidFill>
                  <a:srgbClr val="F47A63"/>
                </a:solidFill>
                <a:latin typeface="Barlow" panose="00000500000000000000" pitchFamily="2" charset="0"/>
                <a:sym typeface="Barlow"/>
              </a:rPr>
              <a:t>Part II – Group activity</a:t>
            </a:r>
          </a:p>
          <a:p>
            <a:pPr algn="ctr">
              <a:buClr>
                <a:srgbClr val="575453"/>
              </a:buClr>
              <a:buSzPts val="5500"/>
            </a:pPr>
            <a:r>
              <a:rPr lang="en-US" sz="4000" b="0" i="0" u="none" strike="noStrike" cap="none" dirty="0">
                <a:solidFill>
                  <a:srgbClr val="F57A63"/>
                </a:solidFill>
                <a:latin typeface="Barlow" panose="00000500000000000000" pitchFamily="2" charset="0"/>
                <a:ea typeface="Barlow"/>
                <a:cs typeface="Barlow"/>
                <a:sym typeface="Barlow"/>
              </a:rPr>
              <a:t>Key concepts + Legal challenges</a:t>
            </a:r>
            <a:endParaRPr lang="en-US" sz="4000" dirty="0">
              <a:solidFill>
                <a:srgbClr val="F57A63"/>
              </a:solidFill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033A-F82D-56EC-B92F-FC0617C1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0;p7" descr="PP_light background2.pdf">
            <a:extLst>
              <a:ext uri="{FF2B5EF4-FFF2-40B4-BE49-F238E27FC236}">
                <a16:creationId xmlns:a16="http://schemas.microsoft.com/office/drawing/2014/main" id="{E0AA3DC6-9E03-6183-A8DD-0620B6F293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7">
            <a:extLst>
              <a:ext uri="{FF2B5EF4-FFF2-40B4-BE49-F238E27FC236}">
                <a16:creationId xmlns:a16="http://schemas.microsoft.com/office/drawing/2014/main" id="{CF0960DD-B294-6838-F1BB-74DCFCB2D6A6}"/>
              </a:ext>
            </a:extLst>
          </p:cNvPr>
          <p:cNvSpPr txBox="1"/>
          <p:nvPr/>
        </p:nvSpPr>
        <p:spPr>
          <a:xfrm>
            <a:off x="1244961" y="911674"/>
            <a:ext cx="9702077" cy="541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rmAutofit fontScale="62500" lnSpcReduction="20000"/>
          </a:bodyPr>
          <a:lstStyle/>
          <a:p>
            <a:r>
              <a:rPr lang="en-GB" sz="4500" b="1" dirty="0">
                <a:solidFill>
                  <a:srgbClr val="F57A63"/>
                </a:solidFill>
                <a:latin typeface="Barlow" pitchFamily="2" charset="77"/>
              </a:rPr>
              <a:t>Introduce yourselves</a:t>
            </a:r>
            <a:r>
              <a:rPr lang="en-GB" sz="4500" dirty="0">
                <a:solidFill>
                  <a:srgbClr val="F57A63"/>
                </a:solidFill>
                <a:latin typeface="Barlow" pitchFamily="2" charset="77"/>
              </a:rPr>
              <a:t> (your LLM programme, why are you taking this course and which aspects of AI and Law are you more interested in?)  </a:t>
            </a:r>
            <a:r>
              <a:rPr lang="en-GB" sz="4500" b="1" dirty="0">
                <a:solidFill>
                  <a:srgbClr val="F57A63"/>
                </a:solidFill>
                <a:latin typeface="Barlow" pitchFamily="2" charset="77"/>
              </a:rPr>
              <a:t>+ Discuss in group the following questions (15-20 minutes) </a:t>
            </a:r>
          </a:p>
          <a:p>
            <a:pPr algn="ctr"/>
            <a:endParaRPr lang="en-GB" sz="4000" dirty="0">
              <a:solidFill>
                <a:srgbClr val="F57A63"/>
              </a:solidFill>
              <a:latin typeface="Barlow" pitchFamily="2" charset="77"/>
            </a:endParaRPr>
          </a:p>
          <a:p>
            <a:pPr algn="ctr"/>
            <a:endParaRPr lang="en-GB" sz="4000" dirty="0">
              <a:solidFill>
                <a:srgbClr val="F57A63"/>
              </a:solidFill>
              <a:latin typeface="Barlow" pitchFamily="2" charset="77"/>
            </a:endParaRPr>
          </a:p>
          <a:p>
            <a:pPr algn="ctr"/>
            <a:r>
              <a:rPr lang="en-GB" sz="4000" dirty="0">
                <a:solidFill>
                  <a:srgbClr val="F57A63"/>
                </a:solidFill>
                <a:latin typeface="Barlow" pitchFamily="2" charset="77"/>
              </a:rPr>
              <a:t>1. (in your view) what are the main legal challenges associated with AI? </a:t>
            </a:r>
          </a:p>
          <a:p>
            <a:pPr algn="ctr"/>
            <a:br>
              <a:rPr lang="en-GB" sz="4000" dirty="0">
                <a:solidFill>
                  <a:srgbClr val="F57A63"/>
                </a:solidFill>
                <a:latin typeface="Barlow" pitchFamily="2" charset="77"/>
              </a:rPr>
            </a:br>
            <a:endParaRPr lang="en-GB" sz="4000" dirty="0">
              <a:solidFill>
                <a:srgbClr val="F57A63"/>
              </a:solidFill>
              <a:latin typeface="Barlow" pitchFamily="2" charset="77"/>
            </a:endParaRPr>
          </a:p>
          <a:p>
            <a:pPr algn="ctr"/>
            <a:r>
              <a:rPr lang="en-GB" sz="4000" dirty="0">
                <a:solidFill>
                  <a:srgbClr val="F57A63"/>
                </a:solidFill>
                <a:latin typeface="Barlow" pitchFamily="2" charset="77"/>
              </a:rPr>
              <a:t>2. To what extent should governments intervene in the regulation of AI?</a:t>
            </a:r>
          </a:p>
          <a:p>
            <a:pPr algn="ctr"/>
            <a:endParaRPr lang="en-GB" sz="4000" dirty="0">
              <a:latin typeface="Barlow" pitchFamily="2" charset="77"/>
            </a:endParaRPr>
          </a:p>
          <a:p>
            <a:pPr algn="ctr"/>
            <a:r>
              <a:rPr lang="en-GB" sz="4000" dirty="0">
                <a:solidFill>
                  <a:srgbClr val="F57A63"/>
                </a:solidFill>
                <a:latin typeface="Barlow" pitchFamily="2" charset="77"/>
              </a:rPr>
              <a:t>3. Are you in favour of a horizontal and/or a sector-specific regulation of AI?</a:t>
            </a:r>
            <a:br>
              <a:rPr lang="en-GB" sz="4000" b="1" dirty="0">
                <a:solidFill>
                  <a:srgbClr val="F57A63"/>
                </a:solidFill>
              </a:rPr>
            </a:br>
            <a:endParaRPr lang="en-GB" sz="4000" b="1" dirty="0">
              <a:solidFill>
                <a:srgbClr val="F57A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192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29F9-EEC0-80E6-EE09-F6D512F5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F57A63"/>
                </a:solidFill>
                <a:latin typeface="Barlow" pitchFamily="2" charset="77"/>
              </a:rPr>
              <a:t>Key concepts of AI and Law </a:t>
            </a:r>
            <a:br>
              <a:rPr lang="en-GB" b="1" dirty="0">
                <a:solidFill>
                  <a:srgbClr val="F57A63"/>
                </a:solidFill>
                <a:latin typeface="Barlow" pitchFamily="2" charset="77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3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9;p9" descr="POWER POINT_BACK.jpg">
            <a:extLst>
              <a:ext uri="{FF2B5EF4-FFF2-40B4-BE49-F238E27FC236}">
                <a16:creationId xmlns:a16="http://schemas.microsoft.com/office/drawing/2014/main" id="{20FB050A-F81A-A01C-0EF6-E79C81D8F7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1;p9">
            <a:extLst>
              <a:ext uri="{FF2B5EF4-FFF2-40B4-BE49-F238E27FC236}">
                <a16:creationId xmlns:a16="http://schemas.microsoft.com/office/drawing/2014/main" id="{ABAC40F3-8821-9ED7-FE16-4D36F072EC34}"/>
              </a:ext>
            </a:extLst>
          </p:cNvPr>
          <p:cNvSpPr txBox="1"/>
          <p:nvPr/>
        </p:nvSpPr>
        <p:spPr>
          <a:xfrm>
            <a:off x="2511349" y="2523244"/>
            <a:ext cx="7003041" cy="141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Barlow"/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Welcome!</a:t>
            </a:r>
            <a:endParaRPr sz="4800" dirty="0"/>
          </a:p>
        </p:txBody>
      </p:sp>
      <p:pic>
        <p:nvPicPr>
          <p:cNvPr id="6" name="Google Shape;132;p9" descr="CREATe_negativo_CMYK.pdf">
            <a:extLst>
              <a:ext uri="{FF2B5EF4-FFF2-40B4-BE49-F238E27FC236}">
                <a16:creationId xmlns:a16="http://schemas.microsoft.com/office/drawing/2014/main" id="{B04CFF50-DDF1-4187-3D51-9EF4FD6A21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735" y="323498"/>
            <a:ext cx="2228614" cy="703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1694C531-1C22-9F77-DEDF-1452E3309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103" y="323498"/>
            <a:ext cx="1877162" cy="581315"/>
          </a:xfrm>
          <a:prstGeom prst="rect">
            <a:avLst/>
          </a:prstGeom>
        </p:spPr>
      </p:pic>
      <p:sp>
        <p:nvSpPr>
          <p:cNvPr id="8" name="Google Shape;130;p9">
            <a:extLst>
              <a:ext uri="{FF2B5EF4-FFF2-40B4-BE49-F238E27FC236}">
                <a16:creationId xmlns:a16="http://schemas.microsoft.com/office/drawing/2014/main" id="{40B1D9A8-C6B4-511E-5023-B0BD9707FD4C}"/>
              </a:ext>
            </a:extLst>
          </p:cNvPr>
          <p:cNvSpPr txBox="1"/>
          <p:nvPr/>
        </p:nvSpPr>
        <p:spPr>
          <a:xfrm>
            <a:off x="3469100" y="3472405"/>
            <a:ext cx="4826282" cy="12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b" anchorCtr="0">
            <a:normAutofit/>
          </a:bodyPr>
          <a:lstStyle/>
          <a:p>
            <a:pPr algn="ctr">
              <a:lnSpc>
                <a:spcPct val="120000"/>
              </a:lnSpc>
              <a:buClr>
                <a:srgbClr val="FFFFFF"/>
              </a:buClr>
              <a:buSzPts val="3000"/>
            </a:pP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12747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21428</TotalTime>
  <Words>1160</Words>
  <Application>Microsoft Macintosh PowerPoint</Application>
  <PresentationFormat>Widescreen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Barlow</vt:lpstr>
      <vt:lpstr>Barlow Black</vt:lpstr>
      <vt:lpstr>Barlow-Medium</vt:lpstr>
      <vt:lpstr>Calibri</vt:lpstr>
      <vt:lpstr>Calibri Light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concepts of AI and Law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Aline Iramina</dc:creator>
  <cp:lastModifiedBy>Aline Iramina</cp:lastModifiedBy>
  <cp:revision>656</cp:revision>
  <cp:lastPrinted>2023-10-09T19:46:09Z</cp:lastPrinted>
  <dcterms:created xsi:type="dcterms:W3CDTF">2023-01-28T10:49:32Z</dcterms:created>
  <dcterms:modified xsi:type="dcterms:W3CDTF">2026-01-15T19:55:58Z</dcterms:modified>
</cp:coreProperties>
</file>