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423" r:id="rId3"/>
    <p:sldId id="274" r:id="rId4"/>
    <p:sldId id="417" r:id="rId5"/>
    <p:sldId id="391" r:id="rId6"/>
    <p:sldId id="401" r:id="rId7"/>
    <p:sldId id="425" r:id="rId8"/>
    <p:sldId id="321" r:id="rId9"/>
    <p:sldId id="322" r:id="rId10"/>
    <p:sldId id="326" r:id="rId11"/>
    <p:sldId id="327" r:id="rId12"/>
    <p:sldId id="328" r:id="rId13"/>
    <p:sldId id="426" r:id="rId14"/>
    <p:sldId id="323" r:id="rId15"/>
    <p:sldId id="395" r:id="rId16"/>
    <p:sldId id="429" r:id="rId17"/>
    <p:sldId id="427" r:id="rId18"/>
    <p:sldId id="406" r:id="rId19"/>
    <p:sldId id="411" r:id="rId20"/>
    <p:sldId id="397" r:id="rId21"/>
    <p:sldId id="398" r:id="rId22"/>
    <p:sldId id="394" r:id="rId23"/>
    <p:sldId id="431" r:id="rId24"/>
    <p:sldId id="428" r:id="rId25"/>
    <p:sldId id="396" r:id="rId26"/>
    <p:sldId id="378" r:id="rId27"/>
    <p:sldId id="324" r:id="rId28"/>
    <p:sldId id="403" r:id="rId29"/>
    <p:sldId id="399" r:id="rId30"/>
    <p:sldId id="402" r:id="rId31"/>
    <p:sldId id="408" r:id="rId32"/>
    <p:sldId id="413" r:id="rId33"/>
    <p:sldId id="419" r:id="rId34"/>
    <p:sldId id="412" r:id="rId35"/>
    <p:sldId id="294" r:id="rId36"/>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985" autoAdjust="0"/>
    <p:restoredTop sz="94564"/>
  </p:normalViewPr>
  <p:slideViewPr>
    <p:cSldViewPr snapToGrid="0" snapToObjects="1">
      <p:cViewPr varScale="1">
        <p:scale>
          <a:sx n="44" d="100"/>
          <a:sy n="44" d="100"/>
        </p:scale>
        <p:origin x="216" y="161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Percentage of authors earning all of their income from writing</c:v>
                </c:pt>
              </c:strCache>
            </c:strRef>
          </c:tx>
          <c:spPr>
            <a:solidFill>
              <a:srgbClr val="FF7765"/>
            </a:solidFill>
            <a:ln>
              <a:noFill/>
            </a:ln>
            <a:effectLst/>
          </c:spPr>
          <c:invertIfNegative val="0"/>
          <c:cat>
            <c:numRef>
              <c:f>Sheet1!$A$2:$A$4</c:f>
              <c:numCache>
                <c:formatCode>General</c:formatCode>
                <c:ptCount val="3"/>
                <c:pt idx="0">
                  <c:v>2006</c:v>
                </c:pt>
                <c:pt idx="1">
                  <c:v>2018</c:v>
                </c:pt>
                <c:pt idx="2">
                  <c:v>2022</c:v>
                </c:pt>
              </c:numCache>
            </c:numRef>
          </c:cat>
          <c:val>
            <c:numRef>
              <c:f>Sheet1!$B$2:$B$4</c:f>
              <c:numCache>
                <c:formatCode>General</c:formatCode>
                <c:ptCount val="3"/>
                <c:pt idx="0">
                  <c:v>40</c:v>
                </c:pt>
                <c:pt idx="1">
                  <c:v>28.45</c:v>
                </c:pt>
                <c:pt idx="2">
                  <c:v>19.27</c:v>
                </c:pt>
              </c:numCache>
            </c:numRef>
          </c:val>
          <c:extLst>
            <c:ext xmlns:c16="http://schemas.microsoft.com/office/drawing/2014/chart" uri="{C3380CC4-5D6E-409C-BE32-E72D297353CC}">
              <c16:uniqueId val="{00000000-5ACC-3845-AEB4-A851047E5058}"/>
            </c:ext>
          </c:extLst>
        </c:ser>
        <c:dLbls>
          <c:showLegendKey val="0"/>
          <c:showVal val="0"/>
          <c:showCatName val="0"/>
          <c:showSerName val="0"/>
          <c:showPercent val="0"/>
          <c:showBubbleSize val="0"/>
        </c:dLbls>
        <c:gapWidth val="150"/>
        <c:axId val="1328250671"/>
        <c:axId val="1328253951"/>
      </c:barChart>
      <c:catAx>
        <c:axId val="1328250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Barlow" pitchFamily="2" charset="77"/>
                <a:ea typeface="+mn-ea"/>
                <a:cs typeface="+mn-cs"/>
              </a:defRPr>
            </a:pPr>
            <a:endParaRPr lang="en-US"/>
          </a:p>
        </c:txPr>
        <c:crossAx val="1328253951"/>
        <c:crosses val="autoZero"/>
        <c:auto val="1"/>
        <c:lblAlgn val="ctr"/>
        <c:lblOffset val="100"/>
        <c:noMultiLvlLbl val="0"/>
      </c:catAx>
      <c:valAx>
        <c:axId val="13282539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Barlow" pitchFamily="2" charset="77"/>
                <a:ea typeface="+mn-ea"/>
                <a:cs typeface="+mn-cs"/>
              </a:defRPr>
            </a:pPr>
            <a:endParaRPr lang="en-US"/>
          </a:p>
        </c:txPr>
        <c:crossAx val="13282506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Bar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Barlow" pitchFamily="2" charset="77"/>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Typical (median) income of authors who earn all their income from writing</c:v>
                </c:pt>
              </c:strCache>
            </c:strRef>
          </c:tx>
          <c:spPr>
            <a:solidFill>
              <a:srgbClr val="FF7765"/>
            </a:solidFill>
            <a:ln>
              <a:noFill/>
            </a:ln>
            <a:effectLst/>
          </c:spPr>
          <c:invertIfNegative val="0"/>
          <c:cat>
            <c:numRef>
              <c:f>Sheet1!$A$2:$A$4</c:f>
              <c:numCache>
                <c:formatCode>General</c:formatCode>
                <c:ptCount val="3"/>
                <c:pt idx="0">
                  <c:v>2006</c:v>
                </c:pt>
                <c:pt idx="1">
                  <c:v>2018</c:v>
                </c:pt>
                <c:pt idx="2">
                  <c:v>2022</c:v>
                </c:pt>
              </c:numCache>
            </c:numRef>
          </c:cat>
          <c:val>
            <c:numRef>
              <c:f>Sheet1!$B$2:$B$4</c:f>
              <c:numCache>
                <c:formatCode>#,##0</c:formatCode>
                <c:ptCount val="3"/>
                <c:pt idx="0">
                  <c:v>27500</c:v>
                </c:pt>
                <c:pt idx="1">
                  <c:v>28000</c:v>
                </c:pt>
                <c:pt idx="2">
                  <c:v>16000</c:v>
                </c:pt>
              </c:numCache>
            </c:numRef>
          </c:val>
          <c:extLst>
            <c:ext xmlns:c16="http://schemas.microsoft.com/office/drawing/2014/chart" uri="{C3380CC4-5D6E-409C-BE32-E72D297353CC}">
              <c16:uniqueId val="{00000000-E4C8-7940-9B48-D231AE173B8B}"/>
            </c:ext>
          </c:extLst>
        </c:ser>
        <c:dLbls>
          <c:showLegendKey val="0"/>
          <c:showVal val="0"/>
          <c:showCatName val="0"/>
          <c:showSerName val="0"/>
          <c:showPercent val="0"/>
          <c:showBubbleSize val="0"/>
        </c:dLbls>
        <c:gapWidth val="219"/>
        <c:overlap val="-27"/>
        <c:axId val="1328254383"/>
        <c:axId val="1064133487"/>
      </c:barChart>
      <c:catAx>
        <c:axId val="1328254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Barlow" pitchFamily="2" charset="77"/>
                <a:ea typeface="+mn-ea"/>
                <a:cs typeface="+mn-cs"/>
              </a:defRPr>
            </a:pPr>
            <a:endParaRPr lang="en-US"/>
          </a:p>
        </c:txPr>
        <c:crossAx val="1064133487"/>
        <c:crosses val="autoZero"/>
        <c:auto val="1"/>
        <c:lblAlgn val="ctr"/>
        <c:lblOffset val="100"/>
        <c:noMultiLvlLbl val="0"/>
      </c:catAx>
      <c:valAx>
        <c:axId val="10641334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Barlow" pitchFamily="2" charset="77"/>
                <a:ea typeface="+mn-ea"/>
                <a:cs typeface="+mn-cs"/>
              </a:defRPr>
            </a:pPr>
            <a:endParaRPr lang="en-US"/>
          </a:p>
        </c:txPr>
        <c:crossAx val="13282543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Bar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latin typeface="Barlow" pitchFamily="2" charset="77"/>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Professional</c:v>
                </c:pt>
              </c:strCache>
            </c:strRef>
          </c:tx>
          <c:spPr>
            <a:solidFill>
              <a:schemeClr val="accent1"/>
            </a:solidFill>
            <a:ln>
              <a:noFill/>
            </a:ln>
            <a:effectLst/>
          </c:spPr>
          <c:invertIfNegative val="0"/>
          <c:cat>
            <c:strRef>
              <c:f>Sheet1!$A$2:$A$5</c:f>
              <c:strCache>
                <c:ptCount val="4"/>
                <c:pt idx="0">
                  <c:v>Directors</c:v>
                </c:pt>
                <c:pt idx="1">
                  <c:v>Visual artists</c:v>
                </c:pt>
                <c:pt idx="2">
                  <c:v>Audiovisual performers</c:v>
                </c:pt>
                <c:pt idx="3">
                  <c:v>Journalists</c:v>
                </c:pt>
              </c:strCache>
            </c:strRef>
          </c:cat>
          <c:val>
            <c:numRef>
              <c:f>Sheet1!$B$2:$B$5</c:f>
              <c:numCache>
                <c:formatCode>General</c:formatCode>
                <c:ptCount val="4"/>
                <c:pt idx="0">
                  <c:v>61.6</c:v>
                </c:pt>
                <c:pt idx="1">
                  <c:v>53.3</c:v>
                </c:pt>
                <c:pt idx="2">
                  <c:v>52.7</c:v>
                </c:pt>
                <c:pt idx="3">
                  <c:v>63</c:v>
                </c:pt>
              </c:numCache>
            </c:numRef>
          </c:val>
          <c:extLst>
            <c:ext xmlns:c16="http://schemas.microsoft.com/office/drawing/2014/chart" uri="{C3380CC4-5D6E-409C-BE32-E72D297353CC}">
              <c16:uniqueId val="{00000000-A528-E141-9714-A7375EBCB458}"/>
            </c:ext>
          </c:extLst>
        </c:ser>
        <c:ser>
          <c:idx val="1"/>
          <c:order val="1"/>
          <c:tx>
            <c:strRef>
              <c:f>Sheet1!$C$1</c:f>
              <c:strCache>
                <c:ptCount val="1"/>
                <c:pt idx="0">
                  <c:v>Intermediate</c:v>
                </c:pt>
              </c:strCache>
            </c:strRef>
          </c:tx>
          <c:spPr>
            <a:solidFill>
              <a:schemeClr val="accent3"/>
            </a:solidFill>
            <a:ln>
              <a:noFill/>
            </a:ln>
            <a:effectLst/>
          </c:spPr>
          <c:invertIfNegative val="0"/>
          <c:cat>
            <c:strRef>
              <c:f>Sheet1!$A$2:$A$5</c:f>
              <c:strCache>
                <c:ptCount val="4"/>
                <c:pt idx="0">
                  <c:v>Directors</c:v>
                </c:pt>
                <c:pt idx="1">
                  <c:v>Visual artists</c:v>
                </c:pt>
                <c:pt idx="2">
                  <c:v>Audiovisual performers</c:v>
                </c:pt>
                <c:pt idx="3">
                  <c:v>Journalists</c:v>
                </c:pt>
              </c:strCache>
            </c:strRef>
          </c:cat>
          <c:val>
            <c:numRef>
              <c:f>Sheet1!$C$2:$C$5</c:f>
              <c:numCache>
                <c:formatCode>General</c:formatCode>
                <c:ptCount val="4"/>
                <c:pt idx="0">
                  <c:v>13</c:v>
                </c:pt>
                <c:pt idx="1">
                  <c:v>14</c:v>
                </c:pt>
                <c:pt idx="2">
                  <c:v>13.2</c:v>
                </c:pt>
                <c:pt idx="3">
                  <c:v>12</c:v>
                </c:pt>
              </c:numCache>
            </c:numRef>
          </c:val>
          <c:extLst>
            <c:ext xmlns:c16="http://schemas.microsoft.com/office/drawing/2014/chart" uri="{C3380CC4-5D6E-409C-BE32-E72D297353CC}">
              <c16:uniqueId val="{00000001-A528-E141-9714-A7375EBCB458}"/>
            </c:ext>
          </c:extLst>
        </c:ser>
        <c:ser>
          <c:idx val="2"/>
          <c:order val="2"/>
          <c:tx>
            <c:strRef>
              <c:f>Sheet1!$D$1</c:f>
              <c:strCache>
                <c:ptCount val="1"/>
                <c:pt idx="0">
                  <c:v>Working class</c:v>
                </c:pt>
              </c:strCache>
            </c:strRef>
          </c:tx>
          <c:spPr>
            <a:solidFill>
              <a:schemeClr val="accent5"/>
            </a:solidFill>
            <a:ln>
              <a:noFill/>
            </a:ln>
            <a:effectLst/>
          </c:spPr>
          <c:invertIfNegative val="0"/>
          <c:cat>
            <c:strRef>
              <c:f>Sheet1!$A$2:$A$5</c:f>
              <c:strCache>
                <c:ptCount val="4"/>
                <c:pt idx="0">
                  <c:v>Directors</c:v>
                </c:pt>
                <c:pt idx="1">
                  <c:v>Visual artists</c:v>
                </c:pt>
                <c:pt idx="2">
                  <c:v>Audiovisual performers</c:v>
                </c:pt>
                <c:pt idx="3">
                  <c:v>Journalists</c:v>
                </c:pt>
              </c:strCache>
            </c:strRef>
          </c:cat>
          <c:val>
            <c:numRef>
              <c:f>Sheet1!$D$2:$D$5</c:f>
              <c:numCache>
                <c:formatCode>General</c:formatCode>
                <c:ptCount val="4"/>
                <c:pt idx="0">
                  <c:v>18</c:v>
                </c:pt>
                <c:pt idx="1">
                  <c:v>25.8</c:v>
                </c:pt>
                <c:pt idx="2">
                  <c:v>21.3</c:v>
                </c:pt>
                <c:pt idx="3">
                  <c:v>25</c:v>
                </c:pt>
              </c:numCache>
            </c:numRef>
          </c:val>
          <c:extLst>
            <c:ext xmlns:c16="http://schemas.microsoft.com/office/drawing/2014/chart" uri="{C3380CC4-5D6E-409C-BE32-E72D297353CC}">
              <c16:uniqueId val="{00000002-A528-E141-9714-A7375EBCB458}"/>
            </c:ext>
          </c:extLst>
        </c:ser>
        <c:dLbls>
          <c:showLegendKey val="0"/>
          <c:showVal val="0"/>
          <c:showCatName val="0"/>
          <c:showSerName val="0"/>
          <c:showPercent val="0"/>
          <c:showBubbleSize val="0"/>
        </c:dLbls>
        <c:gapWidth val="219"/>
        <c:overlap val="-27"/>
        <c:axId val="1323785551"/>
        <c:axId val="1323787263"/>
      </c:barChart>
      <c:catAx>
        <c:axId val="1323785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rgbClr val="575453"/>
                </a:solidFill>
                <a:latin typeface="Barlow" pitchFamily="2" charset="77"/>
                <a:ea typeface="+mn-ea"/>
                <a:cs typeface="+mn-cs"/>
              </a:defRPr>
            </a:pPr>
            <a:endParaRPr lang="en-US"/>
          </a:p>
        </c:txPr>
        <c:crossAx val="1323787263"/>
        <c:crosses val="autoZero"/>
        <c:auto val="1"/>
        <c:lblAlgn val="ctr"/>
        <c:lblOffset val="100"/>
        <c:noMultiLvlLbl val="0"/>
      </c:catAx>
      <c:valAx>
        <c:axId val="13237872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rgbClr val="575453"/>
                </a:solidFill>
                <a:latin typeface="Barlow" pitchFamily="2" charset="77"/>
                <a:ea typeface="+mn-ea"/>
                <a:cs typeface="+mn-cs"/>
              </a:defRPr>
            </a:pPr>
            <a:endParaRPr lang="en-US"/>
          </a:p>
        </c:txPr>
        <c:crossAx val="13237855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rgbClr val="575453"/>
              </a:solidFill>
              <a:latin typeface="Bar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575453"/>
          </a:solidFill>
          <a:latin typeface="Barlow" pitchFamily="2" charset="77"/>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Yes</c:v>
                </c:pt>
              </c:strCache>
            </c:strRef>
          </c:tx>
          <c:spPr>
            <a:solidFill>
              <a:schemeClr val="accent1"/>
            </a:solidFill>
            <a:ln>
              <a:noFill/>
            </a:ln>
            <a:effectLst/>
          </c:spPr>
          <c:invertIfNegative val="0"/>
          <c:cat>
            <c:strRef>
              <c:f>Sheet1!$A$2:$A$4</c:f>
              <c:strCache>
                <c:ptCount val="3"/>
                <c:pt idx="0">
                  <c:v>Directors</c:v>
                </c:pt>
                <c:pt idx="1">
                  <c:v>Visual artists</c:v>
                </c:pt>
                <c:pt idx="2">
                  <c:v>Audiovisual performers</c:v>
                </c:pt>
              </c:strCache>
            </c:strRef>
          </c:cat>
          <c:val>
            <c:numRef>
              <c:f>Sheet1!$B$2:$B$4</c:f>
              <c:numCache>
                <c:formatCode>General</c:formatCode>
                <c:ptCount val="3"/>
                <c:pt idx="0">
                  <c:v>11.3</c:v>
                </c:pt>
                <c:pt idx="1">
                  <c:v>20.3</c:v>
                </c:pt>
                <c:pt idx="2">
                  <c:v>14.8</c:v>
                </c:pt>
              </c:numCache>
            </c:numRef>
          </c:val>
          <c:extLst>
            <c:ext xmlns:c16="http://schemas.microsoft.com/office/drawing/2014/chart" uri="{C3380CC4-5D6E-409C-BE32-E72D297353CC}">
              <c16:uniqueId val="{00000000-7010-4141-A5E9-18F63925F7FD}"/>
            </c:ext>
          </c:extLst>
        </c:ser>
        <c:ser>
          <c:idx val="1"/>
          <c:order val="1"/>
          <c:tx>
            <c:strRef>
              <c:f>Sheet1!$C$1</c:f>
              <c:strCache>
                <c:ptCount val="1"/>
                <c:pt idx="0">
                  <c:v>No</c:v>
                </c:pt>
              </c:strCache>
            </c:strRef>
          </c:tx>
          <c:spPr>
            <a:solidFill>
              <a:schemeClr val="accent2"/>
            </a:solidFill>
            <a:ln>
              <a:noFill/>
            </a:ln>
            <a:effectLst/>
          </c:spPr>
          <c:invertIfNegative val="0"/>
          <c:cat>
            <c:strRef>
              <c:f>Sheet1!$A$2:$A$4</c:f>
              <c:strCache>
                <c:ptCount val="3"/>
                <c:pt idx="0">
                  <c:v>Directors</c:v>
                </c:pt>
                <c:pt idx="1">
                  <c:v>Visual artists</c:v>
                </c:pt>
                <c:pt idx="2">
                  <c:v>Audiovisual performers</c:v>
                </c:pt>
              </c:strCache>
            </c:strRef>
          </c:cat>
          <c:val>
            <c:numRef>
              <c:f>Sheet1!$C$2:$C$4</c:f>
              <c:numCache>
                <c:formatCode>General</c:formatCode>
                <c:ptCount val="3"/>
                <c:pt idx="0">
                  <c:v>88.7</c:v>
                </c:pt>
                <c:pt idx="1">
                  <c:v>79.7</c:v>
                </c:pt>
                <c:pt idx="2">
                  <c:v>84.3</c:v>
                </c:pt>
              </c:numCache>
            </c:numRef>
          </c:val>
          <c:extLst>
            <c:ext xmlns:c16="http://schemas.microsoft.com/office/drawing/2014/chart" uri="{C3380CC4-5D6E-409C-BE32-E72D297353CC}">
              <c16:uniqueId val="{00000001-7010-4141-A5E9-18F63925F7FD}"/>
            </c:ext>
          </c:extLst>
        </c:ser>
        <c:dLbls>
          <c:showLegendKey val="0"/>
          <c:showVal val="0"/>
          <c:showCatName val="0"/>
          <c:showSerName val="0"/>
          <c:showPercent val="0"/>
          <c:showBubbleSize val="0"/>
        </c:dLbls>
        <c:gapWidth val="219"/>
        <c:axId val="1323396415"/>
        <c:axId val="1194821552"/>
      </c:barChart>
      <c:catAx>
        <c:axId val="13233964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rgbClr val="575453"/>
                </a:solidFill>
                <a:latin typeface="Barlow" pitchFamily="2" charset="77"/>
                <a:ea typeface="+mn-ea"/>
                <a:cs typeface="+mn-cs"/>
              </a:defRPr>
            </a:pPr>
            <a:endParaRPr lang="en-US"/>
          </a:p>
        </c:txPr>
        <c:crossAx val="1194821552"/>
        <c:crosses val="autoZero"/>
        <c:auto val="1"/>
        <c:lblAlgn val="ctr"/>
        <c:lblOffset val="100"/>
        <c:noMultiLvlLbl val="0"/>
      </c:catAx>
      <c:valAx>
        <c:axId val="1194821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rgbClr val="575453"/>
                </a:solidFill>
                <a:latin typeface="Barlow" pitchFamily="2" charset="77"/>
                <a:ea typeface="+mn-ea"/>
                <a:cs typeface="+mn-cs"/>
              </a:defRPr>
            </a:pPr>
            <a:endParaRPr lang="en-US"/>
          </a:p>
        </c:txPr>
        <c:crossAx val="13233964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rgbClr val="575453"/>
              </a:solidFill>
              <a:latin typeface="Barlow"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575453"/>
          </a:solidFill>
          <a:latin typeface="Barlow" pitchFamily="2"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C90208C-0FFC-41BA-8B8A-C4A13E42FA52}" type="slidenum">
              <a:rPr lang="en-GB" smtClean="0"/>
              <a:t>26</a:t>
            </a:fld>
            <a:endParaRPr lang="en-GB"/>
          </a:p>
        </p:txBody>
      </p:sp>
    </p:spTree>
    <p:extLst>
      <p:ext uri="{BB962C8B-B14F-4D97-AF65-F5344CB8AC3E}">
        <p14:creationId xmlns:p14="http://schemas.microsoft.com/office/powerpoint/2010/main" val="1248140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8517184" y="7366000"/>
            <a:ext cx="299121" cy="328360"/>
          </a:xfrm>
          <a:ln/>
        </p:spPr>
        <p:txBody>
          <a:bodyPr/>
          <a:lstStyle>
            <a:lvl1pPr>
              <a:defRPr/>
            </a:lvl1pPr>
          </a:lstStyle>
          <a:p>
            <a:fld id="{1B68CD54-2B95-47EE-AC77-C36726216BA6}" type="slidenum">
              <a:rPr lang="en-GB" altLang="en-US"/>
              <a:pPr/>
              <a:t>‹#›</a:t>
            </a:fld>
            <a:endParaRPr lang="en-GB" altLang="en-US"/>
          </a:p>
        </p:txBody>
      </p:sp>
    </p:spTree>
    <p:extLst>
      <p:ext uri="{BB962C8B-B14F-4D97-AF65-F5344CB8AC3E}">
        <p14:creationId xmlns:p14="http://schemas.microsoft.com/office/powerpoint/2010/main" val="281497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59" r:id="rId5"/>
    <p:sldLayoutId id="2147483660" r:id="rId6"/>
    <p:sldLayoutId id="2147483661" r:id="rId7"/>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xml"/><Relationship Id="rId1" Type="http://schemas.openxmlformats.org/officeDocument/2006/relationships/video" Target="https://www.youtube.com/embed/yynOSgti1jk?feature=oembed" TargetMode="Externa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zenodo.org/records/16883055"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5414" y="-3251597"/>
            <a:ext cx="17345677" cy="13005197"/>
          </a:xfrm>
          <a:prstGeom prst="rect">
            <a:avLst/>
          </a:prstGeom>
          <a:ln w="12700">
            <a:miter lim="400000"/>
          </a:ln>
        </p:spPr>
      </p:pic>
      <p:sp>
        <p:nvSpPr>
          <p:cNvPr id="121" name="PROJECT NAME…"/>
          <p:cNvSpPr txBox="1"/>
          <p:nvPr/>
        </p:nvSpPr>
        <p:spPr>
          <a:xfrm>
            <a:off x="620857" y="8162268"/>
            <a:ext cx="4958379" cy="8128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18 March 2026</a:t>
            </a:r>
            <a:endParaRPr lang="en-GB" sz="3200" dirty="0"/>
          </a:p>
        </p:txBody>
      </p:sp>
      <p:sp>
        <p:nvSpPr>
          <p:cNvPr id="122" name="Shape 21"/>
          <p:cNvSpPr txBox="1"/>
          <p:nvPr/>
        </p:nvSpPr>
        <p:spPr>
          <a:xfrm>
            <a:off x="620857" y="2256177"/>
            <a:ext cx="16098549" cy="1355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Creators’ earnings and contracts</a:t>
            </a:r>
          </a:p>
        </p:txBody>
      </p:sp>
      <p:sp>
        <p:nvSpPr>
          <p:cNvPr id="123" name="Shape 21"/>
          <p:cNvSpPr txBox="1"/>
          <p:nvPr/>
        </p:nvSpPr>
        <p:spPr>
          <a:xfrm>
            <a:off x="620857" y="3611765"/>
            <a:ext cx="6000578" cy="858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CEB2-0AAF-1526-47A3-17F3C99BCBB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AC80BB9A-53ED-45E9-5972-24359DEAD562}"/>
              </a:ext>
            </a:extLst>
          </p:cNvPr>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A wee favour… </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6EA22F9-6F83-5700-C35B-28EE5493BAA8}"/>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C34CE39-8BA2-1E0B-2183-01A9BD24086A}"/>
              </a:ext>
            </a:extLst>
          </p:cNvPr>
          <p:cNvSpPr/>
          <p:nvPr/>
        </p:nvSpPr>
        <p:spPr>
          <a:xfrm>
            <a:off x="1028460" y="1947120"/>
            <a:ext cx="8670711" cy="6740307"/>
          </a:xfrm>
          <a:prstGeom prst="rect">
            <a:avLst/>
          </a:prstGeom>
        </p:spPr>
        <p:txBody>
          <a:bodyPr wrap="square">
            <a:spAutoFit/>
          </a:bodyPr>
          <a:lstStyle/>
          <a:p>
            <a:pPr marL="342900" indent="-342900" algn="just">
              <a:buFont typeface="Arial" panose="020B0604020202020204" pitchFamily="34" charset="0"/>
              <a:buChar char="•"/>
            </a:pPr>
            <a:r>
              <a:rPr lang="en-GB" sz="2400" b="0" dirty="0">
                <a:solidFill>
                  <a:schemeClr val="tx2"/>
                </a:solidFill>
                <a:latin typeface="Barlow" pitchFamily="2" charset="77"/>
              </a:rPr>
              <a:t>Student consultation for new proposed course: </a:t>
            </a:r>
            <a:r>
              <a:rPr lang="en-GB" sz="2400" dirty="0">
                <a:solidFill>
                  <a:schemeClr val="tx2"/>
                </a:solidFill>
                <a:latin typeface="Barlow" pitchFamily="2" charset="77"/>
              </a:rPr>
              <a:t>Games and the Law</a:t>
            </a:r>
          </a:p>
          <a:p>
            <a:pPr algn="just"/>
            <a:endParaRPr lang="en-GB" sz="2400" dirty="0">
              <a:solidFill>
                <a:schemeClr val="tx2"/>
              </a:solidFill>
              <a:latin typeface="Barlow" pitchFamily="2" charset="77"/>
            </a:endParaRPr>
          </a:p>
          <a:p>
            <a:pPr marL="342900" indent="-342900" algn="just">
              <a:buFont typeface="Arial" panose="020B0604020202020204" pitchFamily="34" charset="0"/>
              <a:buChar char="•"/>
            </a:pPr>
            <a:r>
              <a:rPr lang="en-GB" sz="2400" b="0" dirty="0">
                <a:solidFill>
                  <a:schemeClr val="tx2"/>
                </a:solidFill>
                <a:latin typeface="Barlow" pitchFamily="2" charset="77"/>
              </a:rPr>
              <a:t>Estimated student intake - between 10 - 20 (specialist)</a:t>
            </a:r>
          </a:p>
          <a:p>
            <a:pPr marL="342900" indent="-342900" algn="just">
              <a:buFont typeface="Arial" panose="020B0604020202020204" pitchFamily="34" charset="0"/>
              <a:buChar char="•"/>
            </a:pPr>
            <a:r>
              <a:rPr lang="en-GB" sz="2400" b="0" dirty="0">
                <a:solidFill>
                  <a:schemeClr val="tx2"/>
                </a:solidFill>
                <a:latin typeface="Barlow" pitchFamily="2" charset="77"/>
              </a:rPr>
              <a:t>While the course primarily considers IP and tech law, it also includes competition, consumer protection, privacy, and labour law, as areas relevant for the regulation of games.</a:t>
            </a:r>
          </a:p>
          <a:p>
            <a:pPr algn="just"/>
            <a:endParaRPr lang="en-GB" sz="2400" b="0" dirty="0">
              <a:solidFill>
                <a:schemeClr val="tx2"/>
              </a:solidFill>
              <a:latin typeface="Barlow" pitchFamily="2" charset="77"/>
            </a:endParaRPr>
          </a:p>
          <a:p>
            <a:pPr marL="342900" indent="-342900" algn="just">
              <a:buFont typeface="Arial" panose="020B0604020202020204" pitchFamily="34" charset="0"/>
              <a:buChar char="•"/>
            </a:pPr>
            <a:r>
              <a:rPr lang="en-GB" sz="2400" dirty="0">
                <a:solidFill>
                  <a:schemeClr val="tx2"/>
                </a:solidFill>
                <a:latin typeface="Barlow" pitchFamily="2" charset="77"/>
              </a:rPr>
              <a:t>Proposed topics: </a:t>
            </a:r>
            <a:r>
              <a:rPr lang="en-GB" sz="2400" b="0" dirty="0">
                <a:solidFill>
                  <a:schemeClr val="tx2"/>
                </a:solidFill>
                <a:latin typeface="Barlow" pitchFamily="2" charset="77"/>
              </a:rPr>
              <a:t>legal history and development of games; game preservation and TPMs; XR/VR/Metaverse regulation; regulation of UGC; eSports and competitive gaming; game industry labour dynamics; game platform content moderation; dark patterns in games.</a:t>
            </a:r>
          </a:p>
          <a:p>
            <a:pPr algn="just"/>
            <a:endParaRPr lang="en-GB" sz="2400" b="0" dirty="0">
              <a:solidFill>
                <a:schemeClr val="tx2"/>
              </a:solidFill>
              <a:latin typeface="Barlow" pitchFamily="2" charset="77"/>
            </a:endParaRPr>
          </a:p>
          <a:p>
            <a:pPr marL="342900" indent="-342900" algn="just">
              <a:buFont typeface="Arial" panose="020B0604020202020204" pitchFamily="34" charset="0"/>
              <a:buChar char="•"/>
            </a:pPr>
            <a:r>
              <a:rPr lang="en-GB" sz="2400" dirty="0">
                <a:solidFill>
                  <a:schemeClr val="tx2"/>
                </a:solidFill>
                <a:latin typeface="Barlow" pitchFamily="2" charset="77"/>
              </a:rPr>
              <a:t>Assessment: </a:t>
            </a:r>
            <a:r>
              <a:rPr lang="en-GB" sz="2400" b="0" dirty="0">
                <a:solidFill>
                  <a:schemeClr val="tx2"/>
                </a:solidFill>
                <a:latin typeface="Barlow" pitchFamily="2" charset="77"/>
              </a:rPr>
              <a:t>The course is assessed by (a) an essay of 3,500 words (75%) - or multimedia equivalent, such as a video report, (b) a blog post of 1,500 words (25%) on an emerging topic of regulation in games.</a:t>
            </a:r>
          </a:p>
        </p:txBody>
      </p:sp>
      <p:pic>
        <p:nvPicPr>
          <p:cNvPr id="1026" name="Picture 2" descr="QR code">
            <a:extLst>
              <a:ext uri="{FF2B5EF4-FFF2-40B4-BE49-F238E27FC236}">
                <a16:creationId xmlns:a16="http://schemas.microsoft.com/office/drawing/2014/main" id="{BA177073-5F26-BD2C-B47A-642FC0C02D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0081" y="1988276"/>
            <a:ext cx="5777047" cy="57770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0A582C9-C3E4-F184-7191-FF8512D33640}"/>
              </a:ext>
            </a:extLst>
          </p:cNvPr>
          <p:cNvSpPr txBox="1"/>
          <p:nvPr/>
        </p:nvSpPr>
        <p:spPr>
          <a:xfrm>
            <a:off x="11227700" y="7977327"/>
            <a:ext cx="4661807" cy="8309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solidFill>
                  <a:schemeClr val="tx2"/>
                </a:solidFill>
                <a:latin typeface="Barlow" pitchFamily="2" charset="77"/>
              </a:rPr>
              <a:t>https://</a:t>
            </a:r>
            <a:r>
              <a:rPr lang="en-GB" sz="2400" b="0" dirty="0" err="1">
                <a:solidFill>
                  <a:schemeClr val="tx2"/>
                </a:solidFill>
                <a:latin typeface="Barlow" pitchFamily="2" charset="77"/>
              </a:rPr>
              <a:t>forms.cloud.microsoft</a:t>
            </a:r>
            <a:r>
              <a:rPr lang="en-GB" sz="2400" b="0" dirty="0">
                <a:solidFill>
                  <a:schemeClr val="tx2"/>
                </a:solidFill>
                <a:latin typeface="Barlow" pitchFamily="2" charset="77"/>
              </a:rPr>
              <a:t>/e/JH9AhBRtCL</a:t>
            </a:r>
          </a:p>
        </p:txBody>
      </p:sp>
    </p:spTree>
    <p:extLst>
      <p:ext uri="{BB962C8B-B14F-4D97-AF65-F5344CB8AC3E}">
        <p14:creationId xmlns:p14="http://schemas.microsoft.com/office/powerpoint/2010/main" val="1409661362"/>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18 March</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47120"/>
            <a:ext cx="14862995" cy="107721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Contracts: how is copyright monetised?</a:t>
            </a:r>
          </a:p>
          <a:p>
            <a:pPr marL="457200" indent="-457200" algn="just">
              <a:buFont typeface="Arial" panose="020B0604020202020204" pitchFamily="34" charset="0"/>
              <a:buChar char="•"/>
            </a:pPr>
            <a:r>
              <a:rPr lang="en-GB" sz="3200" b="0" dirty="0">
                <a:solidFill>
                  <a:schemeClr val="tx2"/>
                </a:solidFill>
                <a:latin typeface="Barlow" pitchFamily="2" charset="77"/>
              </a:rPr>
              <a:t>Earnings: is our current system effective?</a:t>
            </a:r>
          </a:p>
        </p:txBody>
      </p:sp>
    </p:spTree>
    <p:extLst>
      <p:ext uri="{BB962C8B-B14F-4D97-AF65-F5344CB8AC3E}">
        <p14:creationId xmlns:p14="http://schemas.microsoft.com/office/powerpoint/2010/main" val="347818077"/>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65EC1-392C-2A0C-07C1-D0A44FE73F95}"/>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8D45D14-BDC6-06A3-36E0-C1EC5D81E437}"/>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1693FAF4-075D-0713-B09C-5BCA0BC06B5D}"/>
              </a:ext>
            </a:extLst>
          </p:cNvPr>
          <p:cNvSpPr/>
          <p:nvPr/>
        </p:nvSpPr>
        <p:spPr bwMode="auto">
          <a:xfrm>
            <a:off x="3865657" y="564973"/>
            <a:ext cx="10020266" cy="878004"/>
          </a:xfrm>
          <a:prstGeom prst="rect">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defTabSz="1219261" eaLnBrk="0" fontAlgn="base">
              <a:spcBef>
                <a:spcPct val="0"/>
              </a:spcBef>
              <a:spcAft>
                <a:spcPct val="0"/>
              </a:spcAft>
            </a:pPr>
            <a:r>
              <a:rPr lang="en-GB" sz="3200" b="0" dirty="0">
                <a:solidFill>
                  <a:schemeClr val="bg1"/>
                </a:solidFill>
                <a:latin typeface="Barlow" pitchFamily="2" charset="77"/>
                <a:ea typeface="ＭＳ Ｐゴシック" charset="-128"/>
                <a:cs typeface="ＭＳ Ｐゴシック" charset="-128"/>
              </a:rPr>
              <a:t>Copyright holder (author, performer, artist, heir etc.)</a:t>
            </a:r>
          </a:p>
        </p:txBody>
      </p:sp>
      <p:sp>
        <p:nvSpPr>
          <p:cNvPr id="4" name="Down Arrow 3">
            <a:extLst>
              <a:ext uri="{FF2B5EF4-FFF2-40B4-BE49-F238E27FC236}">
                <a16:creationId xmlns:a16="http://schemas.microsoft.com/office/drawing/2014/main" id="{F684DA31-DDC9-0E90-E715-C35C1E59E518}"/>
              </a:ext>
            </a:extLst>
          </p:cNvPr>
          <p:cNvSpPr/>
          <p:nvPr/>
        </p:nvSpPr>
        <p:spPr bwMode="auto">
          <a:xfrm>
            <a:off x="5677759" y="1802782"/>
            <a:ext cx="6396057" cy="2053537"/>
          </a:xfrm>
          <a:prstGeom prst="downArrow">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defTabSz="1219261" eaLnBrk="0" fontAlgn="base">
              <a:spcBef>
                <a:spcPct val="0"/>
              </a:spcBef>
              <a:spcAft>
                <a:spcPct val="0"/>
              </a:spcAft>
            </a:pPr>
            <a:r>
              <a:rPr lang="en-GB" sz="3200" b="0" dirty="0">
                <a:solidFill>
                  <a:schemeClr val="bg1"/>
                </a:solidFill>
                <a:latin typeface="Barlow" pitchFamily="2" charset="77"/>
                <a:ea typeface="ＭＳ Ｐゴシック" charset="-128"/>
                <a:cs typeface="ＭＳ Ｐゴシック" charset="-128"/>
              </a:rPr>
              <a:t>Exploitation contract</a:t>
            </a:r>
          </a:p>
        </p:txBody>
      </p:sp>
      <p:sp>
        <p:nvSpPr>
          <p:cNvPr id="5" name="Rectangle 4">
            <a:extLst>
              <a:ext uri="{FF2B5EF4-FFF2-40B4-BE49-F238E27FC236}">
                <a16:creationId xmlns:a16="http://schemas.microsoft.com/office/drawing/2014/main" id="{BE828603-13A1-9075-FAE8-24B8EB876C19}"/>
              </a:ext>
            </a:extLst>
          </p:cNvPr>
          <p:cNvSpPr/>
          <p:nvPr/>
        </p:nvSpPr>
        <p:spPr bwMode="auto">
          <a:xfrm>
            <a:off x="4368290" y="4042337"/>
            <a:ext cx="9517633" cy="1156770"/>
          </a:xfrm>
          <a:prstGeom prst="rect">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defTabSz="1219261" eaLnBrk="0" fontAlgn="base">
              <a:spcBef>
                <a:spcPct val="0"/>
              </a:spcBef>
              <a:spcAft>
                <a:spcPct val="0"/>
              </a:spcAft>
            </a:pPr>
            <a:r>
              <a:rPr lang="en-GB" sz="3200" b="0" dirty="0">
                <a:solidFill>
                  <a:schemeClr val="bg1"/>
                </a:solidFill>
                <a:latin typeface="Barlow" pitchFamily="2" charset="77"/>
                <a:ea typeface="ＭＳ Ｐゴシック" charset="-128"/>
                <a:cs typeface="ＭＳ Ｐゴシック" charset="-128"/>
              </a:rPr>
              <a:t>Intermediaries (publishers, distributors, adaptors, agents, collectives, platforms etc.)</a:t>
            </a:r>
          </a:p>
        </p:txBody>
      </p:sp>
      <p:sp>
        <p:nvSpPr>
          <p:cNvPr id="6" name="Down Arrow 5">
            <a:extLst>
              <a:ext uri="{FF2B5EF4-FFF2-40B4-BE49-F238E27FC236}">
                <a16:creationId xmlns:a16="http://schemas.microsoft.com/office/drawing/2014/main" id="{F5111C11-8461-F145-216F-31B004097372}"/>
              </a:ext>
            </a:extLst>
          </p:cNvPr>
          <p:cNvSpPr/>
          <p:nvPr/>
        </p:nvSpPr>
        <p:spPr bwMode="auto">
          <a:xfrm>
            <a:off x="5449025" y="5392706"/>
            <a:ext cx="6853524" cy="2606345"/>
          </a:xfrm>
          <a:prstGeom prst="downArrow">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defTabSz="1219261" eaLnBrk="0" fontAlgn="base">
              <a:spcBef>
                <a:spcPct val="0"/>
              </a:spcBef>
              <a:spcAft>
                <a:spcPct val="0"/>
              </a:spcAft>
            </a:pPr>
            <a:r>
              <a:rPr lang="en-GB" sz="3200" b="0" dirty="0">
                <a:solidFill>
                  <a:schemeClr val="bg1"/>
                </a:solidFill>
                <a:latin typeface="Barlow" pitchFamily="2" charset="77"/>
                <a:ea typeface="ＭＳ Ｐゴシック" charset="-128"/>
                <a:cs typeface="ＭＳ Ｐゴシック" charset="-128"/>
              </a:rPr>
              <a:t>Market prices, licensing contracts</a:t>
            </a:r>
          </a:p>
        </p:txBody>
      </p:sp>
      <p:sp>
        <p:nvSpPr>
          <p:cNvPr id="7" name="Rectangle 6">
            <a:extLst>
              <a:ext uri="{FF2B5EF4-FFF2-40B4-BE49-F238E27FC236}">
                <a16:creationId xmlns:a16="http://schemas.microsoft.com/office/drawing/2014/main" id="{A2806F54-EB39-AD11-F8D2-AC43B5E5E58D}"/>
              </a:ext>
            </a:extLst>
          </p:cNvPr>
          <p:cNvSpPr/>
          <p:nvPr/>
        </p:nvSpPr>
        <p:spPr bwMode="auto">
          <a:xfrm>
            <a:off x="4023852" y="8192650"/>
            <a:ext cx="9703873" cy="1156770"/>
          </a:xfrm>
          <a:prstGeom prst="rect">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defTabSz="1219261" eaLnBrk="0" fontAlgn="base">
              <a:spcBef>
                <a:spcPct val="0"/>
              </a:spcBef>
              <a:spcAft>
                <a:spcPct val="0"/>
              </a:spcAft>
            </a:pPr>
            <a:r>
              <a:rPr lang="en-GB" sz="3200" b="0" dirty="0">
                <a:solidFill>
                  <a:schemeClr val="bg1"/>
                </a:solidFill>
                <a:latin typeface="Barlow" pitchFamily="2" charset="77"/>
                <a:ea typeface="ＭＳ Ｐゴシック" charset="-128"/>
                <a:cs typeface="ＭＳ Ｐゴシック" charset="-128"/>
              </a:rPr>
              <a:t>Final users (consumers, broadcasters, other performers, libraries etc.)</a:t>
            </a:r>
          </a:p>
        </p:txBody>
      </p:sp>
      <p:cxnSp>
        <p:nvCxnSpPr>
          <p:cNvPr id="8" name="Curved Connector 7">
            <a:extLst>
              <a:ext uri="{FF2B5EF4-FFF2-40B4-BE49-F238E27FC236}">
                <a16:creationId xmlns:a16="http://schemas.microsoft.com/office/drawing/2014/main" id="{EC30BF51-8C26-C17D-2F90-BC833174F91C}"/>
              </a:ext>
            </a:extLst>
          </p:cNvPr>
          <p:cNvCxnSpPr>
            <a:cxnSpLocks/>
          </p:cNvCxnSpPr>
          <p:nvPr/>
        </p:nvCxnSpPr>
        <p:spPr>
          <a:xfrm>
            <a:off x="3520961" y="2286114"/>
            <a:ext cx="2617882" cy="1086875"/>
          </a:xfrm>
          <a:prstGeom prst="curvedConnector3">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FEF8A326-7977-1849-EE40-B73C9BF9AB14}"/>
              </a:ext>
            </a:extLst>
          </p:cNvPr>
          <p:cNvSpPr txBox="1"/>
          <p:nvPr/>
        </p:nvSpPr>
        <p:spPr>
          <a:xfrm>
            <a:off x="537525" y="1707748"/>
            <a:ext cx="2983436" cy="103960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094" tIns="27094" rIns="27094" bIns="27094" numCol="1" spcCol="38100" rtlCol="0" anchor="ctr">
            <a:spAutoFit/>
          </a:bodyPr>
          <a:lstStyle/>
          <a:p>
            <a:pPr defTabSz="782735"/>
            <a:r>
              <a:rPr lang="en-GB" sz="3200" b="0" dirty="0">
                <a:solidFill>
                  <a:schemeClr val="tx2"/>
                </a:solidFill>
                <a:latin typeface="Barlow" pitchFamily="2" charset="77"/>
              </a:rPr>
              <a:t>We’re looking at these </a:t>
            </a:r>
          </a:p>
        </p:txBody>
      </p:sp>
    </p:spTree>
    <p:extLst>
      <p:ext uri="{BB962C8B-B14F-4D97-AF65-F5344CB8AC3E}">
        <p14:creationId xmlns:p14="http://schemas.microsoft.com/office/powerpoint/2010/main" val="4029147336"/>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5C7B6-1255-E2E8-6F17-62434F03362A}"/>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CA0E632-D13B-722E-860A-599284F305E5}"/>
              </a:ext>
            </a:extLst>
          </p:cNvPr>
          <p:cNvSpPr txBox="1"/>
          <p:nvPr/>
        </p:nvSpPr>
        <p:spPr>
          <a:xfrm>
            <a:off x="1162334" y="19931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6D3937C-0ED9-713D-10E1-620FE2B69100}"/>
              </a:ext>
            </a:extLst>
          </p:cNvPr>
          <p:cNvSpPr/>
          <p:nvPr/>
        </p:nvSpPr>
        <p:spPr>
          <a:xfrm>
            <a:off x="1028459" y="1966324"/>
            <a:ext cx="14862995" cy="1077218"/>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Does having a copyright mean you deserve to be paid </a:t>
            </a:r>
            <a:r>
              <a:rPr lang="en-GB" sz="3200" b="0" u="sng" dirty="0">
                <a:solidFill>
                  <a:schemeClr val="tx2"/>
                </a:solidFill>
                <a:latin typeface="Barlow" pitchFamily="2" charset="77"/>
              </a:rPr>
              <a:t>fairly</a:t>
            </a:r>
            <a:r>
              <a:rPr lang="en-GB" sz="3200" b="0" dirty="0">
                <a:solidFill>
                  <a:schemeClr val="tx2"/>
                </a:solidFill>
                <a:latin typeface="Barlow" pitchFamily="2" charset="77"/>
              </a:rPr>
              <a:t> when someone else uses your work? What factors would affect your opinion?</a:t>
            </a:r>
            <a:endParaRPr lang="en-GB" sz="3200" b="0" u="sng" dirty="0">
              <a:solidFill>
                <a:schemeClr val="tx2"/>
              </a:solidFill>
              <a:latin typeface="Barlow" pitchFamily="2" charset="77"/>
            </a:endParaRPr>
          </a:p>
        </p:txBody>
      </p:sp>
      <p:sp>
        <p:nvSpPr>
          <p:cNvPr id="6" name="TextBox 5">
            <a:extLst>
              <a:ext uri="{FF2B5EF4-FFF2-40B4-BE49-F238E27FC236}">
                <a16:creationId xmlns:a16="http://schemas.microsoft.com/office/drawing/2014/main" id="{C9B4FFF9-7F54-2808-6CED-58FC0509A7C3}"/>
              </a:ext>
            </a:extLst>
          </p:cNvPr>
          <p:cNvSpPr txBox="1"/>
          <p:nvPr/>
        </p:nvSpPr>
        <p:spPr>
          <a:xfrm>
            <a:off x="4331927" y="8048615"/>
            <a:ext cx="8676408" cy="58477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3200" b="0" dirty="0">
                <a:solidFill>
                  <a:schemeClr val="tx2"/>
                </a:solidFill>
                <a:latin typeface="Barlow" pitchFamily="2" charset="77"/>
              </a:rPr>
              <a:t>https://</a:t>
            </a:r>
            <a:r>
              <a:rPr lang="en-GB" sz="3200" b="0" dirty="0" err="1">
                <a:solidFill>
                  <a:schemeClr val="tx2"/>
                </a:solidFill>
                <a:latin typeface="Barlow" pitchFamily="2" charset="77"/>
              </a:rPr>
              <a:t>forms.cloud.microsoft</a:t>
            </a:r>
            <a:r>
              <a:rPr lang="en-GB" sz="3200" b="0" dirty="0">
                <a:solidFill>
                  <a:schemeClr val="tx2"/>
                </a:solidFill>
                <a:latin typeface="Barlow" pitchFamily="2" charset="77"/>
              </a:rPr>
              <a:t>/e/kvA5P0Wb6B</a:t>
            </a:r>
          </a:p>
        </p:txBody>
      </p:sp>
      <p:sp>
        <p:nvSpPr>
          <p:cNvPr id="2" name="TITLE TEXT">
            <a:extLst>
              <a:ext uri="{FF2B5EF4-FFF2-40B4-BE49-F238E27FC236}">
                <a16:creationId xmlns:a16="http://schemas.microsoft.com/office/drawing/2014/main" id="{32EB0606-6BF9-072D-67FD-CA90F7238D68}"/>
              </a:ext>
            </a:extLst>
          </p:cNvPr>
          <p:cNvSpPr txBox="1"/>
          <p:nvPr/>
        </p:nvSpPr>
        <p:spPr>
          <a:xfrm>
            <a:off x="1028459" y="730197"/>
            <a:ext cx="1197987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Is copyright a ‘right to get paid’?</a:t>
            </a:r>
          </a:p>
        </p:txBody>
      </p:sp>
      <p:pic>
        <p:nvPicPr>
          <p:cNvPr id="2050" name="Picture 2" descr="QR code">
            <a:extLst>
              <a:ext uri="{FF2B5EF4-FFF2-40B4-BE49-F238E27FC236}">
                <a16:creationId xmlns:a16="http://schemas.microsoft.com/office/drawing/2014/main" id="{CCDBED1F-C319-F8A8-3A4B-6C02E1C4F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3573" y="3449910"/>
            <a:ext cx="4473115" cy="4473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10374"/>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D1385-1EE1-ED7C-11F1-8ABE9F5EFB4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0CE4813-6F3D-6604-EECB-79CCB056FCA0}"/>
              </a:ext>
            </a:extLst>
          </p:cNvPr>
          <p:cNvSpPr txBox="1"/>
          <p:nvPr/>
        </p:nvSpPr>
        <p:spPr>
          <a:xfrm>
            <a:off x="1028459" y="730197"/>
            <a:ext cx="11920098"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Is copyright a ‘right to get paid’?</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E551EB8-ED1A-8D5C-27E6-5F32F3E3A598}"/>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65241D34-2519-F968-D85D-BEA2B23CB053}"/>
              </a:ext>
            </a:extLst>
          </p:cNvPr>
          <p:cNvSpPr/>
          <p:nvPr/>
        </p:nvSpPr>
        <p:spPr>
          <a:xfrm>
            <a:off x="1028459" y="1947120"/>
            <a:ext cx="14862995" cy="452431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A bigger policy question: is money needed to </a:t>
            </a:r>
            <a:r>
              <a:rPr lang="en-GB" sz="3200" dirty="0">
                <a:solidFill>
                  <a:schemeClr val="tx2"/>
                </a:solidFill>
                <a:latin typeface="Barlow" pitchFamily="2" charset="77"/>
              </a:rPr>
              <a:t>incentivise</a:t>
            </a:r>
            <a:r>
              <a:rPr lang="en-GB" sz="3200" b="0" dirty="0">
                <a:solidFill>
                  <a:schemeClr val="tx2"/>
                </a:solidFill>
                <a:latin typeface="Barlow" pitchFamily="2" charset="77"/>
              </a:rPr>
              <a:t> people to create?</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What is the </a:t>
            </a:r>
            <a:r>
              <a:rPr lang="en-GB" sz="3200" dirty="0">
                <a:solidFill>
                  <a:schemeClr val="tx2"/>
                </a:solidFill>
                <a:latin typeface="Barlow" pitchFamily="2" charset="77"/>
              </a:rPr>
              <a:t>quality</a:t>
            </a:r>
            <a:r>
              <a:rPr lang="en-GB" sz="3200" b="0" dirty="0">
                <a:solidFill>
                  <a:schemeClr val="tx2"/>
                </a:solidFill>
                <a:latin typeface="Barlow" pitchFamily="2" charset="77"/>
              </a:rPr>
              <a:t> of the thing?</a:t>
            </a:r>
          </a:p>
          <a:p>
            <a:pPr marL="457200" indent="-457200" algn="just">
              <a:buFont typeface="Arial" panose="020B0604020202020204" pitchFamily="34" charset="0"/>
              <a:buChar char="•"/>
            </a:pPr>
            <a:r>
              <a:rPr lang="en-GB" sz="3200" b="0" dirty="0">
                <a:solidFill>
                  <a:schemeClr val="tx2"/>
                </a:solidFill>
                <a:latin typeface="Barlow" pitchFamily="2" charset="77"/>
              </a:rPr>
              <a:t>Note: principle of aesthetic neutrality in copyright means the right itself isn’t always a hallmark of ‘quality’</a:t>
            </a: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How effectively were you able to leverage it </a:t>
            </a:r>
            <a:r>
              <a:rPr lang="en-GB" sz="3200" dirty="0">
                <a:solidFill>
                  <a:schemeClr val="tx2"/>
                </a:solidFill>
                <a:latin typeface="Barlow" pitchFamily="2" charset="77"/>
              </a:rPr>
              <a:t>on the market</a:t>
            </a:r>
            <a:r>
              <a:rPr lang="en-GB" sz="3200" b="0" dirty="0">
                <a:solidFill>
                  <a:schemeClr val="tx2"/>
                </a:solidFill>
                <a:latin typeface="Barlow" pitchFamily="2" charset="77"/>
              </a:rPr>
              <a:t>? Recall: Spotify example – independent vs ‘traditional’ route</a:t>
            </a:r>
          </a:p>
          <a:p>
            <a:pPr marL="457200" indent="-457200" algn="just">
              <a:buFont typeface="Arial" panose="020B0604020202020204" pitchFamily="34" charset="0"/>
              <a:buChar char="•"/>
            </a:pPr>
            <a:r>
              <a:rPr lang="en-GB" sz="3200" b="0" dirty="0">
                <a:solidFill>
                  <a:schemeClr val="tx2"/>
                </a:solidFill>
                <a:latin typeface="Barlow" pitchFamily="2" charset="77"/>
              </a:rPr>
              <a:t>Role of intermediaries (publishers, platforms etc.)</a:t>
            </a:r>
          </a:p>
        </p:txBody>
      </p:sp>
    </p:spTree>
    <p:extLst>
      <p:ext uri="{BB962C8B-B14F-4D97-AF65-F5344CB8AC3E}">
        <p14:creationId xmlns:p14="http://schemas.microsoft.com/office/powerpoint/2010/main" val="1381411964"/>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7499A-6324-09DD-D57B-694056C8FCB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E69E2C0-3CB2-AE9A-3D91-77A3BA02329F}"/>
              </a:ext>
            </a:extLst>
          </p:cNvPr>
          <p:cNvSpPr txBox="1"/>
          <p:nvPr/>
        </p:nvSpPr>
        <p:spPr>
          <a:xfrm>
            <a:off x="1028459" y="730197"/>
            <a:ext cx="11920098"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DB7871F-FE72-2DF9-BC7D-68B7B59BCAC9}"/>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3A1D14-5832-B214-EB6A-624E25B1AF0D}"/>
              </a:ext>
            </a:extLst>
          </p:cNvPr>
          <p:cNvSpPr/>
          <p:nvPr/>
        </p:nvSpPr>
        <p:spPr>
          <a:xfrm>
            <a:off x="1028459" y="1947120"/>
            <a:ext cx="14862995" cy="4524315"/>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How do creators make money?</a:t>
            </a:r>
          </a:p>
          <a:p>
            <a:pPr algn="just"/>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dirty="0">
                <a:solidFill>
                  <a:schemeClr val="tx2"/>
                </a:solidFill>
                <a:latin typeface="Barlow" pitchFamily="2" charset="77"/>
              </a:rPr>
              <a:t>Thomas Babington (Lord) Macaulay argued in the House of Commons (5 February 1841): </a:t>
            </a:r>
            <a:r>
              <a:rPr lang="en-GB" sz="3200" dirty="0">
                <a:solidFill>
                  <a:schemeClr val="tx2"/>
                </a:solidFill>
                <a:latin typeface="Barlow" pitchFamily="2" charset="77"/>
              </a:rPr>
              <a:t>“.</a:t>
            </a:r>
            <a:r>
              <a:rPr lang="en-GB" sz="3200" b="0" dirty="0">
                <a:solidFill>
                  <a:schemeClr val="tx2"/>
                </a:solidFill>
                <a:latin typeface="Barlow" pitchFamily="2" charset="77"/>
              </a:rPr>
              <a:t>..</a:t>
            </a:r>
            <a:r>
              <a:rPr lang="en-GB" sz="3200" dirty="0">
                <a:solidFill>
                  <a:schemeClr val="tx2"/>
                </a:solidFill>
                <a:latin typeface="Barlow" pitchFamily="2" charset="77"/>
              </a:rPr>
              <a:t>there are only two ways in which [men of letters] can be remunerated. One of those is patronage; the other is copyright.”</a:t>
            </a:r>
          </a:p>
          <a:p>
            <a:pPr algn="just"/>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dirty="0">
                <a:solidFill>
                  <a:schemeClr val="tx2"/>
                </a:solidFill>
                <a:latin typeface="Barlow" pitchFamily="2" charset="77"/>
              </a:rPr>
              <a:t>Copyright: is a </a:t>
            </a:r>
            <a:r>
              <a:rPr lang="en-GB" sz="3200" dirty="0">
                <a:solidFill>
                  <a:schemeClr val="tx2"/>
                </a:solidFill>
                <a:latin typeface="Barlow" pitchFamily="2" charset="77"/>
              </a:rPr>
              <a:t>negative right </a:t>
            </a:r>
            <a:r>
              <a:rPr lang="en-GB" sz="3200" b="0" dirty="0">
                <a:solidFill>
                  <a:schemeClr val="tx2"/>
                </a:solidFill>
                <a:latin typeface="Barlow" pitchFamily="2" charset="77"/>
              </a:rPr>
              <a:t>that means works can be made available subject to certain conditions (e.g., pay me!); and those conditions are often set through </a:t>
            </a:r>
            <a:r>
              <a:rPr lang="en-GB" sz="3200" dirty="0">
                <a:solidFill>
                  <a:schemeClr val="tx2"/>
                </a:solidFill>
                <a:latin typeface="Barlow" pitchFamily="2" charset="77"/>
              </a:rPr>
              <a:t>contracts</a:t>
            </a:r>
          </a:p>
        </p:txBody>
      </p:sp>
    </p:spTree>
    <p:extLst>
      <p:ext uri="{BB962C8B-B14F-4D97-AF65-F5344CB8AC3E}">
        <p14:creationId xmlns:p14="http://schemas.microsoft.com/office/powerpoint/2010/main" val="248379533"/>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59362"/>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 review</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76285"/>
            <a:ext cx="14862995" cy="5509200"/>
          </a:xfrm>
          <a:prstGeom prst="rect">
            <a:avLst/>
          </a:prstGeom>
        </p:spPr>
        <p:txBody>
          <a:bodyPr wrap="square">
            <a:spAutoFit/>
          </a:bodyPr>
          <a:lstStyle/>
          <a:p>
            <a:pPr algn="just"/>
            <a:r>
              <a:rPr lang="en-GB" sz="3200" b="0" dirty="0">
                <a:solidFill>
                  <a:schemeClr val="tx2"/>
                </a:solidFill>
                <a:latin typeface="Barlow" pitchFamily="2" charset="77"/>
              </a:rPr>
              <a:t>Imagine you’re reviewing this contract for a client you’re representing. Have a look and identify:</a:t>
            </a:r>
          </a:p>
          <a:p>
            <a:pPr algn="just"/>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dirty="0">
                <a:solidFill>
                  <a:schemeClr val="tx2"/>
                </a:solidFill>
                <a:latin typeface="Barlow" pitchFamily="2" charset="77"/>
              </a:rPr>
              <a:t>Who ‘owns’ the work?</a:t>
            </a:r>
          </a:p>
          <a:p>
            <a:pPr marL="609630" indent="-609630" algn="just">
              <a:buFont typeface="Arial" panose="020B0604020202020204" pitchFamily="34" charset="0"/>
              <a:buChar char="•"/>
            </a:pPr>
            <a:r>
              <a:rPr lang="en-GB" sz="3200" b="0" dirty="0">
                <a:solidFill>
                  <a:schemeClr val="tx2"/>
                </a:solidFill>
                <a:latin typeface="Barlow" pitchFamily="2" charset="77"/>
              </a:rPr>
              <a:t>What kinds of things can the publisher do with the work?</a:t>
            </a:r>
          </a:p>
          <a:p>
            <a:pPr marL="609630" indent="-609630" algn="just">
              <a:buFont typeface="Arial" panose="020B0604020202020204" pitchFamily="34" charset="0"/>
              <a:buChar char="•"/>
            </a:pPr>
            <a:r>
              <a:rPr lang="en-GB" sz="3200" b="0" dirty="0">
                <a:solidFill>
                  <a:schemeClr val="tx2"/>
                </a:solidFill>
                <a:latin typeface="Barlow" pitchFamily="2" charset="77"/>
              </a:rPr>
              <a:t>How is your client going to get paid?</a:t>
            </a:r>
          </a:p>
          <a:p>
            <a:pPr marL="609630" indent="-609630" algn="just">
              <a:buFont typeface="Arial" panose="020B0604020202020204" pitchFamily="34" charset="0"/>
              <a:buChar char="•"/>
            </a:pPr>
            <a:r>
              <a:rPr lang="en-GB" sz="3200" b="0" dirty="0">
                <a:solidFill>
                  <a:schemeClr val="tx2"/>
                </a:solidFill>
                <a:latin typeface="Barlow" pitchFamily="2" charset="77"/>
              </a:rPr>
              <a:t>How will the contract be brought to an end? Can the client terminate it if they’re unhappy?</a:t>
            </a:r>
          </a:p>
          <a:p>
            <a:pPr marL="609630" indent="-609630" algn="just">
              <a:buFont typeface="Arial" panose="020B0604020202020204" pitchFamily="34" charset="0"/>
              <a:buChar char="•"/>
            </a:pPr>
            <a:r>
              <a:rPr lang="en-GB" sz="3200" b="0" dirty="0">
                <a:solidFill>
                  <a:schemeClr val="tx2"/>
                </a:solidFill>
                <a:latin typeface="Barlow" pitchFamily="2" charset="77"/>
              </a:rPr>
              <a:t>Are there any other terms you think are unfair/illegal/strange?</a:t>
            </a:r>
          </a:p>
          <a:p>
            <a:pPr marL="609630" indent="-609630" algn="just">
              <a:buFont typeface="Arial" panose="020B0604020202020204" pitchFamily="34" charset="0"/>
              <a:buChar char="•"/>
            </a:pPr>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Important: if you feel bamboozled by this that’s the point!</a:t>
            </a:r>
          </a:p>
        </p:txBody>
      </p:sp>
      <p:pic>
        <p:nvPicPr>
          <p:cNvPr id="4" name="Picture 3" descr="A blue text on a white background&#10;&#10;AI-generated content may be incorrect.">
            <a:extLst>
              <a:ext uri="{FF2B5EF4-FFF2-40B4-BE49-F238E27FC236}">
                <a16:creationId xmlns:a16="http://schemas.microsoft.com/office/drawing/2014/main" id="{E6D8CE30-B645-0072-0BBF-9680FBD52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8173" y="7734984"/>
            <a:ext cx="7056165" cy="1259254"/>
          </a:xfrm>
          <a:prstGeom prst="rect">
            <a:avLst/>
          </a:prstGeom>
        </p:spPr>
      </p:pic>
      <p:cxnSp>
        <p:nvCxnSpPr>
          <p:cNvPr id="5" name="Curved Connector 4">
            <a:extLst>
              <a:ext uri="{FF2B5EF4-FFF2-40B4-BE49-F238E27FC236}">
                <a16:creationId xmlns:a16="http://schemas.microsoft.com/office/drawing/2014/main" id="{53198204-0099-E974-150B-4BC09619EAC0}"/>
              </a:ext>
            </a:extLst>
          </p:cNvPr>
          <p:cNvCxnSpPr>
            <a:cxnSpLocks/>
          </p:cNvCxnSpPr>
          <p:nvPr/>
        </p:nvCxnSpPr>
        <p:spPr>
          <a:xfrm rot="10800000" flipV="1">
            <a:off x="12064338" y="7485484"/>
            <a:ext cx="1675108" cy="818011"/>
          </a:xfrm>
          <a:prstGeom prst="curvedConnector3">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DB1E40CF-5158-7C6A-8B73-98DC6B08BD57}"/>
              </a:ext>
            </a:extLst>
          </p:cNvPr>
          <p:cNvSpPr txBox="1"/>
          <p:nvPr/>
        </p:nvSpPr>
        <p:spPr>
          <a:xfrm>
            <a:off x="13323732" y="6965685"/>
            <a:ext cx="2983436" cy="103960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094" tIns="27094" rIns="27094" bIns="27094" numCol="1" spcCol="38100" rtlCol="0" anchor="ctr">
            <a:spAutoFit/>
          </a:bodyPr>
          <a:lstStyle/>
          <a:p>
            <a:pPr defTabSz="782735"/>
            <a:r>
              <a:rPr lang="en-GB" sz="3200" b="0" dirty="0">
                <a:solidFill>
                  <a:schemeClr val="tx2"/>
                </a:solidFill>
                <a:latin typeface="Barlow" pitchFamily="2" charset="77"/>
              </a:rPr>
              <a:t>Find me on Moodle</a:t>
            </a:r>
          </a:p>
        </p:txBody>
      </p:sp>
    </p:spTree>
    <p:extLst>
      <p:ext uri="{BB962C8B-B14F-4D97-AF65-F5344CB8AC3E}">
        <p14:creationId xmlns:p14="http://schemas.microsoft.com/office/powerpoint/2010/main" val="3873440290"/>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06156" y="797258"/>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Ownership</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06156" y="162701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06156" y="1953981"/>
            <a:ext cx="14862995" cy="5016758"/>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Is the work licenced or assigned?</a:t>
            </a:r>
          </a:p>
          <a:p>
            <a:pPr marL="609630" indent="-609630" algn="just">
              <a:buFont typeface="Arial" panose="020B0604020202020204" pitchFamily="34" charset="0"/>
              <a:buChar char="•"/>
            </a:pPr>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Assignation</a:t>
            </a:r>
          </a:p>
          <a:p>
            <a:pPr marL="609630" indent="-609630" algn="just">
              <a:buFont typeface="Arial" panose="020B0604020202020204" pitchFamily="34" charset="0"/>
              <a:buChar char="•"/>
            </a:pPr>
            <a:r>
              <a:rPr lang="en-GB" sz="3200" b="0" dirty="0">
                <a:solidFill>
                  <a:schemeClr val="tx2"/>
                </a:solidFill>
                <a:latin typeface="Barlow" pitchFamily="2" charset="77"/>
              </a:rPr>
              <a:t>Equivalent of sale</a:t>
            </a:r>
          </a:p>
          <a:p>
            <a:pPr marL="609630" indent="-609630" algn="just">
              <a:buFont typeface="Arial" panose="020B0604020202020204" pitchFamily="34" charset="0"/>
              <a:buChar char="•"/>
            </a:pPr>
            <a:r>
              <a:rPr lang="en-GB" sz="3200" b="0" dirty="0">
                <a:solidFill>
                  <a:schemeClr val="tx2"/>
                </a:solidFill>
                <a:latin typeface="Barlow" pitchFamily="2" charset="77"/>
              </a:rPr>
              <a:t>Requirement of form: assignations must be in writing</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Licences</a:t>
            </a:r>
          </a:p>
          <a:p>
            <a:pPr marL="609630" indent="-609630" algn="just">
              <a:buFont typeface="Arial" panose="020B0604020202020204" pitchFamily="34" charset="0"/>
              <a:buChar char="•"/>
            </a:pPr>
            <a:r>
              <a:rPr lang="en-GB" sz="3200" b="0" dirty="0">
                <a:solidFill>
                  <a:schemeClr val="tx2"/>
                </a:solidFill>
                <a:latin typeface="Barlow" pitchFamily="2" charset="77"/>
              </a:rPr>
              <a:t>Equivalent of lease</a:t>
            </a:r>
          </a:p>
          <a:p>
            <a:pPr marL="609630" indent="-609630" algn="just">
              <a:buFont typeface="Arial" panose="020B0604020202020204" pitchFamily="34" charset="0"/>
              <a:buChar char="•"/>
            </a:pPr>
            <a:r>
              <a:rPr lang="en-GB" sz="3200" b="0" dirty="0">
                <a:solidFill>
                  <a:schemeClr val="tx2"/>
                </a:solidFill>
                <a:latin typeface="Barlow" pitchFamily="2" charset="77"/>
              </a:rPr>
              <a:t>Licences are limited in time and purpose</a:t>
            </a:r>
          </a:p>
          <a:p>
            <a:pPr marL="609630" indent="-609630" algn="just">
              <a:buFont typeface="Arial" panose="020B0604020202020204" pitchFamily="34" charset="0"/>
              <a:buChar char="•"/>
            </a:pPr>
            <a:r>
              <a:rPr lang="en-GB" sz="3200" b="0" dirty="0">
                <a:solidFill>
                  <a:schemeClr val="tx2"/>
                </a:solidFill>
                <a:latin typeface="Barlow" pitchFamily="2" charset="77"/>
              </a:rPr>
              <a:t>Exclusive or non-exclusive</a:t>
            </a:r>
          </a:p>
        </p:txBody>
      </p:sp>
    </p:spTree>
    <p:extLst>
      <p:ext uri="{BB962C8B-B14F-4D97-AF65-F5344CB8AC3E}">
        <p14:creationId xmlns:p14="http://schemas.microsoft.com/office/powerpoint/2010/main" val="3804402889"/>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835394"/>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Scope of rights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470900"/>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31678"/>
            <a:ext cx="14862995" cy="6986528"/>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What rights have been assigned and over what mediums?</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Economic rights</a:t>
            </a:r>
          </a:p>
          <a:p>
            <a:pPr marL="609630" indent="-609630" algn="just">
              <a:buFont typeface="Arial" panose="020B0604020202020204" pitchFamily="34" charset="0"/>
              <a:buChar char="•"/>
            </a:pPr>
            <a:r>
              <a:rPr lang="en-GB" sz="3200" b="0" dirty="0">
                <a:solidFill>
                  <a:schemeClr val="tx2"/>
                </a:solidFill>
                <a:latin typeface="Barlow" pitchFamily="2" charset="77"/>
              </a:rPr>
              <a:t>Incl., reproduction, distribution, translation, adaptation, </a:t>
            </a:r>
            <a:r>
              <a:rPr lang="en-GB" sz="3200" dirty="0">
                <a:solidFill>
                  <a:schemeClr val="tx2"/>
                </a:solidFill>
                <a:latin typeface="Barlow" pitchFamily="2" charset="77"/>
              </a:rPr>
              <a:t>communication to the public</a:t>
            </a:r>
            <a:r>
              <a:rPr lang="en-GB" sz="3200" b="0" dirty="0">
                <a:solidFill>
                  <a:schemeClr val="tx2"/>
                </a:solidFill>
                <a:latin typeface="Barlow" pitchFamily="2" charset="77"/>
              </a:rPr>
              <a:t> (need for extensive grab? The TV show soundtrack problem)</a:t>
            </a:r>
          </a:p>
          <a:p>
            <a:pPr marL="609630" indent="-609630" algn="just">
              <a:buFont typeface="Arial" panose="020B0604020202020204" pitchFamily="34" charset="0"/>
              <a:buChar char="•"/>
            </a:pPr>
            <a:r>
              <a:rPr lang="en-GB" sz="3200" b="0" dirty="0">
                <a:solidFill>
                  <a:schemeClr val="tx2"/>
                </a:solidFill>
                <a:latin typeface="Barlow" pitchFamily="2" charset="77"/>
              </a:rPr>
              <a:t>Consider: does the creator own all the rights they say they do? Has the work been made in the course of employment or commissioned? Authorship </a:t>
            </a:r>
            <a:r>
              <a:rPr lang="en-GB" sz="3200" dirty="0">
                <a:solidFill>
                  <a:schemeClr val="tx2"/>
                </a:solidFill>
                <a:latin typeface="Barlow" pitchFamily="2" charset="77"/>
              </a:rPr>
              <a:t>≠</a:t>
            </a:r>
            <a:r>
              <a:rPr lang="en-GB" sz="3200" b="0" dirty="0">
                <a:solidFill>
                  <a:schemeClr val="tx2"/>
                </a:solidFill>
                <a:latin typeface="Barlow" pitchFamily="2" charset="77"/>
              </a:rPr>
              <a:t> ownership</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Moral rights</a:t>
            </a:r>
          </a:p>
          <a:p>
            <a:pPr marL="609630" indent="-609630" algn="just">
              <a:buFont typeface="Arial" panose="020B0604020202020204" pitchFamily="34" charset="0"/>
              <a:buChar char="•"/>
            </a:pPr>
            <a:r>
              <a:rPr lang="en-GB" sz="3200" b="0" dirty="0">
                <a:solidFill>
                  <a:schemeClr val="tx2"/>
                </a:solidFill>
                <a:latin typeface="Barlow" pitchFamily="2" charset="77"/>
              </a:rPr>
              <a:t>Paternity (attribution) and integrity (objection to derogatory treatment)</a:t>
            </a:r>
          </a:p>
          <a:p>
            <a:pPr marL="609630" indent="-609630" algn="just">
              <a:buFont typeface="Arial" panose="020B0604020202020204" pitchFamily="34" charset="0"/>
              <a:buChar char="•"/>
            </a:pPr>
            <a:r>
              <a:rPr lang="en-GB" sz="3200" b="0" dirty="0">
                <a:solidFill>
                  <a:schemeClr val="tx2"/>
                </a:solidFill>
                <a:latin typeface="Barlow" pitchFamily="2" charset="77"/>
              </a:rPr>
              <a:t>In the UK, moral rights can be waived but not licensed or assigned</a:t>
            </a:r>
          </a:p>
          <a:p>
            <a:pPr marL="609630" indent="-609630" algn="just">
              <a:buFont typeface="Arial" panose="020B0604020202020204" pitchFamily="34" charset="0"/>
              <a:buChar char="•"/>
            </a:pPr>
            <a:r>
              <a:rPr lang="en-GB" sz="3200" b="0" dirty="0">
                <a:solidFill>
                  <a:schemeClr val="tx2"/>
                </a:solidFill>
                <a:latin typeface="Barlow" pitchFamily="2" charset="77"/>
              </a:rPr>
              <a:t>Right to attribution must be asserted</a:t>
            </a:r>
          </a:p>
          <a:p>
            <a:pPr marL="609630" indent="-609630" algn="just">
              <a:buFont typeface="Arial" panose="020B0604020202020204" pitchFamily="34" charset="0"/>
              <a:buChar char="•"/>
            </a:pPr>
            <a:r>
              <a:rPr lang="en-GB" sz="3200" b="0" dirty="0">
                <a:solidFill>
                  <a:schemeClr val="tx2"/>
                </a:solidFill>
                <a:latin typeface="Barlow" pitchFamily="2" charset="77"/>
              </a:rPr>
              <a:t>Waivers must be in writing</a:t>
            </a:r>
          </a:p>
        </p:txBody>
      </p:sp>
    </p:spTree>
    <p:extLst>
      <p:ext uri="{BB962C8B-B14F-4D97-AF65-F5344CB8AC3E}">
        <p14:creationId xmlns:p14="http://schemas.microsoft.com/office/powerpoint/2010/main" val="2180844689"/>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803966"/>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Remuneration</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850041"/>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2020889"/>
            <a:ext cx="14862995" cy="6986528"/>
          </a:xfrm>
          <a:prstGeom prst="rect">
            <a:avLst/>
          </a:prstGeom>
        </p:spPr>
        <p:txBody>
          <a:bodyPr wrap="square">
            <a:spAutoFit/>
          </a:bodyPr>
          <a:lstStyle/>
          <a:p>
            <a:pPr marL="609630" indent="-609630" algn="l">
              <a:buFont typeface="Arial" panose="020B0604020202020204" pitchFamily="34" charset="0"/>
              <a:buChar char="•"/>
            </a:pPr>
            <a:r>
              <a:rPr lang="en-GB" sz="3200" b="0" dirty="0">
                <a:solidFill>
                  <a:schemeClr val="tx2"/>
                </a:solidFill>
                <a:latin typeface="Barlow" pitchFamily="2" charset="77"/>
              </a:rPr>
              <a:t>How will you get paid (consideration)? Note: usually not a salary!</a:t>
            </a:r>
          </a:p>
          <a:p>
            <a:pPr algn="l"/>
            <a:endParaRPr lang="en-GB" sz="3200" b="0" dirty="0">
              <a:solidFill>
                <a:schemeClr val="tx2"/>
              </a:solidFill>
              <a:latin typeface="Barlow" pitchFamily="2" charset="77"/>
            </a:endParaRPr>
          </a:p>
          <a:p>
            <a:pPr algn="l"/>
            <a:r>
              <a:rPr lang="en-GB" sz="3200" b="0" dirty="0">
                <a:solidFill>
                  <a:schemeClr val="tx2"/>
                </a:solidFill>
                <a:latin typeface="Barlow" pitchFamily="2" charset="77"/>
              </a:rPr>
              <a:t>Advances (up-front)</a:t>
            </a:r>
          </a:p>
          <a:p>
            <a:pPr marL="609630" indent="-609630" algn="l">
              <a:buFont typeface="Arial" panose="020B0604020202020204" pitchFamily="34" charset="0"/>
              <a:buChar char="•"/>
            </a:pPr>
            <a:r>
              <a:rPr lang="en-GB" sz="3200" b="0" dirty="0">
                <a:solidFill>
                  <a:schemeClr val="tx2"/>
                </a:solidFill>
                <a:latin typeface="Barlow" pitchFamily="2" charset="77"/>
              </a:rPr>
              <a:t>Lump-sum offered ahead of completion of the work</a:t>
            </a:r>
          </a:p>
          <a:p>
            <a:pPr marL="609630" indent="-609630" algn="l">
              <a:buFont typeface="Arial" panose="020B0604020202020204" pitchFamily="34" charset="0"/>
              <a:buChar char="•"/>
            </a:pPr>
            <a:endParaRPr lang="en-GB" sz="3200" b="0" dirty="0">
              <a:solidFill>
                <a:schemeClr val="tx2"/>
              </a:solidFill>
              <a:latin typeface="Barlow" pitchFamily="2" charset="77"/>
            </a:endParaRPr>
          </a:p>
          <a:p>
            <a:pPr algn="l"/>
            <a:r>
              <a:rPr lang="en-GB" sz="3200" b="0" dirty="0">
                <a:solidFill>
                  <a:schemeClr val="tx2"/>
                </a:solidFill>
                <a:latin typeface="Barlow" pitchFamily="2" charset="77"/>
              </a:rPr>
              <a:t>Buy-outs (up-front)</a:t>
            </a:r>
          </a:p>
          <a:p>
            <a:pPr marL="609630" indent="-609630" algn="l">
              <a:buFont typeface="Arial" panose="020B0604020202020204" pitchFamily="34" charset="0"/>
              <a:buChar char="•"/>
            </a:pPr>
            <a:r>
              <a:rPr lang="en-GB" sz="3200" b="0" dirty="0">
                <a:solidFill>
                  <a:schemeClr val="tx2"/>
                </a:solidFill>
                <a:latin typeface="Barlow" pitchFamily="2" charset="77"/>
              </a:rPr>
              <a:t>Single, lump-sum payment with no associated future payments</a:t>
            </a:r>
          </a:p>
          <a:p>
            <a:pPr algn="l"/>
            <a:endParaRPr lang="en-GB" sz="3200" b="0" dirty="0">
              <a:solidFill>
                <a:schemeClr val="tx2"/>
              </a:solidFill>
              <a:latin typeface="Barlow" pitchFamily="2" charset="77"/>
            </a:endParaRPr>
          </a:p>
          <a:p>
            <a:pPr algn="l"/>
            <a:r>
              <a:rPr lang="en-GB" sz="3200" b="0" dirty="0">
                <a:solidFill>
                  <a:schemeClr val="tx2"/>
                </a:solidFill>
                <a:latin typeface="Barlow" pitchFamily="2" charset="77"/>
              </a:rPr>
              <a:t>Royalties/residuals (future payments)</a:t>
            </a:r>
          </a:p>
          <a:p>
            <a:pPr marL="609630" indent="-609630" algn="l">
              <a:buFont typeface="Arial" panose="020B0604020202020204" pitchFamily="34" charset="0"/>
              <a:buChar char="•"/>
            </a:pPr>
            <a:r>
              <a:rPr lang="en-GB" sz="3200" b="0" dirty="0">
                <a:solidFill>
                  <a:schemeClr val="tx2"/>
                </a:solidFill>
                <a:latin typeface="Barlow" pitchFamily="2" charset="77"/>
              </a:rPr>
              <a:t>Percentage payments offered usually as figure of net receipts or profits from the publisher</a:t>
            </a:r>
          </a:p>
          <a:p>
            <a:pPr marL="609630" indent="-609630" algn="l">
              <a:buFont typeface="Arial" panose="020B0604020202020204" pitchFamily="34" charset="0"/>
              <a:buChar char="•"/>
            </a:pPr>
            <a:r>
              <a:rPr lang="en-GB" sz="3200" b="0" dirty="0">
                <a:solidFill>
                  <a:schemeClr val="tx2"/>
                </a:solidFill>
                <a:latin typeface="Barlow" pitchFamily="2" charset="77"/>
              </a:rPr>
              <a:t>May be specific to medium (e.g., different from hard back vs paper back vs eBook)</a:t>
            </a:r>
          </a:p>
          <a:p>
            <a:pPr algn="l"/>
            <a:endParaRPr lang="en-GB" sz="3200" b="0" dirty="0">
              <a:solidFill>
                <a:schemeClr val="tx2"/>
              </a:solidFill>
              <a:latin typeface="Barlow" pitchFamily="2" charset="77"/>
            </a:endParaRPr>
          </a:p>
        </p:txBody>
      </p:sp>
    </p:spTree>
    <p:extLst>
      <p:ext uri="{BB962C8B-B14F-4D97-AF65-F5344CB8AC3E}">
        <p14:creationId xmlns:p14="http://schemas.microsoft.com/office/powerpoint/2010/main" val="1893046000"/>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961551" y="759362"/>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b="1" dirty="0"/>
              <a:t>Revision/termination</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961551"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961551" y="1976285"/>
            <a:ext cx="14862995" cy="3539430"/>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How will the contract be brought to an end and by which party?</a:t>
            </a:r>
          </a:p>
          <a:p>
            <a:pPr algn="just"/>
            <a:endParaRPr lang="en-GB" sz="3200" b="0" dirty="0">
              <a:solidFill>
                <a:schemeClr val="tx2"/>
              </a:solidFill>
              <a:latin typeface="Barlow" pitchFamily="2" charset="77"/>
            </a:endParaRPr>
          </a:p>
          <a:p>
            <a:pPr algn="just"/>
            <a:r>
              <a:rPr lang="en-GB" sz="3200" b="0" dirty="0">
                <a:solidFill>
                  <a:schemeClr val="tx2"/>
                </a:solidFill>
                <a:latin typeface="Barlow" pitchFamily="2" charset="77"/>
              </a:rPr>
              <a:t>Reversion and revocation rights</a:t>
            </a:r>
          </a:p>
          <a:p>
            <a:pPr marL="609630" indent="-609630" algn="just">
              <a:buFont typeface="Arial" panose="020B0604020202020204" pitchFamily="34" charset="0"/>
              <a:buChar char="•"/>
            </a:pPr>
            <a:r>
              <a:rPr lang="en-GB" sz="3200" b="0" dirty="0">
                <a:solidFill>
                  <a:schemeClr val="tx2"/>
                </a:solidFill>
                <a:latin typeface="Barlow" pitchFamily="2" charset="77"/>
              </a:rPr>
              <a:t>Bounded by time (e.g., after 10 years)</a:t>
            </a:r>
          </a:p>
          <a:p>
            <a:pPr marL="609630" indent="-609630" algn="just">
              <a:buFont typeface="Arial" panose="020B0604020202020204" pitchFamily="34" charset="0"/>
              <a:buChar char="•"/>
            </a:pPr>
            <a:r>
              <a:rPr lang="en-GB" sz="3200" b="0" dirty="0">
                <a:solidFill>
                  <a:schemeClr val="tx2"/>
                </a:solidFill>
                <a:latin typeface="Barlow" pitchFamily="2" charset="77"/>
              </a:rPr>
              <a:t>Triggered by activity (e.g., publisher isn’t promoting the work)</a:t>
            </a:r>
          </a:p>
          <a:p>
            <a:pPr marL="609630" indent="-609630" algn="just">
              <a:buFont typeface="Arial" panose="020B0604020202020204" pitchFamily="34" charset="0"/>
              <a:buChar char="•"/>
            </a:pPr>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dirty="0">
                <a:solidFill>
                  <a:schemeClr val="tx2"/>
                </a:solidFill>
                <a:latin typeface="Barlow" pitchFamily="2" charset="77"/>
              </a:rPr>
              <a:t>Can the contract be transferred to a third party?</a:t>
            </a:r>
          </a:p>
        </p:txBody>
      </p:sp>
    </p:spTree>
    <p:extLst>
      <p:ext uri="{BB962C8B-B14F-4D97-AF65-F5344CB8AC3E}">
        <p14:creationId xmlns:p14="http://schemas.microsoft.com/office/powerpoint/2010/main" val="130325345"/>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0F48-D381-64DA-6D40-52AF276F8FD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D61D4B6-566F-68D3-612B-884ABB6506CB}"/>
              </a:ext>
            </a:extLst>
          </p:cNvPr>
          <p:cNvSpPr txBox="1"/>
          <p:nvPr/>
        </p:nvSpPr>
        <p:spPr>
          <a:xfrm>
            <a:off x="1028459" y="730197"/>
            <a:ext cx="11920098"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 review</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5C9A4D6-A6DD-7DE3-4517-9CA1C53B5E66}"/>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85E97F90-4FDA-E34D-FE83-20445B3CF0BF}"/>
              </a:ext>
            </a:extLst>
          </p:cNvPr>
          <p:cNvSpPr/>
          <p:nvPr/>
        </p:nvSpPr>
        <p:spPr>
          <a:xfrm>
            <a:off x="1028459" y="1947120"/>
            <a:ext cx="14862995" cy="1569660"/>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Assume this contract is non-negotiable/boilerplate/agree-or-walk-away: </a:t>
            </a:r>
            <a:r>
              <a:rPr lang="en-GB" sz="3200" b="0" i="1" dirty="0">
                <a:solidFill>
                  <a:schemeClr val="tx2"/>
                </a:solidFill>
                <a:latin typeface="Barlow" pitchFamily="2" charset="77"/>
              </a:rPr>
              <a:t>do you think the contract is fair? Would you advise your client to sign it? What factors would affect your opinion? </a:t>
            </a:r>
          </a:p>
        </p:txBody>
      </p:sp>
    </p:spTree>
    <p:extLst>
      <p:ext uri="{BB962C8B-B14F-4D97-AF65-F5344CB8AC3E}">
        <p14:creationId xmlns:p14="http://schemas.microsoft.com/office/powerpoint/2010/main" val="1662315872"/>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893176"/>
            <a:ext cx="1442713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the reality</a:t>
            </a:r>
            <a:endParaRPr sz="5334" dirty="0"/>
          </a:p>
        </p:txBody>
      </p:sp>
      <p:sp>
        <p:nvSpPr>
          <p:cNvPr id="4" name="Rectangle 3">
            <a:extLst>
              <a:ext uri="{FF2B5EF4-FFF2-40B4-BE49-F238E27FC236}">
                <a16:creationId xmlns:a16="http://schemas.microsoft.com/office/drawing/2014/main" id="{A17FFC62-50B1-FDB3-72A2-F3F3BC9E7B35}"/>
              </a:ext>
            </a:extLst>
          </p:cNvPr>
          <p:cNvSpPr/>
          <p:nvPr/>
        </p:nvSpPr>
        <p:spPr bwMode="auto">
          <a:xfrm>
            <a:off x="1028459" y="2743418"/>
            <a:ext cx="5680933" cy="4839411"/>
          </a:xfrm>
          <a:prstGeom prst="rect">
            <a:avLst/>
          </a:prstGeom>
          <a:solidFill>
            <a:schemeClr val="accent5"/>
          </a:solidFill>
          <a:ln w="9525"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algn="just" defTabSz="1219261" eaLnBrk="0" fontAlgn="base">
              <a:spcBef>
                <a:spcPct val="0"/>
              </a:spcBef>
              <a:spcAft>
                <a:spcPct val="0"/>
              </a:spcAft>
            </a:pPr>
            <a:r>
              <a:rPr lang="en-GB" sz="3200" dirty="0">
                <a:solidFill>
                  <a:schemeClr val="bg1"/>
                </a:solidFill>
                <a:latin typeface="Barlow" pitchFamily="2" charset="77"/>
                <a:ea typeface="ＭＳ Ｐゴシック" charset="-128"/>
                <a:cs typeface="ＭＳ Ｐゴシック" charset="-128"/>
              </a:rPr>
              <a:t>Creator</a:t>
            </a:r>
          </a:p>
          <a:p>
            <a:pPr marL="457223" indent="-457223" algn="just" defTabSz="1219261" eaLnBrk="0" fontAlgn="base">
              <a:spcBef>
                <a:spcPct val="0"/>
              </a:spcBef>
              <a:spcAft>
                <a:spcPct val="0"/>
              </a:spcAft>
              <a:buFont typeface="Arial" panose="020B0604020202020204" pitchFamily="34" charset="0"/>
              <a:buChar char="•"/>
            </a:pPr>
            <a:r>
              <a:rPr lang="en-GB" sz="3200" b="0" dirty="0">
                <a:solidFill>
                  <a:schemeClr val="bg1"/>
                </a:solidFill>
                <a:latin typeface="Barlow" pitchFamily="2" charset="77"/>
                <a:ea typeface="ＭＳ Ｐゴシック" charset="-128"/>
                <a:cs typeface="ＭＳ Ｐゴシック" charset="-128"/>
              </a:rPr>
              <a:t>No information about the market</a:t>
            </a:r>
            <a:r>
              <a:rPr lang="en-GB" sz="3200" dirty="0">
                <a:solidFill>
                  <a:schemeClr val="bg1"/>
                </a:solidFill>
                <a:latin typeface="Barlow" pitchFamily="2" charset="77"/>
                <a:ea typeface="ＭＳ Ｐゴシック" charset="-128"/>
                <a:cs typeface="ＭＳ Ｐゴシック" charset="-128"/>
              </a:rPr>
              <a:t> </a:t>
            </a:r>
            <a:r>
              <a:rPr lang="en-GB" sz="3200" b="0" dirty="0">
                <a:solidFill>
                  <a:schemeClr val="bg1"/>
                </a:solidFill>
                <a:latin typeface="Barlow" pitchFamily="2" charset="77"/>
                <a:ea typeface="ＭＳ Ｐゴシック" charset="-128"/>
                <a:cs typeface="ＭＳ Ｐゴシック" charset="-128"/>
              </a:rPr>
              <a:t>(how will my work perform? Where should I distribute it?)</a:t>
            </a:r>
          </a:p>
          <a:p>
            <a:pPr marL="457223" indent="-457223" algn="just" defTabSz="1219261" eaLnBrk="0" fontAlgn="base">
              <a:spcBef>
                <a:spcPct val="0"/>
              </a:spcBef>
              <a:spcAft>
                <a:spcPct val="0"/>
              </a:spcAft>
              <a:buFont typeface="Arial" panose="020B0604020202020204" pitchFamily="34" charset="0"/>
              <a:buChar char="•"/>
            </a:pPr>
            <a:endParaRPr lang="en-GB" sz="3200" b="0" dirty="0">
              <a:solidFill>
                <a:schemeClr val="bg1"/>
              </a:solidFill>
              <a:latin typeface="Barlow" pitchFamily="2" charset="77"/>
              <a:ea typeface="ＭＳ Ｐゴシック" charset="-128"/>
              <a:cs typeface="ＭＳ Ｐゴシック" charset="-128"/>
            </a:endParaRPr>
          </a:p>
          <a:p>
            <a:pPr marL="457223" indent="-457223" algn="just" defTabSz="1219261" eaLnBrk="0" fontAlgn="base">
              <a:spcBef>
                <a:spcPct val="0"/>
              </a:spcBef>
              <a:spcAft>
                <a:spcPct val="0"/>
              </a:spcAft>
              <a:buFont typeface="Arial" panose="020B0604020202020204" pitchFamily="34" charset="0"/>
              <a:buChar char="•"/>
            </a:pPr>
            <a:r>
              <a:rPr lang="en-GB" sz="3200" b="0" dirty="0">
                <a:solidFill>
                  <a:schemeClr val="bg1"/>
                </a:solidFill>
                <a:latin typeface="Barlow" pitchFamily="2" charset="77"/>
                <a:ea typeface="ＭＳ Ｐゴシック" charset="-128"/>
                <a:cs typeface="ＭＳ Ｐゴシック" charset="-128"/>
              </a:rPr>
              <a:t>No up front capital to start the exploitation and future payments uncertain</a:t>
            </a:r>
          </a:p>
        </p:txBody>
      </p:sp>
      <p:sp>
        <p:nvSpPr>
          <p:cNvPr id="5" name="Rectangle 4">
            <a:extLst>
              <a:ext uri="{FF2B5EF4-FFF2-40B4-BE49-F238E27FC236}">
                <a16:creationId xmlns:a16="http://schemas.microsoft.com/office/drawing/2014/main" id="{D61A932C-41A4-C5BE-16C5-4EAA7294BE4A}"/>
              </a:ext>
            </a:extLst>
          </p:cNvPr>
          <p:cNvSpPr/>
          <p:nvPr/>
        </p:nvSpPr>
        <p:spPr bwMode="auto">
          <a:xfrm>
            <a:off x="11100187" y="2743418"/>
            <a:ext cx="4943868" cy="4839411"/>
          </a:xfrm>
          <a:prstGeom prst="rect">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algn="just" defTabSz="1219261" eaLnBrk="0" fontAlgn="base">
              <a:spcBef>
                <a:spcPct val="0"/>
              </a:spcBef>
              <a:spcAft>
                <a:spcPct val="0"/>
              </a:spcAft>
            </a:pPr>
            <a:r>
              <a:rPr lang="en-GB" sz="3200" dirty="0">
                <a:solidFill>
                  <a:schemeClr val="bg1"/>
                </a:solidFill>
                <a:latin typeface="Barlow" pitchFamily="2" charset="77"/>
                <a:ea typeface="ＭＳ Ｐゴシック" charset="-128"/>
                <a:cs typeface="ＭＳ Ｐゴシック" charset="-128"/>
              </a:rPr>
              <a:t>Publisher</a:t>
            </a:r>
          </a:p>
          <a:p>
            <a:pPr marL="457223" indent="-457223" algn="just" defTabSz="1219261" eaLnBrk="0" fontAlgn="base">
              <a:spcBef>
                <a:spcPct val="0"/>
              </a:spcBef>
              <a:spcAft>
                <a:spcPct val="0"/>
              </a:spcAft>
              <a:buFont typeface="Arial" panose="020B0604020202020204" pitchFamily="34" charset="0"/>
              <a:buChar char="•"/>
            </a:pPr>
            <a:r>
              <a:rPr lang="en-GB" sz="3200" b="0" dirty="0">
                <a:solidFill>
                  <a:schemeClr val="bg1"/>
                </a:solidFill>
                <a:latin typeface="Barlow" pitchFamily="2" charset="77"/>
                <a:ea typeface="ＭＳ Ｐゴシック" charset="-128"/>
                <a:cs typeface="ＭＳ Ｐゴシック" charset="-128"/>
              </a:rPr>
              <a:t>No guarantee that work will perform well (markets are unpredictable)</a:t>
            </a:r>
          </a:p>
        </p:txBody>
      </p:sp>
      <p:sp>
        <p:nvSpPr>
          <p:cNvPr id="8" name="TextBox 7">
            <a:extLst>
              <a:ext uri="{FF2B5EF4-FFF2-40B4-BE49-F238E27FC236}">
                <a16:creationId xmlns:a16="http://schemas.microsoft.com/office/drawing/2014/main" id="{19544375-9BE6-384D-1AB3-D5F48D93C780}"/>
              </a:ext>
            </a:extLst>
          </p:cNvPr>
          <p:cNvSpPr txBox="1"/>
          <p:nvPr/>
        </p:nvSpPr>
        <p:spPr>
          <a:xfrm>
            <a:off x="7204229" y="2900965"/>
            <a:ext cx="3401121" cy="452431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23" indent="-457223" algn="just">
              <a:buFont typeface="Arial" panose="020B0604020202020204" pitchFamily="34" charset="0"/>
              <a:buChar char="•"/>
            </a:pPr>
            <a:r>
              <a:rPr lang="en-GB" sz="3200" b="0" dirty="0">
                <a:solidFill>
                  <a:schemeClr val="tx2"/>
                </a:solidFill>
                <a:latin typeface="Barlow" pitchFamily="2" charset="77"/>
              </a:rPr>
              <a:t>Risks</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Incentives</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Bargaining power</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Unequal access to information</a:t>
            </a:r>
          </a:p>
        </p:txBody>
      </p:sp>
    </p:spTree>
    <p:extLst>
      <p:ext uri="{BB962C8B-B14F-4D97-AF65-F5344CB8AC3E}">
        <p14:creationId xmlns:p14="http://schemas.microsoft.com/office/powerpoint/2010/main" val="2352185403"/>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5F4FE-304B-4CF1-EE08-C9134F4C630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A6204D89-03E7-3C54-9DB8-D79CD8C3CF25}"/>
              </a:ext>
            </a:extLst>
          </p:cNvPr>
          <p:cNvSpPr txBox="1"/>
          <p:nvPr/>
        </p:nvSpPr>
        <p:spPr>
          <a:xfrm>
            <a:off x="1028459" y="893176"/>
            <a:ext cx="1442713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the reality</a:t>
            </a:r>
            <a:endParaRPr sz="5334" dirty="0"/>
          </a:p>
        </p:txBody>
      </p:sp>
      <p:sp>
        <p:nvSpPr>
          <p:cNvPr id="4" name="Rectangle 3">
            <a:extLst>
              <a:ext uri="{FF2B5EF4-FFF2-40B4-BE49-F238E27FC236}">
                <a16:creationId xmlns:a16="http://schemas.microsoft.com/office/drawing/2014/main" id="{C1C1C787-FAF3-9E7B-157D-5AF38EBE021C}"/>
              </a:ext>
            </a:extLst>
          </p:cNvPr>
          <p:cNvSpPr/>
          <p:nvPr/>
        </p:nvSpPr>
        <p:spPr bwMode="auto">
          <a:xfrm>
            <a:off x="1028459" y="2743418"/>
            <a:ext cx="5680933" cy="4839411"/>
          </a:xfrm>
          <a:prstGeom prst="rect">
            <a:avLst/>
          </a:prstGeom>
          <a:solidFill>
            <a:schemeClr val="accent5"/>
          </a:solidFill>
          <a:ln w="9525"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algn="just" defTabSz="1219261" eaLnBrk="0" fontAlgn="base">
              <a:spcBef>
                <a:spcPct val="0"/>
              </a:spcBef>
              <a:spcAft>
                <a:spcPct val="0"/>
              </a:spcAft>
            </a:pPr>
            <a:r>
              <a:rPr lang="en-GB" sz="3200" dirty="0">
                <a:solidFill>
                  <a:schemeClr val="bg1"/>
                </a:solidFill>
                <a:latin typeface="Barlow" pitchFamily="2" charset="77"/>
                <a:ea typeface="ＭＳ Ｐゴシック" charset="-128"/>
                <a:cs typeface="ＭＳ Ｐゴシック" charset="-128"/>
              </a:rPr>
              <a:t>Creator</a:t>
            </a:r>
          </a:p>
          <a:p>
            <a:pPr marL="457223" indent="-457223" algn="just" defTabSz="1219261" eaLnBrk="0" fontAlgn="base">
              <a:spcBef>
                <a:spcPct val="0"/>
              </a:spcBef>
              <a:spcAft>
                <a:spcPct val="0"/>
              </a:spcAft>
              <a:buFont typeface="Arial" panose="020B0604020202020204" pitchFamily="34" charset="0"/>
              <a:buChar char="•"/>
            </a:pPr>
            <a:r>
              <a:rPr lang="en-GB" sz="3200" b="0" dirty="0">
                <a:solidFill>
                  <a:schemeClr val="bg1"/>
                </a:solidFill>
                <a:latin typeface="Barlow" pitchFamily="2" charset="77"/>
                <a:ea typeface="ＭＳ Ｐゴシック" charset="-128"/>
                <a:cs typeface="ＭＳ Ｐゴシック" charset="-128"/>
              </a:rPr>
              <a:t>No information about the market</a:t>
            </a:r>
            <a:r>
              <a:rPr lang="en-GB" sz="3200" dirty="0">
                <a:solidFill>
                  <a:schemeClr val="bg1"/>
                </a:solidFill>
                <a:latin typeface="Barlow" pitchFamily="2" charset="77"/>
                <a:ea typeface="ＭＳ Ｐゴシック" charset="-128"/>
                <a:cs typeface="ＭＳ Ｐゴシック" charset="-128"/>
              </a:rPr>
              <a:t> </a:t>
            </a:r>
            <a:r>
              <a:rPr lang="en-GB" sz="3200" b="0" dirty="0">
                <a:solidFill>
                  <a:schemeClr val="bg1"/>
                </a:solidFill>
                <a:latin typeface="Barlow" pitchFamily="2" charset="77"/>
                <a:ea typeface="ＭＳ Ｐゴシック" charset="-128"/>
                <a:cs typeface="ＭＳ Ｐゴシック" charset="-128"/>
              </a:rPr>
              <a:t>(how will my work perform? Where should I distribute it?)</a:t>
            </a:r>
          </a:p>
          <a:p>
            <a:pPr marL="457223" indent="-457223" algn="just" defTabSz="1219261" eaLnBrk="0" fontAlgn="base">
              <a:spcBef>
                <a:spcPct val="0"/>
              </a:spcBef>
              <a:spcAft>
                <a:spcPct val="0"/>
              </a:spcAft>
              <a:buFont typeface="Arial" panose="020B0604020202020204" pitchFamily="34" charset="0"/>
              <a:buChar char="•"/>
            </a:pPr>
            <a:endParaRPr lang="en-GB" sz="3200" b="0" dirty="0">
              <a:solidFill>
                <a:schemeClr val="bg1"/>
              </a:solidFill>
              <a:latin typeface="Barlow" pitchFamily="2" charset="77"/>
              <a:ea typeface="ＭＳ Ｐゴシック" charset="-128"/>
              <a:cs typeface="ＭＳ Ｐゴシック" charset="-128"/>
            </a:endParaRPr>
          </a:p>
          <a:p>
            <a:pPr marL="457223" indent="-457223" algn="just" defTabSz="1219261" eaLnBrk="0" fontAlgn="base">
              <a:spcBef>
                <a:spcPct val="0"/>
              </a:spcBef>
              <a:spcAft>
                <a:spcPct val="0"/>
              </a:spcAft>
              <a:buFont typeface="Arial" panose="020B0604020202020204" pitchFamily="34" charset="0"/>
              <a:buChar char="•"/>
            </a:pPr>
            <a:r>
              <a:rPr lang="en-GB" sz="3200" b="0" dirty="0">
                <a:solidFill>
                  <a:schemeClr val="bg1"/>
                </a:solidFill>
                <a:latin typeface="Barlow" pitchFamily="2" charset="77"/>
                <a:ea typeface="ＭＳ Ｐゴシック" charset="-128"/>
                <a:cs typeface="ＭＳ Ｐゴシック" charset="-128"/>
              </a:rPr>
              <a:t>No up front capital to start the exploitation and future payments uncertain</a:t>
            </a:r>
          </a:p>
        </p:txBody>
      </p:sp>
      <p:sp>
        <p:nvSpPr>
          <p:cNvPr id="5" name="Rectangle 4">
            <a:extLst>
              <a:ext uri="{FF2B5EF4-FFF2-40B4-BE49-F238E27FC236}">
                <a16:creationId xmlns:a16="http://schemas.microsoft.com/office/drawing/2014/main" id="{C5496850-B7B4-B3B4-C8C5-0E6F6D5163C3}"/>
              </a:ext>
            </a:extLst>
          </p:cNvPr>
          <p:cNvSpPr/>
          <p:nvPr/>
        </p:nvSpPr>
        <p:spPr bwMode="auto">
          <a:xfrm>
            <a:off x="11100187" y="2743418"/>
            <a:ext cx="4943868" cy="4839411"/>
          </a:xfrm>
          <a:prstGeom prst="rect">
            <a:avLst/>
          </a:prstGeom>
          <a:solidFill>
            <a:schemeClr val="accent5"/>
          </a:solidFill>
          <a:ln w="9525" cap="flat" cmpd="sng" algn="ctr">
            <a:noFill/>
            <a:prstDash val="solid"/>
            <a:round/>
            <a:headEnd type="none" w="med" len="med"/>
            <a:tailEnd type="none" w="med" len="med"/>
          </a:ln>
          <a:effectLst/>
        </p:spPr>
        <p:txBody>
          <a:bodyPr vert="horz" wrap="square" lIns="121924" tIns="60962" rIns="121924" bIns="60962" numCol="1" rtlCol="0" anchor="t" anchorCtr="0" compatLnSpc="1">
            <a:prstTxWarp prst="textNoShape">
              <a:avLst/>
            </a:prstTxWarp>
          </a:bodyPr>
          <a:lstStyle/>
          <a:p>
            <a:pPr algn="just" defTabSz="1219261" eaLnBrk="0" fontAlgn="base">
              <a:spcBef>
                <a:spcPct val="0"/>
              </a:spcBef>
              <a:spcAft>
                <a:spcPct val="0"/>
              </a:spcAft>
            </a:pPr>
            <a:r>
              <a:rPr lang="en-GB" sz="3200" dirty="0">
                <a:solidFill>
                  <a:schemeClr val="bg1"/>
                </a:solidFill>
                <a:latin typeface="Barlow" pitchFamily="2" charset="77"/>
                <a:ea typeface="ＭＳ Ｐゴシック" charset="-128"/>
                <a:cs typeface="ＭＳ Ｐゴシック" charset="-128"/>
              </a:rPr>
              <a:t>Publisher</a:t>
            </a:r>
          </a:p>
          <a:p>
            <a:pPr marL="457223" indent="-457223" algn="just" defTabSz="1219261" eaLnBrk="0" fontAlgn="base">
              <a:spcBef>
                <a:spcPct val="0"/>
              </a:spcBef>
              <a:spcAft>
                <a:spcPct val="0"/>
              </a:spcAft>
              <a:buFont typeface="Arial" panose="020B0604020202020204" pitchFamily="34" charset="0"/>
              <a:buChar char="•"/>
            </a:pPr>
            <a:r>
              <a:rPr lang="en-GB" sz="3200" b="0" dirty="0">
                <a:solidFill>
                  <a:schemeClr val="bg1"/>
                </a:solidFill>
                <a:latin typeface="Barlow" pitchFamily="2" charset="77"/>
                <a:ea typeface="ＭＳ Ｐゴシック" charset="-128"/>
                <a:cs typeface="ＭＳ Ｐゴシック" charset="-128"/>
              </a:rPr>
              <a:t>No guarantee that work will perform well (markets are unpredictable)</a:t>
            </a:r>
          </a:p>
        </p:txBody>
      </p:sp>
      <p:sp>
        <p:nvSpPr>
          <p:cNvPr id="8" name="TextBox 7">
            <a:extLst>
              <a:ext uri="{FF2B5EF4-FFF2-40B4-BE49-F238E27FC236}">
                <a16:creationId xmlns:a16="http://schemas.microsoft.com/office/drawing/2014/main" id="{3BFBD66C-C9DB-04AB-7D60-65F668F08B84}"/>
              </a:ext>
            </a:extLst>
          </p:cNvPr>
          <p:cNvSpPr txBox="1"/>
          <p:nvPr/>
        </p:nvSpPr>
        <p:spPr>
          <a:xfrm>
            <a:off x="7204229" y="2900965"/>
            <a:ext cx="3401121" cy="452431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23" indent="-457223" algn="just">
              <a:buFont typeface="Arial" panose="020B0604020202020204" pitchFamily="34" charset="0"/>
              <a:buChar char="•"/>
            </a:pPr>
            <a:r>
              <a:rPr lang="en-GB" sz="3200" b="0" dirty="0">
                <a:solidFill>
                  <a:schemeClr val="tx2"/>
                </a:solidFill>
                <a:latin typeface="Barlow" pitchFamily="2" charset="77"/>
              </a:rPr>
              <a:t>Risks</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Incentives</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Bargaining power</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Unequal access to information</a:t>
            </a:r>
          </a:p>
        </p:txBody>
      </p:sp>
      <p:cxnSp>
        <p:nvCxnSpPr>
          <p:cNvPr id="2" name="Curved Connector 1">
            <a:extLst>
              <a:ext uri="{FF2B5EF4-FFF2-40B4-BE49-F238E27FC236}">
                <a16:creationId xmlns:a16="http://schemas.microsoft.com/office/drawing/2014/main" id="{F9CF6C89-C780-4D58-9A4D-C8F7FC376579}"/>
              </a:ext>
            </a:extLst>
          </p:cNvPr>
          <p:cNvCxnSpPr>
            <a:cxnSpLocks/>
          </p:cNvCxnSpPr>
          <p:nvPr/>
        </p:nvCxnSpPr>
        <p:spPr>
          <a:xfrm rot="10800000">
            <a:off x="5686695" y="7839943"/>
            <a:ext cx="2983436" cy="1020481"/>
          </a:xfrm>
          <a:prstGeom prst="curvedConnector3">
            <a:avLst>
              <a:gd name="adj1" fmla="val 50000"/>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C04BD291-B0D8-887C-FA99-120F0F78A0CF}"/>
              </a:ext>
            </a:extLst>
          </p:cNvPr>
          <p:cNvSpPr txBox="1"/>
          <p:nvPr/>
        </p:nvSpPr>
        <p:spPr>
          <a:xfrm>
            <a:off x="8670131" y="8570378"/>
            <a:ext cx="4641135" cy="54716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094" tIns="27094" rIns="27094" bIns="27094" numCol="1" spcCol="38100" rtlCol="0" anchor="ctr">
            <a:spAutoFit/>
          </a:bodyPr>
          <a:lstStyle/>
          <a:p>
            <a:pPr defTabSz="782735"/>
            <a:r>
              <a:rPr lang="en-GB" sz="3200" b="0" dirty="0">
                <a:solidFill>
                  <a:schemeClr val="tx2"/>
                </a:solidFill>
                <a:latin typeface="Barlow" pitchFamily="2" charset="77"/>
              </a:rPr>
              <a:t>Usually the ‘weaker’ party</a:t>
            </a:r>
          </a:p>
        </p:txBody>
      </p:sp>
    </p:spTree>
    <p:extLst>
      <p:ext uri="{BB962C8B-B14F-4D97-AF65-F5344CB8AC3E}">
        <p14:creationId xmlns:p14="http://schemas.microsoft.com/office/powerpoint/2010/main" val="3085883446"/>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EF0BA-26A7-1B00-FFD4-9C3F7D86190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8D5DB1E-D44A-91BE-D395-1483CCEA9E07}"/>
              </a:ext>
            </a:extLst>
          </p:cNvPr>
          <p:cNvSpPr txBox="1"/>
          <p:nvPr/>
        </p:nvSpPr>
        <p:spPr>
          <a:xfrm>
            <a:off x="1028459" y="730197"/>
            <a:ext cx="11920098"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Freedom of contract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F0B66F0-7C36-FD65-8B19-B96CB9A6CFD8}"/>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5E30AA98-B9D7-55A9-C956-A8ECF592E6CE}"/>
              </a:ext>
            </a:extLst>
          </p:cNvPr>
          <p:cNvSpPr/>
          <p:nvPr/>
        </p:nvSpPr>
        <p:spPr>
          <a:xfrm>
            <a:off x="1028459" y="1947120"/>
            <a:ext cx="14862995" cy="649408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UK (and US) emphasise </a:t>
            </a:r>
            <a:r>
              <a:rPr lang="en-GB" sz="3200" dirty="0">
                <a:solidFill>
                  <a:schemeClr val="tx2"/>
                </a:solidFill>
                <a:latin typeface="Barlow" pitchFamily="2" charset="77"/>
              </a:rPr>
              <a:t>freedom of contract</a:t>
            </a:r>
            <a:r>
              <a:rPr lang="en-GB" sz="3200" b="0" dirty="0">
                <a:solidFill>
                  <a:schemeClr val="tx2"/>
                </a:solidFill>
                <a:latin typeface="Barlow" pitchFamily="2" charset="77"/>
              </a:rPr>
              <a:t>: efficiency, certainty, flexibility</a:t>
            </a:r>
          </a:p>
          <a:p>
            <a:pPr marL="457200" indent="-457200" algn="just">
              <a:buFont typeface="Arial" panose="020B0604020202020204" pitchFamily="34" charset="0"/>
              <a:buChar char="•"/>
            </a:pPr>
            <a:r>
              <a:rPr lang="en-GB" sz="3200" b="0" dirty="0">
                <a:solidFill>
                  <a:schemeClr val="tx2"/>
                </a:solidFill>
                <a:latin typeface="Barlow" pitchFamily="2" charset="77"/>
              </a:rPr>
              <a:t>In the UK, copyright isn’t the same as a right to get paid – it creates the </a:t>
            </a:r>
            <a:r>
              <a:rPr lang="en-GB" sz="3200" b="0" u="sng" dirty="0">
                <a:solidFill>
                  <a:schemeClr val="tx2"/>
                </a:solidFill>
                <a:latin typeface="Barlow" pitchFamily="2" charset="77"/>
              </a:rPr>
              <a:t>opportunity</a:t>
            </a:r>
            <a:r>
              <a:rPr lang="en-GB" sz="3200" b="0" dirty="0">
                <a:solidFill>
                  <a:schemeClr val="tx2"/>
                </a:solidFill>
                <a:latin typeface="Barlow" pitchFamily="2" charset="77"/>
              </a:rPr>
              <a:t> to get paid</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Many other countries emphasise creators’ vulnerability and have in-built legal protections to curtail exploitation. See especially continental Europe:</a:t>
            </a:r>
          </a:p>
          <a:p>
            <a:pPr marL="457200" indent="-457200" algn="just">
              <a:buFont typeface="Arial" panose="020B0604020202020204" pitchFamily="34" charset="0"/>
              <a:buChar char="•"/>
            </a:pPr>
            <a:r>
              <a:rPr lang="en-GB" sz="3200" b="0" dirty="0">
                <a:solidFill>
                  <a:schemeClr val="tx2"/>
                </a:solidFill>
                <a:latin typeface="Barlow" pitchFamily="2" charset="77"/>
              </a:rPr>
              <a:t>Most countries have affirmative </a:t>
            </a:r>
            <a:r>
              <a:rPr lang="en-GB" sz="3200" dirty="0">
                <a:solidFill>
                  <a:schemeClr val="tx2"/>
                </a:solidFill>
                <a:latin typeface="Barlow" pitchFamily="2" charset="77"/>
              </a:rPr>
              <a:t>image rights </a:t>
            </a:r>
            <a:r>
              <a:rPr lang="en-GB" sz="3200" b="0" dirty="0">
                <a:solidFill>
                  <a:schemeClr val="tx2"/>
                </a:solidFill>
                <a:latin typeface="Barlow" pitchFamily="2" charset="77"/>
              </a:rPr>
              <a:t>(note: overlap with performers’ rights)</a:t>
            </a:r>
            <a:endParaRPr lang="en-GB" sz="320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Copyright in the Digital Single Market Directive 2019, Chapter 3 (Arts 18 – 22) (note: doesn’t apply in the UK)</a:t>
            </a:r>
          </a:p>
          <a:p>
            <a:pPr marL="457200" indent="-457200" algn="just">
              <a:buFont typeface="Arial" panose="020B0604020202020204" pitchFamily="34" charset="0"/>
              <a:buChar char="•"/>
            </a:pPr>
            <a:r>
              <a:rPr lang="en-GB" sz="3200" b="0" dirty="0">
                <a:solidFill>
                  <a:schemeClr val="tx2"/>
                </a:solidFill>
                <a:latin typeface="Barlow" pitchFamily="2" charset="77"/>
              </a:rPr>
              <a:t>Mandatory </a:t>
            </a:r>
            <a:r>
              <a:rPr lang="en-GB" sz="3200" dirty="0">
                <a:solidFill>
                  <a:schemeClr val="tx2"/>
                </a:solidFill>
                <a:latin typeface="Barlow" pitchFamily="2" charset="77"/>
              </a:rPr>
              <a:t>revocation right </a:t>
            </a:r>
            <a:r>
              <a:rPr lang="en-GB" sz="3200" b="0" dirty="0">
                <a:solidFill>
                  <a:schemeClr val="tx2"/>
                </a:solidFill>
                <a:latin typeface="Barlow" pitchFamily="2" charset="77"/>
              </a:rPr>
              <a:t>(Article 22)</a:t>
            </a:r>
          </a:p>
          <a:p>
            <a:pPr marL="457200" indent="-457200" algn="just">
              <a:buFont typeface="Arial" panose="020B0604020202020204" pitchFamily="34" charset="0"/>
              <a:buChar char="•"/>
            </a:pPr>
            <a:r>
              <a:rPr lang="en-GB" sz="3200" dirty="0">
                <a:solidFill>
                  <a:schemeClr val="tx2"/>
                </a:solidFill>
                <a:latin typeface="Barlow" pitchFamily="2" charset="77"/>
              </a:rPr>
              <a:t>Transparency</a:t>
            </a:r>
            <a:r>
              <a:rPr lang="en-GB" sz="3200" b="0" dirty="0">
                <a:solidFill>
                  <a:schemeClr val="tx2"/>
                </a:solidFill>
                <a:latin typeface="Barlow" pitchFamily="2" charset="77"/>
              </a:rPr>
              <a:t> obligations (Article 19)</a:t>
            </a:r>
          </a:p>
          <a:p>
            <a:pPr marL="457200" indent="-457200" algn="just">
              <a:buFont typeface="Arial" panose="020B0604020202020204" pitchFamily="34" charset="0"/>
              <a:buChar char="•"/>
            </a:pPr>
            <a:r>
              <a:rPr lang="en-GB" sz="3200" b="0" dirty="0">
                <a:solidFill>
                  <a:schemeClr val="tx2"/>
                </a:solidFill>
                <a:latin typeface="Barlow" pitchFamily="2" charset="77"/>
              </a:rPr>
              <a:t>Right to ‘</a:t>
            </a:r>
            <a:r>
              <a:rPr lang="en-GB" sz="3200" dirty="0">
                <a:solidFill>
                  <a:schemeClr val="tx2"/>
                </a:solidFill>
                <a:latin typeface="Barlow" pitchFamily="2" charset="77"/>
              </a:rPr>
              <a:t>appropriate and proportionate remuneration</a:t>
            </a:r>
            <a:r>
              <a:rPr lang="en-GB" sz="3200" b="0" dirty="0">
                <a:solidFill>
                  <a:schemeClr val="tx2"/>
                </a:solidFill>
                <a:latin typeface="Barlow" pitchFamily="2" charset="77"/>
              </a:rPr>
              <a:t>’ (Article 18)</a:t>
            </a:r>
          </a:p>
        </p:txBody>
      </p:sp>
    </p:spTree>
    <p:extLst>
      <p:ext uri="{BB962C8B-B14F-4D97-AF65-F5344CB8AC3E}">
        <p14:creationId xmlns:p14="http://schemas.microsoft.com/office/powerpoint/2010/main" val="2034594730"/>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A04D1-7E52-EF9A-92EB-EEB93F044A3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CDBFEA6-CA82-8D13-9AC1-B12C15743A13}"/>
              </a:ext>
            </a:extLst>
          </p:cNvPr>
          <p:cNvSpPr txBox="1"/>
          <p:nvPr/>
        </p:nvSpPr>
        <p:spPr>
          <a:xfrm>
            <a:off x="1028459" y="730197"/>
            <a:ext cx="11920098"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Freedom of contract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2CD2F22-24AE-A881-9FB4-0A24182374B8}"/>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2B1A6A2D-5E5E-7C47-A738-2B22A74A171C}"/>
              </a:ext>
            </a:extLst>
          </p:cNvPr>
          <p:cNvSpPr/>
          <p:nvPr/>
        </p:nvSpPr>
        <p:spPr>
          <a:xfrm>
            <a:off x="1028459" y="1947120"/>
            <a:ext cx="14862995" cy="5509200"/>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Most cases settle: Spakowski/CD Projekt Red (The Witcher); Solomon Linda’s estate/Disney (‘The Lion Sleeps Tonight’); The Stone Roses/Silvertone</a:t>
            </a:r>
            <a:endParaRPr lang="en-GB" sz="3200" b="0" i="1" dirty="0">
              <a:solidFill>
                <a:schemeClr val="tx2"/>
              </a:solidFill>
              <a:latin typeface="Barlow" pitchFamily="2" charset="77"/>
            </a:endParaRPr>
          </a:p>
          <a:p>
            <a:pPr marL="609630" indent="-609630" algn="just">
              <a:buFont typeface="Arial" panose="020B0604020202020204" pitchFamily="34" charset="0"/>
              <a:buChar char="•"/>
            </a:pPr>
            <a:endParaRPr lang="en-GB" sz="3200" b="0" i="1" dirty="0">
              <a:solidFill>
                <a:schemeClr val="tx2"/>
              </a:solidFill>
              <a:latin typeface="Barlow" pitchFamily="2" charset="77"/>
            </a:endParaRPr>
          </a:p>
          <a:p>
            <a:pPr marL="609630" indent="-609630" algn="just">
              <a:buFont typeface="Arial" panose="020B0604020202020204" pitchFamily="34" charset="0"/>
              <a:buChar char="•"/>
            </a:pPr>
            <a:r>
              <a:rPr lang="en-GB" sz="3200" b="0" i="1" dirty="0">
                <a:solidFill>
                  <a:schemeClr val="tx2"/>
                </a:solidFill>
                <a:latin typeface="Barlow" pitchFamily="2" charset="77"/>
              </a:rPr>
              <a:t>Elton John v Dick James </a:t>
            </a:r>
            <a:r>
              <a:rPr lang="en-GB" sz="3200" b="0" dirty="0">
                <a:solidFill>
                  <a:schemeClr val="tx2"/>
                </a:solidFill>
                <a:latin typeface="Barlow" pitchFamily="2" charset="77"/>
              </a:rPr>
              <a:t>[1985] (settled): it was a “hard bargain, but it would be unjust now to set aside”</a:t>
            </a:r>
          </a:p>
          <a:p>
            <a:pPr algn="just"/>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i="1" dirty="0">
                <a:solidFill>
                  <a:schemeClr val="tx2"/>
                </a:solidFill>
                <a:latin typeface="Barlow" pitchFamily="2" charset="77"/>
              </a:rPr>
              <a:t>Fisher v Brooker </a:t>
            </a:r>
            <a:r>
              <a:rPr lang="en-GB" sz="3200" b="0" dirty="0">
                <a:solidFill>
                  <a:schemeClr val="tx2"/>
                </a:solidFill>
                <a:latin typeface="Barlow" pitchFamily="2" charset="77"/>
              </a:rPr>
              <a:t>[2009] UKHL 41: (Lord Hope’s opinion) the point of copyright is to ”incentivise innovation and creativity” and because Fisher's contribution made the song such a success, he was entitled to "</a:t>
            </a:r>
            <a:r>
              <a:rPr lang="en-GB" sz="3200" dirty="0">
                <a:solidFill>
                  <a:schemeClr val="tx2"/>
                </a:solidFill>
                <a:latin typeface="Barlow" pitchFamily="2" charset="77"/>
              </a:rPr>
              <a:t>protect the advantage that he has gained from this and to earn his reward</a:t>
            </a:r>
            <a:r>
              <a:rPr lang="en-GB" sz="3200" b="0" dirty="0">
                <a:solidFill>
                  <a:schemeClr val="tx2"/>
                </a:solidFill>
                <a:latin typeface="Barlow" pitchFamily="2" charset="77"/>
              </a:rPr>
              <a:t>” &lt;- public policy reasons to interpret the contract in a certain way</a:t>
            </a:r>
          </a:p>
        </p:txBody>
      </p:sp>
    </p:spTree>
    <p:extLst>
      <p:ext uri="{BB962C8B-B14F-4D97-AF65-F5344CB8AC3E}">
        <p14:creationId xmlns:p14="http://schemas.microsoft.com/office/powerpoint/2010/main" val="1382478999"/>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6F691-09D8-7E26-6C53-D1624C8F27C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74F979D-CB56-2751-8CB2-EC2688EA886F}"/>
              </a:ext>
            </a:extLst>
          </p:cNvPr>
          <p:cNvSpPr txBox="1"/>
          <p:nvPr/>
        </p:nvSpPr>
        <p:spPr>
          <a:xfrm>
            <a:off x="1028459" y="730197"/>
            <a:ext cx="1190695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Limited reversion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15B14B8-8C83-14AE-E047-BD32046156B6}"/>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89C630D-69C8-986D-61B4-EF48DF143AB2}"/>
              </a:ext>
            </a:extLst>
          </p:cNvPr>
          <p:cNvSpPr/>
          <p:nvPr/>
        </p:nvSpPr>
        <p:spPr>
          <a:xfrm>
            <a:off x="1028460" y="1947120"/>
            <a:ext cx="8933688" cy="5509200"/>
          </a:xfrm>
          <a:prstGeom prst="rect">
            <a:avLst/>
          </a:prstGeom>
        </p:spPr>
        <p:txBody>
          <a:bodyPr wrap="square">
            <a:spAutoFit/>
          </a:bodyPr>
          <a:lstStyle/>
          <a:p>
            <a:pPr marL="457200" indent="-457200" algn="just">
              <a:buFont typeface="Arial" panose="020B0604020202020204" pitchFamily="34" charset="0"/>
              <a:buChar char="•"/>
            </a:pPr>
            <a:r>
              <a:rPr lang="en-GB" sz="3200" b="0" i="1" dirty="0">
                <a:solidFill>
                  <a:schemeClr val="tx2"/>
                </a:solidFill>
                <a:latin typeface="Barlow" pitchFamily="2" charset="77"/>
              </a:rPr>
              <a:t>Griesel NO v Walt Disney Enterprises Inc and others</a:t>
            </a:r>
            <a:r>
              <a:rPr lang="en-GB" sz="3200" b="0" dirty="0">
                <a:solidFill>
                  <a:schemeClr val="tx2"/>
                </a:solidFill>
                <a:latin typeface="Barlow" pitchFamily="2" charset="77"/>
              </a:rPr>
              <a:t>: case withdrawn (South Africa)</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Solomon Linda - </a:t>
            </a:r>
            <a:r>
              <a:rPr lang="en-GB" sz="3200" b="0" i="1" dirty="0">
                <a:solidFill>
                  <a:schemeClr val="tx2"/>
                </a:solidFill>
                <a:latin typeface="Barlow" pitchFamily="2" charset="77"/>
              </a:rPr>
              <a:t>Mbube</a:t>
            </a:r>
            <a:r>
              <a:rPr lang="en-GB" sz="3200" b="0" dirty="0">
                <a:solidFill>
                  <a:schemeClr val="tx2"/>
                </a:solidFill>
                <a:latin typeface="Barlow" pitchFamily="2" charset="77"/>
              </a:rPr>
              <a:t> - sold to Gallo Record Company for 10 shillings</a:t>
            </a:r>
          </a:p>
          <a:p>
            <a:pPr marL="457200" indent="-457200" algn="just">
              <a:buFont typeface="Arial" panose="020B0604020202020204" pitchFamily="34" charset="0"/>
              <a:buChar char="•"/>
            </a:pPr>
            <a:r>
              <a:rPr lang="en-GB" sz="3200" b="0" dirty="0">
                <a:solidFill>
                  <a:schemeClr val="tx2"/>
                </a:solidFill>
                <a:latin typeface="Barlow" pitchFamily="2" charset="77"/>
              </a:rPr>
              <a:t>Pete Seeger – </a:t>
            </a:r>
            <a:r>
              <a:rPr lang="en-GB" sz="3200" b="0" i="1" dirty="0">
                <a:solidFill>
                  <a:schemeClr val="tx2"/>
                </a:solidFill>
                <a:latin typeface="Barlow" pitchFamily="2" charset="77"/>
              </a:rPr>
              <a:t>Wimoweh</a:t>
            </a:r>
            <a:r>
              <a:rPr lang="en-GB" sz="3200" b="0" dirty="0">
                <a:solidFill>
                  <a:schemeClr val="tx2"/>
                </a:solidFill>
                <a:latin typeface="Barlow" pitchFamily="2" charset="77"/>
              </a:rPr>
              <a:t> – owned by Folkways, asked for assignment of Linda’s wife’s rights for one dollar, then assigned again to Abilene Music (for another dollar)</a:t>
            </a:r>
          </a:p>
          <a:p>
            <a:pPr marL="457200" indent="-457200" algn="just">
              <a:buFont typeface="Arial" panose="020B0604020202020204" pitchFamily="34" charset="0"/>
              <a:buChar char="•"/>
            </a:pPr>
            <a:r>
              <a:rPr lang="en-GB" sz="3200" b="0" dirty="0">
                <a:solidFill>
                  <a:schemeClr val="tx2"/>
                </a:solidFill>
                <a:latin typeface="Barlow" pitchFamily="2" charset="77"/>
              </a:rPr>
              <a:t>George Weiss, Hugo Peretti and Luigi </a:t>
            </a:r>
            <a:r>
              <a:rPr lang="en-GB" sz="3200" b="0" dirty="0" err="1">
                <a:solidFill>
                  <a:schemeClr val="tx2"/>
                </a:solidFill>
                <a:latin typeface="Barlow" pitchFamily="2" charset="77"/>
              </a:rPr>
              <a:t>Creatore</a:t>
            </a:r>
            <a:r>
              <a:rPr lang="en-GB" sz="3200" b="0" dirty="0">
                <a:solidFill>
                  <a:schemeClr val="tx2"/>
                </a:solidFill>
                <a:latin typeface="Barlow" pitchFamily="2" charset="77"/>
              </a:rPr>
              <a:t> – </a:t>
            </a:r>
            <a:r>
              <a:rPr lang="en-GB" sz="3200" b="0" i="1" dirty="0">
                <a:solidFill>
                  <a:schemeClr val="tx2"/>
                </a:solidFill>
                <a:latin typeface="Barlow" pitchFamily="2" charset="77"/>
              </a:rPr>
              <a:t>The Lion Sleeps Tonight</a:t>
            </a:r>
          </a:p>
        </p:txBody>
      </p:sp>
      <p:pic>
        <p:nvPicPr>
          <p:cNvPr id="2050" name="Picture 2" descr="Solomon Linda - Wikipedia">
            <a:extLst>
              <a:ext uri="{FF2B5EF4-FFF2-40B4-BE49-F238E27FC236}">
                <a16:creationId xmlns:a16="http://schemas.microsoft.com/office/drawing/2014/main" id="{9CF8ABFC-B842-AE24-E3CD-74914D93E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3741" y="1559956"/>
            <a:ext cx="5680843" cy="7126876"/>
          </a:xfrm>
          <a:prstGeom prst="rect">
            <a:avLst/>
          </a:prstGeom>
          <a:noFill/>
          <a:extLst>
            <a:ext uri="{909E8E84-426E-40DD-AFC4-6F175D3DCCD1}">
              <a14:hiddenFill xmlns:a14="http://schemas.microsoft.com/office/drawing/2010/main">
                <a:solidFill>
                  <a:srgbClr val="FFFFFF"/>
                </a:solidFill>
              </a14:hiddenFill>
            </a:ext>
          </a:extLst>
        </p:spPr>
      </p:pic>
      <p:pic>
        <p:nvPicPr>
          <p:cNvPr id="5" name="Online Media 4" descr="The Lions Sleeps Tonight SONG (Official Lyrics Video) Lyrics Video">
            <a:hlinkClick r:id="" action="ppaction://media"/>
            <a:extLst>
              <a:ext uri="{FF2B5EF4-FFF2-40B4-BE49-F238E27FC236}">
                <a16:creationId xmlns:a16="http://schemas.microsoft.com/office/drawing/2014/main" id="{38D5C96A-DA9B-BB8D-1572-9F0419C2CA72}"/>
              </a:ext>
            </a:extLst>
          </p:cNvPr>
          <p:cNvPicPr>
            <a:picLocks noRot="1" noChangeAspect="1"/>
          </p:cNvPicPr>
          <p:nvPr>
            <a:videoFile r:link="rId1"/>
          </p:nvPr>
        </p:nvPicPr>
        <p:blipFill>
          <a:blip r:embed="rId4"/>
          <a:stretch>
            <a:fillRect/>
          </a:stretch>
        </p:blipFill>
        <p:spPr>
          <a:xfrm>
            <a:off x="7440046" y="7251732"/>
            <a:ext cx="2540000" cy="1435100"/>
          </a:xfrm>
          <a:prstGeom prst="rect">
            <a:avLst/>
          </a:prstGeom>
        </p:spPr>
      </p:pic>
    </p:spTree>
    <p:extLst>
      <p:ext uri="{BB962C8B-B14F-4D97-AF65-F5344CB8AC3E}">
        <p14:creationId xmlns:p14="http://schemas.microsoft.com/office/powerpoint/2010/main" val="230060553"/>
      </p:ext>
    </p:extLst>
  </p:cSld>
  <p:clrMapOvr>
    <a:masterClrMapping/>
  </p:clrMapOvr>
  <p:transition spd="med" advTm="2226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F3EE-DFA8-DC1C-18BD-98C17CA3636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7D1AE97-AE21-8003-4F01-DB92F7DB12A2}"/>
              </a:ext>
            </a:extLst>
          </p:cNvPr>
          <p:cNvSpPr txBox="1"/>
          <p:nvPr/>
        </p:nvSpPr>
        <p:spPr>
          <a:xfrm>
            <a:off x="1028459" y="730197"/>
            <a:ext cx="1190695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Limited reversion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F807F3B-EE35-B172-EFC8-7A899686F184}"/>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8A8BC17-7EE3-DE5A-9644-F028EFAE5909}"/>
              </a:ext>
            </a:extLst>
          </p:cNvPr>
          <p:cNvSpPr/>
          <p:nvPr/>
        </p:nvSpPr>
        <p:spPr>
          <a:xfrm>
            <a:off x="1028459" y="1947120"/>
            <a:ext cx="14862995" cy="649408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Obscure reversionary provision in the </a:t>
            </a:r>
            <a:r>
              <a:rPr lang="en-GB" sz="3200" b="0" u="sng" dirty="0">
                <a:solidFill>
                  <a:schemeClr val="tx2"/>
                </a:solidFill>
                <a:latin typeface="Barlow" pitchFamily="2" charset="77"/>
              </a:rPr>
              <a:t>1911 Imperial Copyright Act</a:t>
            </a:r>
            <a:r>
              <a:rPr lang="en-GB" sz="3200" b="0" dirty="0">
                <a:solidFill>
                  <a:schemeClr val="tx2"/>
                </a:solidFill>
                <a:latin typeface="Barlow" pitchFamily="2" charset="77"/>
              </a:rPr>
              <a:t>: 25 years after the author’s death, copyright </a:t>
            </a:r>
            <a:r>
              <a:rPr lang="en-GB" sz="3200" dirty="0">
                <a:solidFill>
                  <a:schemeClr val="tx2"/>
                </a:solidFill>
                <a:latin typeface="Barlow" pitchFamily="2" charset="77"/>
              </a:rPr>
              <a:t>reverts</a:t>
            </a:r>
            <a:r>
              <a:rPr lang="en-GB" sz="3200" b="0" dirty="0">
                <a:solidFill>
                  <a:schemeClr val="tx2"/>
                </a:solidFill>
                <a:latin typeface="Barlow" pitchFamily="2" charset="77"/>
              </a:rPr>
              <a:t> to the executor of the author’s estate, notwithstanding any assignations – so the  transfer from wife/daughters legally ineffective as rights vested with the executor (</a:t>
            </a:r>
            <a:r>
              <a:rPr lang="en-GB" sz="3200" b="0" i="1" dirty="0">
                <a:solidFill>
                  <a:schemeClr val="tx2"/>
                </a:solidFill>
                <a:latin typeface="Barlow" pitchFamily="2" charset="77"/>
              </a:rPr>
              <a:t>nemo </a:t>
            </a:r>
            <a:r>
              <a:rPr lang="en-GB" sz="3200" b="0" i="1" dirty="0" err="1">
                <a:solidFill>
                  <a:schemeClr val="tx2"/>
                </a:solidFill>
                <a:latin typeface="Barlow" pitchFamily="2" charset="77"/>
              </a:rPr>
              <a:t>dat</a:t>
            </a:r>
            <a:r>
              <a:rPr lang="en-GB" sz="3200" b="0" i="1" dirty="0">
                <a:solidFill>
                  <a:schemeClr val="tx2"/>
                </a:solidFill>
                <a:latin typeface="Barlow" pitchFamily="2" charset="77"/>
              </a:rPr>
              <a:t> quod non </a:t>
            </a:r>
            <a:r>
              <a:rPr lang="en-GB" sz="3200" b="0" i="1" dirty="0" err="1">
                <a:solidFill>
                  <a:schemeClr val="tx2"/>
                </a:solidFill>
                <a:latin typeface="Barlow" pitchFamily="2" charset="77"/>
              </a:rPr>
              <a:t>habet</a:t>
            </a:r>
            <a:r>
              <a:rPr lang="en-GB" sz="3200" b="0" dirty="0">
                <a:solidFill>
                  <a:schemeClr val="tx2"/>
                </a:solidFill>
                <a:latin typeface="Barlow" pitchFamily="2" charset="77"/>
              </a:rPr>
              <a:t>)</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The Linda heirs will receive payment for past uses of </a:t>
            </a:r>
            <a:r>
              <a:rPr lang="en-GB" sz="3200" b="0" i="1" dirty="0">
                <a:solidFill>
                  <a:schemeClr val="tx2"/>
                </a:solidFill>
                <a:latin typeface="Barlow" pitchFamily="2" charset="77"/>
              </a:rPr>
              <a:t>The Lion Sleeps Tonight </a:t>
            </a:r>
            <a:r>
              <a:rPr lang="en-GB" sz="3200" b="0" dirty="0">
                <a:solidFill>
                  <a:schemeClr val="tx2"/>
                </a:solidFill>
                <a:latin typeface="Barlow" pitchFamily="2" charset="77"/>
              </a:rPr>
              <a:t>and an entitlement to future royalties from its worldwide use.</a:t>
            </a:r>
          </a:p>
          <a:p>
            <a:pPr marL="457200" indent="-457200" algn="just">
              <a:buFont typeface="Arial" panose="020B0604020202020204" pitchFamily="34" charset="0"/>
              <a:buChar char="•"/>
            </a:pPr>
            <a:r>
              <a:rPr lang="en-GB" sz="3200" b="0" i="1" dirty="0">
                <a:solidFill>
                  <a:schemeClr val="tx2"/>
                </a:solidFill>
                <a:latin typeface="Barlow" pitchFamily="2" charset="77"/>
              </a:rPr>
              <a:t>The Lion Sleeps Tonight </a:t>
            </a:r>
            <a:r>
              <a:rPr lang="en-GB" sz="3200" b="0" dirty="0">
                <a:solidFill>
                  <a:schemeClr val="tx2"/>
                </a:solidFill>
                <a:latin typeface="Barlow" pitchFamily="2" charset="77"/>
              </a:rPr>
              <a:t>is acknowledged as derived from </a:t>
            </a:r>
            <a:r>
              <a:rPr lang="en-GB" sz="3200" b="0" i="1" dirty="0">
                <a:solidFill>
                  <a:schemeClr val="tx2"/>
                </a:solidFill>
                <a:latin typeface="Barlow" pitchFamily="2" charset="77"/>
              </a:rPr>
              <a:t>Mbube</a:t>
            </a:r>
            <a:r>
              <a:rPr lang="en-GB" sz="3200" b="0" dirty="0">
                <a:solidFill>
                  <a:schemeClr val="tx2"/>
                </a:solidFill>
                <a:latin typeface="Barlow" pitchFamily="2" charset="77"/>
              </a:rPr>
              <a:t>.</a:t>
            </a:r>
          </a:p>
          <a:p>
            <a:pPr marL="457200" indent="-457200" algn="just">
              <a:buFont typeface="Arial" panose="020B0604020202020204" pitchFamily="34" charset="0"/>
              <a:buChar char="•"/>
            </a:pPr>
            <a:r>
              <a:rPr lang="en-GB" sz="3200" b="0" dirty="0">
                <a:solidFill>
                  <a:schemeClr val="tx2"/>
                </a:solidFill>
                <a:latin typeface="Barlow" pitchFamily="2" charset="77"/>
              </a:rPr>
              <a:t>Solomon Linda is acknowledged as a co-composer of </a:t>
            </a:r>
            <a:r>
              <a:rPr lang="en-GB" sz="3200" b="0" i="1" dirty="0">
                <a:solidFill>
                  <a:schemeClr val="tx2"/>
                </a:solidFill>
                <a:latin typeface="Barlow" pitchFamily="2" charset="77"/>
              </a:rPr>
              <a:t>The Lion Sleeps Tonight </a:t>
            </a:r>
            <a:r>
              <a:rPr lang="en-GB" sz="3200" b="0" dirty="0">
                <a:solidFill>
                  <a:schemeClr val="tx2"/>
                </a:solidFill>
                <a:latin typeface="Barlow" pitchFamily="2" charset="77"/>
              </a:rPr>
              <a:t>and will be designated as such in the future.</a:t>
            </a: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Any benefactors of older (assigned) works in former British empire could benefit from this provision</a:t>
            </a:r>
          </a:p>
        </p:txBody>
      </p:sp>
    </p:spTree>
    <p:extLst>
      <p:ext uri="{BB962C8B-B14F-4D97-AF65-F5344CB8AC3E}">
        <p14:creationId xmlns:p14="http://schemas.microsoft.com/office/powerpoint/2010/main" val="3207503920"/>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6B5EE-3AC4-5076-ACAB-2A7E246BA86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C33BD61-A2A8-90DC-0DDB-452EBFB93C42}"/>
              </a:ext>
            </a:extLst>
          </p:cNvPr>
          <p:cNvSpPr txBox="1"/>
          <p:nvPr/>
        </p:nvSpPr>
        <p:spPr>
          <a:xfrm>
            <a:off x="1028458" y="730197"/>
            <a:ext cx="1250912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Limited </a:t>
            </a:r>
            <a:r>
              <a:rPr lang="en-GB" sz="5334" u="sng" dirty="0"/>
              <a:t>equitable</a:t>
            </a:r>
            <a:r>
              <a:rPr lang="en-GB" sz="5334" dirty="0"/>
              <a:t> remuneration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9CCF4F9-5CEA-1657-B029-06F21B5DF482}"/>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12683C6-C46A-A368-25F7-B47AD6599736}"/>
              </a:ext>
            </a:extLst>
          </p:cNvPr>
          <p:cNvSpPr/>
          <p:nvPr/>
        </p:nvSpPr>
        <p:spPr>
          <a:xfrm>
            <a:off x="1028459" y="1947120"/>
            <a:ext cx="14862995" cy="698652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Remember: limited equitable remuneration rights</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182D CDPA implementing the Rome Convention and (EU) Rental Directive:</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(1)Where a </a:t>
            </a:r>
            <a:r>
              <a:rPr lang="en-GB" sz="3200" dirty="0">
                <a:solidFill>
                  <a:schemeClr val="tx2"/>
                </a:solidFill>
                <a:latin typeface="Barlow" pitchFamily="2" charset="77"/>
              </a:rPr>
              <a:t>commercially published sound recording </a:t>
            </a:r>
            <a:r>
              <a:rPr lang="en-GB" sz="3200" b="0" dirty="0">
                <a:solidFill>
                  <a:schemeClr val="tx2"/>
                </a:solidFill>
                <a:latin typeface="Barlow" pitchFamily="2" charset="77"/>
              </a:rPr>
              <a:t>of the whole or any substantial part of a qualifying performance—</a:t>
            </a:r>
          </a:p>
          <a:p>
            <a:pPr marL="457200" indent="-457200" algn="just">
              <a:buFont typeface="Arial" panose="020B0604020202020204" pitchFamily="34" charset="0"/>
              <a:buChar char="•"/>
            </a:pPr>
            <a:r>
              <a:rPr lang="en-GB" sz="3200" b="0" dirty="0">
                <a:solidFill>
                  <a:schemeClr val="tx2"/>
                </a:solidFill>
                <a:latin typeface="Barlow" pitchFamily="2" charset="77"/>
              </a:rPr>
              <a:t>(a) is </a:t>
            </a:r>
            <a:r>
              <a:rPr lang="en-GB" sz="3200" dirty="0">
                <a:solidFill>
                  <a:schemeClr val="tx2"/>
                </a:solidFill>
                <a:latin typeface="Barlow" pitchFamily="2" charset="77"/>
              </a:rPr>
              <a:t>played in public</a:t>
            </a:r>
            <a:r>
              <a:rPr lang="en-GB" sz="3200" b="0" dirty="0">
                <a:solidFill>
                  <a:schemeClr val="tx2"/>
                </a:solidFill>
                <a:latin typeface="Barlow" pitchFamily="2" charset="77"/>
              </a:rPr>
              <a:t>, or</a:t>
            </a:r>
          </a:p>
          <a:p>
            <a:pPr marL="457200" indent="-457200" algn="just">
              <a:buFont typeface="Arial" panose="020B0604020202020204" pitchFamily="34" charset="0"/>
              <a:buChar char="•"/>
            </a:pPr>
            <a:r>
              <a:rPr lang="en-GB" sz="3200" b="0" dirty="0">
                <a:solidFill>
                  <a:schemeClr val="tx2"/>
                </a:solidFill>
                <a:latin typeface="Barlow" pitchFamily="2" charset="77"/>
              </a:rPr>
              <a:t>(b) is </a:t>
            </a:r>
            <a:r>
              <a:rPr lang="en-GB" sz="3200" dirty="0">
                <a:solidFill>
                  <a:schemeClr val="tx2"/>
                </a:solidFill>
                <a:latin typeface="Barlow" pitchFamily="2" charset="77"/>
              </a:rPr>
              <a:t>communicated to the public </a:t>
            </a:r>
            <a:r>
              <a:rPr lang="en-GB" sz="3200" b="0" dirty="0">
                <a:solidFill>
                  <a:schemeClr val="tx2"/>
                </a:solidFill>
                <a:latin typeface="Barlow" pitchFamily="2" charset="77"/>
              </a:rPr>
              <a:t>[…]</a:t>
            </a:r>
          </a:p>
          <a:p>
            <a:pPr marL="457200" indent="-457200" algn="just">
              <a:buFont typeface="Arial" panose="020B0604020202020204" pitchFamily="34" charset="0"/>
              <a:buChar char="•"/>
            </a:pPr>
            <a:r>
              <a:rPr lang="en-GB" sz="3200" b="0" dirty="0">
                <a:solidFill>
                  <a:schemeClr val="tx2"/>
                </a:solidFill>
                <a:latin typeface="Barlow" pitchFamily="2" charset="77"/>
              </a:rPr>
              <a:t>the performer is entitled to </a:t>
            </a:r>
            <a:r>
              <a:rPr lang="en-GB" sz="3200" dirty="0">
                <a:solidFill>
                  <a:schemeClr val="tx2"/>
                </a:solidFill>
                <a:latin typeface="Barlow" pitchFamily="2" charset="77"/>
              </a:rPr>
              <a:t>equitable remuneration from the owner of the copyright in the sound recording</a:t>
            </a:r>
          </a:p>
          <a:p>
            <a:pPr marL="457200" indent="-457200" algn="just">
              <a:buFont typeface="Arial" panose="020B0604020202020204" pitchFamily="34" charset="0"/>
              <a:buChar char="•"/>
            </a:pPr>
            <a:r>
              <a:rPr lang="en-GB" sz="3200" b="0" dirty="0">
                <a:solidFill>
                  <a:schemeClr val="tx2"/>
                </a:solidFill>
                <a:latin typeface="Barlow" pitchFamily="2" charset="77"/>
              </a:rPr>
              <a:t>(2)The right to equitable remuneration under this section </a:t>
            </a:r>
            <a:r>
              <a:rPr lang="en-GB" sz="3200" dirty="0">
                <a:solidFill>
                  <a:schemeClr val="tx2"/>
                </a:solidFill>
                <a:latin typeface="Barlow" pitchFamily="2" charset="77"/>
              </a:rPr>
              <a:t>may not be assigned </a:t>
            </a:r>
            <a:r>
              <a:rPr lang="en-GB" sz="3200" b="0" dirty="0">
                <a:solidFill>
                  <a:schemeClr val="tx2"/>
                </a:solidFill>
                <a:latin typeface="Barlow" pitchFamily="2" charset="77"/>
              </a:rPr>
              <a:t>by the performer </a:t>
            </a:r>
            <a:r>
              <a:rPr lang="en-GB" sz="3200" dirty="0">
                <a:solidFill>
                  <a:schemeClr val="tx2"/>
                </a:solidFill>
                <a:latin typeface="Barlow" pitchFamily="2" charset="77"/>
              </a:rPr>
              <a:t>except to a collecting society [usually Performing Rights Society (PRS) and Phonographic Performance Limited (PPL)] </a:t>
            </a:r>
            <a:r>
              <a:rPr lang="en-GB" sz="3200" b="0" dirty="0">
                <a:solidFill>
                  <a:schemeClr val="tx2"/>
                </a:solidFill>
                <a:latin typeface="Barlow" pitchFamily="2" charset="77"/>
              </a:rPr>
              <a:t>for the purpose of enabling it to enforce the right on his behalf.</a:t>
            </a:r>
          </a:p>
        </p:txBody>
      </p:sp>
    </p:spTree>
    <p:extLst>
      <p:ext uri="{BB962C8B-B14F-4D97-AF65-F5344CB8AC3E}">
        <p14:creationId xmlns:p14="http://schemas.microsoft.com/office/powerpoint/2010/main" val="1267693600"/>
      </p:ext>
    </p:extLst>
  </p:cSld>
  <p:clrMapOvr>
    <a:masterClrMapping/>
  </p:clrMapOvr>
  <p:transition spd="med" advTm="222639"/>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D5CA0-B953-AD04-E940-C3F96F7397A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462AD72F-6EEC-4F98-5B65-0E7E19EEAFAD}"/>
              </a:ext>
            </a:extLst>
          </p:cNvPr>
          <p:cNvSpPr txBox="1"/>
          <p:nvPr/>
        </p:nvSpPr>
        <p:spPr>
          <a:xfrm>
            <a:off x="1028459" y="908771"/>
            <a:ext cx="1402166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and fair remuneration: the reality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8C4A5FC-0DA3-EB45-9D7A-C87688FCFDAC}"/>
              </a:ext>
            </a:extLst>
          </p:cNvPr>
          <p:cNvSpPr txBox="1"/>
          <p:nvPr/>
        </p:nvSpPr>
        <p:spPr>
          <a:xfrm>
            <a:off x="1028459" y="1738530"/>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A48E1A4-1239-201A-D3DD-13AB409B3B10}"/>
              </a:ext>
            </a:extLst>
          </p:cNvPr>
          <p:cNvSpPr/>
          <p:nvPr/>
        </p:nvSpPr>
        <p:spPr>
          <a:xfrm>
            <a:off x="1028459" y="2122200"/>
            <a:ext cx="10127221" cy="4524315"/>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Context: socio-legal, </a:t>
            </a:r>
            <a:r>
              <a:rPr lang="en-GB" sz="3200" dirty="0">
                <a:solidFill>
                  <a:schemeClr val="tx2"/>
                </a:solidFill>
                <a:latin typeface="Barlow" pitchFamily="2" charset="77"/>
              </a:rPr>
              <a:t>empirical</a:t>
            </a:r>
            <a:r>
              <a:rPr lang="en-GB" sz="3200" b="0" dirty="0">
                <a:solidFill>
                  <a:schemeClr val="tx2"/>
                </a:solidFill>
                <a:latin typeface="Barlow" pitchFamily="2" charset="77"/>
              </a:rPr>
              <a:t> research – law in action/reality</a:t>
            </a:r>
          </a:p>
          <a:p>
            <a:pPr marL="609630" indent="-609630" algn="just">
              <a:buFont typeface="Arial" panose="020B0604020202020204" pitchFamily="34" charset="0"/>
              <a:buChar char="•"/>
            </a:pPr>
            <a:r>
              <a:rPr lang="en-GB" sz="3200" b="0" dirty="0">
                <a:solidFill>
                  <a:schemeClr val="tx2"/>
                </a:solidFill>
                <a:latin typeface="Barlow" pitchFamily="2" charset="77"/>
              </a:rPr>
              <a:t>Large-scale surveys and interviews with creators in the UK</a:t>
            </a:r>
          </a:p>
          <a:p>
            <a:pPr marL="609630" indent="-609630" algn="just">
              <a:buFont typeface="Arial" panose="020B0604020202020204" pitchFamily="34" charset="0"/>
              <a:buChar char="•"/>
            </a:pPr>
            <a:r>
              <a:rPr lang="en-GB" sz="3200" b="0" dirty="0">
                <a:solidFill>
                  <a:schemeClr val="tx2"/>
                </a:solidFill>
                <a:latin typeface="Barlow" pitchFamily="2" charset="77"/>
              </a:rPr>
              <a:t>Focussing on ‘</a:t>
            </a:r>
            <a:r>
              <a:rPr lang="en-GB" sz="3200" b="0" dirty="0" err="1">
                <a:solidFill>
                  <a:schemeClr val="tx2"/>
                </a:solidFill>
                <a:latin typeface="Barlow" pitchFamily="2" charset="77"/>
              </a:rPr>
              <a:t>serious’</a:t>
            </a:r>
            <a:r>
              <a:rPr lang="en-GB" sz="3200" b="0" dirty="0">
                <a:solidFill>
                  <a:schemeClr val="tx2"/>
                </a:solidFill>
                <a:latin typeface="Barlow" pitchFamily="2" charset="77"/>
              </a:rPr>
              <a:t> creators (registered with a collecting society, spending more than 50% of their time on their creative work)</a:t>
            </a:r>
          </a:p>
          <a:p>
            <a:pPr marL="609630" indent="-609630" algn="just">
              <a:buFont typeface="Arial" panose="020B0604020202020204" pitchFamily="34" charset="0"/>
              <a:buChar char="•"/>
            </a:pPr>
            <a:r>
              <a:rPr lang="en-GB" sz="3200" b="0" dirty="0">
                <a:solidFill>
                  <a:schemeClr val="tx2"/>
                </a:solidFill>
                <a:latin typeface="Barlow" pitchFamily="2" charset="77"/>
              </a:rPr>
              <a:t>Authors (traditional and indie); audiovisual actors; directors; journalists, and; visual artists.</a:t>
            </a:r>
          </a:p>
        </p:txBody>
      </p:sp>
      <p:sp>
        <p:nvSpPr>
          <p:cNvPr id="2" name="Freeform 6">
            <a:extLst>
              <a:ext uri="{FF2B5EF4-FFF2-40B4-BE49-F238E27FC236}">
                <a16:creationId xmlns:a16="http://schemas.microsoft.com/office/drawing/2014/main" id="{AFE6FA40-5E6E-301A-3F08-0FD7A282CD4E}"/>
              </a:ext>
            </a:extLst>
          </p:cNvPr>
          <p:cNvSpPr/>
          <p:nvPr/>
        </p:nvSpPr>
        <p:spPr>
          <a:xfrm>
            <a:off x="12093991" y="2122200"/>
            <a:ext cx="4217813" cy="6276540"/>
          </a:xfrm>
          <a:custGeom>
            <a:avLst/>
            <a:gdLst/>
            <a:ahLst/>
            <a:cxnLst/>
            <a:rect l="l" t="t" r="r" b="b"/>
            <a:pathLst>
              <a:path w="2193416" h="3067715">
                <a:moveTo>
                  <a:pt x="0" y="0"/>
                </a:moveTo>
                <a:lnTo>
                  <a:pt x="2193416" y="0"/>
                </a:lnTo>
                <a:lnTo>
                  <a:pt x="2193416" y="3067715"/>
                </a:lnTo>
                <a:lnTo>
                  <a:pt x="0" y="3067715"/>
                </a:lnTo>
                <a:lnTo>
                  <a:pt x="0" y="0"/>
                </a:lnTo>
                <a:close/>
              </a:path>
            </a:pathLst>
          </a:custGeom>
          <a:blipFill>
            <a:blip r:embed="rId2"/>
            <a:stretch>
              <a:fillRect/>
            </a:stretch>
          </a:blipFill>
        </p:spPr>
        <p:txBody>
          <a:bodyPr/>
          <a:lstStyle/>
          <a:p>
            <a:pPr defTabSz="609630"/>
            <a:endParaRPr lang="en-US" sz="1200">
              <a:solidFill>
                <a:prstClr val="black"/>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313974442"/>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C8233-31F9-CB04-0752-D452BC107743}"/>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45E59BC-3CC9-9BCB-9815-1510CED20C04}"/>
              </a:ext>
            </a:extLst>
          </p:cNvPr>
          <p:cNvSpPr txBox="1"/>
          <p:nvPr/>
        </p:nvSpPr>
        <p:spPr>
          <a:xfrm>
            <a:off x="1028459" y="908771"/>
            <a:ext cx="1402166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and fair remuneration: the reality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F6853F0-EC7F-11C5-E10A-2BB8E8644332}"/>
              </a:ext>
            </a:extLst>
          </p:cNvPr>
          <p:cNvSpPr txBox="1"/>
          <p:nvPr/>
        </p:nvSpPr>
        <p:spPr>
          <a:xfrm>
            <a:off x="1028459" y="1738530"/>
            <a:ext cx="4555912"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E464C59-4B02-B831-A3FA-65AFA77A981E}"/>
              </a:ext>
            </a:extLst>
          </p:cNvPr>
          <p:cNvSpPr/>
          <p:nvPr/>
        </p:nvSpPr>
        <p:spPr>
          <a:xfrm>
            <a:off x="1028459" y="3137156"/>
            <a:ext cx="5747897" cy="4524315"/>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Most creators don’t earn most of their income from copyright sources</a:t>
            </a:r>
          </a:p>
          <a:p>
            <a:pPr marL="609630" indent="-609630" algn="just">
              <a:buFont typeface="Arial" panose="020B0604020202020204" pitchFamily="34" charset="0"/>
              <a:buChar char="•"/>
            </a:pPr>
            <a:r>
              <a:rPr lang="en-GB" sz="3200" b="0" dirty="0">
                <a:solidFill>
                  <a:schemeClr val="tx2"/>
                </a:solidFill>
                <a:latin typeface="Barlow" pitchFamily="2" charset="77"/>
              </a:rPr>
              <a:t>… and most creators can’t earn a living from their creative work alone (less than minimum wage)</a:t>
            </a:r>
          </a:p>
          <a:p>
            <a:pPr marL="609630" indent="-609630" algn="just">
              <a:buFont typeface="Arial" panose="020B0604020202020204" pitchFamily="34" charset="0"/>
              <a:buChar char="•"/>
            </a:pPr>
            <a:r>
              <a:rPr lang="en-GB" sz="3200" b="0" dirty="0">
                <a:solidFill>
                  <a:schemeClr val="tx2"/>
                </a:solidFill>
                <a:latin typeface="Barlow" pitchFamily="2" charset="77"/>
              </a:rPr>
              <a:t>Role of the ‘day job’ or a ‘household subsidy’</a:t>
            </a:r>
          </a:p>
        </p:txBody>
      </p:sp>
      <p:pic>
        <p:nvPicPr>
          <p:cNvPr id="4" name="Picture 3" descr="A graph of numbers and columns&#10;&#10;AI-generated content may be incorrect.">
            <a:extLst>
              <a:ext uri="{FF2B5EF4-FFF2-40B4-BE49-F238E27FC236}">
                <a16:creationId xmlns:a16="http://schemas.microsoft.com/office/drawing/2014/main" id="{B941C751-BACE-EAD9-254A-09D311BB5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7858" y="2644714"/>
            <a:ext cx="8970641" cy="5509200"/>
          </a:xfrm>
          <a:prstGeom prst="rect">
            <a:avLst/>
          </a:prstGeom>
        </p:spPr>
      </p:pic>
    </p:spTree>
    <p:extLst>
      <p:ext uri="{BB962C8B-B14F-4D97-AF65-F5344CB8AC3E}">
        <p14:creationId xmlns:p14="http://schemas.microsoft.com/office/powerpoint/2010/main" val="3196321416"/>
      </p:ext>
    </p:extLst>
  </p:cSld>
  <p:clrMapOvr>
    <a:masterClrMapping/>
  </p:clrMapOvr>
  <p:transition spd="med" advTm="222639"/>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4151A-8BDE-9D13-1FDA-1ABC5A931BF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7DEC9CF-5023-FC11-EB49-86DB82C204D0}"/>
              </a:ext>
            </a:extLst>
          </p:cNvPr>
          <p:cNvSpPr txBox="1"/>
          <p:nvPr/>
        </p:nvSpPr>
        <p:spPr>
          <a:xfrm>
            <a:off x="1028459" y="908771"/>
            <a:ext cx="1402166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and fair remuneration: the reality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73F75B0-1467-B899-E5FD-4F26EAE33D17}"/>
              </a:ext>
            </a:extLst>
          </p:cNvPr>
          <p:cNvSpPr txBox="1"/>
          <p:nvPr/>
        </p:nvSpPr>
        <p:spPr>
          <a:xfrm>
            <a:off x="1028459" y="1738530"/>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2" name="Table 1">
            <a:extLst>
              <a:ext uri="{FF2B5EF4-FFF2-40B4-BE49-F238E27FC236}">
                <a16:creationId xmlns:a16="http://schemas.microsoft.com/office/drawing/2014/main" id="{4F4D0E81-C6D1-587A-AB25-FB746CF5BBF8}"/>
              </a:ext>
            </a:extLst>
          </p:cNvPr>
          <p:cNvGraphicFramePr>
            <a:graphicFrameLocks noGrp="1"/>
          </p:cNvGraphicFramePr>
          <p:nvPr>
            <p:extLst>
              <p:ext uri="{D42A27DB-BD31-4B8C-83A1-F6EECF244321}">
                <p14:modId xmlns:p14="http://schemas.microsoft.com/office/powerpoint/2010/main" val="2522217477"/>
              </p:ext>
            </p:extLst>
          </p:nvPr>
        </p:nvGraphicFramePr>
        <p:xfrm>
          <a:off x="1028459" y="3370980"/>
          <a:ext cx="15015594" cy="3446999"/>
        </p:xfrm>
        <a:graphic>
          <a:graphicData uri="http://schemas.openxmlformats.org/drawingml/2006/table">
            <a:tbl>
              <a:tblPr/>
              <a:tblGrid>
                <a:gridCol w="2111272">
                  <a:extLst>
                    <a:ext uri="{9D8B030D-6E8A-4147-A177-3AD203B41FA5}">
                      <a16:colId xmlns:a16="http://schemas.microsoft.com/office/drawing/2014/main" val="2067988122"/>
                    </a:ext>
                  </a:extLst>
                </a:gridCol>
                <a:gridCol w="2111272">
                  <a:extLst>
                    <a:ext uri="{9D8B030D-6E8A-4147-A177-3AD203B41FA5}">
                      <a16:colId xmlns:a16="http://schemas.microsoft.com/office/drawing/2014/main" val="3949507783"/>
                    </a:ext>
                  </a:extLst>
                </a:gridCol>
                <a:gridCol w="2285140">
                  <a:extLst>
                    <a:ext uri="{9D8B030D-6E8A-4147-A177-3AD203B41FA5}">
                      <a16:colId xmlns:a16="http://schemas.microsoft.com/office/drawing/2014/main" val="485940009"/>
                    </a:ext>
                  </a:extLst>
                </a:gridCol>
                <a:gridCol w="1937403">
                  <a:extLst>
                    <a:ext uri="{9D8B030D-6E8A-4147-A177-3AD203B41FA5}">
                      <a16:colId xmlns:a16="http://schemas.microsoft.com/office/drawing/2014/main" val="1408750458"/>
                    </a:ext>
                  </a:extLst>
                </a:gridCol>
                <a:gridCol w="2347963">
                  <a:extLst>
                    <a:ext uri="{9D8B030D-6E8A-4147-A177-3AD203B41FA5}">
                      <a16:colId xmlns:a16="http://schemas.microsoft.com/office/drawing/2014/main" val="359993702"/>
                    </a:ext>
                  </a:extLst>
                </a:gridCol>
                <a:gridCol w="2111272">
                  <a:extLst>
                    <a:ext uri="{9D8B030D-6E8A-4147-A177-3AD203B41FA5}">
                      <a16:colId xmlns:a16="http://schemas.microsoft.com/office/drawing/2014/main" val="1170251901"/>
                    </a:ext>
                  </a:extLst>
                </a:gridCol>
                <a:gridCol w="2111272">
                  <a:extLst>
                    <a:ext uri="{9D8B030D-6E8A-4147-A177-3AD203B41FA5}">
                      <a16:colId xmlns:a16="http://schemas.microsoft.com/office/drawing/2014/main" val="2070373728"/>
                    </a:ext>
                  </a:extLst>
                </a:gridCol>
              </a:tblGrid>
              <a:tr h="831404">
                <a:tc>
                  <a:txBody>
                    <a:bodyPr/>
                    <a:lstStyle/>
                    <a:p>
                      <a:pPr algn="l" fontAlgn="t">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 </a:t>
                      </a:r>
                      <a:endParaRPr lang="en-GB" sz="2000" b="0" i="0" u="none" strike="noStrike" dirty="0">
                        <a:solidFill>
                          <a:srgbClr val="575453"/>
                        </a:solidFill>
                        <a:effectLst/>
                        <a:latin typeface="Barlow" pitchFamily="2" charset="77"/>
                      </a:endParaRPr>
                    </a:p>
                  </a:txBody>
                  <a:tcPr marL="94345" marR="94345" marT="94345" marB="943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Directors</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a:solidFill>
                            <a:srgbClr val="575453"/>
                          </a:solidFill>
                          <a:effectLst/>
                          <a:latin typeface="Barlow" pitchFamily="2" charset="77"/>
                          <a:ea typeface="Barlow" panose="00000500000000000000" pitchFamily="2" charset="0"/>
                          <a:cs typeface="Barlow" panose="00000500000000000000" pitchFamily="2" charset="0"/>
                        </a:rPr>
                        <a:t>Journalists</a:t>
                      </a:r>
                      <a:endParaRPr lang="en-GB" sz="2000" b="0" i="0" u="none" strike="noStrike">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a:solidFill>
                            <a:srgbClr val="575453"/>
                          </a:solidFill>
                          <a:effectLst/>
                          <a:latin typeface="Barlow" pitchFamily="2" charset="77"/>
                          <a:ea typeface="Barlow" panose="00000500000000000000" pitchFamily="2" charset="0"/>
                          <a:cs typeface="Barlow" panose="00000500000000000000" pitchFamily="2" charset="0"/>
                        </a:rPr>
                        <a:t>Actors</a:t>
                      </a:r>
                      <a:endParaRPr lang="en-GB" sz="2000" b="0" i="0" u="none" strike="noStrike">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a:solidFill>
                            <a:srgbClr val="575453"/>
                          </a:solidFill>
                          <a:effectLst/>
                          <a:latin typeface="Barlow" pitchFamily="2" charset="77"/>
                          <a:ea typeface="Barlow" panose="00000500000000000000" pitchFamily="2" charset="0"/>
                          <a:cs typeface="Barlow" panose="00000500000000000000" pitchFamily="2" charset="0"/>
                        </a:rPr>
                        <a:t>Visual Artists</a:t>
                      </a:r>
                      <a:endParaRPr lang="en-GB" sz="2000" b="0" i="0" u="none" strike="noStrike">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a:solidFill>
                            <a:srgbClr val="575453"/>
                          </a:solidFill>
                          <a:effectLst/>
                          <a:latin typeface="Barlow" pitchFamily="2" charset="77"/>
                          <a:ea typeface="Barlow" panose="00000500000000000000" pitchFamily="2" charset="0"/>
                          <a:cs typeface="Barlow" panose="00000500000000000000" pitchFamily="2" charset="0"/>
                        </a:rPr>
                        <a:t>Indie Authors</a:t>
                      </a:r>
                      <a:endParaRPr lang="en-GB" sz="2000" b="0" i="0" u="none" strike="noStrike">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Traditional Authors</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217"/>
                  </a:ext>
                </a:extLst>
              </a:tr>
              <a:tr h="2343909">
                <a:tc>
                  <a:txBody>
                    <a:bodyPr/>
                    <a:lstStyle/>
                    <a:p>
                      <a:pPr algn="l" fontAlgn="t">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Annual Median Earnings from creative work</a:t>
                      </a:r>
                      <a:endParaRPr lang="en-GB" sz="2000" b="0" i="0" u="none" strike="noStrike" dirty="0">
                        <a:solidFill>
                          <a:srgbClr val="575453"/>
                        </a:solidFill>
                        <a:effectLst/>
                        <a:latin typeface="Barlow" pitchFamily="2" charset="77"/>
                      </a:endParaRPr>
                    </a:p>
                  </a:txBody>
                  <a:tcPr marL="94345" marR="94345" marT="94345" marB="943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£55,000</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£17,500</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£17,500</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£12,500</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£9,375</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50000"/>
                        </a:lnSpc>
                        <a:spcBef>
                          <a:spcPts val="1000"/>
                        </a:spcBef>
                        <a:buNone/>
                      </a:pPr>
                      <a:r>
                        <a:rPr lang="en-GB" sz="2000" b="0" i="0" u="none" strike="noStrike" dirty="0">
                          <a:solidFill>
                            <a:srgbClr val="575453"/>
                          </a:solidFill>
                          <a:effectLst/>
                          <a:latin typeface="Barlow" pitchFamily="2" charset="77"/>
                          <a:ea typeface="Barlow" panose="00000500000000000000" pitchFamily="2" charset="0"/>
                          <a:cs typeface="Barlow" panose="00000500000000000000" pitchFamily="2" charset="0"/>
                        </a:rPr>
                        <a:t>£7,000</a:t>
                      </a:r>
                      <a:endParaRPr lang="en-GB" sz="2000" b="0" i="0" u="none" strike="noStrike" dirty="0">
                        <a:solidFill>
                          <a:srgbClr val="575453"/>
                        </a:solidFill>
                        <a:effectLst/>
                        <a:latin typeface="Barlow" pitchFamily="2" charset="77"/>
                      </a:endParaRPr>
                    </a:p>
                  </a:txBody>
                  <a:tcPr marL="94345" marR="94345" marT="94345" marB="94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879123"/>
                  </a:ext>
                </a:extLst>
              </a:tr>
            </a:tbl>
          </a:graphicData>
        </a:graphic>
      </p:graphicFrame>
    </p:spTree>
    <p:extLst>
      <p:ext uri="{BB962C8B-B14F-4D97-AF65-F5344CB8AC3E}">
        <p14:creationId xmlns:p14="http://schemas.microsoft.com/office/powerpoint/2010/main" val="3142901092"/>
      </p:ext>
    </p:extLst>
  </p:cSld>
  <p:clrMapOvr>
    <a:masterClrMapping/>
  </p:clrMapOvr>
  <p:transition spd="med" advTm="222639"/>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6F3D-271E-ED8C-B291-A89A097DB3E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47DD234-76C9-1463-C1EC-7E5AAAA233ED}"/>
              </a:ext>
            </a:extLst>
          </p:cNvPr>
          <p:cNvSpPr txBox="1"/>
          <p:nvPr/>
        </p:nvSpPr>
        <p:spPr>
          <a:xfrm>
            <a:off x="1028459" y="908771"/>
            <a:ext cx="1402166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and fair remuneration: the reality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8B0D10D-9117-E16B-5519-DC59F200A42F}"/>
              </a:ext>
            </a:extLst>
          </p:cNvPr>
          <p:cNvSpPr txBox="1"/>
          <p:nvPr/>
        </p:nvSpPr>
        <p:spPr>
          <a:xfrm>
            <a:off x="1028459" y="1738530"/>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8099102A-6262-B105-98B4-3E4B77DD6460}"/>
              </a:ext>
            </a:extLst>
          </p:cNvPr>
          <p:cNvSpPr/>
          <p:nvPr/>
        </p:nvSpPr>
        <p:spPr>
          <a:xfrm>
            <a:off x="1028459" y="2122200"/>
            <a:ext cx="14862995" cy="1077218"/>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A small number of creators earn a disproportionate amount of the money – ‘winner-take-all’</a:t>
            </a:r>
          </a:p>
        </p:txBody>
      </p:sp>
      <p:pic>
        <p:nvPicPr>
          <p:cNvPr id="2" name="Picture 1">
            <a:extLst>
              <a:ext uri="{FF2B5EF4-FFF2-40B4-BE49-F238E27FC236}">
                <a16:creationId xmlns:a16="http://schemas.microsoft.com/office/drawing/2014/main" id="{7C162E0F-FF6A-AEEB-3B88-B6CD25F6FEA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3848" y="3127623"/>
            <a:ext cx="6952566" cy="5695972"/>
          </a:xfrm>
          <a:prstGeom prst="rect">
            <a:avLst/>
          </a:prstGeom>
          <a:noFill/>
          <a:ln>
            <a:noFill/>
          </a:ln>
        </p:spPr>
      </p:pic>
      <p:sp>
        <p:nvSpPr>
          <p:cNvPr id="4" name="Text Box 12">
            <a:extLst>
              <a:ext uri="{FF2B5EF4-FFF2-40B4-BE49-F238E27FC236}">
                <a16:creationId xmlns:a16="http://schemas.microsoft.com/office/drawing/2014/main" id="{E3C6405D-CDC7-AF41-3CF9-AABA8ED9E899}"/>
              </a:ext>
            </a:extLst>
          </p:cNvPr>
          <p:cNvSpPr txBox="1">
            <a:spLocks noChangeArrowheads="1"/>
          </p:cNvSpPr>
          <p:nvPr/>
        </p:nvSpPr>
        <p:spPr bwMode="auto">
          <a:xfrm>
            <a:off x="1028459" y="5621666"/>
            <a:ext cx="4388233"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spcBef>
                <a:spcPct val="20000"/>
              </a:spcBef>
              <a:defRPr/>
            </a:pPr>
            <a:r>
              <a:rPr lang="en-US" sz="2000" b="0" i="1" dirty="0">
                <a:solidFill>
                  <a:srgbClr val="575453"/>
                </a:solidFill>
                <a:latin typeface="Barlow" pitchFamily="2" charset="77"/>
              </a:rPr>
              <a:t>Source: ALCS Survey, UK authors’ income (gross)</a:t>
            </a:r>
            <a:endParaRPr lang="en-US" sz="2000" b="0" dirty="0">
              <a:solidFill>
                <a:srgbClr val="575453"/>
              </a:solidFill>
              <a:latin typeface="Barlow" pitchFamily="2" charset="77"/>
            </a:endParaRPr>
          </a:p>
        </p:txBody>
      </p:sp>
    </p:spTree>
    <p:extLst>
      <p:ext uri="{BB962C8B-B14F-4D97-AF65-F5344CB8AC3E}">
        <p14:creationId xmlns:p14="http://schemas.microsoft.com/office/powerpoint/2010/main" val="1925271357"/>
      </p:ext>
    </p:extLst>
  </p:cSld>
  <p:clrMapOvr>
    <a:masterClrMapping/>
  </p:clrMapOvr>
  <p:transition spd="med" advTm="222639"/>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3E080-1B94-9C96-3E8A-3A06A563484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1A0D231-5A02-9156-22DF-EF6D059CDCE4}"/>
              </a:ext>
            </a:extLst>
          </p:cNvPr>
          <p:cNvSpPr txBox="1"/>
          <p:nvPr/>
        </p:nvSpPr>
        <p:spPr>
          <a:xfrm>
            <a:off x="1028459" y="908771"/>
            <a:ext cx="1402166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Contracts and fair remuneration: the reality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466AE01C-5D7F-5CD2-DD42-724FCCA7D8FB}"/>
              </a:ext>
            </a:extLst>
          </p:cNvPr>
          <p:cNvSpPr txBox="1"/>
          <p:nvPr/>
        </p:nvSpPr>
        <p:spPr>
          <a:xfrm>
            <a:off x="1028459" y="1738530"/>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DC0FF68F-811F-262E-11CE-5C2064A9E7A7}"/>
              </a:ext>
            </a:extLst>
          </p:cNvPr>
          <p:cNvSpPr/>
          <p:nvPr/>
        </p:nvSpPr>
        <p:spPr>
          <a:xfrm>
            <a:off x="1028459" y="2122200"/>
            <a:ext cx="14862995" cy="649408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Creators don’t understand contracts (’legalese’) and may not have the resources to hire legal help to negotiate them</a:t>
            </a:r>
          </a:p>
          <a:p>
            <a:pPr marL="457200" indent="-457200" algn="just">
              <a:buFont typeface="Arial" panose="020B0604020202020204" pitchFamily="34" charset="0"/>
              <a:buChar char="•"/>
            </a:pPr>
            <a:r>
              <a:rPr lang="en-GB" sz="3200" b="0" dirty="0">
                <a:solidFill>
                  <a:schemeClr val="tx2"/>
                </a:solidFill>
                <a:latin typeface="Barlow" pitchFamily="2" charset="77"/>
              </a:rPr>
              <a:t>‘Agree or walk away/take it or leave it’</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Agents and collective bargaining play a mitigating role:</a:t>
            </a:r>
          </a:p>
          <a:p>
            <a:pPr marL="457200" indent="-457200" algn="just">
              <a:buFont typeface="Arial" panose="020B0604020202020204" pitchFamily="34" charset="0"/>
              <a:buChar char="•"/>
            </a:pPr>
            <a:r>
              <a:rPr lang="en-GB" sz="3200" b="0" dirty="0">
                <a:solidFill>
                  <a:schemeClr val="tx2"/>
                </a:solidFill>
                <a:latin typeface="Barlow" pitchFamily="2" charset="77"/>
              </a:rPr>
              <a:t>During the last 5 years, did you or your agent attempt to change the terms of a contract you were offered? </a:t>
            </a:r>
          </a:p>
          <a:p>
            <a:pPr marL="457200" indent="-457200" algn="just">
              <a:buFont typeface="Arial" panose="020B0604020202020204" pitchFamily="34" charset="0"/>
              <a:buChar char="•"/>
            </a:pPr>
            <a:r>
              <a:rPr lang="en-GB" sz="3200" b="0" dirty="0">
                <a:solidFill>
                  <a:schemeClr val="tx2"/>
                </a:solidFill>
                <a:latin typeface="Barlow" pitchFamily="2" charset="77"/>
              </a:rPr>
              <a:t>Performers – 56.2% tried, and 89.4% succeeded</a:t>
            </a:r>
          </a:p>
          <a:p>
            <a:pPr marL="457200" indent="-457200" algn="just">
              <a:buFont typeface="Arial" panose="020B0604020202020204" pitchFamily="34" charset="0"/>
              <a:buChar char="•"/>
            </a:pPr>
            <a:r>
              <a:rPr lang="en-GB" sz="3200" b="0" dirty="0">
                <a:solidFill>
                  <a:schemeClr val="tx2"/>
                </a:solidFill>
                <a:latin typeface="Barlow" pitchFamily="2" charset="77"/>
              </a:rPr>
              <a:t>Authors – 32% tried, and 28% succeeded</a:t>
            </a: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“How confident are you in your knowledge of copyright/statutory rights?”</a:t>
            </a:r>
          </a:p>
          <a:p>
            <a:pPr marL="457200" indent="-457200" algn="just">
              <a:buFont typeface="Arial" panose="020B0604020202020204" pitchFamily="34" charset="0"/>
              <a:buChar char="•"/>
            </a:pPr>
            <a:r>
              <a:rPr lang="en-GB" sz="3200" b="0" dirty="0">
                <a:solidFill>
                  <a:schemeClr val="tx2"/>
                </a:solidFill>
                <a:latin typeface="Barlow" pitchFamily="2" charset="77"/>
              </a:rPr>
              <a:t>Performers: mostly very little confidence (30.7%)</a:t>
            </a:r>
          </a:p>
          <a:p>
            <a:pPr marL="457200" indent="-457200" algn="just">
              <a:buFont typeface="Arial" panose="020B0604020202020204" pitchFamily="34" charset="0"/>
              <a:buChar char="•"/>
            </a:pPr>
            <a:r>
              <a:rPr lang="en-GB" sz="3200" b="0" dirty="0">
                <a:solidFill>
                  <a:schemeClr val="tx2"/>
                </a:solidFill>
                <a:latin typeface="Barlow" pitchFamily="2" charset="77"/>
              </a:rPr>
              <a:t>Authors: mostly moderately confident (56%) &lt;- but confidently incorrect!</a:t>
            </a:r>
          </a:p>
        </p:txBody>
      </p:sp>
    </p:spTree>
    <p:extLst>
      <p:ext uri="{BB962C8B-B14F-4D97-AF65-F5344CB8AC3E}">
        <p14:creationId xmlns:p14="http://schemas.microsoft.com/office/powerpoint/2010/main" val="1469990172"/>
      </p:ext>
    </p:extLst>
  </p:cSld>
  <p:clrMapOvr>
    <a:masterClrMapping/>
  </p:clrMapOvr>
  <p:transition spd="med" advTm="222639"/>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TEXT">
            <a:extLst>
              <a:ext uri="{FF2B5EF4-FFF2-40B4-BE49-F238E27FC236}">
                <a16:creationId xmlns:a16="http://schemas.microsoft.com/office/drawing/2014/main" id="{E836D619-0E98-9641-4931-276C3567C4DF}"/>
              </a:ext>
            </a:extLst>
          </p:cNvPr>
          <p:cNvSpPr txBox="1"/>
          <p:nvPr/>
        </p:nvSpPr>
        <p:spPr>
          <a:xfrm>
            <a:off x="1028458" y="1002549"/>
            <a:ext cx="1349701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consequences: declining supply?</a:t>
            </a:r>
            <a:endParaRPr sz="5334" dirty="0"/>
          </a:p>
        </p:txBody>
      </p:sp>
      <p:sp>
        <p:nvSpPr>
          <p:cNvPr id="5"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2D63579-1231-95C0-4BA1-E52426B3B360}"/>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6"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5B7C583-4C02-D4BD-5900-F8610D9901C9}"/>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7" name="Chart 6">
            <a:extLst>
              <a:ext uri="{FF2B5EF4-FFF2-40B4-BE49-F238E27FC236}">
                <a16:creationId xmlns:a16="http://schemas.microsoft.com/office/drawing/2014/main" id="{3E32C28A-B7D9-087F-5563-E9B79FAC4A6F}"/>
              </a:ext>
            </a:extLst>
          </p:cNvPr>
          <p:cNvGraphicFramePr/>
          <p:nvPr/>
        </p:nvGraphicFramePr>
        <p:xfrm>
          <a:off x="1028458" y="2322574"/>
          <a:ext cx="7258003" cy="642847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AF9B6EB-9440-B4A6-416B-2B9AC8312782}"/>
              </a:ext>
            </a:extLst>
          </p:cNvPr>
          <p:cNvGraphicFramePr/>
          <p:nvPr/>
        </p:nvGraphicFramePr>
        <p:xfrm>
          <a:off x="8670130" y="2377860"/>
          <a:ext cx="7454775" cy="64284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45612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06157" y="803966"/>
            <a:ext cx="15198210"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consequences: a lack of diversity?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06157" y="1850041"/>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06157" y="2020889"/>
            <a:ext cx="14862995" cy="107721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Most creators are from a socio-economic background associated with the highest levels of privilege</a:t>
            </a:r>
          </a:p>
        </p:txBody>
      </p:sp>
      <p:graphicFrame>
        <p:nvGraphicFramePr>
          <p:cNvPr id="2" name="Chart 1">
            <a:extLst>
              <a:ext uri="{FF2B5EF4-FFF2-40B4-BE49-F238E27FC236}">
                <a16:creationId xmlns:a16="http://schemas.microsoft.com/office/drawing/2014/main" id="{3AC83C41-FE55-E1B4-51BE-4ACCCBFBFB12}"/>
              </a:ext>
            </a:extLst>
          </p:cNvPr>
          <p:cNvGraphicFramePr/>
          <p:nvPr/>
        </p:nvGraphicFramePr>
        <p:xfrm>
          <a:off x="1185863" y="3314422"/>
          <a:ext cx="14683289" cy="31006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87E05B21-4B90-4D63-6EFB-B4C5B1F63437}"/>
              </a:ext>
            </a:extLst>
          </p:cNvPr>
          <p:cNvGraphicFramePr/>
          <p:nvPr/>
        </p:nvGraphicFramePr>
        <p:xfrm>
          <a:off x="1185863" y="6545820"/>
          <a:ext cx="14683288" cy="240381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41534480"/>
      </p:ext>
    </p:extLst>
  </p:cSld>
  <p:clrMapOvr>
    <a:masterClrMapping/>
  </p:clrMapOvr>
  <p:transition spd="med" advTm="222639"/>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B77D0-D6D1-B02A-D118-605F5C3A952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DA0C7F3-0413-6248-A622-FA6B334B7885}"/>
              </a:ext>
            </a:extLst>
          </p:cNvPr>
          <p:cNvSpPr txBox="1"/>
          <p:nvPr/>
        </p:nvSpPr>
        <p:spPr>
          <a:xfrm>
            <a:off x="1006157" y="803966"/>
            <a:ext cx="15198210"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The consequences: a lack of diversity?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532D913-AB54-E6A2-7D47-83D7666673F4}"/>
              </a:ext>
            </a:extLst>
          </p:cNvPr>
          <p:cNvSpPr txBox="1"/>
          <p:nvPr/>
        </p:nvSpPr>
        <p:spPr>
          <a:xfrm>
            <a:off x="1006157" y="1850041"/>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EF271603-34ED-9711-F15F-D85A1DD0963F}"/>
              </a:ext>
            </a:extLst>
          </p:cNvPr>
          <p:cNvSpPr/>
          <p:nvPr/>
        </p:nvSpPr>
        <p:spPr>
          <a:xfrm>
            <a:off x="1006157" y="2020889"/>
            <a:ext cx="14862995" cy="58477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Patterns of inequality still exist, see e.g., the gender pay gap</a:t>
            </a:r>
          </a:p>
        </p:txBody>
      </p:sp>
      <p:graphicFrame>
        <p:nvGraphicFramePr>
          <p:cNvPr id="2" name="Table 1">
            <a:extLst>
              <a:ext uri="{FF2B5EF4-FFF2-40B4-BE49-F238E27FC236}">
                <a16:creationId xmlns:a16="http://schemas.microsoft.com/office/drawing/2014/main" id="{D221C158-8B94-5B5C-B3B9-4B44C4BDBDCE}"/>
              </a:ext>
            </a:extLst>
          </p:cNvPr>
          <p:cNvGraphicFramePr>
            <a:graphicFrameLocks noGrp="1"/>
          </p:cNvGraphicFramePr>
          <p:nvPr/>
        </p:nvGraphicFramePr>
        <p:xfrm>
          <a:off x="1006155" y="2933699"/>
          <a:ext cx="7663974" cy="5786970"/>
        </p:xfrm>
        <a:graphic>
          <a:graphicData uri="http://schemas.openxmlformats.org/drawingml/2006/table">
            <a:tbl>
              <a:tblPr/>
              <a:tblGrid>
                <a:gridCol w="2554658">
                  <a:extLst>
                    <a:ext uri="{9D8B030D-6E8A-4147-A177-3AD203B41FA5}">
                      <a16:colId xmlns:a16="http://schemas.microsoft.com/office/drawing/2014/main" val="2076417602"/>
                    </a:ext>
                  </a:extLst>
                </a:gridCol>
                <a:gridCol w="2554658">
                  <a:extLst>
                    <a:ext uri="{9D8B030D-6E8A-4147-A177-3AD203B41FA5}">
                      <a16:colId xmlns:a16="http://schemas.microsoft.com/office/drawing/2014/main" val="2312488283"/>
                    </a:ext>
                  </a:extLst>
                </a:gridCol>
                <a:gridCol w="2554658">
                  <a:extLst>
                    <a:ext uri="{9D8B030D-6E8A-4147-A177-3AD203B41FA5}">
                      <a16:colId xmlns:a16="http://schemas.microsoft.com/office/drawing/2014/main" val="2129830141"/>
                    </a:ext>
                  </a:extLst>
                </a:gridCol>
              </a:tblGrid>
              <a:tr h="1281084">
                <a:tc>
                  <a:txBody>
                    <a:bodyPr/>
                    <a:lstStyle/>
                    <a:p>
                      <a:pPr fontAlgn="t">
                        <a:buNone/>
                      </a:pPr>
                      <a:br>
                        <a:rPr lang="en-GB" sz="2000" dirty="0">
                          <a:solidFill>
                            <a:srgbClr val="575453"/>
                          </a:solidFill>
                          <a:effectLst/>
                          <a:latin typeface="Barlow" pitchFamily="2" charset="77"/>
                        </a:rPr>
                      </a:b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Men</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Women</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0590616"/>
                  </a:ext>
                </a:extLst>
              </a:tr>
              <a:tr h="750981">
                <a:tc>
                  <a:txBody>
                    <a:bodyPr/>
                    <a:lstStyle/>
                    <a:p>
                      <a:pPr rtl="0" fontAlgn="t">
                        <a:buNone/>
                      </a:pPr>
                      <a:r>
                        <a:rPr lang="en-GB" sz="2000" b="0" i="0" u="none" strike="noStrike">
                          <a:solidFill>
                            <a:srgbClr val="575453"/>
                          </a:solidFill>
                          <a:effectLst/>
                          <a:latin typeface="Barlow" pitchFamily="2" charset="77"/>
                        </a:rPr>
                        <a:t>Visual Artists</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a:solidFill>
                            <a:srgbClr val="575453"/>
                          </a:solidFill>
                          <a:effectLst/>
                          <a:latin typeface="Barlow" pitchFamily="2" charset="77"/>
                        </a:rPr>
                        <a:t>£12,500</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£7,500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0955477"/>
                  </a:ext>
                </a:extLst>
              </a:tr>
              <a:tr h="750981">
                <a:tc>
                  <a:txBody>
                    <a:bodyPr/>
                    <a:lstStyle/>
                    <a:p>
                      <a:pPr rtl="0" fontAlgn="t">
                        <a:buNone/>
                      </a:pPr>
                      <a:r>
                        <a:rPr lang="en-GB" sz="2000" b="0" i="0" u="none" strike="noStrike">
                          <a:solidFill>
                            <a:srgbClr val="575453"/>
                          </a:solidFill>
                          <a:effectLst/>
                          <a:latin typeface="Barlow" pitchFamily="2" charset="77"/>
                        </a:rPr>
                        <a:t>Directors</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a:solidFill>
                            <a:srgbClr val="575453"/>
                          </a:solidFill>
                          <a:effectLst/>
                          <a:latin typeface="Barlow" pitchFamily="2" charset="77"/>
                        </a:rPr>
                        <a:t>£55,000</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£45,000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6173352"/>
                  </a:ext>
                </a:extLst>
              </a:tr>
              <a:tr h="750981">
                <a:tc>
                  <a:txBody>
                    <a:bodyPr/>
                    <a:lstStyle/>
                    <a:p>
                      <a:pPr rtl="0" fontAlgn="t">
                        <a:buNone/>
                      </a:pPr>
                      <a:r>
                        <a:rPr lang="en-GB" sz="2000" b="0" i="0" u="none" strike="noStrike">
                          <a:solidFill>
                            <a:srgbClr val="575453"/>
                          </a:solidFill>
                          <a:effectLst/>
                          <a:latin typeface="Barlow" pitchFamily="2" charset="77"/>
                        </a:rPr>
                        <a:t>Authors</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£29,000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£1700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8784901"/>
                  </a:ext>
                </a:extLst>
              </a:tr>
              <a:tr h="750981">
                <a:tc>
                  <a:txBody>
                    <a:bodyPr/>
                    <a:lstStyle/>
                    <a:p>
                      <a:pPr rtl="0" fontAlgn="t">
                        <a:buNone/>
                      </a:pPr>
                      <a:r>
                        <a:rPr lang="en-GB" sz="2000" b="0" i="0" u="none" strike="noStrike">
                          <a:solidFill>
                            <a:srgbClr val="575453"/>
                          </a:solidFill>
                          <a:effectLst/>
                          <a:latin typeface="Barlow" pitchFamily="2" charset="77"/>
                        </a:rPr>
                        <a:t>Actors</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£17,500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a:solidFill>
                            <a:srgbClr val="575453"/>
                          </a:solidFill>
                          <a:effectLst/>
                          <a:latin typeface="Barlow" pitchFamily="2" charset="77"/>
                        </a:rPr>
                        <a:t>£17,500</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237543"/>
                  </a:ext>
                </a:extLst>
              </a:tr>
              <a:tr h="750981">
                <a:tc>
                  <a:txBody>
                    <a:bodyPr/>
                    <a:lstStyle/>
                    <a:p>
                      <a:pPr rtl="0" fontAlgn="t">
                        <a:buNone/>
                      </a:pPr>
                      <a:r>
                        <a:rPr lang="en-GB" sz="2000" b="0" i="0" u="none" strike="noStrike">
                          <a:solidFill>
                            <a:srgbClr val="575453"/>
                          </a:solidFill>
                          <a:effectLst/>
                          <a:latin typeface="Barlow" pitchFamily="2" charset="77"/>
                        </a:rPr>
                        <a:t>Journalists</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£17,500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a:solidFill>
                            <a:srgbClr val="575453"/>
                          </a:solidFill>
                          <a:effectLst/>
                          <a:latin typeface="Barlow" pitchFamily="2" charset="77"/>
                        </a:rPr>
                        <a:t>£18,000</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2892951"/>
                  </a:ext>
                </a:extLst>
              </a:tr>
              <a:tr h="750981">
                <a:tc>
                  <a:txBody>
                    <a:bodyPr/>
                    <a:lstStyle/>
                    <a:p>
                      <a:pPr rtl="0" fontAlgn="t">
                        <a:buNone/>
                      </a:pPr>
                      <a:r>
                        <a:rPr lang="en-GB" sz="2000" b="0" i="0" u="none" strike="noStrike">
                          <a:solidFill>
                            <a:srgbClr val="575453"/>
                          </a:solidFill>
                          <a:effectLst/>
                          <a:latin typeface="Barlow" pitchFamily="2" charset="77"/>
                        </a:rPr>
                        <a:t>Indie Authors</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a:solidFill>
                            <a:srgbClr val="575453"/>
                          </a:solidFill>
                          <a:effectLst/>
                          <a:latin typeface="Barlow" pitchFamily="2" charset="77"/>
                        </a:rPr>
                        <a:t>£9985</a:t>
                      </a:r>
                      <a:endParaRPr lang="en-GB" sz="200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£14,989</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8037215"/>
                  </a:ext>
                </a:extLst>
              </a:tr>
            </a:tbl>
          </a:graphicData>
        </a:graphic>
      </p:graphicFrame>
      <p:graphicFrame>
        <p:nvGraphicFramePr>
          <p:cNvPr id="4" name="Table 3">
            <a:extLst>
              <a:ext uri="{FF2B5EF4-FFF2-40B4-BE49-F238E27FC236}">
                <a16:creationId xmlns:a16="http://schemas.microsoft.com/office/drawing/2014/main" id="{B4608862-8BAF-CD90-23C5-84F0292B4E26}"/>
              </a:ext>
            </a:extLst>
          </p:cNvPr>
          <p:cNvGraphicFramePr>
            <a:graphicFrameLocks noGrp="1"/>
          </p:cNvGraphicFramePr>
          <p:nvPr/>
        </p:nvGraphicFramePr>
        <p:xfrm>
          <a:off x="9194800" y="3424766"/>
          <a:ext cx="6674352" cy="3534027"/>
        </p:xfrm>
        <a:graphic>
          <a:graphicData uri="http://schemas.openxmlformats.org/drawingml/2006/table">
            <a:tbl>
              <a:tblPr/>
              <a:tblGrid>
                <a:gridCol w="2224784">
                  <a:extLst>
                    <a:ext uri="{9D8B030D-6E8A-4147-A177-3AD203B41FA5}">
                      <a16:colId xmlns:a16="http://schemas.microsoft.com/office/drawing/2014/main" val="2076417602"/>
                    </a:ext>
                  </a:extLst>
                </a:gridCol>
                <a:gridCol w="2224784">
                  <a:extLst>
                    <a:ext uri="{9D8B030D-6E8A-4147-A177-3AD203B41FA5}">
                      <a16:colId xmlns:a16="http://schemas.microsoft.com/office/drawing/2014/main" val="2312488283"/>
                    </a:ext>
                  </a:extLst>
                </a:gridCol>
                <a:gridCol w="2224784">
                  <a:extLst>
                    <a:ext uri="{9D8B030D-6E8A-4147-A177-3AD203B41FA5}">
                      <a16:colId xmlns:a16="http://schemas.microsoft.com/office/drawing/2014/main" val="2129830141"/>
                    </a:ext>
                  </a:extLst>
                </a:gridCol>
              </a:tblGrid>
              <a:tr h="1281084">
                <a:tc>
                  <a:txBody>
                    <a:bodyPr/>
                    <a:lstStyle/>
                    <a:p>
                      <a:pPr fontAlgn="t">
                        <a:buNone/>
                      </a:pPr>
                      <a:br>
                        <a:rPr lang="en-GB" sz="2000" dirty="0">
                          <a:solidFill>
                            <a:srgbClr val="575453"/>
                          </a:solidFill>
                          <a:effectLst/>
                          <a:latin typeface="Barlow" pitchFamily="2" charset="77"/>
                        </a:rPr>
                      </a:b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Men (authors)</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Women (authors)</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0590616"/>
                  </a:ext>
                </a:extLst>
              </a:tr>
              <a:tr h="750981">
                <a:tc>
                  <a:txBody>
                    <a:bodyPr/>
                    <a:lstStyle/>
                    <a:p>
                      <a:pPr rtl="0" fontAlgn="t">
                        <a:buNone/>
                      </a:pPr>
                      <a:r>
                        <a:rPr lang="en-GB" sz="2000" b="0" i="0" u="none" strike="noStrike" dirty="0">
                          <a:solidFill>
                            <a:srgbClr val="575453"/>
                          </a:solidFill>
                          <a:effectLst/>
                          <a:latin typeface="Barlow" pitchFamily="2" charset="77"/>
                        </a:rPr>
                        <a:t>2018</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£32,377</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£21,585</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8784901"/>
                  </a:ext>
                </a:extLst>
              </a:tr>
              <a:tr h="750981">
                <a:tc>
                  <a:txBody>
                    <a:bodyPr/>
                    <a:lstStyle/>
                    <a:p>
                      <a:pPr rtl="0" fontAlgn="t">
                        <a:buNone/>
                      </a:pPr>
                      <a:r>
                        <a:rPr lang="en-GB" sz="2000" dirty="0">
                          <a:solidFill>
                            <a:srgbClr val="575453"/>
                          </a:solidFill>
                          <a:effectLst/>
                          <a:latin typeface="Barlow" pitchFamily="2" charset="77"/>
                        </a:rPr>
                        <a:t>2019</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£29,340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£18,441</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237543"/>
                  </a:ext>
                </a:extLst>
              </a:tr>
              <a:tr h="750981">
                <a:tc>
                  <a:txBody>
                    <a:bodyPr/>
                    <a:lstStyle/>
                    <a:p>
                      <a:pPr rtl="0" fontAlgn="t">
                        <a:buNone/>
                      </a:pPr>
                      <a:r>
                        <a:rPr lang="en-GB" sz="2000" b="0" i="0" u="none" strike="noStrike" dirty="0">
                          <a:solidFill>
                            <a:srgbClr val="575453"/>
                          </a:solidFill>
                          <a:effectLst/>
                          <a:latin typeface="Barlow" pitchFamily="2" charset="77"/>
                        </a:rPr>
                        <a:t>2020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£29,000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GB" sz="2000" b="0" i="0" u="none" strike="noStrike" dirty="0">
                          <a:solidFill>
                            <a:srgbClr val="575453"/>
                          </a:solidFill>
                          <a:effectLst/>
                          <a:latin typeface="Barlow" pitchFamily="2" charset="77"/>
                        </a:rPr>
                        <a:t>£17,000</a:t>
                      </a:r>
                      <a:endParaRPr lang="en-GB" sz="2000" dirty="0">
                        <a:solidFill>
                          <a:srgbClr val="575453"/>
                        </a:solidFill>
                        <a:effectLst/>
                        <a:latin typeface="Barlow" pitchFamily="2" charset="77"/>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2892951"/>
                  </a:ext>
                </a:extLst>
              </a:tr>
            </a:tbl>
          </a:graphicData>
        </a:graphic>
      </p:graphicFrame>
    </p:spTree>
    <p:extLst>
      <p:ext uri="{BB962C8B-B14F-4D97-AF65-F5344CB8AC3E}">
        <p14:creationId xmlns:p14="http://schemas.microsoft.com/office/powerpoint/2010/main" val="524333284"/>
      </p:ext>
    </p:extLst>
  </p:cSld>
  <p:clrMapOvr>
    <a:masterClrMapping/>
  </p:clrMapOvr>
  <p:transition spd="med" advTm="222639"/>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96EE-0AD7-4C2A-E17C-E9955764C74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49E0F8E-BB3E-1489-5492-47072E397D21}"/>
              </a:ext>
            </a:extLst>
          </p:cNvPr>
          <p:cNvSpPr txBox="1"/>
          <p:nvPr/>
        </p:nvSpPr>
        <p:spPr>
          <a:xfrm>
            <a:off x="1006157" y="803966"/>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Policy implications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68A7141-AAD2-C22D-9463-056889EEFF94}"/>
              </a:ext>
            </a:extLst>
          </p:cNvPr>
          <p:cNvSpPr txBox="1"/>
          <p:nvPr/>
        </p:nvSpPr>
        <p:spPr>
          <a:xfrm>
            <a:off x="1006157" y="1850041"/>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F947D3D3-A349-C949-09C7-E00F00964090}"/>
              </a:ext>
            </a:extLst>
          </p:cNvPr>
          <p:cNvSpPr/>
          <p:nvPr/>
        </p:nvSpPr>
        <p:spPr>
          <a:xfrm>
            <a:off x="1006157" y="2020889"/>
            <a:ext cx="14862995" cy="255454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Sustainability of the writing profession (who can afford to participate)</a:t>
            </a:r>
          </a:p>
          <a:p>
            <a:pPr marL="457200" indent="-457200" algn="just">
              <a:buFont typeface="Arial" panose="020B0604020202020204" pitchFamily="34" charset="0"/>
              <a:buChar char="•"/>
            </a:pPr>
            <a:r>
              <a:rPr lang="en-GB" sz="3200" b="0" dirty="0">
                <a:solidFill>
                  <a:schemeClr val="tx2"/>
                </a:solidFill>
                <a:latin typeface="Barlow" pitchFamily="2" charset="77"/>
              </a:rPr>
              <a:t>Diversity of cultural production (who gets to participate)</a:t>
            </a:r>
          </a:p>
          <a:p>
            <a:pPr algn="just"/>
            <a:endParaRPr lang="en-GB" sz="3200" b="0" dirty="0">
              <a:solidFill>
                <a:schemeClr val="tx2"/>
              </a:solidFill>
              <a:latin typeface="Barlow" pitchFamily="2" charset="77"/>
            </a:endParaRPr>
          </a:p>
          <a:p>
            <a:pPr algn="just"/>
            <a:r>
              <a:rPr lang="en-GB" sz="3200" b="0" i="1" dirty="0">
                <a:solidFill>
                  <a:schemeClr val="tx2"/>
                </a:solidFill>
                <a:latin typeface="Barlow" pitchFamily="2" charset="77"/>
              </a:rPr>
              <a:t>Based on the findings of this report, what policy solutions, if any, would you propose to help creators? </a:t>
            </a:r>
          </a:p>
        </p:txBody>
      </p:sp>
    </p:spTree>
    <p:extLst>
      <p:ext uri="{BB962C8B-B14F-4D97-AF65-F5344CB8AC3E}">
        <p14:creationId xmlns:p14="http://schemas.microsoft.com/office/powerpoint/2010/main" val="878264405"/>
      </p:ext>
    </p:extLst>
  </p:cSld>
  <p:clrMapOvr>
    <a:masterClrMapping/>
  </p:clrMapOvr>
  <p:transition spd="med" advTm="222639"/>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56CF3-F0F1-992C-E015-856CD5C10E7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C236078-2D25-0EAE-7A84-13C18973A33B}"/>
              </a:ext>
            </a:extLst>
          </p:cNvPr>
          <p:cNvSpPr txBox="1"/>
          <p:nvPr/>
        </p:nvSpPr>
        <p:spPr>
          <a:xfrm>
            <a:off x="1006156" y="803966"/>
            <a:ext cx="12380059"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250F356-C77D-527B-F4C5-5E9E85B08BBB}"/>
              </a:ext>
            </a:extLst>
          </p:cNvPr>
          <p:cNvSpPr txBox="1"/>
          <p:nvPr/>
        </p:nvSpPr>
        <p:spPr>
          <a:xfrm>
            <a:off x="1006157" y="1850041"/>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5AB259F3-5513-1520-2981-2480AB5B582F}"/>
              </a:ext>
            </a:extLst>
          </p:cNvPr>
          <p:cNvSpPr/>
          <p:nvPr/>
        </p:nvSpPr>
        <p:spPr>
          <a:xfrm>
            <a:off x="1006157" y="2020889"/>
            <a:ext cx="15468033" cy="255454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Be aware that copyright is just </a:t>
            </a:r>
            <a:r>
              <a:rPr lang="en-GB" sz="3200" b="0" u="sng" dirty="0">
                <a:solidFill>
                  <a:schemeClr val="tx2"/>
                </a:solidFill>
                <a:latin typeface="Barlow" pitchFamily="2" charset="77"/>
              </a:rPr>
              <a:t>one way</a:t>
            </a:r>
            <a:r>
              <a:rPr lang="en-GB" sz="3200" b="0" dirty="0">
                <a:solidFill>
                  <a:schemeClr val="tx2"/>
                </a:solidFill>
                <a:latin typeface="Barlow" pitchFamily="2" charset="77"/>
              </a:rPr>
              <a:t> that creators can get paid</a:t>
            </a:r>
          </a:p>
          <a:p>
            <a:pPr marL="457200" indent="-457200" algn="just">
              <a:buFont typeface="Arial" panose="020B0604020202020204" pitchFamily="34" charset="0"/>
              <a:buChar char="•"/>
            </a:pPr>
            <a:r>
              <a:rPr lang="en-GB" sz="3200" b="0" dirty="0">
                <a:solidFill>
                  <a:schemeClr val="tx2"/>
                </a:solidFill>
                <a:latin typeface="Barlow" pitchFamily="2" charset="77"/>
              </a:rPr>
              <a:t>Creators are often the </a:t>
            </a:r>
            <a:r>
              <a:rPr lang="en-GB" sz="3200" b="0" u="sng" dirty="0">
                <a:solidFill>
                  <a:schemeClr val="tx2"/>
                </a:solidFill>
                <a:latin typeface="Barlow" pitchFamily="2" charset="77"/>
              </a:rPr>
              <a:t>less powerful party</a:t>
            </a:r>
            <a:r>
              <a:rPr lang="en-GB" sz="3200" b="0" dirty="0">
                <a:solidFill>
                  <a:schemeClr val="tx2"/>
                </a:solidFill>
                <a:latin typeface="Barlow" pitchFamily="2" charset="77"/>
              </a:rPr>
              <a:t> in contractual negotiations (and in the UK, there is little legal remedy/protection for this)</a:t>
            </a:r>
          </a:p>
          <a:p>
            <a:pPr marL="457200" indent="-457200" algn="just">
              <a:buFont typeface="Arial" panose="020B0604020202020204" pitchFamily="34" charset="0"/>
              <a:buChar char="•"/>
            </a:pPr>
            <a:r>
              <a:rPr lang="en-GB" sz="3200" b="0" dirty="0">
                <a:solidFill>
                  <a:schemeClr val="tx2"/>
                </a:solidFill>
                <a:latin typeface="Barlow" pitchFamily="2" charset="77"/>
              </a:rPr>
              <a:t>Creative industries are skewed: creators are often paid very little, but intermediaries are no less wealthy – </a:t>
            </a:r>
            <a:r>
              <a:rPr lang="en-GB" sz="3200" b="0" u="sng" dirty="0">
                <a:solidFill>
                  <a:schemeClr val="tx2"/>
                </a:solidFill>
                <a:latin typeface="Barlow" pitchFamily="2" charset="77"/>
              </a:rPr>
              <a:t>where is the money going</a:t>
            </a:r>
            <a:r>
              <a:rPr lang="en-GB" sz="3200" b="0" dirty="0">
                <a:solidFill>
                  <a:schemeClr val="tx2"/>
                </a:solidFill>
                <a:latin typeface="Barlow" pitchFamily="2" charset="77"/>
              </a:rPr>
              <a:t>?</a:t>
            </a:r>
          </a:p>
        </p:txBody>
      </p:sp>
    </p:spTree>
    <p:extLst>
      <p:ext uri="{BB962C8B-B14F-4D97-AF65-F5344CB8AC3E}">
        <p14:creationId xmlns:p14="http://schemas.microsoft.com/office/powerpoint/2010/main" val="1961209480"/>
      </p:ext>
    </p:extLst>
  </p:cSld>
  <p:clrMapOvr>
    <a:masterClrMapping/>
  </p:clrMapOvr>
  <p:transition spd="med" advTm="222639"/>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A81B-47C5-F7F2-B1A9-D0DAD113ADB3}"/>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5B4D1CB-DACD-9FBB-D816-E86BD1934B36}"/>
              </a:ext>
            </a:extLst>
          </p:cNvPr>
          <p:cNvSpPr txBox="1"/>
          <p:nvPr/>
        </p:nvSpPr>
        <p:spPr>
          <a:xfrm>
            <a:off x="1028458" y="730197"/>
            <a:ext cx="1463064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Side note: Remuneration without contract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8854B25-4E7D-AF23-4A9D-C3203B078A86}"/>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0DAAC394-9B9A-2837-63A3-06E4EC03D840}"/>
              </a:ext>
            </a:extLst>
          </p:cNvPr>
          <p:cNvSpPr/>
          <p:nvPr/>
        </p:nvSpPr>
        <p:spPr>
          <a:xfrm>
            <a:off x="1028459" y="1947120"/>
            <a:ext cx="14862995" cy="3539430"/>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Just because something isn’t protected doesn’t mean people can’t make money (bundle it in a contract and sell it anyway):</a:t>
            </a: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Image rights (</a:t>
            </a:r>
            <a:r>
              <a:rPr lang="en-GB" sz="3200" b="0" i="1" dirty="0">
                <a:solidFill>
                  <a:schemeClr val="tx2"/>
                </a:solidFill>
                <a:latin typeface="Barlow" pitchFamily="2" charset="77"/>
              </a:rPr>
              <a:t>Proactive Sports Management v Rooney</a:t>
            </a:r>
            <a:r>
              <a:rPr lang="en-GB" sz="3200" b="0" dirty="0">
                <a:solidFill>
                  <a:schemeClr val="tx2"/>
                </a:solidFill>
                <a:latin typeface="Barlow" pitchFamily="2" charset="77"/>
              </a:rPr>
              <a:t>): “</a:t>
            </a:r>
            <a:r>
              <a:rPr lang="en-GB" sz="3200" dirty="0">
                <a:solidFill>
                  <a:schemeClr val="tx2"/>
                </a:solidFill>
                <a:latin typeface="Barlow" pitchFamily="2" charset="77"/>
              </a:rPr>
              <a:t>image rights should be fully realisable for this economic purpose</a:t>
            </a:r>
            <a:r>
              <a:rPr lang="en-GB" sz="3200" b="0" dirty="0">
                <a:solidFill>
                  <a:schemeClr val="tx2"/>
                </a:solidFill>
                <a:latin typeface="Barlow" pitchFamily="2" charset="77"/>
              </a:rPr>
              <a:t>” (restraint of trade)</a:t>
            </a:r>
          </a:p>
          <a:p>
            <a:pPr marL="457200" indent="-457200" algn="just">
              <a:buFont typeface="Arial" panose="020B0604020202020204" pitchFamily="34" charset="0"/>
              <a:buChar char="•"/>
            </a:pPr>
            <a:r>
              <a:rPr lang="en-GB" sz="3200" b="0" dirty="0">
                <a:solidFill>
                  <a:schemeClr val="tx2"/>
                </a:solidFill>
                <a:latin typeface="Barlow" pitchFamily="2" charset="77"/>
              </a:rPr>
              <a:t>IP ‘</a:t>
            </a:r>
            <a:r>
              <a:rPr lang="en-GB" sz="3200" dirty="0">
                <a:solidFill>
                  <a:schemeClr val="tx2"/>
                </a:solidFill>
                <a:latin typeface="Barlow" pitchFamily="2" charset="77"/>
              </a:rPr>
              <a:t>negative spaces</a:t>
            </a:r>
            <a:r>
              <a:rPr lang="en-GB" sz="3200" b="0" dirty="0">
                <a:solidFill>
                  <a:schemeClr val="tx2"/>
                </a:solidFill>
                <a:latin typeface="Barlow" pitchFamily="2" charset="77"/>
              </a:rPr>
              <a:t>’ – creative areas where formalised IP protection is either impossible or actively harmful: see fashion, TV formats etc.</a:t>
            </a:r>
          </a:p>
        </p:txBody>
      </p:sp>
    </p:spTree>
    <p:extLst>
      <p:ext uri="{BB962C8B-B14F-4D97-AF65-F5344CB8AC3E}">
        <p14:creationId xmlns:p14="http://schemas.microsoft.com/office/powerpoint/2010/main" val="3334836835"/>
      </p:ext>
    </p:extLst>
  </p:cSld>
  <p:clrMapOvr>
    <a:masterClrMapping/>
  </p:clrMapOvr>
  <p:transition spd="med" advTm="222639"/>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69C7-2F04-96E0-47C2-A736BEB9A31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7359696-A6AB-5833-0831-AFAA4B29D0E0}"/>
              </a:ext>
            </a:extLst>
          </p:cNvPr>
          <p:cNvSpPr txBox="1"/>
          <p:nvPr/>
        </p:nvSpPr>
        <p:spPr>
          <a:xfrm>
            <a:off x="1028459" y="730197"/>
            <a:ext cx="1190695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Side note: Freedom to contract away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785D036-5CBE-D021-3767-9A7424F58588}"/>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EB451641-B05C-DD27-8200-6C6E92C472C6}"/>
              </a:ext>
            </a:extLst>
          </p:cNvPr>
          <p:cNvSpPr/>
          <p:nvPr/>
        </p:nvSpPr>
        <p:spPr>
          <a:xfrm>
            <a:off x="1028459" y="1947120"/>
            <a:ext cx="14862995" cy="3046988"/>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And sometimes rights protection/seeking money would negatively impact the activity</a:t>
            </a:r>
          </a:p>
          <a:p>
            <a:pPr marL="457200" indent="-457200" algn="just">
              <a:buFont typeface="Arial" panose="020B0604020202020204" pitchFamily="34" charset="0"/>
              <a:buChar char="•"/>
            </a:pPr>
            <a:r>
              <a:rPr lang="en-GB" sz="3200" b="0" dirty="0">
                <a:solidFill>
                  <a:schemeClr val="tx2"/>
                </a:solidFill>
                <a:latin typeface="Barlow" pitchFamily="2" charset="77"/>
              </a:rPr>
              <a:t>Freedom of contract means you can also choose to ‘freely’ give it away</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i="1" dirty="0">
                <a:solidFill>
                  <a:schemeClr val="tx2"/>
                </a:solidFill>
                <a:latin typeface="Barlow" pitchFamily="2" charset="77"/>
              </a:rPr>
              <a:t>Are there any property rights in Wikipedia?</a:t>
            </a:r>
          </a:p>
          <a:p>
            <a:pPr marL="457200" indent="-457200" algn="just">
              <a:buFont typeface="Arial" panose="020B0604020202020204" pitchFamily="34" charset="0"/>
              <a:buChar char="•"/>
            </a:pPr>
            <a:r>
              <a:rPr lang="en-GB" sz="3200" b="0" i="1" dirty="0">
                <a:solidFill>
                  <a:schemeClr val="tx2"/>
                </a:solidFill>
                <a:latin typeface="Barlow" pitchFamily="2" charset="77"/>
              </a:rPr>
              <a:t>Why isn’t Wikipedia monetised?</a:t>
            </a:r>
          </a:p>
        </p:txBody>
      </p:sp>
    </p:spTree>
    <p:extLst>
      <p:ext uri="{BB962C8B-B14F-4D97-AF65-F5344CB8AC3E}">
        <p14:creationId xmlns:p14="http://schemas.microsoft.com/office/powerpoint/2010/main" val="2442572190"/>
      </p:ext>
    </p:extLst>
  </p:cSld>
  <p:clrMapOvr>
    <a:masterClrMapping/>
  </p:clrMapOvr>
  <p:transition spd="med" advTm="222639"/>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C1010-9AF8-9DE0-9957-88BFA8672C5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5EA7726-AB44-8D0E-A85F-97B71BC3511E}"/>
              </a:ext>
            </a:extLst>
          </p:cNvPr>
          <p:cNvSpPr txBox="1"/>
          <p:nvPr/>
        </p:nvSpPr>
        <p:spPr>
          <a:xfrm>
            <a:off x="1028459" y="730197"/>
            <a:ext cx="1190695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Side note: Freedom to contract away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F3AF60F-2EC8-0490-F399-C7935954C002}"/>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5802D1B-F1FF-932C-E41D-25F0135384C4}"/>
              </a:ext>
            </a:extLst>
          </p:cNvPr>
          <p:cNvSpPr/>
          <p:nvPr/>
        </p:nvSpPr>
        <p:spPr>
          <a:xfrm>
            <a:off x="1028459" y="1947120"/>
            <a:ext cx="14862995" cy="5509200"/>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There are definitely property rights: in the underlying </a:t>
            </a:r>
            <a:r>
              <a:rPr lang="en-GB" sz="3200" dirty="0">
                <a:solidFill>
                  <a:schemeClr val="tx2"/>
                </a:solidFill>
                <a:latin typeface="Barlow" pitchFamily="2" charset="77"/>
              </a:rPr>
              <a:t>literary work </a:t>
            </a:r>
            <a:r>
              <a:rPr lang="en-GB" sz="3200" b="0" dirty="0">
                <a:solidFill>
                  <a:schemeClr val="tx2"/>
                </a:solidFill>
                <a:latin typeface="Barlow" pitchFamily="2" charset="77"/>
              </a:rPr>
              <a:t>(the text itself), </a:t>
            </a:r>
            <a:r>
              <a:rPr lang="en-GB" sz="3200" dirty="0">
                <a:solidFill>
                  <a:schemeClr val="tx2"/>
                </a:solidFill>
                <a:latin typeface="Barlow" pitchFamily="2" charset="77"/>
              </a:rPr>
              <a:t>artistic works </a:t>
            </a:r>
            <a:r>
              <a:rPr lang="en-GB" sz="3200" b="0" dirty="0">
                <a:solidFill>
                  <a:schemeClr val="tx2"/>
                </a:solidFill>
                <a:latin typeface="Barlow" pitchFamily="2" charset="77"/>
              </a:rPr>
              <a:t>(graphics, visuals) and structure of </a:t>
            </a:r>
            <a:r>
              <a:rPr lang="en-GB" sz="3200" dirty="0">
                <a:solidFill>
                  <a:schemeClr val="tx2"/>
                </a:solidFill>
                <a:latin typeface="Barlow" pitchFamily="2" charset="77"/>
              </a:rPr>
              <a:t>the database </a:t>
            </a:r>
            <a:r>
              <a:rPr lang="en-GB" sz="3200" b="0" dirty="0">
                <a:solidFill>
                  <a:schemeClr val="tx2"/>
                </a:solidFill>
                <a:latin typeface="Barlow" pitchFamily="2" charset="77"/>
              </a:rPr>
              <a:t>itself</a:t>
            </a:r>
          </a:p>
          <a:p>
            <a:pPr algn="just"/>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An ‘</a:t>
            </a:r>
            <a:r>
              <a:rPr lang="en-GB" sz="3200" dirty="0">
                <a:solidFill>
                  <a:schemeClr val="tx2"/>
                </a:solidFill>
                <a:latin typeface="Barlow" pitchFamily="2" charset="77"/>
              </a:rPr>
              <a:t>open</a:t>
            </a:r>
            <a:r>
              <a:rPr lang="en-GB" sz="3200" b="0" dirty="0">
                <a:solidFill>
                  <a:schemeClr val="tx2"/>
                </a:solidFill>
                <a:latin typeface="Barlow" pitchFamily="2" charset="77"/>
              </a:rPr>
              <a:t>’ philosophy or opposition to treating knowledge as proprietary</a:t>
            </a:r>
          </a:p>
          <a:p>
            <a:pPr marL="457200" indent="-457200" algn="just">
              <a:buFont typeface="Arial" panose="020B0604020202020204" pitchFamily="34" charset="0"/>
              <a:buChar char="•"/>
            </a:pPr>
            <a:r>
              <a:rPr lang="en-GB" sz="3200" dirty="0">
                <a:solidFill>
                  <a:schemeClr val="tx2"/>
                </a:solidFill>
                <a:latin typeface="Barlow" pitchFamily="2" charset="77"/>
              </a:rPr>
              <a:t>Practical</a:t>
            </a:r>
            <a:r>
              <a:rPr lang="en-GB" sz="3200" b="0" dirty="0">
                <a:solidFill>
                  <a:schemeClr val="tx2"/>
                </a:solidFill>
                <a:latin typeface="Barlow" pitchFamily="2" charset="77"/>
              </a:rPr>
              <a:t> considerations: how to attribute collaborators? What if someone wants to withdraw their contribution? How do we manage rights simultaneously across jurisdictions?</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Take a look at this paper: </a:t>
            </a:r>
            <a:r>
              <a:rPr lang="en-GB" sz="3200" b="0" dirty="0">
                <a:solidFill>
                  <a:schemeClr val="tx2"/>
                </a:solidFill>
                <a:latin typeface="Barlow" pitchFamily="2" charset="77"/>
                <a:hlinkClick r:id="rId2">
                  <a:extLst>
                    <a:ext uri="{A12FA001-AC4F-418D-AE19-62706E023703}">
                      <ahyp:hlinkClr xmlns:ahyp="http://schemas.microsoft.com/office/drawing/2018/hyperlinkcolor" val="tx"/>
                    </a:ext>
                  </a:extLst>
                </a:hlinkClick>
              </a:rPr>
              <a:t>https://zenodo.org/records/16883055</a:t>
            </a:r>
            <a:r>
              <a:rPr lang="en-GB" sz="3200" b="0" dirty="0">
                <a:solidFill>
                  <a:schemeClr val="tx2"/>
                </a:solidFill>
                <a:latin typeface="Barlow" pitchFamily="2" charset="77"/>
              </a:rPr>
              <a:t> </a:t>
            </a:r>
          </a:p>
          <a:p>
            <a:pPr marL="457200" indent="-457200" algn="just">
              <a:buFont typeface="Arial" panose="020B0604020202020204" pitchFamily="34" charset="0"/>
              <a:buChar char="•"/>
            </a:pPr>
            <a:r>
              <a:rPr lang="en-GB" sz="3200" b="0" i="1" dirty="0">
                <a:solidFill>
                  <a:schemeClr val="tx2"/>
                </a:solidFill>
                <a:latin typeface="Barlow" pitchFamily="2" charset="77"/>
              </a:rPr>
              <a:t>What does the author let you do with their work? Do they have any conditions on how you can use it?</a:t>
            </a:r>
          </a:p>
        </p:txBody>
      </p:sp>
    </p:spTree>
    <p:extLst>
      <p:ext uri="{BB962C8B-B14F-4D97-AF65-F5344CB8AC3E}">
        <p14:creationId xmlns:p14="http://schemas.microsoft.com/office/powerpoint/2010/main" val="2990890804"/>
      </p:ext>
    </p:extLst>
  </p:cSld>
  <p:clrMapOvr>
    <a:masterClrMapping/>
  </p:clrMapOvr>
  <p:transition spd="med" advTm="222639"/>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C898-E58F-85F8-8F31-39F8CB8CDCD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232F88B-5CAE-6025-749C-80D1AA3417B7}"/>
              </a:ext>
            </a:extLst>
          </p:cNvPr>
          <p:cNvSpPr txBox="1"/>
          <p:nvPr/>
        </p:nvSpPr>
        <p:spPr>
          <a:xfrm>
            <a:off x="1028459" y="730197"/>
            <a:ext cx="1190695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Side note: Freedom to contract away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653267C-C830-02DC-DDED-CBE043CD0291}"/>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AFCD0849-2C9E-CF9C-2B98-A2AF0F435365}"/>
              </a:ext>
            </a:extLst>
          </p:cNvPr>
          <p:cNvSpPr/>
          <p:nvPr/>
        </p:nvSpPr>
        <p:spPr>
          <a:xfrm>
            <a:off x="1028459" y="1947120"/>
            <a:ext cx="8626529" cy="6494085"/>
          </a:xfrm>
          <a:prstGeom prst="rect">
            <a:avLst/>
          </a:prstGeom>
        </p:spPr>
        <p:txBody>
          <a:bodyPr wrap="square">
            <a:spAutoFit/>
          </a:bodyPr>
          <a:lstStyle/>
          <a:p>
            <a:pPr marL="457200" indent="-457200" algn="just">
              <a:buFont typeface="Arial" panose="020B0604020202020204" pitchFamily="34" charset="0"/>
              <a:buChar char="•"/>
            </a:pPr>
            <a:r>
              <a:rPr lang="en-GB" sz="3200" b="0" dirty="0">
                <a:solidFill>
                  <a:schemeClr val="tx2"/>
                </a:solidFill>
                <a:latin typeface="Barlow" pitchFamily="2" charset="77"/>
              </a:rPr>
              <a:t>‘Open’ licences give others permission to share, use, and build upon their work under specific conditions:</a:t>
            </a:r>
          </a:p>
          <a:p>
            <a:pPr marL="457200" indent="-457200" algn="just">
              <a:buFont typeface="Arial" panose="020B0604020202020204" pitchFamily="34" charset="0"/>
              <a:buChar char="•"/>
            </a:pPr>
            <a:r>
              <a:rPr lang="en-GB" sz="3200" b="0" dirty="0">
                <a:solidFill>
                  <a:schemeClr val="tx2"/>
                </a:solidFill>
                <a:latin typeface="Barlow" pitchFamily="2" charset="77"/>
              </a:rPr>
              <a:t>Creative Commons: Attribution (BY), </a:t>
            </a:r>
            <a:r>
              <a:rPr lang="en-GB" sz="3200" b="0" dirty="0" err="1">
                <a:solidFill>
                  <a:schemeClr val="tx2"/>
                </a:solidFill>
                <a:latin typeface="Barlow" pitchFamily="2" charset="77"/>
              </a:rPr>
              <a:t>ShareAlike</a:t>
            </a:r>
            <a:r>
              <a:rPr lang="en-GB" sz="3200" b="0" dirty="0">
                <a:solidFill>
                  <a:schemeClr val="tx2"/>
                </a:solidFill>
                <a:latin typeface="Barlow" pitchFamily="2" charset="77"/>
              </a:rPr>
              <a:t> (SA), </a:t>
            </a:r>
            <a:r>
              <a:rPr lang="en-GB" sz="3200" b="0" dirty="0" err="1">
                <a:solidFill>
                  <a:schemeClr val="tx2"/>
                </a:solidFill>
                <a:latin typeface="Barlow" pitchFamily="2" charset="77"/>
              </a:rPr>
              <a:t>NoDerivatives</a:t>
            </a:r>
            <a:r>
              <a:rPr lang="en-GB" sz="3200" b="0" dirty="0">
                <a:solidFill>
                  <a:schemeClr val="tx2"/>
                </a:solidFill>
                <a:latin typeface="Barlow" pitchFamily="2" charset="77"/>
              </a:rPr>
              <a:t> (ND), and </a:t>
            </a:r>
            <a:r>
              <a:rPr lang="en-GB" sz="3200" b="0" dirty="0" err="1">
                <a:solidFill>
                  <a:schemeClr val="tx2"/>
                </a:solidFill>
                <a:latin typeface="Barlow" pitchFamily="2" charset="77"/>
              </a:rPr>
              <a:t>NonCommercial</a:t>
            </a:r>
            <a:r>
              <a:rPr lang="en-GB" sz="3200" b="0" dirty="0">
                <a:solidFill>
                  <a:schemeClr val="tx2"/>
                </a:solidFill>
                <a:latin typeface="Barlow" pitchFamily="2" charset="77"/>
              </a:rPr>
              <a:t> (NC), Zero (0)</a:t>
            </a:r>
          </a:p>
          <a:p>
            <a:pPr marL="457200" indent="-457200" algn="just">
              <a:buFont typeface="Arial" panose="020B0604020202020204" pitchFamily="34" charset="0"/>
              <a:buChar char="•"/>
            </a:pPr>
            <a:r>
              <a:rPr lang="en-GB" sz="3200" b="0" dirty="0">
                <a:solidFill>
                  <a:schemeClr val="tx2"/>
                </a:solidFill>
                <a:latin typeface="Barlow" pitchFamily="2" charset="77"/>
              </a:rPr>
              <a:t>Open Software – e.g., General Public Licence (GNU)</a:t>
            </a:r>
          </a:p>
          <a:p>
            <a:pPr marL="457200" indent="-457200" algn="just">
              <a:buFont typeface="Arial" panose="020B0604020202020204" pitchFamily="34" charset="0"/>
              <a:buChar char="•"/>
            </a:pPr>
            <a:endParaRPr lang="en-GB" sz="3200" b="0" dirty="0">
              <a:solidFill>
                <a:schemeClr val="tx2"/>
              </a:solidFill>
              <a:latin typeface="Barlow" pitchFamily="2" charset="77"/>
            </a:endParaRPr>
          </a:p>
          <a:p>
            <a:pPr marL="457200" indent="-457200" algn="just">
              <a:buFont typeface="Arial" panose="020B0604020202020204" pitchFamily="34" charset="0"/>
              <a:buChar char="•"/>
            </a:pPr>
            <a:r>
              <a:rPr lang="en-GB" sz="3200" b="0" dirty="0">
                <a:solidFill>
                  <a:schemeClr val="tx2"/>
                </a:solidFill>
                <a:latin typeface="Barlow" pitchFamily="2" charset="77"/>
              </a:rPr>
              <a:t>Freedom to contract also means you can agree to be more liberal than the default copyright regime – consider e.g., unwaivable moral rights</a:t>
            </a:r>
          </a:p>
        </p:txBody>
      </p:sp>
      <p:pic>
        <p:nvPicPr>
          <p:cNvPr id="2" name="Picture 2" descr="elated image">
            <a:extLst>
              <a:ext uri="{FF2B5EF4-FFF2-40B4-BE49-F238E27FC236}">
                <a16:creationId xmlns:a16="http://schemas.microsoft.com/office/drawing/2014/main" id="{6E1A8AA4-F91D-6899-F5D0-CDC0982F2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0917" y="1965125"/>
            <a:ext cx="6717032" cy="671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841428"/>
      </p:ext>
    </p:extLst>
  </p:cSld>
  <p:clrMapOvr>
    <a:masterClrMapping/>
  </p:clrMapOvr>
  <p:transition spd="med" advTm="222639"/>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162334" y="759362"/>
            <a:ext cx="1044140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Next week</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162334" y="1976285"/>
            <a:ext cx="15283344" cy="3572260"/>
          </a:xfrm>
          <a:prstGeom prst="rect">
            <a:avLst/>
          </a:prstGeom>
        </p:spPr>
        <p:txBody>
          <a:bodyPr wrap="square">
            <a:spAutoFit/>
          </a:bodyPr>
          <a:lstStyle/>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Office hours: please email me to arrange a time: </a:t>
            </a:r>
            <a:r>
              <a:rPr lang="en-GB" sz="3200" dirty="0" err="1">
                <a:solidFill>
                  <a:schemeClr val="tx2"/>
                </a:solidFill>
                <a:latin typeface="Barlow" pitchFamily="2" charset="77"/>
              </a:rPr>
              <a:t>amy.thomas@glasgow.ac.uk</a:t>
            </a:r>
            <a:endParaRPr lang="en-GB" sz="3200" dirty="0">
              <a:solidFill>
                <a:schemeClr val="tx2"/>
              </a:solidFill>
              <a:latin typeface="Barlow" pitchFamily="2" charset="77"/>
            </a:endParaRP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Next session: Essay preparation/revision (25 March)</a:t>
            </a: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Please send any specific/technical questions you would like me to consider no later than </a:t>
            </a:r>
            <a:r>
              <a:rPr lang="en-GB" sz="3200" u="sng" dirty="0">
                <a:solidFill>
                  <a:schemeClr val="tx2"/>
                </a:solidFill>
                <a:latin typeface="Barlow" pitchFamily="2" charset="77"/>
              </a:rPr>
              <a:t>Tuesday 25 March 12 noon</a:t>
            </a: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Note: ahead of the revision session, you will receive feedback for your formative assessments</a:t>
            </a:r>
          </a:p>
        </p:txBody>
      </p:sp>
    </p:spTree>
    <p:extLst>
      <p:ext uri="{BB962C8B-B14F-4D97-AF65-F5344CB8AC3E}">
        <p14:creationId xmlns:p14="http://schemas.microsoft.com/office/powerpoint/2010/main" val="2832927906"/>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6241</TotalTime>
  <Words>2531</Words>
  <Application>Microsoft Macintosh PowerPoint</Application>
  <PresentationFormat>Custom</PresentationFormat>
  <Paragraphs>282</Paragraphs>
  <Slides>35</Slides>
  <Notes>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Barlow</vt:lpstr>
      <vt:lpstr>Helvetica Neue</vt:lpstr>
      <vt:lpstr>Helvetica Neue Light</vt:lpstr>
      <vt:lpstr>Helvetica Neue Medium</vt:lpstr>
      <vt:lpstr>Lato</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124</cp:revision>
  <dcterms:created xsi:type="dcterms:W3CDTF">2020-07-21T13:40:18Z</dcterms:created>
  <dcterms:modified xsi:type="dcterms:W3CDTF">2026-03-17T13:13:41Z</dcterms:modified>
</cp:coreProperties>
</file>