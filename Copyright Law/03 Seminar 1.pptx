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74" r:id="rId3"/>
    <p:sldId id="307" r:id="rId4"/>
    <p:sldId id="310" r:id="rId5"/>
    <p:sldId id="308" r:id="rId6"/>
    <p:sldId id="309" r:id="rId7"/>
    <p:sldId id="316" r:id="rId8"/>
    <p:sldId id="311" r:id="rId9"/>
    <p:sldId id="317" r:id="rId10"/>
    <p:sldId id="312" r:id="rId11"/>
    <p:sldId id="313" r:id="rId12"/>
    <p:sldId id="327" r:id="rId13"/>
    <p:sldId id="314" r:id="rId14"/>
    <p:sldId id="324" r:id="rId15"/>
    <p:sldId id="325" r:id="rId16"/>
    <p:sldId id="328" r:id="rId17"/>
    <p:sldId id="329" r:id="rId18"/>
    <p:sldId id="320" r:id="rId19"/>
    <p:sldId id="318" r:id="rId20"/>
    <p:sldId id="326" r:id="rId21"/>
    <p:sldId id="319" r:id="rId22"/>
    <p:sldId id="321" r:id="rId23"/>
    <p:sldId id="330" r:id="rId24"/>
    <p:sldId id="315" r:id="rId25"/>
    <p:sldId id="322" r:id="rId26"/>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803" autoAdjust="0"/>
    <p:restoredTop sz="94564"/>
  </p:normalViewPr>
  <p:slideViewPr>
    <p:cSldViewPr snapToGrid="0" snapToObjects="1">
      <p:cViewPr varScale="1">
        <p:scale>
          <a:sx n="40" d="100"/>
          <a:sy n="40" d="100"/>
        </p:scale>
        <p:origin x="248" y="174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B4E11E-A1E5-C042-8A7A-74FD82F13D97}" type="doc">
      <dgm:prSet loTypeId="urn:microsoft.com/office/officeart/2005/8/layout/chevron1" loCatId="" qsTypeId="urn:microsoft.com/office/officeart/2005/8/quickstyle/simple1" qsCatId="simple" csTypeId="urn:microsoft.com/office/officeart/2005/8/colors/accent1_2" csCatId="accent1" phldr="1"/>
      <dgm:spPr/>
    </dgm:pt>
    <dgm:pt modelId="{E6A2BBD0-0E0D-0145-B924-986F524EF2DE}">
      <dgm:prSet phldrT="[Text]"/>
      <dgm:spPr>
        <a:solidFill>
          <a:schemeClr val="accent5"/>
        </a:solidFill>
      </dgm:spPr>
      <dgm:t>
        <a:bodyPr/>
        <a:lstStyle/>
        <a:p>
          <a:r>
            <a:rPr lang="en-GB" dirty="0">
              <a:latin typeface="Barlow" pitchFamily="2" charset="77"/>
            </a:rPr>
            <a:t>Maximalist</a:t>
          </a:r>
        </a:p>
      </dgm:t>
    </dgm:pt>
    <dgm:pt modelId="{CA66F179-A51E-D74B-8C5B-AA76652EEC98}" type="parTrans" cxnId="{473FAAC7-366F-7D4E-BC60-4D66E387060D}">
      <dgm:prSet/>
      <dgm:spPr/>
      <dgm:t>
        <a:bodyPr/>
        <a:lstStyle/>
        <a:p>
          <a:endParaRPr lang="en-GB"/>
        </a:p>
      </dgm:t>
    </dgm:pt>
    <dgm:pt modelId="{10B88B71-2A47-8B4B-A368-97CE44BAA28A}" type="sibTrans" cxnId="{473FAAC7-366F-7D4E-BC60-4D66E387060D}">
      <dgm:prSet/>
      <dgm:spPr/>
      <dgm:t>
        <a:bodyPr/>
        <a:lstStyle/>
        <a:p>
          <a:endParaRPr lang="en-GB"/>
        </a:p>
      </dgm:t>
    </dgm:pt>
    <dgm:pt modelId="{1234F00D-D3A2-6646-8C1C-009652837013}">
      <dgm:prSet phldrT="[Text]"/>
      <dgm:spPr>
        <a:solidFill>
          <a:schemeClr val="accent5"/>
        </a:solidFill>
      </dgm:spPr>
      <dgm:t>
        <a:bodyPr/>
        <a:lstStyle/>
        <a:p>
          <a:r>
            <a:rPr lang="en-GB" dirty="0">
              <a:latin typeface="Barlow" pitchFamily="2" charset="77"/>
            </a:rPr>
            <a:t>Minimalist</a:t>
          </a:r>
        </a:p>
      </dgm:t>
    </dgm:pt>
    <dgm:pt modelId="{4717FD8F-1CE4-F545-B5E6-A34C6E882F5E}" type="parTrans" cxnId="{2F813DF6-0797-EE41-B505-4DDD97DFC893}">
      <dgm:prSet/>
      <dgm:spPr/>
      <dgm:t>
        <a:bodyPr/>
        <a:lstStyle/>
        <a:p>
          <a:endParaRPr lang="en-GB"/>
        </a:p>
      </dgm:t>
    </dgm:pt>
    <dgm:pt modelId="{469229E2-727E-114E-9CC3-5FCAA0BAB0DF}" type="sibTrans" cxnId="{2F813DF6-0797-EE41-B505-4DDD97DFC893}">
      <dgm:prSet/>
      <dgm:spPr/>
      <dgm:t>
        <a:bodyPr/>
        <a:lstStyle/>
        <a:p>
          <a:endParaRPr lang="en-GB"/>
        </a:p>
      </dgm:t>
    </dgm:pt>
    <dgm:pt modelId="{5AF5D51D-B2E8-674D-B4CC-B3D993372485}">
      <dgm:prSet phldrT="[Text]"/>
      <dgm:spPr>
        <a:solidFill>
          <a:schemeClr val="accent5"/>
        </a:solidFill>
      </dgm:spPr>
      <dgm:t>
        <a:bodyPr/>
        <a:lstStyle/>
        <a:p>
          <a:r>
            <a:rPr lang="en-GB" dirty="0">
              <a:latin typeface="Barlow" pitchFamily="2" charset="77"/>
            </a:rPr>
            <a:t>Abolitionist</a:t>
          </a:r>
        </a:p>
      </dgm:t>
    </dgm:pt>
    <dgm:pt modelId="{A6092559-E047-4E44-81DF-AD76ABA7972B}" type="parTrans" cxnId="{E9F5F481-9DBF-BC45-A710-B71B5BA2C814}">
      <dgm:prSet/>
      <dgm:spPr/>
      <dgm:t>
        <a:bodyPr/>
        <a:lstStyle/>
        <a:p>
          <a:endParaRPr lang="en-GB"/>
        </a:p>
      </dgm:t>
    </dgm:pt>
    <dgm:pt modelId="{FD66B352-799E-F442-9BED-FF2B39079D61}" type="sibTrans" cxnId="{E9F5F481-9DBF-BC45-A710-B71B5BA2C814}">
      <dgm:prSet/>
      <dgm:spPr/>
      <dgm:t>
        <a:bodyPr/>
        <a:lstStyle/>
        <a:p>
          <a:endParaRPr lang="en-GB"/>
        </a:p>
      </dgm:t>
    </dgm:pt>
    <dgm:pt modelId="{673F424E-E4A6-8240-95DB-EF2795948552}" type="pres">
      <dgm:prSet presAssocID="{2FB4E11E-A1E5-C042-8A7A-74FD82F13D97}" presName="Name0" presStyleCnt="0">
        <dgm:presLayoutVars>
          <dgm:dir/>
          <dgm:animLvl val="lvl"/>
          <dgm:resizeHandles val="exact"/>
        </dgm:presLayoutVars>
      </dgm:prSet>
      <dgm:spPr/>
    </dgm:pt>
    <dgm:pt modelId="{6455DEA9-96A2-DD43-B675-3C7EBC987B04}" type="pres">
      <dgm:prSet presAssocID="{E6A2BBD0-0E0D-0145-B924-986F524EF2DE}" presName="parTxOnly" presStyleLbl="node1" presStyleIdx="0" presStyleCnt="3">
        <dgm:presLayoutVars>
          <dgm:chMax val="0"/>
          <dgm:chPref val="0"/>
          <dgm:bulletEnabled val="1"/>
        </dgm:presLayoutVars>
      </dgm:prSet>
      <dgm:spPr/>
    </dgm:pt>
    <dgm:pt modelId="{0AB61723-1610-1F44-9CB9-0600CFE9562B}" type="pres">
      <dgm:prSet presAssocID="{10B88B71-2A47-8B4B-A368-97CE44BAA28A}" presName="parTxOnlySpace" presStyleCnt="0"/>
      <dgm:spPr/>
    </dgm:pt>
    <dgm:pt modelId="{00695260-EAE7-054D-954C-437E567EE683}" type="pres">
      <dgm:prSet presAssocID="{1234F00D-D3A2-6646-8C1C-009652837013}" presName="parTxOnly" presStyleLbl="node1" presStyleIdx="1" presStyleCnt="3">
        <dgm:presLayoutVars>
          <dgm:chMax val="0"/>
          <dgm:chPref val="0"/>
          <dgm:bulletEnabled val="1"/>
        </dgm:presLayoutVars>
      </dgm:prSet>
      <dgm:spPr/>
    </dgm:pt>
    <dgm:pt modelId="{2BC41D9E-ABEE-A04A-A7BB-09D565588555}" type="pres">
      <dgm:prSet presAssocID="{469229E2-727E-114E-9CC3-5FCAA0BAB0DF}" presName="parTxOnlySpace" presStyleCnt="0"/>
      <dgm:spPr/>
    </dgm:pt>
    <dgm:pt modelId="{1123952C-0872-EB42-ACC7-EB6B2219C4F7}" type="pres">
      <dgm:prSet presAssocID="{5AF5D51D-B2E8-674D-B4CC-B3D993372485}" presName="parTxOnly" presStyleLbl="node1" presStyleIdx="2" presStyleCnt="3">
        <dgm:presLayoutVars>
          <dgm:chMax val="0"/>
          <dgm:chPref val="0"/>
          <dgm:bulletEnabled val="1"/>
        </dgm:presLayoutVars>
      </dgm:prSet>
      <dgm:spPr/>
    </dgm:pt>
  </dgm:ptLst>
  <dgm:cxnLst>
    <dgm:cxn modelId="{5075D002-C240-0243-8BB8-5F479771E586}" type="presOf" srcId="{1234F00D-D3A2-6646-8C1C-009652837013}" destId="{00695260-EAE7-054D-954C-437E567EE683}" srcOrd="0" destOrd="0" presId="urn:microsoft.com/office/officeart/2005/8/layout/chevron1"/>
    <dgm:cxn modelId="{3EAB222B-8A99-E049-BF7A-0D2C65D84098}" type="presOf" srcId="{E6A2BBD0-0E0D-0145-B924-986F524EF2DE}" destId="{6455DEA9-96A2-DD43-B675-3C7EBC987B04}" srcOrd="0" destOrd="0" presId="urn:microsoft.com/office/officeart/2005/8/layout/chevron1"/>
    <dgm:cxn modelId="{BE7F0D70-E8D6-584F-96BF-BA42E7FAA3F7}" type="presOf" srcId="{2FB4E11E-A1E5-C042-8A7A-74FD82F13D97}" destId="{673F424E-E4A6-8240-95DB-EF2795948552}" srcOrd="0" destOrd="0" presId="urn:microsoft.com/office/officeart/2005/8/layout/chevron1"/>
    <dgm:cxn modelId="{E9F5F481-9DBF-BC45-A710-B71B5BA2C814}" srcId="{2FB4E11E-A1E5-C042-8A7A-74FD82F13D97}" destId="{5AF5D51D-B2E8-674D-B4CC-B3D993372485}" srcOrd="2" destOrd="0" parTransId="{A6092559-E047-4E44-81DF-AD76ABA7972B}" sibTransId="{FD66B352-799E-F442-9BED-FF2B39079D61}"/>
    <dgm:cxn modelId="{C6E01099-0604-8740-B43D-8D6DE41B1D20}" type="presOf" srcId="{5AF5D51D-B2E8-674D-B4CC-B3D993372485}" destId="{1123952C-0872-EB42-ACC7-EB6B2219C4F7}" srcOrd="0" destOrd="0" presId="urn:microsoft.com/office/officeart/2005/8/layout/chevron1"/>
    <dgm:cxn modelId="{473FAAC7-366F-7D4E-BC60-4D66E387060D}" srcId="{2FB4E11E-A1E5-C042-8A7A-74FD82F13D97}" destId="{E6A2BBD0-0E0D-0145-B924-986F524EF2DE}" srcOrd="0" destOrd="0" parTransId="{CA66F179-A51E-D74B-8C5B-AA76652EEC98}" sibTransId="{10B88B71-2A47-8B4B-A368-97CE44BAA28A}"/>
    <dgm:cxn modelId="{2F813DF6-0797-EE41-B505-4DDD97DFC893}" srcId="{2FB4E11E-A1E5-C042-8A7A-74FD82F13D97}" destId="{1234F00D-D3A2-6646-8C1C-009652837013}" srcOrd="1" destOrd="0" parTransId="{4717FD8F-1CE4-F545-B5E6-A34C6E882F5E}" sibTransId="{469229E2-727E-114E-9CC3-5FCAA0BAB0DF}"/>
    <dgm:cxn modelId="{ECA81CB9-0B66-A642-B134-300ADED75CFC}" type="presParOf" srcId="{673F424E-E4A6-8240-95DB-EF2795948552}" destId="{6455DEA9-96A2-DD43-B675-3C7EBC987B04}" srcOrd="0" destOrd="0" presId="urn:microsoft.com/office/officeart/2005/8/layout/chevron1"/>
    <dgm:cxn modelId="{01B5961B-2022-7143-A75B-0C4C50BB8089}" type="presParOf" srcId="{673F424E-E4A6-8240-95DB-EF2795948552}" destId="{0AB61723-1610-1F44-9CB9-0600CFE9562B}" srcOrd="1" destOrd="0" presId="urn:microsoft.com/office/officeart/2005/8/layout/chevron1"/>
    <dgm:cxn modelId="{2BB39AF0-01C7-BD4A-811B-F6B13D8C2DEC}" type="presParOf" srcId="{673F424E-E4A6-8240-95DB-EF2795948552}" destId="{00695260-EAE7-054D-954C-437E567EE683}" srcOrd="2" destOrd="0" presId="urn:microsoft.com/office/officeart/2005/8/layout/chevron1"/>
    <dgm:cxn modelId="{17015848-40F3-C741-9C3C-A071F61BAF21}" type="presParOf" srcId="{673F424E-E4A6-8240-95DB-EF2795948552}" destId="{2BC41D9E-ABEE-A04A-A7BB-09D565588555}" srcOrd="3" destOrd="0" presId="urn:microsoft.com/office/officeart/2005/8/layout/chevron1"/>
    <dgm:cxn modelId="{53BA164D-C83D-F146-9C08-97A9690B81E2}" type="presParOf" srcId="{673F424E-E4A6-8240-95DB-EF2795948552}" destId="{1123952C-0872-EB42-ACC7-EB6B2219C4F7}"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B4E11E-A1E5-C042-8A7A-74FD82F13D97}" type="doc">
      <dgm:prSet loTypeId="urn:microsoft.com/office/officeart/2005/8/layout/chevron1" loCatId="" qsTypeId="urn:microsoft.com/office/officeart/2005/8/quickstyle/simple1" qsCatId="simple" csTypeId="urn:microsoft.com/office/officeart/2005/8/colors/accent1_2" csCatId="accent1" phldr="1"/>
      <dgm:spPr/>
    </dgm:pt>
    <dgm:pt modelId="{E6A2BBD0-0E0D-0145-B924-986F524EF2DE}">
      <dgm:prSet phldrT="[Text]"/>
      <dgm:spPr>
        <a:solidFill>
          <a:schemeClr val="accent5"/>
        </a:solidFill>
      </dgm:spPr>
      <dgm:t>
        <a:bodyPr/>
        <a:lstStyle/>
        <a:p>
          <a:r>
            <a:rPr lang="en-GB" dirty="0">
              <a:latin typeface="Barlow" pitchFamily="2" charset="77"/>
            </a:rPr>
            <a:t>Maximalist</a:t>
          </a:r>
        </a:p>
      </dgm:t>
    </dgm:pt>
    <dgm:pt modelId="{CA66F179-A51E-D74B-8C5B-AA76652EEC98}" type="parTrans" cxnId="{473FAAC7-366F-7D4E-BC60-4D66E387060D}">
      <dgm:prSet/>
      <dgm:spPr/>
      <dgm:t>
        <a:bodyPr/>
        <a:lstStyle/>
        <a:p>
          <a:endParaRPr lang="en-GB"/>
        </a:p>
      </dgm:t>
    </dgm:pt>
    <dgm:pt modelId="{10B88B71-2A47-8B4B-A368-97CE44BAA28A}" type="sibTrans" cxnId="{473FAAC7-366F-7D4E-BC60-4D66E387060D}">
      <dgm:prSet/>
      <dgm:spPr/>
      <dgm:t>
        <a:bodyPr/>
        <a:lstStyle/>
        <a:p>
          <a:endParaRPr lang="en-GB"/>
        </a:p>
      </dgm:t>
    </dgm:pt>
    <dgm:pt modelId="{1234F00D-D3A2-6646-8C1C-009652837013}">
      <dgm:prSet phldrT="[Text]"/>
      <dgm:spPr>
        <a:solidFill>
          <a:schemeClr val="accent5"/>
        </a:solidFill>
      </dgm:spPr>
      <dgm:t>
        <a:bodyPr/>
        <a:lstStyle/>
        <a:p>
          <a:r>
            <a:rPr lang="en-GB" dirty="0">
              <a:latin typeface="Barlow" pitchFamily="2" charset="77"/>
            </a:rPr>
            <a:t>Minimalist</a:t>
          </a:r>
        </a:p>
      </dgm:t>
    </dgm:pt>
    <dgm:pt modelId="{4717FD8F-1CE4-F545-B5E6-A34C6E882F5E}" type="parTrans" cxnId="{2F813DF6-0797-EE41-B505-4DDD97DFC893}">
      <dgm:prSet/>
      <dgm:spPr/>
      <dgm:t>
        <a:bodyPr/>
        <a:lstStyle/>
        <a:p>
          <a:endParaRPr lang="en-GB"/>
        </a:p>
      </dgm:t>
    </dgm:pt>
    <dgm:pt modelId="{469229E2-727E-114E-9CC3-5FCAA0BAB0DF}" type="sibTrans" cxnId="{2F813DF6-0797-EE41-B505-4DDD97DFC893}">
      <dgm:prSet/>
      <dgm:spPr/>
      <dgm:t>
        <a:bodyPr/>
        <a:lstStyle/>
        <a:p>
          <a:endParaRPr lang="en-GB"/>
        </a:p>
      </dgm:t>
    </dgm:pt>
    <dgm:pt modelId="{5AF5D51D-B2E8-674D-B4CC-B3D993372485}">
      <dgm:prSet phldrT="[Text]"/>
      <dgm:spPr>
        <a:solidFill>
          <a:schemeClr val="accent5"/>
        </a:solidFill>
      </dgm:spPr>
      <dgm:t>
        <a:bodyPr/>
        <a:lstStyle/>
        <a:p>
          <a:r>
            <a:rPr lang="en-GB" dirty="0">
              <a:latin typeface="Barlow" pitchFamily="2" charset="77"/>
            </a:rPr>
            <a:t>Abolitionist</a:t>
          </a:r>
        </a:p>
      </dgm:t>
    </dgm:pt>
    <dgm:pt modelId="{A6092559-E047-4E44-81DF-AD76ABA7972B}" type="parTrans" cxnId="{E9F5F481-9DBF-BC45-A710-B71B5BA2C814}">
      <dgm:prSet/>
      <dgm:spPr/>
      <dgm:t>
        <a:bodyPr/>
        <a:lstStyle/>
        <a:p>
          <a:endParaRPr lang="en-GB"/>
        </a:p>
      </dgm:t>
    </dgm:pt>
    <dgm:pt modelId="{FD66B352-799E-F442-9BED-FF2B39079D61}" type="sibTrans" cxnId="{E9F5F481-9DBF-BC45-A710-B71B5BA2C814}">
      <dgm:prSet/>
      <dgm:spPr/>
      <dgm:t>
        <a:bodyPr/>
        <a:lstStyle/>
        <a:p>
          <a:endParaRPr lang="en-GB"/>
        </a:p>
      </dgm:t>
    </dgm:pt>
    <dgm:pt modelId="{673F424E-E4A6-8240-95DB-EF2795948552}" type="pres">
      <dgm:prSet presAssocID="{2FB4E11E-A1E5-C042-8A7A-74FD82F13D97}" presName="Name0" presStyleCnt="0">
        <dgm:presLayoutVars>
          <dgm:dir/>
          <dgm:animLvl val="lvl"/>
          <dgm:resizeHandles val="exact"/>
        </dgm:presLayoutVars>
      </dgm:prSet>
      <dgm:spPr/>
    </dgm:pt>
    <dgm:pt modelId="{6455DEA9-96A2-DD43-B675-3C7EBC987B04}" type="pres">
      <dgm:prSet presAssocID="{E6A2BBD0-0E0D-0145-B924-986F524EF2DE}" presName="parTxOnly" presStyleLbl="node1" presStyleIdx="0" presStyleCnt="3">
        <dgm:presLayoutVars>
          <dgm:chMax val="0"/>
          <dgm:chPref val="0"/>
          <dgm:bulletEnabled val="1"/>
        </dgm:presLayoutVars>
      </dgm:prSet>
      <dgm:spPr/>
    </dgm:pt>
    <dgm:pt modelId="{0AB61723-1610-1F44-9CB9-0600CFE9562B}" type="pres">
      <dgm:prSet presAssocID="{10B88B71-2A47-8B4B-A368-97CE44BAA28A}" presName="parTxOnlySpace" presStyleCnt="0"/>
      <dgm:spPr/>
    </dgm:pt>
    <dgm:pt modelId="{00695260-EAE7-054D-954C-437E567EE683}" type="pres">
      <dgm:prSet presAssocID="{1234F00D-D3A2-6646-8C1C-009652837013}" presName="parTxOnly" presStyleLbl="node1" presStyleIdx="1" presStyleCnt="3">
        <dgm:presLayoutVars>
          <dgm:chMax val="0"/>
          <dgm:chPref val="0"/>
          <dgm:bulletEnabled val="1"/>
        </dgm:presLayoutVars>
      </dgm:prSet>
      <dgm:spPr/>
    </dgm:pt>
    <dgm:pt modelId="{2BC41D9E-ABEE-A04A-A7BB-09D565588555}" type="pres">
      <dgm:prSet presAssocID="{469229E2-727E-114E-9CC3-5FCAA0BAB0DF}" presName="parTxOnlySpace" presStyleCnt="0"/>
      <dgm:spPr/>
    </dgm:pt>
    <dgm:pt modelId="{1123952C-0872-EB42-ACC7-EB6B2219C4F7}" type="pres">
      <dgm:prSet presAssocID="{5AF5D51D-B2E8-674D-B4CC-B3D993372485}" presName="parTxOnly" presStyleLbl="node1" presStyleIdx="2" presStyleCnt="3">
        <dgm:presLayoutVars>
          <dgm:chMax val="0"/>
          <dgm:chPref val="0"/>
          <dgm:bulletEnabled val="1"/>
        </dgm:presLayoutVars>
      </dgm:prSet>
      <dgm:spPr/>
    </dgm:pt>
  </dgm:ptLst>
  <dgm:cxnLst>
    <dgm:cxn modelId="{5075D002-C240-0243-8BB8-5F479771E586}" type="presOf" srcId="{1234F00D-D3A2-6646-8C1C-009652837013}" destId="{00695260-EAE7-054D-954C-437E567EE683}" srcOrd="0" destOrd="0" presId="urn:microsoft.com/office/officeart/2005/8/layout/chevron1"/>
    <dgm:cxn modelId="{3EAB222B-8A99-E049-BF7A-0D2C65D84098}" type="presOf" srcId="{E6A2BBD0-0E0D-0145-B924-986F524EF2DE}" destId="{6455DEA9-96A2-DD43-B675-3C7EBC987B04}" srcOrd="0" destOrd="0" presId="urn:microsoft.com/office/officeart/2005/8/layout/chevron1"/>
    <dgm:cxn modelId="{BE7F0D70-E8D6-584F-96BF-BA42E7FAA3F7}" type="presOf" srcId="{2FB4E11E-A1E5-C042-8A7A-74FD82F13D97}" destId="{673F424E-E4A6-8240-95DB-EF2795948552}" srcOrd="0" destOrd="0" presId="urn:microsoft.com/office/officeart/2005/8/layout/chevron1"/>
    <dgm:cxn modelId="{E9F5F481-9DBF-BC45-A710-B71B5BA2C814}" srcId="{2FB4E11E-A1E5-C042-8A7A-74FD82F13D97}" destId="{5AF5D51D-B2E8-674D-B4CC-B3D993372485}" srcOrd="2" destOrd="0" parTransId="{A6092559-E047-4E44-81DF-AD76ABA7972B}" sibTransId="{FD66B352-799E-F442-9BED-FF2B39079D61}"/>
    <dgm:cxn modelId="{C6E01099-0604-8740-B43D-8D6DE41B1D20}" type="presOf" srcId="{5AF5D51D-B2E8-674D-B4CC-B3D993372485}" destId="{1123952C-0872-EB42-ACC7-EB6B2219C4F7}" srcOrd="0" destOrd="0" presId="urn:microsoft.com/office/officeart/2005/8/layout/chevron1"/>
    <dgm:cxn modelId="{473FAAC7-366F-7D4E-BC60-4D66E387060D}" srcId="{2FB4E11E-A1E5-C042-8A7A-74FD82F13D97}" destId="{E6A2BBD0-0E0D-0145-B924-986F524EF2DE}" srcOrd="0" destOrd="0" parTransId="{CA66F179-A51E-D74B-8C5B-AA76652EEC98}" sibTransId="{10B88B71-2A47-8B4B-A368-97CE44BAA28A}"/>
    <dgm:cxn modelId="{2F813DF6-0797-EE41-B505-4DDD97DFC893}" srcId="{2FB4E11E-A1E5-C042-8A7A-74FD82F13D97}" destId="{1234F00D-D3A2-6646-8C1C-009652837013}" srcOrd="1" destOrd="0" parTransId="{4717FD8F-1CE4-F545-B5E6-A34C6E882F5E}" sibTransId="{469229E2-727E-114E-9CC3-5FCAA0BAB0DF}"/>
    <dgm:cxn modelId="{ECA81CB9-0B66-A642-B134-300ADED75CFC}" type="presParOf" srcId="{673F424E-E4A6-8240-95DB-EF2795948552}" destId="{6455DEA9-96A2-DD43-B675-3C7EBC987B04}" srcOrd="0" destOrd="0" presId="urn:microsoft.com/office/officeart/2005/8/layout/chevron1"/>
    <dgm:cxn modelId="{01B5961B-2022-7143-A75B-0C4C50BB8089}" type="presParOf" srcId="{673F424E-E4A6-8240-95DB-EF2795948552}" destId="{0AB61723-1610-1F44-9CB9-0600CFE9562B}" srcOrd="1" destOrd="0" presId="urn:microsoft.com/office/officeart/2005/8/layout/chevron1"/>
    <dgm:cxn modelId="{2BB39AF0-01C7-BD4A-811B-F6B13D8C2DEC}" type="presParOf" srcId="{673F424E-E4A6-8240-95DB-EF2795948552}" destId="{00695260-EAE7-054D-954C-437E567EE683}" srcOrd="2" destOrd="0" presId="urn:microsoft.com/office/officeart/2005/8/layout/chevron1"/>
    <dgm:cxn modelId="{17015848-40F3-C741-9C3C-A071F61BAF21}" type="presParOf" srcId="{673F424E-E4A6-8240-95DB-EF2795948552}" destId="{2BC41D9E-ABEE-A04A-A7BB-09D565588555}" srcOrd="3" destOrd="0" presId="urn:microsoft.com/office/officeart/2005/8/layout/chevron1"/>
    <dgm:cxn modelId="{53BA164D-C83D-F146-9C08-97A9690B81E2}" type="presParOf" srcId="{673F424E-E4A6-8240-95DB-EF2795948552}" destId="{1123952C-0872-EB42-ACC7-EB6B2219C4F7}"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B4E11E-A1E5-C042-8A7A-74FD82F13D97}" type="doc">
      <dgm:prSet loTypeId="urn:microsoft.com/office/officeart/2005/8/layout/chevron1" loCatId="" qsTypeId="urn:microsoft.com/office/officeart/2005/8/quickstyle/simple1" qsCatId="simple" csTypeId="urn:microsoft.com/office/officeart/2005/8/colors/accent1_2" csCatId="accent1" phldr="1"/>
      <dgm:spPr/>
    </dgm:pt>
    <dgm:pt modelId="{E6A2BBD0-0E0D-0145-B924-986F524EF2DE}">
      <dgm:prSet phldrT="[Text]"/>
      <dgm:spPr>
        <a:solidFill>
          <a:schemeClr val="accent5"/>
        </a:solidFill>
      </dgm:spPr>
      <dgm:t>
        <a:bodyPr/>
        <a:lstStyle/>
        <a:p>
          <a:r>
            <a:rPr lang="en-GB" dirty="0">
              <a:latin typeface="Barlow" pitchFamily="2" charset="77"/>
            </a:rPr>
            <a:t>Maximalist</a:t>
          </a:r>
        </a:p>
      </dgm:t>
    </dgm:pt>
    <dgm:pt modelId="{CA66F179-A51E-D74B-8C5B-AA76652EEC98}" type="parTrans" cxnId="{473FAAC7-366F-7D4E-BC60-4D66E387060D}">
      <dgm:prSet/>
      <dgm:spPr/>
      <dgm:t>
        <a:bodyPr/>
        <a:lstStyle/>
        <a:p>
          <a:endParaRPr lang="en-GB"/>
        </a:p>
      </dgm:t>
    </dgm:pt>
    <dgm:pt modelId="{10B88B71-2A47-8B4B-A368-97CE44BAA28A}" type="sibTrans" cxnId="{473FAAC7-366F-7D4E-BC60-4D66E387060D}">
      <dgm:prSet/>
      <dgm:spPr/>
      <dgm:t>
        <a:bodyPr/>
        <a:lstStyle/>
        <a:p>
          <a:endParaRPr lang="en-GB"/>
        </a:p>
      </dgm:t>
    </dgm:pt>
    <dgm:pt modelId="{1234F00D-D3A2-6646-8C1C-009652837013}">
      <dgm:prSet phldrT="[Text]"/>
      <dgm:spPr>
        <a:solidFill>
          <a:schemeClr val="accent5"/>
        </a:solidFill>
      </dgm:spPr>
      <dgm:t>
        <a:bodyPr/>
        <a:lstStyle/>
        <a:p>
          <a:r>
            <a:rPr lang="en-GB" dirty="0">
              <a:latin typeface="Barlow" pitchFamily="2" charset="77"/>
            </a:rPr>
            <a:t>Minimalist</a:t>
          </a:r>
        </a:p>
      </dgm:t>
    </dgm:pt>
    <dgm:pt modelId="{4717FD8F-1CE4-F545-B5E6-A34C6E882F5E}" type="parTrans" cxnId="{2F813DF6-0797-EE41-B505-4DDD97DFC893}">
      <dgm:prSet/>
      <dgm:spPr/>
      <dgm:t>
        <a:bodyPr/>
        <a:lstStyle/>
        <a:p>
          <a:endParaRPr lang="en-GB"/>
        </a:p>
      </dgm:t>
    </dgm:pt>
    <dgm:pt modelId="{469229E2-727E-114E-9CC3-5FCAA0BAB0DF}" type="sibTrans" cxnId="{2F813DF6-0797-EE41-B505-4DDD97DFC893}">
      <dgm:prSet/>
      <dgm:spPr/>
      <dgm:t>
        <a:bodyPr/>
        <a:lstStyle/>
        <a:p>
          <a:endParaRPr lang="en-GB"/>
        </a:p>
      </dgm:t>
    </dgm:pt>
    <dgm:pt modelId="{5AF5D51D-B2E8-674D-B4CC-B3D993372485}">
      <dgm:prSet phldrT="[Text]"/>
      <dgm:spPr>
        <a:solidFill>
          <a:schemeClr val="accent5"/>
        </a:solidFill>
      </dgm:spPr>
      <dgm:t>
        <a:bodyPr/>
        <a:lstStyle/>
        <a:p>
          <a:r>
            <a:rPr lang="en-GB" dirty="0">
              <a:latin typeface="Barlow" pitchFamily="2" charset="77"/>
            </a:rPr>
            <a:t>Abolitionist</a:t>
          </a:r>
        </a:p>
      </dgm:t>
    </dgm:pt>
    <dgm:pt modelId="{A6092559-E047-4E44-81DF-AD76ABA7972B}" type="parTrans" cxnId="{E9F5F481-9DBF-BC45-A710-B71B5BA2C814}">
      <dgm:prSet/>
      <dgm:spPr/>
      <dgm:t>
        <a:bodyPr/>
        <a:lstStyle/>
        <a:p>
          <a:endParaRPr lang="en-GB"/>
        </a:p>
      </dgm:t>
    </dgm:pt>
    <dgm:pt modelId="{FD66B352-799E-F442-9BED-FF2B39079D61}" type="sibTrans" cxnId="{E9F5F481-9DBF-BC45-A710-B71B5BA2C814}">
      <dgm:prSet/>
      <dgm:spPr/>
      <dgm:t>
        <a:bodyPr/>
        <a:lstStyle/>
        <a:p>
          <a:endParaRPr lang="en-GB"/>
        </a:p>
      </dgm:t>
    </dgm:pt>
    <dgm:pt modelId="{673F424E-E4A6-8240-95DB-EF2795948552}" type="pres">
      <dgm:prSet presAssocID="{2FB4E11E-A1E5-C042-8A7A-74FD82F13D97}" presName="Name0" presStyleCnt="0">
        <dgm:presLayoutVars>
          <dgm:dir/>
          <dgm:animLvl val="lvl"/>
          <dgm:resizeHandles val="exact"/>
        </dgm:presLayoutVars>
      </dgm:prSet>
      <dgm:spPr/>
    </dgm:pt>
    <dgm:pt modelId="{6455DEA9-96A2-DD43-B675-3C7EBC987B04}" type="pres">
      <dgm:prSet presAssocID="{E6A2BBD0-0E0D-0145-B924-986F524EF2DE}" presName="parTxOnly" presStyleLbl="node1" presStyleIdx="0" presStyleCnt="3">
        <dgm:presLayoutVars>
          <dgm:chMax val="0"/>
          <dgm:chPref val="0"/>
          <dgm:bulletEnabled val="1"/>
        </dgm:presLayoutVars>
      </dgm:prSet>
      <dgm:spPr/>
    </dgm:pt>
    <dgm:pt modelId="{0AB61723-1610-1F44-9CB9-0600CFE9562B}" type="pres">
      <dgm:prSet presAssocID="{10B88B71-2A47-8B4B-A368-97CE44BAA28A}" presName="parTxOnlySpace" presStyleCnt="0"/>
      <dgm:spPr/>
    </dgm:pt>
    <dgm:pt modelId="{00695260-EAE7-054D-954C-437E567EE683}" type="pres">
      <dgm:prSet presAssocID="{1234F00D-D3A2-6646-8C1C-009652837013}" presName="parTxOnly" presStyleLbl="node1" presStyleIdx="1" presStyleCnt="3">
        <dgm:presLayoutVars>
          <dgm:chMax val="0"/>
          <dgm:chPref val="0"/>
          <dgm:bulletEnabled val="1"/>
        </dgm:presLayoutVars>
      </dgm:prSet>
      <dgm:spPr/>
    </dgm:pt>
    <dgm:pt modelId="{2BC41D9E-ABEE-A04A-A7BB-09D565588555}" type="pres">
      <dgm:prSet presAssocID="{469229E2-727E-114E-9CC3-5FCAA0BAB0DF}" presName="parTxOnlySpace" presStyleCnt="0"/>
      <dgm:spPr/>
    </dgm:pt>
    <dgm:pt modelId="{1123952C-0872-EB42-ACC7-EB6B2219C4F7}" type="pres">
      <dgm:prSet presAssocID="{5AF5D51D-B2E8-674D-B4CC-B3D993372485}" presName="parTxOnly" presStyleLbl="node1" presStyleIdx="2" presStyleCnt="3">
        <dgm:presLayoutVars>
          <dgm:chMax val="0"/>
          <dgm:chPref val="0"/>
          <dgm:bulletEnabled val="1"/>
        </dgm:presLayoutVars>
      </dgm:prSet>
      <dgm:spPr/>
    </dgm:pt>
  </dgm:ptLst>
  <dgm:cxnLst>
    <dgm:cxn modelId="{5075D002-C240-0243-8BB8-5F479771E586}" type="presOf" srcId="{1234F00D-D3A2-6646-8C1C-009652837013}" destId="{00695260-EAE7-054D-954C-437E567EE683}" srcOrd="0" destOrd="0" presId="urn:microsoft.com/office/officeart/2005/8/layout/chevron1"/>
    <dgm:cxn modelId="{3EAB222B-8A99-E049-BF7A-0D2C65D84098}" type="presOf" srcId="{E6A2BBD0-0E0D-0145-B924-986F524EF2DE}" destId="{6455DEA9-96A2-DD43-B675-3C7EBC987B04}" srcOrd="0" destOrd="0" presId="urn:microsoft.com/office/officeart/2005/8/layout/chevron1"/>
    <dgm:cxn modelId="{BE7F0D70-E8D6-584F-96BF-BA42E7FAA3F7}" type="presOf" srcId="{2FB4E11E-A1E5-C042-8A7A-74FD82F13D97}" destId="{673F424E-E4A6-8240-95DB-EF2795948552}" srcOrd="0" destOrd="0" presId="urn:microsoft.com/office/officeart/2005/8/layout/chevron1"/>
    <dgm:cxn modelId="{E9F5F481-9DBF-BC45-A710-B71B5BA2C814}" srcId="{2FB4E11E-A1E5-C042-8A7A-74FD82F13D97}" destId="{5AF5D51D-B2E8-674D-B4CC-B3D993372485}" srcOrd="2" destOrd="0" parTransId="{A6092559-E047-4E44-81DF-AD76ABA7972B}" sibTransId="{FD66B352-799E-F442-9BED-FF2B39079D61}"/>
    <dgm:cxn modelId="{C6E01099-0604-8740-B43D-8D6DE41B1D20}" type="presOf" srcId="{5AF5D51D-B2E8-674D-B4CC-B3D993372485}" destId="{1123952C-0872-EB42-ACC7-EB6B2219C4F7}" srcOrd="0" destOrd="0" presId="urn:microsoft.com/office/officeart/2005/8/layout/chevron1"/>
    <dgm:cxn modelId="{473FAAC7-366F-7D4E-BC60-4D66E387060D}" srcId="{2FB4E11E-A1E5-C042-8A7A-74FD82F13D97}" destId="{E6A2BBD0-0E0D-0145-B924-986F524EF2DE}" srcOrd="0" destOrd="0" parTransId="{CA66F179-A51E-D74B-8C5B-AA76652EEC98}" sibTransId="{10B88B71-2A47-8B4B-A368-97CE44BAA28A}"/>
    <dgm:cxn modelId="{2F813DF6-0797-EE41-B505-4DDD97DFC893}" srcId="{2FB4E11E-A1E5-C042-8A7A-74FD82F13D97}" destId="{1234F00D-D3A2-6646-8C1C-009652837013}" srcOrd="1" destOrd="0" parTransId="{4717FD8F-1CE4-F545-B5E6-A34C6E882F5E}" sibTransId="{469229E2-727E-114E-9CC3-5FCAA0BAB0DF}"/>
    <dgm:cxn modelId="{ECA81CB9-0B66-A642-B134-300ADED75CFC}" type="presParOf" srcId="{673F424E-E4A6-8240-95DB-EF2795948552}" destId="{6455DEA9-96A2-DD43-B675-3C7EBC987B04}" srcOrd="0" destOrd="0" presId="urn:microsoft.com/office/officeart/2005/8/layout/chevron1"/>
    <dgm:cxn modelId="{01B5961B-2022-7143-A75B-0C4C50BB8089}" type="presParOf" srcId="{673F424E-E4A6-8240-95DB-EF2795948552}" destId="{0AB61723-1610-1F44-9CB9-0600CFE9562B}" srcOrd="1" destOrd="0" presId="urn:microsoft.com/office/officeart/2005/8/layout/chevron1"/>
    <dgm:cxn modelId="{2BB39AF0-01C7-BD4A-811B-F6B13D8C2DEC}" type="presParOf" srcId="{673F424E-E4A6-8240-95DB-EF2795948552}" destId="{00695260-EAE7-054D-954C-437E567EE683}" srcOrd="2" destOrd="0" presId="urn:microsoft.com/office/officeart/2005/8/layout/chevron1"/>
    <dgm:cxn modelId="{17015848-40F3-C741-9C3C-A071F61BAF21}" type="presParOf" srcId="{673F424E-E4A6-8240-95DB-EF2795948552}" destId="{2BC41D9E-ABEE-A04A-A7BB-09D565588555}" srcOrd="3" destOrd="0" presId="urn:microsoft.com/office/officeart/2005/8/layout/chevron1"/>
    <dgm:cxn modelId="{53BA164D-C83D-F146-9C08-97A9690B81E2}" type="presParOf" srcId="{673F424E-E4A6-8240-95DB-EF2795948552}" destId="{1123952C-0872-EB42-ACC7-EB6B2219C4F7}"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5DEA9-96A2-DD43-B675-3C7EBC987B04}">
      <dsp:nvSpPr>
        <dsp:cNvPr id="0" name=""/>
        <dsp:cNvSpPr/>
      </dsp:nvSpPr>
      <dsp:spPr>
        <a:xfrm>
          <a:off x="4460"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Maximalist</a:t>
          </a:r>
        </a:p>
      </dsp:txBody>
      <dsp:txXfrm>
        <a:off x="1091339" y="885922"/>
        <a:ext cx="3260638" cy="2173758"/>
      </dsp:txXfrm>
    </dsp:sp>
    <dsp:sp modelId="{00695260-EAE7-054D-954C-437E567EE683}">
      <dsp:nvSpPr>
        <dsp:cNvPr id="0" name=""/>
        <dsp:cNvSpPr/>
      </dsp:nvSpPr>
      <dsp:spPr>
        <a:xfrm>
          <a:off x="4895417"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Minimalist</a:t>
          </a:r>
        </a:p>
      </dsp:txBody>
      <dsp:txXfrm>
        <a:off x="5982296" y="885922"/>
        <a:ext cx="3260638" cy="2173758"/>
      </dsp:txXfrm>
    </dsp:sp>
    <dsp:sp modelId="{1123952C-0872-EB42-ACC7-EB6B2219C4F7}">
      <dsp:nvSpPr>
        <dsp:cNvPr id="0" name=""/>
        <dsp:cNvSpPr/>
      </dsp:nvSpPr>
      <dsp:spPr>
        <a:xfrm>
          <a:off x="9786374"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Abolitionist</a:t>
          </a:r>
        </a:p>
      </dsp:txBody>
      <dsp:txXfrm>
        <a:off x="10873253" y="885922"/>
        <a:ext cx="3260638" cy="2173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5DEA9-96A2-DD43-B675-3C7EBC987B04}">
      <dsp:nvSpPr>
        <dsp:cNvPr id="0" name=""/>
        <dsp:cNvSpPr/>
      </dsp:nvSpPr>
      <dsp:spPr>
        <a:xfrm>
          <a:off x="4460"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Maximalist</a:t>
          </a:r>
        </a:p>
      </dsp:txBody>
      <dsp:txXfrm>
        <a:off x="1091339" y="885922"/>
        <a:ext cx="3260638" cy="2173758"/>
      </dsp:txXfrm>
    </dsp:sp>
    <dsp:sp modelId="{00695260-EAE7-054D-954C-437E567EE683}">
      <dsp:nvSpPr>
        <dsp:cNvPr id="0" name=""/>
        <dsp:cNvSpPr/>
      </dsp:nvSpPr>
      <dsp:spPr>
        <a:xfrm>
          <a:off x="4895417"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Minimalist</a:t>
          </a:r>
        </a:p>
      </dsp:txBody>
      <dsp:txXfrm>
        <a:off x="5982296" y="885922"/>
        <a:ext cx="3260638" cy="2173758"/>
      </dsp:txXfrm>
    </dsp:sp>
    <dsp:sp modelId="{1123952C-0872-EB42-ACC7-EB6B2219C4F7}">
      <dsp:nvSpPr>
        <dsp:cNvPr id="0" name=""/>
        <dsp:cNvSpPr/>
      </dsp:nvSpPr>
      <dsp:spPr>
        <a:xfrm>
          <a:off x="9786374"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Abolitionist</a:t>
          </a:r>
        </a:p>
      </dsp:txBody>
      <dsp:txXfrm>
        <a:off x="10873253" y="885922"/>
        <a:ext cx="3260638" cy="2173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5DEA9-96A2-DD43-B675-3C7EBC987B04}">
      <dsp:nvSpPr>
        <dsp:cNvPr id="0" name=""/>
        <dsp:cNvSpPr/>
      </dsp:nvSpPr>
      <dsp:spPr>
        <a:xfrm>
          <a:off x="4460"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Maximalist</a:t>
          </a:r>
        </a:p>
      </dsp:txBody>
      <dsp:txXfrm>
        <a:off x="1091339" y="885922"/>
        <a:ext cx="3260638" cy="2173758"/>
      </dsp:txXfrm>
    </dsp:sp>
    <dsp:sp modelId="{00695260-EAE7-054D-954C-437E567EE683}">
      <dsp:nvSpPr>
        <dsp:cNvPr id="0" name=""/>
        <dsp:cNvSpPr/>
      </dsp:nvSpPr>
      <dsp:spPr>
        <a:xfrm>
          <a:off x="4895417"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Minimalist</a:t>
          </a:r>
        </a:p>
      </dsp:txBody>
      <dsp:txXfrm>
        <a:off x="5982296" y="885922"/>
        <a:ext cx="3260638" cy="2173758"/>
      </dsp:txXfrm>
    </dsp:sp>
    <dsp:sp modelId="{1123952C-0872-EB42-ACC7-EB6B2219C4F7}">
      <dsp:nvSpPr>
        <dsp:cNvPr id="0" name=""/>
        <dsp:cNvSpPr/>
      </dsp:nvSpPr>
      <dsp:spPr>
        <a:xfrm>
          <a:off x="9786374" y="885922"/>
          <a:ext cx="5434396" cy="2173758"/>
        </a:xfrm>
        <a:prstGeom prst="chevron">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024" tIns="62674" rIns="62674" bIns="62674" numCol="1" spcCol="1270" anchor="ctr" anchorCtr="0">
          <a:noAutofit/>
        </a:bodyPr>
        <a:lstStyle/>
        <a:p>
          <a:pPr marL="0" lvl="0" indent="0" algn="ctr" defTabSz="2089150">
            <a:lnSpc>
              <a:spcPct val="90000"/>
            </a:lnSpc>
            <a:spcBef>
              <a:spcPct val="0"/>
            </a:spcBef>
            <a:spcAft>
              <a:spcPct val="35000"/>
            </a:spcAft>
            <a:buNone/>
          </a:pPr>
          <a:r>
            <a:rPr lang="en-GB" sz="4700" kern="1200" dirty="0">
              <a:latin typeface="Barlow" pitchFamily="2" charset="77"/>
            </a:rPr>
            <a:t>Abolitionist</a:t>
          </a:r>
        </a:p>
      </dsp:txBody>
      <dsp:txXfrm>
        <a:off x="10873253" y="885922"/>
        <a:ext cx="3260638" cy="217375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59" r:id="rId5"/>
    <p:sldLayoutId id="2147483660"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Compact_audio_cassette" TargetMode="External"/><Relationship Id="rId7" Type="http://schemas.openxmlformats.org/officeDocument/2006/relationships/hyperlink" Target="http://askubuntu.com/tags/mp3-player/info" TargetMode="External"/><Relationship Id="rId2" Type="http://schemas.openxmlformats.org/officeDocument/2006/relationships/image" Target="../media/image6.jpg"/><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hyperlink" Target="https://pixabay.com/en/jewel-case-cd-cd-rom-disk-158216/" TargetMode="Externa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0" y="-3251597"/>
            <a:ext cx="17345677" cy="13005197"/>
          </a:xfrm>
          <a:prstGeom prst="rect">
            <a:avLst/>
          </a:prstGeom>
          <a:ln w="12700">
            <a:miter lim="400000"/>
          </a:ln>
        </p:spPr>
      </p:pic>
      <p:sp>
        <p:nvSpPr>
          <p:cNvPr id="121" name="PROJECT NAME…"/>
          <p:cNvSpPr txBox="1"/>
          <p:nvPr/>
        </p:nvSpPr>
        <p:spPr>
          <a:xfrm>
            <a:off x="449654" y="8171244"/>
            <a:ext cx="4958379" cy="8128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14 January 2026</a:t>
            </a:r>
            <a:endParaRPr lang="en-GB" sz="3200" dirty="0"/>
          </a:p>
        </p:txBody>
      </p:sp>
      <p:sp>
        <p:nvSpPr>
          <p:cNvPr id="122" name="Shape 21"/>
          <p:cNvSpPr txBox="1"/>
          <p:nvPr/>
        </p:nvSpPr>
        <p:spPr>
          <a:xfrm>
            <a:off x="643085" y="2236193"/>
            <a:ext cx="15442981" cy="135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Introduction</a:t>
            </a:r>
          </a:p>
        </p:txBody>
      </p:sp>
      <p:sp>
        <p:nvSpPr>
          <p:cNvPr id="123" name="Shape 21"/>
          <p:cNvSpPr txBox="1"/>
          <p:nvPr/>
        </p:nvSpPr>
        <p:spPr>
          <a:xfrm>
            <a:off x="620857" y="3591820"/>
            <a:ext cx="6000578" cy="858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14 January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47120"/>
            <a:ext cx="14862995" cy="2981329"/>
          </a:xfrm>
          <a:prstGeom prst="rect">
            <a:avLst/>
          </a:prstGeom>
        </p:spPr>
        <p:txBody>
          <a:bodyPr wrap="square">
            <a:sp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First half: Introduction to the course</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Second half: 20 Years of Copyright Wars</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Note on timings: as a general rule, we will have a shorter mid-class break (5 mins) and finish earlier (e.g., 16:50ish)</a:t>
            </a:r>
          </a:p>
        </p:txBody>
      </p:sp>
    </p:spTree>
    <p:extLst>
      <p:ext uri="{BB962C8B-B14F-4D97-AF65-F5344CB8AC3E}">
        <p14:creationId xmlns:p14="http://schemas.microsoft.com/office/powerpoint/2010/main" val="347818077"/>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10874"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Teaching team</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5" name="Table 4">
            <a:extLst>
              <a:ext uri="{FF2B5EF4-FFF2-40B4-BE49-F238E27FC236}">
                <a16:creationId xmlns:a16="http://schemas.microsoft.com/office/drawing/2014/main" id="{917E6BAD-7CA0-3137-7A7C-ACF6EEAF8778}"/>
              </a:ext>
            </a:extLst>
          </p:cNvPr>
          <p:cNvGraphicFramePr>
            <a:graphicFrameLocks noGrp="1"/>
          </p:cNvGraphicFramePr>
          <p:nvPr>
            <p:extLst>
              <p:ext uri="{D42A27DB-BD31-4B8C-83A1-F6EECF244321}">
                <p14:modId xmlns:p14="http://schemas.microsoft.com/office/powerpoint/2010/main" val="1336028722"/>
              </p:ext>
            </p:extLst>
          </p:nvPr>
        </p:nvGraphicFramePr>
        <p:xfrm>
          <a:off x="1010874" y="2128520"/>
          <a:ext cx="15015594" cy="4592320"/>
        </p:xfrm>
        <a:graphic>
          <a:graphicData uri="http://schemas.openxmlformats.org/drawingml/2006/table">
            <a:tbl>
              <a:tblPr firstRow="1" firstCol="1" bandRow="1">
                <a:tableStyleId>{5940675A-B579-460E-94D1-54222C63F5DA}</a:tableStyleId>
              </a:tblPr>
              <a:tblGrid>
                <a:gridCol w="4554299">
                  <a:extLst>
                    <a:ext uri="{9D8B030D-6E8A-4147-A177-3AD203B41FA5}">
                      <a16:colId xmlns:a16="http://schemas.microsoft.com/office/drawing/2014/main" val="2024214096"/>
                    </a:ext>
                  </a:extLst>
                </a:gridCol>
                <a:gridCol w="10461295">
                  <a:extLst>
                    <a:ext uri="{9D8B030D-6E8A-4147-A177-3AD203B41FA5}">
                      <a16:colId xmlns:a16="http://schemas.microsoft.com/office/drawing/2014/main" val="1374009493"/>
                    </a:ext>
                  </a:extLst>
                </a:gridCol>
              </a:tblGrid>
              <a:tr h="229630">
                <a:tc>
                  <a:txBody>
                    <a:bodyPr/>
                    <a:lstStyle/>
                    <a:p>
                      <a:pPr algn="just">
                        <a:lnSpc>
                          <a:spcPct val="150000"/>
                        </a:lnSpc>
                        <a:spcAft>
                          <a:spcPts val="800"/>
                        </a:spcAft>
                      </a:pPr>
                      <a:r>
                        <a:rPr lang="en-GB" sz="3200" dirty="0">
                          <a:solidFill>
                            <a:schemeClr val="tx2"/>
                          </a:solidFill>
                          <a:effectLst/>
                          <a:latin typeface="Barlow" pitchFamily="2" charset="77"/>
                        </a:rPr>
                        <a:t>Course Convenor</a:t>
                      </a:r>
                    </a:p>
                    <a:p>
                      <a:pPr algn="just">
                        <a:lnSpc>
                          <a:spcPct val="150000"/>
                        </a:lnSpc>
                        <a:spcAft>
                          <a:spcPts val="800"/>
                        </a:spcAft>
                      </a:pPr>
                      <a:r>
                        <a:rPr lang="en-GB" sz="3200" dirty="0">
                          <a:solidFill>
                            <a:schemeClr val="tx2"/>
                          </a:solidFill>
                          <a:effectLst/>
                          <a:latin typeface="Barlow" pitchFamily="2" charset="77"/>
                        </a:rPr>
                        <a:t> </a:t>
                      </a:r>
                      <a:endParaRPr lang="en-GB" sz="3200" dirty="0">
                        <a:solidFill>
                          <a:schemeClr val="tx2"/>
                        </a:solidFill>
                        <a:effectLst/>
                        <a:latin typeface="Barlow" pitchFamily="2" charset="77"/>
                        <a:ea typeface="Calibri" panose="020F0502020204030204" pitchFamily="34" charset="0"/>
                        <a:cs typeface="Arial" panose="020B0604020202020204" pitchFamily="34" charset="0"/>
                      </a:endParaRPr>
                    </a:p>
                  </a:txBody>
                  <a:tcPr marL="17068" marR="17068"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3200" dirty="0">
                          <a:solidFill>
                            <a:schemeClr val="tx2"/>
                          </a:solidFill>
                          <a:effectLst/>
                          <a:latin typeface="Barlow" pitchFamily="2" charset="77"/>
                        </a:rPr>
                        <a:t>Amy Thomas</a:t>
                      </a:r>
                    </a:p>
                    <a:p>
                      <a:pPr algn="just">
                        <a:lnSpc>
                          <a:spcPct val="150000"/>
                        </a:lnSpc>
                        <a:spcAft>
                          <a:spcPts val="800"/>
                        </a:spcAft>
                      </a:pPr>
                      <a:r>
                        <a:rPr lang="en-GB" sz="3200" dirty="0" err="1">
                          <a:solidFill>
                            <a:schemeClr val="tx2"/>
                          </a:solidFill>
                          <a:effectLst/>
                          <a:latin typeface="Barlow" pitchFamily="2" charset="77"/>
                        </a:rPr>
                        <a:t>amy.thomas@glasgow.ac.uk</a:t>
                      </a:r>
                      <a:endParaRPr lang="en-GB" sz="3200" dirty="0">
                        <a:solidFill>
                          <a:schemeClr val="tx2"/>
                        </a:solidFill>
                        <a:effectLst/>
                        <a:latin typeface="Barlow" pitchFamily="2" charset="77"/>
                      </a:endParaRPr>
                    </a:p>
                    <a:p>
                      <a:pPr algn="just">
                        <a:lnSpc>
                          <a:spcPct val="150000"/>
                        </a:lnSpc>
                        <a:spcAft>
                          <a:spcPts val="800"/>
                        </a:spcAft>
                      </a:pPr>
                      <a:r>
                        <a:rPr lang="en-GB" sz="3200" dirty="0">
                          <a:solidFill>
                            <a:schemeClr val="tx2"/>
                          </a:solidFill>
                          <a:effectLst/>
                          <a:latin typeface="Barlow" pitchFamily="2" charset="77"/>
                        </a:rPr>
                        <a:t> </a:t>
                      </a:r>
                      <a:endParaRPr lang="en-GB" sz="3200" dirty="0">
                        <a:solidFill>
                          <a:schemeClr val="tx2"/>
                        </a:solidFill>
                        <a:effectLst/>
                        <a:latin typeface="Barlow" pitchFamily="2" charset="77"/>
                        <a:ea typeface="Calibri" panose="020F0502020204030204" pitchFamily="34" charset="0"/>
                        <a:cs typeface="Arial" panose="020B0604020202020204" pitchFamily="34" charset="0"/>
                      </a:endParaRPr>
                    </a:p>
                  </a:txBody>
                  <a:tcPr marL="17068" marR="17068"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6293284"/>
                  </a:ext>
                </a:extLst>
              </a:tr>
              <a:tr h="405370">
                <a:tc>
                  <a:txBody>
                    <a:bodyPr/>
                    <a:lstStyle/>
                    <a:p>
                      <a:pPr algn="just">
                        <a:lnSpc>
                          <a:spcPct val="150000"/>
                        </a:lnSpc>
                        <a:spcAft>
                          <a:spcPts val="800"/>
                        </a:spcAft>
                      </a:pPr>
                      <a:r>
                        <a:rPr lang="en-GB" sz="3200" dirty="0">
                          <a:solidFill>
                            <a:schemeClr val="tx2"/>
                          </a:solidFill>
                          <a:effectLst/>
                          <a:latin typeface="Barlow" pitchFamily="2" charset="77"/>
                        </a:rPr>
                        <a:t>Course Lecturer(s)</a:t>
                      </a:r>
                    </a:p>
                    <a:p>
                      <a:pPr algn="just">
                        <a:lnSpc>
                          <a:spcPct val="150000"/>
                        </a:lnSpc>
                        <a:spcAft>
                          <a:spcPts val="800"/>
                        </a:spcAft>
                      </a:pPr>
                      <a:r>
                        <a:rPr lang="en-GB" sz="3200" dirty="0">
                          <a:solidFill>
                            <a:schemeClr val="tx2"/>
                          </a:solidFill>
                          <a:effectLst/>
                          <a:latin typeface="Barlow" pitchFamily="2" charset="77"/>
                        </a:rPr>
                        <a:t> </a:t>
                      </a:r>
                      <a:endParaRPr lang="en-GB" sz="3200" dirty="0">
                        <a:solidFill>
                          <a:schemeClr val="tx2"/>
                        </a:solidFill>
                        <a:effectLst/>
                        <a:latin typeface="Barlow" pitchFamily="2" charset="77"/>
                        <a:ea typeface="Calibri" panose="020F0502020204030204" pitchFamily="34" charset="0"/>
                        <a:cs typeface="Arial" panose="020B0604020202020204" pitchFamily="34" charset="0"/>
                      </a:endParaRPr>
                    </a:p>
                  </a:txBody>
                  <a:tcPr marL="17068" marR="17068"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3200" dirty="0">
                          <a:solidFill>
                            <a:schemeClr val="tx2"/>
                          </a:solidFill>
                          <a:effectLst/>
                          <a:latin typeface="Barlow" pitchFamily="2" charset="77"/>
                        </a:rPr>
                        <a:t>Amy Thomas</a:t>
                      </a:r>
                    </a:p>
                    <a:p>
                      <a:pPr algn="just">
                        <a:lnSpc>
                          <a:spcPct val="150000"/>
                        </a:lnSpc>
                        <a:spcAft>
                          <a:spcPts val="800"/>
                        </a:spcAft>
                      </a:pPr>
                      <a:r>
                        <a:rPr lang="en-GB" sz="3200" dirty="0">
                          <a:solidFill>
                            <a:schemeClr val="tx2"/>
                          </a:solidFill>
                          <a:effectLst/>
                          <a:latin typeface="Barlow" pitchFamily="2" charset="77"/>
                        </a:rPr>
                        <a:t>Martin Kretschmer (AI: inputs)</a:t>
                      </a:r>
                    </a:p>
                    <a:p>
                      <a:pPr algn="just">
                        <a:lnSpc>
                          <a:spcPct val="150000"/>
                        </a:lnSpc>
                        <a:spcAft>
                          <a:spcPts val="800"/>
                        </a:spcAft>
                      </a:pPr>
                      <a:r>
                        <a:rPr lang="en-GB" sz="3200" dirty="0">
                          <a:solidFill>
                            <a:schemeClr val="tx2"/>
                          </a:solidFill>
                          <a:effectLst/>
                          <a:latin typeface="Barlow" pitchFamily="2" charset="77"/>
                          <a:ea typeface="Calibri" panose="020F0502020204030204" pitchFamily="34" charset="0"/>
                          <a:cs typeface="Arial" panose="020B0604020202020204" pitchFamily="34" charset="0"/>
                        </a:rPr>
                        <a:t>Kris Erickson (AI: outputs)</a:t>
                      </a:r>
                    </a:p>
                  </a:txBody>
                  <a:tcPr marL="17068" marR="17068"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668480"/>
                  </a:ext>
                </a:extLst>
              </a:tr>
            </a:tbl>
          </a:graphicData>
        </a:graphic>
      </p:graphicFrame>
    </p:spTree>
    <p:extLst>
      <p:ext uri="{BB962C8B-B14F-4D97-AF65-F5344CB8AC3E}">
        <p14:creationId xmlns:p14="http://schemas.microsoft.com/office/powerpoint/2010/main" val="634460539"/>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0F82-9ABE-7C03-EDF0-15622018376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183EAD00-3C4C-A657-EB0F-302211FD43CD}"/>
              </a:ext>
            </a:extLst>
          </p:cNvPr>
          <p:cNvSpPr txBox="1"/>
          <p:nvPr/>
        </p:nvSpPr>
        <p:spPr>
          <a:xfrm>
            <a:off x="1010874"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Intended learning outcomes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C8754D35-4A32-029B-36F8-D67C4A073D81}"/>
              </a:ext>
            </a:extLst>
          </p:cNvPr>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6" name="Rectangle 5">
            <a:extLst>
              <a:ext uri="{FF2B5EF4-FFF2-40B4-BE49-F238E27FC236}">
                <a16:creationId xmlns:a16="http://schemas.microsoft.com/office/drawing/2014/main" id="{674E854D-CA5D-8FC8-05C3-1E5C50FFA11F}"/>
              </a:ext>
            </a:extLst>
          </p:cNvPr>
          <p:cNvSpPr/>
          <p:nvPr/>
        </p:nvSpPr>
        <p:spPr>
          <a:xfrm>
            <a:off x="1028459" y="1947120"/>
            <a:ext cx="14862995" cy="4421723"/>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Copyright as a law regulating </a:t>
            </a:r>
            <a:r>
              <a:rPr lang="en-GB" sz="3200" u="sng" dirty="0">
                <a:solidFill>
                  <a:schemeClr val="tx2"/>
                </a:solidFill>
                <a:latin typeface="Barlow" pitchFamily="2" charset="77"/>
              </a:rPr>
              <a:t>creativity</a:t>
            </a:r>
            <a:r>
              <a:rPr lang="en-GB" sz="3200" dirty="0">
                <a:solidFill>
                  <a:schemeClr val="tx2"/>
                </a:solidFill>
                <a:latin typeface="Barlow" pitchFamily="2" charset="77"/>
              </a:rPr>
              <a:t> with implications for culture </a:t>
            </a:r>
            <a:r>
              <a:rPr lang="en-GB" sz="3200" u="sng" dirty="0">
                <a:solidFill>
                  <a:schemeClr val="tx2"/>
                </a:solidFill>
                <a:latin typeface="Barlow" pitchFamily="2" charset="77"/>
              </a:rPr>
              <a:t>and</a:t>
            </a:r>
            <a:r>
              <a:rPr lang="en-GB" sz="3200" dirty="0">
                <a:solidFill>
                  <a:schemeClr val="tx2"/>
                </a:solidFill>
                <a:latin typeface="Barlow" pitchFamily="2" charset="77"/>
              </a:rPr>
              <a:t> commerce</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UK/EU focus (with applicable Brexit disclaimer)</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Practical applications of copyright law</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Thinking </a:t>
            </a:r>
            <a:r>
              <a:rPr lang="en-GB" sz="3200" u="sng" dirty="0">
                <a:solidFill>
                  <a:schemeClr val="tx2"/>
                </a:solidFill>
                <a:latin typeface="Barlow" pitchFamily="2" charset="77"/>
              </a:rPr>
              <a:t>critically</a:t>
            </a:r>
            <a:endParaRPr lang="en-GB" sz="3200" dirty="0">
              <a:solidFill>
                <a:schemeClr val="tx2"/>
              </a:solidFill>
              <a:latin typeface="Barlow" pitchFamily="2" charset="77"/>
            </a:endParaRP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Extrapolate the application of the law to other social/political/economical issues</a:t>
            </a:r>
          </a:p>
        </p:txBody>
      </p:sp>
    </p:spTree>
    <p:extLst>
      <p:ext uri="{BB962C8B-B14F-4D97-AF65-F5344CB8AC3E}">
        <p14:creationId xmlns:p14="http://schemas.microsoft.com/office/powerpoint/2010/main" val="849024223"/>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03930-7E05-0BA4-8989-F6E4F5F67F7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8B3695E-2094-A4F6-C916-7B4C08BCA0B0}"/>
              </a:ext>
            </a:extLst>
          </p:cNvPr>
          <p:cNvSpPr txBox="1"/>
          <p:nvPr/>
        </p:nvSpPr>
        <p:spPr>
          <a:xfrm>
            <a:off x="1010874"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Overview of topics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86511A9-F28D-D536-48C8-21EBC5BA0F9D}"/>
              </a:ext>
            </a:extLst>
          </p:cNvPr>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2" name="Table 1">
            <a:extLst>
              <a:ext uri="{FF2B5EF4-FFF2-40B4-BE49-F238E27FC236}">
                <a16:creationId xmlns:a16="http://schemas.microsoft.com/office/drawing/2014/main" id="{1A40A3A5-4E05-2E98-9B29-13473231AC3C}"/>
              </a:ext>
            </a:extLst>
          </p:cNvPr>
          <p:cNvGraphicFramePr>
            <a:graphicFrameLocks noGrp="1"/>
          </p:cNvGraphicFramePr>
          <p:nvPr>
            <p:extLst>
              <p:ext uri="{D42A27DB-BD31-4B8C-83A1-F6EECF244321}">
                <p14:modId xmlns:p14="http://schemas.microsoft.com/office/powerpoint/2010/main" val="3544439303"/>
              </p:ext>
            </p:extLst>
          </p:nvPr>
        </p:nvGraphicFramePr>
        <p:xfrm>
          <a:off x="1010873" y="1929441"/>
          <a:ext cx="15015594" cy="6410491"/>
        </p:xfrm>
        <a:graphic>
          <a:graphicData uri="http://schemas.openxmlformats.org/drawingml/2006/table">
            <a:tbl>
              <a:tblPr firstRow="1" firstCol="1" bandRow="1">
                <a:tableStyleId>{5940675A-B579-460E-94D1-54222C63F5DA}</a:tableStyleId>
              </a:tblPr>
              <a:tblGrid>
                <a:gridCol w="1451635">
                  <a:extLst>
                    <a:ext uri="{9D8B030D-6E8A-4147-A177-3AD203B41FA5}">
                      <a16:colId xmlns:a16="http://schemas.microsoft.com/office/drawing/2014/main" val="2735899081"/>
                    </a:ext>
                  </a:extLst>
                </a:gridCol>
                <a:gridCol w="2868179">
                  <a:extLst>
                    <a:ext uri="{9D8B030D-6E8A-4147-A177-3AD203B41FA5}">
                      <a16:colId xmlns:a16="http://schemas.microsoft.com/office/drawing/2014/main" val="3875947872"/>
                    </a:ext>
                  </a:extLst>
                </a:gridCol>
                <a:gridCol w="10695780">
                  <a:extLst>
                    <a:ext uri="{9D8B030D-6E8A-4147-A177-3AD203B41FA5}">
                      <a16:colId xmlns:a16="http://schemas.microsoft.com/office/drawing/2014/main" val="2471904630"/>
                    </a:ext>
                  </a:extLst>
                </a:gridCol>
              </a:tblGrid>
              <a:tr h="641602">
                <a:tc>
                  <a:txBody>
                    <a:bodyPr/>
                    <a:lstStyle/>
                    <a:p>
                      <a:pPr algn="just">
                        <a:lnSpc>
                          <a:spcPct val="150000"/>
                        </a:lnSpc>
                        <a:spcAft>
                          <a:spcPts val="800"/>
                        </a:spcAft>
                      </a:pPr>
                      <a:r>
                        <a:rPr lang="en-GB" sz="2400" dirty="0">
                          <a:solidFill>
                            <a:schemeClr val="tx2"/>
                          </a:solidFill>
                          <a:effectLst/>
                          <a:latin typeface="Barlow" pitchFamily="2" charset="77"/>
                        </a:rPr>
                        <a:t>1</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14 January</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Introduction / 20 years of copyright wars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32958791"/>
                  </a:ext>
                </a:extLst>
              </a:tr>
              <a:tr h="694671">
                <a:tc>
                  <a:txBody>
                    <a:bodyPr/>
                    <a:lstStyle/>
                    <a:p>
                      <a:pPr algn="just">
                        <a:lnSpc>
                          <a:spcPct val="150000"/>
                        </a:lnSpc>
                        <a:spcAft>
                          <a:spcPts val="800"/>
                        </a:spcAft>
                      </a:pPr>
                      <a:r>
                        <a:rPr lang="en-GB" sz="2400" dirty="0">
                          <a:solidFill>
                            <a:schemeClr val="tx2"/>
                          </a:solidFill>
                          <a:effectLst/>
                          <a:latin typeface="Barlow" pitchFamily="2" charset="77"/>
                        </a:rPr>
                        <a:t>2</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21 January</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Overview of UK Copyright Law 1 / Authorship, ownership and subject matter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5373086"/>
                  </a:ext>
                </a:extLst>
              </a:tr>
              <a:tr h="577850">
                <a:tc>
                  <a:txBody>
                    <a:bodyPr/>
                    <a:lstStyle/>
                    <a:p>
                      <a:pPr algn="just">
                        <a:lnSpc>
                          <a:spcPct val="150000"/>
                        </a:lnSpc>
                        <a:spcAft>
                          <a:spcPts val="800"/>
                        </a:spcAft>
                      </a:pPr>
                      <a:r>
                        <a:rPr lang="en-GB" sz="2400">
                          <a:solidFill>
                            <a:schemeClr val="tx2"/>
                          </a:solidFill>
                          <a:effectLst/>
                          <a:latin typeface="Barlow" pitchFamily="2" charset="77"/>
                        </a:rPr>
                        <a:t>3</a:t>
                      </a:r>
                      <a:endParaRPr lang="en-GB" sz="240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28 January</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Overview of UK Copyright Law 2 / Exclusive rights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52170930"/>
                  </a:ext>
                </a:extLst>
              </a:tr>
              <a:tr h="636719">
                <a:tc>
                  <a:txBody>
                    <a:bodyPr/>
                    <a:lstStyle/>
                    <a:p>
                      <a:pPr algn="just">
                        <a:lnSpc>
                          <a:spcPct val="150000"/>
                        </a:lnSpc>
                        <a:spcAft>
                          <a:spcPts val="800"/>
                        </a:spcAft>
                      </a:pPr>
                      <a:r>
                        <a:rPr lang="en-GB" sz="2400">
                          <a:solidFill>
                            <a:schemeClr val="tx2"/>
                          </a:solidFill>
                          <a:effectLst/>
                          <a:latin typeface="Barlow" pitchFamily="2" charset="77"/>
                        </a:rPr>
                        <a:t>4</a:t>
                      </a:r>
                      <a:endParaRPr lang="en-GB" sz="240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4 February</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Overview of UK Copyright Law 3 / Exceptions and limitations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77509039"/>
                  </a:ext>
                </a:extLst>
              </a:tr>
              <a:tr h="577718">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5</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11 February</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Infringement, streaming and piracy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5672710"/>
                  </a:ext>
                </a:extLst>
              </a:tr>
              <a:tr h="646113">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6</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18 February</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Performers’ rights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42055306"/>
                  </a:ext>
                </a:extLst>
              </a:tr>
              <a:tr h="657225">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7</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25 February</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Creators’ earnings and contracts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6492991"/>
                  </a:ext>
                </a:extLst>
              </a:tr>
              <a:tr h="651006">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8</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4 March</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AI: Inputs and licensing economy [MK]</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3313396"/>
                  </a:ext>
                </a:extLst>
              </a:tr>
              <a:tr h="740623">
                <a:tc>
                  <a:txBody>
                    <a:bodyPr/>
                    <a:lstStyle/>
                    <a:p>
                      <a:pPr algn="just">
                        <a:lnSpc>
                          <a:spcPct val="150000"/>
                        </a:lnSpc>
                        <a:spcAft>
                          <a:spcPts val="800"/>
                        </a:spcAft>
                      </a:pPr>
                      <a:r>
                        <a:rPr lang="en-GB" sz="2400" dirty="0">
                          <a:solidFill>
                            <a:schemeClr val="tx2"/>
                          </a:solidFill>
                          <a:effectLst/>
                          <a:latin typeface="Barlow" pitchFamily="2" charset="77"/>
                          <a:ea typeface="Calibri" panose="020F0502020204030204" pitchFamily="34" charset="0"/>
                          <a:cs typeface="Arial" panose="020B0604020202020204" pitchFamily="34" charset="0"/>
                        </a:rPr>
                        <a:t>9</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11 March</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AI: Outputs and creativity [KE]</a:t>
                      </a: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5006922"/>
                  </a:ext>
                </a:extLst>
              </a:tr>
              <a:tr h="586964">
                <a:tc>
                  <a:txBody>
                    <a:bodyPr/>
                    <a:lstStyle/>
                    <a:p>
                      <a:pPr algn="just">
                        <a:lnSpc>
                          <a:spcPct val="150000"/>
                        </a:lnSpc>
                        <a:spcAft>
                          <a:spcPts val="800"/>
                        </a:spcAft>
                      </a:pPr>
                      <a:r>
                        <a:rPr lang="en-GB" sz="2400" dirty="0">
                          <a:solidFill>
                            <a:schemeClr val="tx2"/>
                          </a:solidFill>
                          <a:effectLst/>
                          <a:latin typeface="Barlow" pitchFamily="2" charset="77"/>
                        </a:rPr>
                        <a:t>10</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18 March</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spcAft>
                          <a:spcPts val="800"/>
                        </a:spcAft>
                      </a:pPr>
                      <a:r>
                        <a:rPr lang="en-GB" sz="2400" dirty="0">
                          <a:solidFill>
                            <a:schemeClr val="tx2"/>
                          </a:solidFill>
                          <a:effectLst/>
                          <a:latin typeface="Barlow" pitchFamily="2" charset="77"/>
                        </a:rPr>
                        <a:t>Revision [AT]</a:t>
                      </a:r>
                      <a:endParaRPr lang="en-GB" sz="2400" dirty="0">
                        <a:solidFill>
                          <a:schemeClr val="tx2"/>
                        </a:solidFill>
                        <a:effectLst/>
                        <a:latin typeface="Barlow" pitchFamily="2" charset="77"/>
                        <a:ea typeface="Calibri" panose="020F0502020204030204" pitchFamily="34" charset="0"/>
                        <a:cs typeface="Arial" panose="020B0604020202020204" pitchFamily="34" charset="0"/>
                      </a:endParaRPr>
                    </a:p>
                  </a:txBody>
                  <a:tcPr marL="5165" marR="516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92428142"/>
                  </a:ext>
                </a:extLst>
              </a:tr>
            </a:tbl>
          </a:graphicData>
        </a:graphic>
      </p:graphicFrame>
      <p:sp>
        <p:nvSpPr>
          <p:cNvPr id="7" name="TextBox 6">
            <a:extLst>
              <a:ext uri="{FF2B5EF4-FFF2-40B4-BE49-F238E27FC236}">
                <a16:creationId xmlns:a16="http://schemas.microsoft.com/office/drawing/2014/main" id="{B44F0ADE-8F74-BE2E-8684-37872009C3EB}"/>
              </a:ext>
            </a:extLst>
          </p:cNvPr>
          <p:cNvSpPr txBox="1"/>
          <p:nvPr/>
        </p:nvSpPr>
        <p:spPr>
          <a:xfrm>
            <a:off x="4049795" y="8648477"/>
            <a:ext cx="9240671" cy="47192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r>
              <a:rPr lang="en-GB" sz="2800" dirty="0">
                <a:solidFill>
                  <a:srgbClr val="FF7765"/>
                </a:solidFill>
                <a:latin typeface="Barlow" pitchFamily="2" charset="77"/>
              </a:rPr>
              <a:t>Important note to check the room/location ahead of time!</a:t>
            </a:r>
            <a:endParaRPr kumimoji="0" lang="en-GB" sz="2800" i="0" u="none" strike="noStrike" cap="none" spc="0" normalizeH="0" baseline="0" dirty="0">
              <a:ln>
                <a:noFill/>
              </a:ln>
              <a:solidFill>
                <a:srgbClr val="FF7765"/>
              </a:solidFill>
              <a:effectLst/>
              <a:uFillTx/>
              <a:latin typeface="Barlow" pitchFamily="2" charset="77"/>
              <a:sym typeface="Helvetica Neue"/>
            </a:endParaRPr>
          </a:p>
        </p:txBody>
      </p:sp>
    </p:spTree>
    <p:extLst>
      <p:ext uri="{BB962C8B-B14F-4D97-AF65-F5344CB8AC3E}">
        <p14:creationId xmlns:p14="http://schemas.microsoft.com/office/powerpoint/2010/main" val="2209017975"/>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AF98-746D-CB58-95A6-D3490D29BA7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87D2C11-5FF6-F79B-760F-42AF9603D0A1}"/>
              </a:ext>
            </a:extLst>
          </p:cNvPr>
          <p:cNvSpPr txBox="1"/>
          <p:nvPr/>
        </p:nvSpPr>
        <p:spPr>
          <a:xfrm>
            <a:off x="1010874"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Course materials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44DA9906-8D82-3700-AB2A-8D01838FB68D}"/>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FD1B08BE-7851-A11E-FF28-4A46D4D6980C}"/>
              </a:ext>
            </a:extLst>
          </p:cNvPr>
          <p:cNvSpPr/>
          <p:nvPr/>
        </p:nvSpPr>
        <p:spPr>
          <a:xfrm>
            <a:off x="1010874" y="2047081"/>
            <a:ext cx="8529366" cy="6465873"/>
          </a:xfrm>
          <a:prstGeom prst="rect">
            <a:avLst/>
          </a:prstGeom>
        </p:spPr>
        <p:txBody>
          <a:bodyPr wrap="square">
            <a:spAutoFit/>
          </a:bodyPr>
          <a:lstStyle/>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Essential (core) and recommended (optional) Essential reading: Brown, </a:t>
            </a:r>
            <a:r>
              <a:rPr lang="en-GB" sz="2800" dirty="0" err="1">
                <a:solidFill>
                  <a:schemeClr val="tx2"/>
                </a:solidFill>
                <a:latin typeface="Barlow" pitchFamily="2" charset="77"/>
              </a:rPr>
              <a:t>Kheria</a:t>
            </a:r>
            <a:r>
              <a:rPr lang="en-GB" sz="2800" dirty="0">
                <a:solidFill>
                  <a:schemeClr val="tx2"/>
                </a:solidFill>
                <a:latin typeface="Barlow" pitchFamily="2" charset="77"/>
              </a:rPr>
              <a:t>, Cornwell and </a:t>
            </a:r>
            <a:r>
              <a:rPr lang="en-GB" sz="2800" dirty="0" err="1">
                <a:solidFill>
                  <a:schemeClr val="tx2"/>
                </a:solidFill>
                <a:latin typeface="Barlow" pitchFamily="2" charset="77"/>
              </a:rPr>
              <a:t>Iljadica</a:t>
            </a:r>
            <a:r>
              <a:rPr lang="en-GB" sz="2800" dirty="0">
                <a:solidFill>
                  <a:schemeClr val="tx2"/>
                </a:solidFill>
                <a:latin typeface="Barlow" pitchFamily="2" charset="77"/>
              </a:rPr>
              <a:t> (2024) </a:t>
            </a:r>
            <a:r>
              <a:rPr lang="en-GB" sz="2800" i="1" dirty="0">
                <a:solidFill>
                  <a:schemeClr val="tx2"/>
                </a:solidFill>
                <a:latin typeface="Barlow" pitchFamily="2" charset="77"/>
              </a:rPr>
              <a:t>Contemporary Intellectual Property: Law and Policy </a:t>
            </a:r>
            <a:r>
              <a:rPr lang="en-GB" sz="2800" dirty="0">
                <a:solidFill>
                  <a:schemeClr val="tx2"/>
                </a:solidFill>
                <a:latin typeface="Barlow" pitchFamily="2" charset="77"/>
              </a:rPr>
              <a:t>(6th Edition) OR Bently, Sherman, </a:t>
            </a:r>
            <a:r>
              <a:rPr lang="en-GB" sz="2800" dirty="0" err="1">
                <a:solidFill>
                  <a:schemeClr val="tx2"/>
                </a:solidFill>
                <a:latin typeface="Barlow" pitchFamily="2" charset="77"/>
              </a:rPr>
              <a:t>Gangjee</a:t>
            </a:r>
            <a:r>
              <a:rPr lang="en-GB" sz="2800" dirty="0">
                <a:solidFill>
                  <a:schemeClr val="tx2"/>
                </a:solidFill>
                <a:latin typeface="Barlow" pitchFamily="2" charset="77"/>
              </a:rPr>
              <a:t> and Johnson (2022) </a:t>
            </a:r>
            <a:r>
              <a:rPr lang="en-GB" sz="2800" i="1" dirty="0">
                <a:solidFill>
                  <a:schemeClr val="tx2"/>
                </a:solidFill>
                <a:latin typeface="Barlow" pitchFamily="2" charset="77"/>
              </a:rPr>
              <a:t>Intellectual Property Law </a:t>
            </a:r>
            <a:r>
              <a:rPr lang="en-GB" sz="2800" dirty="0">
                <a:solidFill>
                  <a:schemeClr val="tx2"/>
                </a:solidFill>
                <a:latin typeface="Barlow" pitchFamily="2" charset="77"/>
              </a:rPr>
              <a:t>(6</a:t>
            </a:r>
            <a:r>
              <a:rPr lang="en-GB" sz="2800" baseline="30000" dirty="0">
                <a:solidFill>
                  <a:schemeClr val="tx2"/>
                </a:solidFill>
                <a:latin typeface="Barlow" pitchFamily="2" charset="77"/>
              </a:rPr>
              <a:t>th</a:t>
            </a:r>
            <a:r>
              <a:rPr lang="en-GB" sz="2800" dirty="0">
                <a:solidFill>
                  <a:schemeClr val="tx2"/>
                </a:solidFill>
                <a:latin typeface="Barlow" pitchFamily="2" charset="77"/>
              </a:rPr>
              <a:t> Edition)</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‘Discussion Questions’ – help to focus your attention on the important ‘message’ from the readings</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Slides will be made available on the Moodle page 24 hours before the relevant lecture</a:t>
            </a:r>
          </a:p>
        </p:txBody>
      </p:sp>
      <p:pic>
        <p:nvPicPr>
          <p:cNvPr id="3" name="Picture 2" descr="A book cover with colorful objects&#10;&#10;Description automatically generated">
            <a:extLst>
              <a:ext uri="{FF2B5EF4-FFF2-40B4-BE49-F238E27FC236}">
                <a16:creationId xmlns:a16="http://schemas.microsoft.com/office/drawing/2014/main" id="{75738929-58BB-4E64-D455-29CD9D6DF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2240" y="834343"/>
            <a:ext cx="6027149" cy="8189060"/>
          </a:xfrm>
          <a:prstGeom prst="rect">
            <a:avLst/>
          </a:prstGeom>
        </p:spPr>
      </p:pic>
    </p:spTree>
    <p:extLst>
      <p:ext uri="{BB962C8B-B14F-4D97-AF65-F5344CB8AC3E}">
        <p14:creationId xmlns:p14="http://schemas.microsoft.com/office/powerpoint/2010/main" val="271960"/>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4EF0C-17A6-B7A7-26DF-5516BC6DA99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0A528CA-57AC-4D0D-9D10-11D7DFD3DAFC}"/>
              </a:ext>
            </a:extLst>
          </p:cNvPr>
          <p:cNvSpPr txBox="1"/>
          <p:nvPr/>
        </p:nvSpPr>
        <p:spPr>
          <a:xfrm>
            <a:off x="1010874" y="730197"/>
            <a:ext cx="121564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Student voice (24/25 feedback)</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4FD1A65-475B-649E-B748-E18AF291D830}"/>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2DBC419C-1C8E-8CB3-30E4-5B497CB763A4}"/>
              </a:ext>
            </a:extLst>
          </p:cNvPr>
          <p:cNvSpPr/>
          <p:nvPr/>
        </p:nvSpPr>
        <p:spPr>
          <a:xfrm>
            <a:off x="1028459" y="1947120"/>
            <a:ext cx="14862995" cy="2981329"/>
          </a:xfrm>
          <a:prstGeom prst="rect">
            <a:avLst/>
          </a:prstGeom>
        </p:spPr>
        <p:txBody>
          <a:bodyPr wrap="square">
            <a:spAutoFit/>
          </a:bodyPr>
          <a:lstStyle/>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Some students wanted more recommended readings -&gt; I will continue to add readings throughout the course depending on students’ interests/needs + we’ll talk about how to source/research good scholarship</a:t>
            </a: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Mid-term survey/check-in</a:t>
            </a:r>
          </a:p>
        </p:txBody>
      </p:sp>
    </p:spTree>
    <p:extLst>
      <p:ext uri="{BB962C8B-B14F-4D97-AF65-F5344CB8AC3E}">
        <p14:creationId xmlns:p14="http://schemas.microsoft.com/office/powerpoint/2010/main" val="1610157988"/>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B93C9-CB54-7CDB-2504-FC98EA2FCDD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CCA1BC08-EE6D-331D-D97B-AC68D0C9755C}"/>
              </a:ext>
            </a:extLst>
          </p:cNvPr>
          <p:cNvSpPr txBox="1"/>
          <p:nvPr/>
        </p:nvSpPr>
        <p:spPr>
          <a:xfrm>
            <a:off x="1010874"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Grading and assignment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50EF29F-2939-7962-7158-DDCC68C0A566}"/>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TextBox 2">
            <a:extLst>
              <a:ext uri="{FF2B5EF4-FFF2-40B4-BE49-F238E27FC236}">
                <a16:creationId xmlns:a16="http://schemas.microsoft.com/office/drawing/2014/main" id="{77691AD8-6ED3-4850-A5FD-5D58CC360253}"/>
              </a:ext>
            </a:extLst>
          </p:cNvPr>
          <p:cNvSpPr txBox="1"/>
          <p:nvPr/>
        </p:nvSpPr>
        <p:spPr>
          <a:xfrm>
            <a:off x="1010874" y="1911200"/>
            <a:ext cx="15015593" cy="388054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defTabSz="457200">
              <a:lnSpc>
                <a:spcPct val="150000"/>
              </a:lnSpc>
              <a:defRPr sz="1400" b="0" spc="-27">
                <a:latin typeface="Barlow Regular"/>
                <a:ea typeface="Barlow Regular"/>
                <a:cs typeface="Barlow Regular"/>
                <a:sym typeface="Barlow Regular"/>
              </a:defRPr>
            </a:pPr>
            <a:r>
              <a:rPr lang="en-GB" sz="2800" dirty="0">
                <a:solidFill>
                  <a:schemeClr val="tx2"/>
                </a:solidFill>
                <a:effectLst/>
                <a:latin typeface="Barlow" pitchFamily="2" charset="77"/>
                <a:ea typeface="Calibri" panose="020F0502020204030204" pitchFamily="34" charset="0"/>
                <a:cs typeface="Arial" panose="020B0604020202020204" pitchFamily="34" charset="0"/>
              </a:rPr>
              <a:t>1. An essay of 4,500 words</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ea typeface="Calibri" panose="020F0502020204030204" pitchFamily="34" charset="0"/>
                <a:cs typeface="Arial" panose="020B0604020202020204" pitchFamily="34" charset="0"/>
              </a:rPr>
              <a:t>Worth 85% of your overall grade</a:t>
            </a:r>
            <a:endParaRPr lang="en-GB" sz="2800" dirty="0">
              <a:solidFill>
                <a:schemeClr val="tx2"/>
              </a:solidFill>
              <a:effectLst/>
              <a:latin typeface="Barlow" pitchFamily="2" charset="77"/>
              <a:ea typeface="Calibri" panose="020F0502020204030204" pitchFamily="34" charset="0"/>
              <a:cs typeface="Arial" panose="020B0604020202020204" pitchFamily="34" charset="0"/>
            </a:endParaRP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effectLst/>
                <a:latin typeface="Barlow" pitchFamily="2" charset="77"/>
                <a:ea typeface="Calibri" panose="020F0502020204030204" pitchFamily="34" charset="0"/>
                <a:cs typeface="Arial" panose="020B0604020202020204" pitchFamily="34" charset="0"/>
              </a:rPr>
              <a:t>Students will be permitted to choose from a range of questions based on course topics</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cs typeface="Arial" panose="020B0604020202020204" pitchFamily="34" charset="0"/>
              </a:rPr>
              <a:t>Due date: TBC</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cs typeface="Arial" panose="020B0604020202020204" pitchFamily="34" charset="0"/>
              </a:rPr>
              <a:t>Students will have the opportunity to submit a formative assignment (ungraded) in the form of an essay plan/outline ahead of the revision class for feedback (due date TBC)</a:t>
            </a:r>
          </a:p>
        </p:txBody>
      </p:sp>
    </p:spTree>
    <p:extLst>
      <p:ext uri="{BB962C8B-B14F-4D97-AF65-F5344CB8AC3E}">
        <p14:creationId xmlns:p14="http://schemas.microsoft.com/office/powerpoint/2010/main" val="2772256460"/>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F028-3F6D-D1DD-1420-6F922A611FE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134466B-59C2-11C7-A76A-768BBF389FEC}"/>
              </a:ext>
            </a:extLst>
          </p:cNvPr>
          <p:cNvSpPr txBox="1"/>
          <p:nvPr/>
        </p:nvSpPr>
        <p:spPr>
          <a:xfrm>
            <a:off x="1010874"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Grading and assignment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C7AE65C-F04A-474A-DACB-41B257B56674}"/>
              </a:ext>
            </a:extLst>
          </p:cNvPr>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TextBox 2">
            <a:extLst>
              <a:ext uri="{FF2B5EF4-FFF2-40B4-BE49-F238E27FC236}">
                <a16:creationId xmlns:a16="http://schemas.microsoft.com/office/drawing/2014/main" id="{44998779-D1BD-59B8-08EA-D96D39CCE5FE}"/>
              </a:ext>
            </a:extLst>
          </p:cNvPr>
          <p:cNvSpPr txBox="1"/>
          <p:nvPr/>
        </p:nvSpPr>
        <p:spPr>
          <a:xfrm>
            <a:off x="1010874" y="1911200"/>
            <a:ext cx="15015593" cy="452688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defTabSz="457200">
              <a:lnSpc>
                <a:spcPct val="150000"/>
              </a:lnSpc>
              <a:defRPr sz="1400" b="0" spc="-27">
                <a:latin typeface="Barlow Regular"/>
                <a:ea typeface="Barlow Regular"/>
                <a:cs typeface="Barlow Regular"/>
                <a:sym typeface="Barlow Regular"/>
              </a:defRPr>
            </a:pPr>
            <a:r>
              <a:rPr lang="en-GB" sz="2800" dirty="0">
                <a:solidFill>
                  <a:schemeClr val="tx2"/>
                </a:solidFill>
                <a:latin typeface="Barlow" pitchFamily="2" charset="77"/>
              </a:rPr>
              <a:t>2. Participation</a:t>
            </a:r>
          </a:p>
          <a:p>
            <a:pPr marL="342900" indent="-34290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Worth 15% of your overall grade</a:t>
            </a:r>
          </a:p>
          <a:p>
            <a:pPr marL="342900" indent="-34290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Via </a:t>
            </a:r>
            <a:r>
              <a:rPr lang="en-GB" sz="2800" u="sng" dirty="0">
                <a:solidFill>
                  <a:schemeClr val="tx2"/>
                </a:solidFill>
                <a:latin typeface="Barlow" pitchFamily="2" charset="77"/>
              </a:rPr>
              <a:t>digital activities</a:t>
            </a:r>
            <a:r>
              <a:rPr lang="en-GB" sz="2800" dirty="0">
                <a:solidFill>
                  <a:schemeClr val="tx2"/>
                </a:solidFill>
                <a:latin typeface="Barlow" pitchFamily="2" charset="77"/>
              </a:rPr>
              <a:t> (e.g., Microsoft Forms, Moodle, Padlet)</a:t>
            </a:r>
          </a:p>
          <a:p>
            <a:pPr marL="342900" indent="-34290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Time will be given to complete the activity in class, but this can also be completed up to one week after the class (e.g., if you have an absence due to illness, you can still participate remotely)</a:t>
            </a:r>
          </a:p>
          <a:p>
            <a:pPr marL="342900" indent="-34290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IMPORTANT: accessibility requirements and reasonable adjustments (contact me if you have concerns)</a:t>
            </a:r>
          </a:p>
        </p:txBody>
      </p:sp>
    </p:spTree>
    <p:extLst>
      <p:ext uri="{BB962C8B-B14F-4D97-AF65-F5344CB8AC3E}">
        <p14:creationId xmlns:p14="http://schemas.microsoft.com/office/powerpoint/2010/main" val="789000009"/>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EB07B-FF18-0CAD-CABA-8C849E3EBC7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0C8F71A2-2CBF-FCCB-0C33-E5947C86703A}"/>
              </a:ext>
            </a:extLst>
          </p:cNvPr>
          <p:cNvSpPr txBox="1"/>
          <p:nvPr/>
        </p:nvSpPr>
        <p:spPr>
          <a:xfrm>
            <a:off x="1010873" y="730197"/>
            <a:ext cx="10908983"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Your first participation activity!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BBB19F3-F00C-9983-AD3E-718F59BCBFF5}"/>
              </a:ext>
            </a:extLst>
          </p:cNvPr>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1026" name="Picture 2" descr="QR code">
            <a:extLst>
              <a:ext uri="{FF2B5EF4-FFF2-40B4-BE49-F238E27FC236}">
                <a16:creationId xmlns:a16="http://schemas.microsoft.com/office/drawing/2014/main" id="{3D4292E2-AF3C-826C-4363-BB57CD681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7970" y="2161090"/>
            <a:ext cx="5431419" cy="54314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8F2D493-00D4-0A4D-0F23-5334CC7C8427}"/>
              </a:ext>
            </a:extLst>
          </p:cNvPr>
          <p:cNvSpPr txBox="1"/>
          <p:nvPr/>
        </p:nvSpPr>
        <p:spPr>
          <a:xfrm>
            <a:off x="11408912" y="7592509"/>
            <a:ext cx="4409533" cy="8309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solidFill>
                  <a:schemeClr val="tx2"/>
                </a:solidFill>
                <a:latin typeface="Barlow" pitchFamily="2" charset="77"/>
              </a:rPr>
              <a:t>https://</a:t>
            </a:r>
            <a:r>
              <a:rPr lang="en-GB" sz="2400" b="0" dirty="0" err="1">
                <a:solidFill>
                  <a:schemeClr val="tx2"/>
                </a:solidFill>
                <a:latin typeface="Barlow" pitchFamily="2" charset="77"/>
              </a:rPr>
              <a:t>forms.cloud.microsoft</a:t>
            </a:r>
            <a:r>
              <a:rPr lang="en-GB" sz="2400" b="0" dirty="0">
                <a:solidFill>
                  <a:schemeClr val="tx2"/>
                </a:solidFill>
                <a:latin typeface="Barlow" pitchFamily="2" charset="77"/>
              </a:rPr>
              <a:t>/e/</a:t>
            </a:r>
            <a:r>
              <a:rPr lang="en-GB" sz="2400" b="0" dirty="0" err="1">
                <a:solidFill>
                  <a:schemeClr val="tx2"/>
                </a:solidFill>
                <a:latin typeface="Barlow" pitchFamily="2" charset="77"/>
              </a:rPr>
              <a:t>ZFeAyGFwrp</a:t>
            </a:r>
            <a:endParaRPr lang="en-GB" sz="2400" b="0" dirty="0">
              <a:solidFill>
                <a:schemeClr val="tx2"/>
              </a:solidFill>
              <a:latin typeface="Barlow" pitchFamily="2" charset="77"/>
            </a:endParaRPr>
          </a:p>
        </p:txBody>
      </p:sp>
      <p:sp>
        <p:nvSpPr>
          <p:cNvPr id="5" name="Rectangle 4">
            <a:extLst>
              <a:ext uri="{FF2B5EF4-FFF2-40B4-BE49-F238E27FC236}">
                <a16:creationId xmlns:a16="http://schemas.microsoft.com/office/drawing/2014/main" id="{E8DBF331-B0E4-D1D2-B427-BE0200297D75}"/>
              </a:ext>
            </a:extLst>
          </p:cNvPr>
          <p:cNvSpPr/>
          <p:nvPr/>
        </p:nvSpPr>
        <p:spPr>
          <a:xfrm>
            <a:off x="1010873" y="3454148"/>
            <a:ext cx="9260887" cy="323421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GB" sz="2800" b="0" dirty="0">
                <a:solidFill>
                  <a:schemeClr val="tx2"/>
                </a:solidFill>
                <a:latin typeface="Barlow" pitchFamily="2" charset="77"/>
              </a:rPr>
              <a:t>Please share an example of something that you think would be interesting to explore in this class. It can be anything you think implicates copyright in your life or interests/hobbies. Feel free to share a link if it's helpful to illustrate your example.</a:t>
            </a:r>
          </a:p>
        </p:txBody>
      </p:sp>
    </p:spTree>
    <p:extLst>
      <p:ext uri="{BB962C8B-B14F-4D97-AF65-F5344CB8AC3E}">
        <p14:creationId xmlns:p14="http://schemas.microsoft.com/office/powerpoint/2010/main" val="4218012039"/>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BEF7D-0E75-408F-8E15-F160443AB1E8}"/>
            </a:ext>
          </a:extLst>
        </p:cNvPr>
        <p:cNvGrpSpPr/>
        <p:nvPr/>
      </p:nvGrpSpPr>
      <p:grpSpPr>
        <a:xfrm>
          <a:off x="0" y="0"/>
          <a:ext cx="0" cy="0"/>
          <a:chOff x="0" y="0"/>
          <a:chExt cx="0" cy="0"/>
        </a:xfrm>
      </p:grpSpPr>
      <p:pic>
        <p:nvPicPr>
          <p:cNvPr id="120" name="POWER POINT_2.pdf" descr="POWER POINT_2.pdf">
            <a:extLst>
              <a:ext uri="{FF2B5EF4-FFF2-40B4-BE49-F238E27FC236}">
                <a16:creationId xmlns:a16="http://schemas.microsoft.com/office/drawing/2014/main" id="{8855784C-DB54-D2F2-7A1E-86370BBAD62B}"/>
              </a:ext>
            </a:extLst>
          </p:cNvPr>
          <p:cNvPicPr>
            <a:picLocks noChangeAspect="1"/>
          </p:cNvPicPr>
          <p:nvPr/>
        </p:nvPicPr>
        <p:blipFill>
          <a:blip r:embed="rId2"/>
          <a:stretch>
            <a:fillRect/>
          </a:stretch>
        </p:blipFill>
        <p:spPr>
          <a:xfrm>
            <a:off x="0" y="-3251597"/>
            <a:ext cx="17345677" cy="13005197"/>
          </a:xfrm>
          <a:prstGeom prst="rect">
            <a:avLst/>
          </a:prstGeom>
          <a:ln w="12700">
            <a:miter lim="400000"/>
          </a:ln>
        </p:spPr>
      </p:pic>
      <p:sp>
        <p:nvSpPr>
          <p:cNvPr id="121" name="PROJECT NAME…">
            <a:extLst>
              <a:ext uri="{FF2B5EF4-FFF2-40B4-BE49-F238E27FC236}">
                <a16:creationId xmlns:a16="http://schemas.microsoft.com/office/drawing/2014/main" id="{E9131124-8CB2-E218-352F-70764559422F}"/>
              </a:ext>
            </a:extLst>
          </p:cNvPr>
          <p:cNvSpPr txBox="1"/>
          <p:nvPr/>
        </p:nvSpPr>
        <p:spPr>
          <a:xfrm>
            <a:off x="449654" y="8171244"/>
            <a:ext cx="4958379" cy="8128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14 January 2026</a:t>
            </a:r>
            <a:endParaRPr lang="en-GB" sz="3200" dirty="0"/>
          </a:p>
        </p:txBody>
      </p:sp>
      <p:sp>
        <p:nvSpPr>
          <p:cNvPr id="122" name="Shape 21">
            <a:extLst>
              <a:ext uri="{FF2B5EF4-FFF2-40B4-BE49-F238E27FC236}">
                <a16:creationId xmlns:a16="http://schemas.microsoft.com/office/drawing/2014/main" id="{DCA27613-2FEB-65A6-CB26-37B0B0AC47C3}"/>
              </a:ext>
            </a:extLst>
          </p:cNvPr>
          <p:cNvSpPr txBox="1"/>
          <p:nvPr/>
        </p:nvSpPr>
        <p:spPr>
          <a:xfrm>
            <a:off x="643085" y="2236193"/>
            <a:ext cx="15442981" cy="135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20(+?) Years of Copyright Wars</a:t>
            </a:r>
          </a:p>
        </p:txBody>
      </p:sp>
      <p:sp>
        <p:nvSpPr>
          <p:cNvPr id="123" name="Shape 21">
            <a:extLst>
              <a:ext uri="{FF2B5EF4-FFF2-40B4-BE49-F238E27FC236}">
                <a16:creationId xmlns:a16="http://schemas.microsoft.com/office/drawing/2014/main" id="{75E0C9BA-EBF0-6BA3-8BB1-DEC17C973E73}"/>
              </a:ext>
            </a:extLst>
          </p:cNvPr>
          <p:cNvSpPr txBox="1"/>
          <p:nvPr/>
        </p:nvSpPr>
        <p:spPr>
          <a:xfrm>
            <a:off x="620857" y="3591820"/>
            <a:ext cx="6000578" cy="858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a:extLst>
              <a:ext uri="{FF2B5EF4-FFF2-40B4-BE49-F238E27FC236}">
                <a16:creationId xmlns:a16="http://schemas.microsoft.com/office/drawing/2014/main" id="{630F0C2B-944B-369C-1957-9B405766677E}"/>
              </a:ext>
            </a:extLst>
          </p:cNvPr>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B2CBC1BB-2421-0D87-C0B7-9795D83369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93971044"/>
      </p:ext>
    </p:extLst>
  </p:cSld>
  <p:clrMapOvr>
    <a:masterClrMapping/>
  </p:clrMapOvr>
  <p:transition spd="med" advTm="2781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4CD1-51CC-2E58-6BEF-62E841BE05B4}"/>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E831DA7-9203-1653-D6A1-4202DA2BD22F}"/>
              </a:ext>
            </a:extLst>
          </p:cNvPr>
          <p:cNvSpPr txBox="1"/>
          <p:nvPr/>
        </p:nvSpPr>
        <p:spPr>
          <a:xfrm>
            <a:off x="1028459" y="730197"/>
            <a:ext cx="1174048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What is the copyright ‘war’ about?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3AB7A09-074B-66D0-9394-686B6337C121}"/>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3D2F92B2-9EDA-4C51-2776-82B66F85D259}"/>
              </a:ext>
            </a:extLst>
          </p:cNvPr>
          <p:cNvSpPr/>
          <p:nvPr/>
        </p:nvSpPr>
        <p:spPr>
          <a:xfrm>
            <a:off x="1028459" y="1947120"/>
            <a:ext cx="14862995" cy="1295226"/>
          </a:xfrm>
          <a:prstGeom prst="rect">
            <a:avLst/>
          </a:prstGeom>
        </p:spPr>
        <p:txBody>
          <a:bodyPr wrap="square">
            <a:spAutoFit/>
          </a:bodyPr>
          <a:lstStyle/>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For discussion: </a:t>
            </a:r>
            <a:r>
              <a:rPr lang="en-GB" sz="2800" i="1" dirty="0">
                <a:solidFill>
                  <a:schemeClr val="tx2"/>
                </a:solidFill>
                <a:latin typeface="Barlow" pitchFamily="2" charset="77"/>
              </a:rPr>
              <a:t>Why is copyright controversial? Why do people protest about changes to copyright policy? </a:t>
            </a:r>
          </a:p>
        </p:txBody>
      </p:sp>
    </p:spTree>
    <p:extLst>
      <p:ext uri="{BB962C8B-B14F-4D97-AF65-F5344CB8AC3E}">
        <p14:creationId xmlns:p14="http://schemas.microsoft.com/office/powerpoint/2010/main" val="3706737679"/>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30926-C553-C1BA-9D4D-DF01F5BC0F4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14CD3ECB-78F8-D9E0-3262-A3D2C50C0F91}"/>
              </a:ext>
            </a:extLst>
          </p:cNvPr>
          <p:cNvSpPr txBox="1"/>
          <p:nvPr/>
        </p:nvSpPr>
        <p:spPr>
          <a:xfrm>
            <a:off x="1028459" y="730197"/>
            <a:ext cx="1174048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What is the copyright ‘war’ about?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D99FB19-55BA-2D89-9BCE-6E2AEFB6DD73}"/>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3CEC7D2-4049-422F-5024-1B454C868F57}"/>
              </a:ext>
            </a:extLst>
          </p:cNvPr>
          <p:cNvSpPr/>
          <p:nvPr/>
        </p:nvSpPr>
        <p:spPr>
          <a:xfrm>
            <a:off x="1028459" y="1947120"/>
            <a:ext cx="14862995" cy="3880549"/>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Do key stakeholders in copyright want the same things? For example:</a:t>
            </a:r>
          </a:p>
          <a:p>
            <a:pPr marL="285750" lvl="3"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Creators</a:t>
            </a:r>
          </a:p>
          <a:p>
            <a:pPr marL="285750" lvl="3"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Rightsholders</a:t>
            </a:r>
          </a:p>
          <a:p>
            <a:pPr marL="285750" lvl="3"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Users</a:t>
            </a:r>
          </a:p>
          <a:p>
            <a:pPr marL="285750" lvl="3"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Pirates</a:t>
            </a:r>
          </a:p>
          <a:p>
            <a:pPr marL="285750" lvl="3"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Platforms</a:t>
            </a:r>
          </a:p>
        </p:txBody>
      </p:sp>
      <p:graphicFrame>
        <p:nvGraphicFramePr>
          <p:cNvPr id="2" name="Diagram 1">
            <a:extLst>
              <a:ext uri="{FF2B5EF4-FFF2-40B4-BE49-F238E27FC236}">
                <a16:creationId xmlns:a16="http://schemas.microsoft.com/office/drawing/2014/main" id="{C1941E31-DA15-36C4-3A01-A4402BE3B708}"/>
              </a:ext>
            </a:extLst>
          </p:cNvPr>
          <p:cNvGraphicFramePr/>
          <p:nvPr>
            <p:extLst>
              <p:ext uri="{D42A27DB-BD31-4B8C-83A1-F6EECF244321}">
                <p14:modId xmlns:p14="http://schemas.microsoft.com/office/powerpoint/2010/main" val="730837330"/>
              </p:ext>
            </p:extLst>
          </p:nvPr>
        </p:nvGraphicFramePr>
        <p:xfrm>
          <a:off x="1057515" y="5496281"/>
          <a:ext cx="15225231" cy="39456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1330800"/>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1C7C-26DD-BD05-177E-491C9B28A42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9065395-C072-7103-3CAC-140C1E4E5E1B}"/>
              </a:ext>
            </a:extLst>
          </p:cNvPr>
          <p:cNvSpPr txBox="1"/>
          <p:nvPr/>
        </p:nvSpPr>
        <p:spPr>
          <a:xfrm>
            <a:off x="1028458" y="730197"/>
            <a:ext cx="14878949"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Late 90s/early 00s: Analogue - digital</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8A2D9F6-4A86-5069-65BE-20CB6D358359}"/>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algn="l" defTabSz="609630">
              <a:lnSpc>
                <a:spcPct val="120000"/>
              </a:lnSpc>
              <a:defRPr sz="1400" b="0" spc="-27">
                <a:latin typeface="Barlow Regular"/>
                <a:ea typeface="Barlow Regular"/>
                <a:cs typeface="Barlow Regular"/>
                <a:sym typeface="Barlow Regular"/>
              </a:defRPr>
            </a:pPr>
            <a:endParaRPr sz="3200" dirty="0">
              <a:solidFill>
                <a:schemeClr val="tx2"/>
              </a:solidFill>
            </a:endParaRPr>
          </a:p>
        </p:txBody>
      </p:sp>
      <p:pic>
        <p:nvPicPr>
          <p:cNvPr id="2" name="Picture 1" descr="A close-up of a cassette tape&#10;&#10;Description automatically generated">
            <a:extLst>
              <a:ext uri="{FF2B5EF4-FFF2-40B4-BE49-F238E27FC236}">
                <a16:creationId xmlns:a16="http://schemas.microsoft.com/office/drawing/2014/main" id="{DBD776E3-0A4B-E27F-9107-359F5511F74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28458" y="3094458"/>
            <a:ext cx="4990737" cy="3243979"/>
          </a:xfrm>
          <a:prstGeom prst="rect">
            <a:avLst/>
          </a:prstGeom>
        </p:spPr>
      </p:pic>
      <p:pic>
        <p:nvPicPr>
          <p:cNvPr id="5" name="Picture 4" descr="A cd in a case&#10;&#10;Description automatically generated">
            <a:extLst>
              <a:ext uri="{FF2B5EF4-FFF2-40B4-BE49-F238E27FC236}">
                <a16:creationId xmlns:a16="http://schemas.microsoft.com/office/drawing/2014/main" id="{83F51462-2950-66EC-7CFA-F1C394067BC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793520" y="4716447"/>
            <a:ext cx="3742736" cy="3343387"/>
          </a:xfrm>
          <a:prstGeom prst="rect">
            <a:avLst/>
          </a:prstGeom>
        </p:spPr>
      </p:pic>
      <p:pic>
        <p:nvPicPr>
          <p:cNvPr id="6" name="Picture 5" descr="A close-up of a music player&#10;&#10;Description automatically generated">
            <a:extLst>
              <a:ext uri="{FF2B5EF4-FFF2-40B4-BE49-F238E27FC236}">
                <a16:creationId xmlns:a16="http://schemas.microsoft.com/office/drawing/2014/main" id="{309BF123-C849-778D-DD4C-5ABDE129C147}"/>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0082788" y="2654924"/>
            <a:ext cx="5824619" cy="5824619"/>
          </a:xfrm>
          <a:prstGeom prst="rect">
            <a:avLst/>
          </a:prstGeom>
        </p:spPr>
      </p:pic>
      <p:sp>
        <p:nvSpPr>
          <p:cNvPr id="8" name="Right Arrow 7">
            <a:extLst>
              <a:ext uri="{FF2B5EF4-FFF2-40B4-BE49-F238E27FC236}">
                <a16:creationId xmlns:a16="http://schemas.microsoft.com/office/drawing/2014/main" id="{BF500574-989F-96BC-64D4-4B314813A276}"/>
              </a:ext>
            </a:extLst>
          </p:cNvPr>
          <p:cNvSpPr/>
          <p:nvPr/>
        </p:nvSpPr>
        <p:spPr>
          <a:xfrm>
            <a:off x="9180855" y="4716447"/>
            <a:ext cx="1206802" cy="1022201"/>
          </a:xfrm>
          <a:prstGeom prst="rightArrow">
            <a:avLst/>
          </a:prstGeom>
          <a:solidFill>
            <a:srgbClr val="FF7765"/>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endParaRPr kumimoji="0" lang="en-GB" sz="20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2872941950"/>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68200-D0CA-49CE-ADFE-119525D94F6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E40A736-60FA-4187-1F62-1B28B56DFE6B}"/>
              </a:ext>
            </a:extLst>
          </p:cNvPr>
          <p:cNvSpPr txBox="1"/>
          <p:nvPr/>
        </p:nvSpPr>
        <p:spPr>
          <a:xfrm>
            <a:off x="1028458" y="730197"/>
            <a:ext cx="1445538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Late 90s/early 00s: ‘P2P’ platforms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EAEB480-75E6-554C-0442-3F93DEB8CB96}"/>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5124" name="Picture 4" descr="The Pirate Bay - Wikidata">
            <a:extLst>
              <a:ext uri="{FF2B5EF4-FFF2-40B4-BE49-F238E27FC236}">
                <a16:creationId xmlns:a16="http://schemas.microsoft.com/office/drawing/2014/main" id="{E14640F4-44BC-09A8-4B2A-A4F687700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8504" y="2048409"/>
            <a:ext cx="8030899" cy="619497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Napster Transformed Shutdown to $70m Price Tag | Metis Partners">
            <a:extLst>
              <a:ext uri="{FF2B5EF4-FFF2-40B4-BE49-F238E27FC236}">
                <a16:creationId xmlns:a16="http://schemas.microsoft.com/office/drawing/2014/main" id="{6FAB912D-481D-FF02-FBC3-F13BF9FBB3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08" y="2248856"/>
            <a:ext cx="8478149" cy="476688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New Zealand court says Megaupload founder Kim Dotcom can be extradited to  U.S.">
            <a:extLst>
              <a:ext uri="{FF2B5EF4-FFF2-40B4-BE49-F238E27FC236}">
                <a16:creationId xmlns:a16="http://schemas.microsoft.com/office/drawing/2014/main" id="{37E49A5F-7C9D-21AA-D05E-1705850C7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493" y="5346341"/>
            <a:ext cx="5369827" cy="3739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319155"/>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4620-3268-783E-1845-E92B4DF7BB95}"/>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F449F5A-B695-676F-C983-20323BB97E23}"/>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4" name="TextBox 3">
            <a:extLst>
              <a:ext uri="{FF2B5EF4-FFF2-40B4-BE49-F238E27FC236}">
                <a16:creationId xmlns:a16="http://schemas.microsoft.com/office/drawing/2014/main" id="{E760D545-AFF1-DE74-9669-903F7B5287EC}"/>
              </a:ext>
            </a:extLst>
          </p:cNvPr>
          <p:cNvSpPr txBox="1"/>
          <p:nvPr/>
        </p:nvSpPr>
        <p:spPr>
          <a:xfrm>
            <a:off x="1010873" y="6313507"/>
            <a:ext cx="15318515" cy="258788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‘You wouldn’t steal a car’ (Federation Against Copyright Theft and MPA), 2004</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Do you agree with this statement? Why / why not?</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What effect is this statement intended to have, and to whom? (how would it make you feel?)</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What are the interests of the people writing the message?</a:t>
            </a:r>
          </a:p>
        </p:txBody>
      </p:sp>
      <p:pic>
        <p:nvPicPr>
          <p:cNvPr id="3" name="Picture 4" descr="Piracy. It's a Crime.&quot; Anti-Piracy Advice | Company Bumpers Wiki | Fandom">
            <a:extLst>
              <a:ext uri="{FF2B5EF4-FFF2-40B4-BE49-F238E27FC236}">
                <a16:creationId xmlns:a16="http://schemas.microsoft.com/office/drawing/2014/main" id="{E5002736-B90D-BC1E-D431-378982C57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1936" y="907312"/>
            <a:ext cx="9476390" cy="5065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984843"/>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DE4C-CF96-A450-A48F-D3F521D3420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BB90F76-6DEE-AB8D-C21D-983D6FB5A32C}"/>
              </a:ext>
            </a:extLst>
          </p:cNvPr>
          <p:cNvSpPr txBox="1"/>
          <p:nvPr/>
        </p:nvSpPr>
        <p:spPr>
          <a:xfrm>
            <a:off x="1010873" y="730197"/>
            <a:ext cx="14041558"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Late 90s/early 00s: Position mapping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CFB6A83-7206-6CD0-74C7-F1676678011F}"/>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2" name="Diagram 1">
            <a:extLst>
              <a:ext uri="{FF2B5EF4-FFF2-40B4-BE49-F238E27FC236}">
                <a16:creationId xmlns:a16="http://schemas.microsoft.com/office/drawing/2014/main" id="{AEDC1FE9-8DFE-1FC3-0E4B-6E26F2C0F7CD}"/>
              </a:ext>
            </a:extLst>
          </p:cNvPr>
          <p:cNvGraphicFramePr/>
          <p:nvPr>
            <p:extLst>
              <p:ext uri="{D42A27DB-BD31-4B8C-83A1-F6EECF244321}">
                <p14:modId xmlns:p14="http://schemas.microsoft.com/office/powerpoint/2010/main" val="2145114710"/>
              </p:ext>
            </p:extLst>
          </p:nvPr>
        </p:nvGraphicFramePr>
        <p:xfrm>
          <a:off x="1289518" y="2290483"/>
          <a:ext cx="15225231" cy="39456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E99AE7E1-4688-9128-C974-8578AAD63548}"/>
              </a:ext>
            </a:extLst>
          </p:cNvPr>
          <p:cNvSpPr txBox="1"/>
          <p:nvPr/>
        </p:nvSpPr>
        <p:spPr>
          <a:xfrm>
            <a:off x="2071241" y="5805203"/>
            <a:ext cx="3172100" cy="133369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chemeClr val="tx2"/>
                </a:solidFill>
                <a:effectLst/>
                <a:uFillTx/>
                <a:latin typeface="Barlow" pitchFamily="2" charset="77"/>
                <a:sym typeface="Helvetica Neue"/>
              </a:rPr>
              <a:t>Rightsholders</a:t>
            </a:r>
          </a:p>
          <a:p>
            <a:pPr marL="0" marR="0" indent="0" algn="ctr" defTabSz="587022"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chemeClr val="tx2"/>
                </a:solidFill>
                <a:effectLst/>
                <a:uFillTx/>
                <a:latin typeface="Barlow" pitchFamily="2" charset="77"/>
                <a:sym typeface="Helvetica Neue"/>
              </a:rPr>
              <a:t>(particularly record companies)</a:t>
            </a:r>
          </a:p>
        </p:txBody>
      </p:sp>
      <p:sp>
        <p:nvSpPr>
          <p:cNvPr id="5" name="TextBox 4">
            <a:extLst>
              <a:ext uri="{FF2B5EF4-FFF2-40B4-BE49-F238E27FC236}">
                <a16:creationId xmlns:a16="http://schemas.microsoft.com/office/drawing/2014/main" id="{F5E4DC49-1E9D-09FD-7CE7-9DBB2250CC1A}"/>
              </a:ext>
            </a:extLst>
          </p:cNvPr>
          <p:cNvSpPr txBox="1"/>
          <p:nvPr/>
        </p:nvSpPr>
        <p:spPr>
          <a:xfrm>
            <a:off x="7347597" y="5698531"/>
            <a:ext cx="2645067" cy="176458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lang="en-GB" sz="2800" b="0" dirty="0">
                <a:solidFill>
                  <a:schemeClr val="tx2"/>
                </a:solidFill>
                <a:latin typeface="Barlow" pitchFamily="2" charset="77"/>
              </a:rPr>
              <a:t>Creators</a:t>
            </a:r>
          </a:p>
          <a:p>
            <a:pPr marL="0" marR="0" indent="0" algn="ctr" defTabSz="587022"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chemeClr val="tx2"/>
                </a:solidFill>
                <a:effectLst/>
                <a:uFillTx/>
                <a:latin typeface="Barlow" pitchFamily="2" charset="77"/>
                <a:sym typeface="Helvetica Neue"/>
              </a:rPr>
              <a:t>(or rather, a more moderate position)</a:t>
            </a:r>
          </a:p>
        </p:txBody>
      </p:sp>
      <p:sp>
        <p:nvSpPr>
          <p:cNvPr id="6" name="TextBox 5">
            <a:extLst>
              <a:ext uri="{FF2B5EF4-FFF2-40B4-BE49-F238E27FC236}">
                <a16:creationId xmlns:a16="http://schemas.microsoft.com/office/drawing/2014/main" id="{F99C593A-5136-3D9D-7B09-821908226AAF}"/>
              </a:ext>
            </a:extLst>
          </p:cNvPr>
          <p:cNvSpPr txBox="1"/>
          <p:nvPr/>
        </p:nvSpPr>
        <p:spPr>
          <a:xfrm>
            <a:off x="12629237" y="5805202"/>
            <a:ext cx="2148648" cy="133369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chemeClr val="tx2"/>
                </a:solidFill>
                <a:effectLst/>
                <a:uFillTx/>
                <a:latin typeface="Barlow" pitchFamily="2" charset="77"/>
                <a:sym typeface="Helvetica Neue"/>
              </a:rPr>
              <a:t>Pirates and P2P platforms</a:t>
            </a:r>
          </a:p>
        </p:txBody>
      </p:sp>
    </p:spTree>
    <p:extLst>
      <p:ext uri="{BB962C8B-B14F-4D97-AF65-F5344CB8AC3E}">
        <p14:creationId xmlns:p14="http://schemas.microsoft.com/office/powerpoint/2010/main" val="587776155"/>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54F5-06B3-EDF2-0163-6ADB9E2317E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4B3B042-187D-D797-BD29-DE394E8FE4C3}"/>
              </a:ext>
            </a:extLst>
          </p:cNvPr>
          <p:cNvSpPr txBox="1"/>
          <p:nvPr/>
        </p:nvSpPr>
        <p:spPr>
          <a:xfrm>
            <a:off x="1010873" y="730197"/>
            <a:ext cx="10908983"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2009: Pirate Bay conviction (EU)</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BD97003-B72D-314A-E604-CB409ED60D8D}"/>
              </a:ext>
            </a:extLst>
          </p:cNvPr>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3074" name="Picture 2">
            <a:extLst>
              <a:ext uri="{FF2B5EF4-FFF2-40B4-BE49-F238E27FC236}">
                <a16:creationId xmlns:a16="http://schemas.microsoft.com/office/drawing/2014/main" id="{D51C703F-B378-F5EA-483B-952104927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5462" y="2611997"/>
            <a:ext cx="8493927" cy="53653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F23BC90-4D23-1C49-2A94-3F0031FAC7B1}"/>
              </a:ext>
            </a:extLst>
          </p:cNvPr>
          <p:cNvSpPr txBox="1"/>
          <p:nvPr/>
        </p:nvSpPr>
        <p:spPr>
          <a:xfrm>
            <a:off x="1010873" y="2708056"/>
            <a:ext cx="6321972" cy="51732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Public protests in Stockholm (Swedish court) against the conviction of Pirate Bay leaders (fine and imprisonment)</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“The establishment and the politicians have declared war against our whole generation,” he said, calling on “file-sharing for the people.”</a:t>
            </a:r>
          </a:p>
        </p:txBody>
      </p:sp>
    </p:spTree>
    <p:extLst>
      <p:ext uri="{BB962C8B-B14F-4D97-AF65-F5344CB8AC3E}">
        <p14:creationId xmlns:p14="http://schemas.microsoft.com/office/powerpoint/2010/main" val="3832508486"/>
      </p:ext>
    </p:extLst>
  </p:cSld>
  <p:clrMapOvr>
    <a:masterClrMapping/>
  </p:clrMapOvr>
  <p:transition spd="med" advTm="222639"/>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7D68A-8763-4A0E-E7FC-E7291A49A0E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812E130-4D69-040F-80ED-0A6F82C0237F}"/>
              </a:ext>
            </a:extLst>
          </p:cNvPr>
          <p:cNvSpPr txBox="1"/>
          <p:nvPr/>
        </p:nvSpPr>
        <p:spPr>
          <a:xfrm>
            <a:off x="1010873" y="730197"/>
            <a:ext cx="10908983"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2012: SOPA/PIPA (US)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1A9A801-3097-D0C2-2C43-5B5916685B2E}"/>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2050" name="Picture 2" descr="undefined">
            <a:extLst>
              <a:ext uri="{FF2B5EF4-FFF2-40B4-BE49-F238E27FC236}">
                <a16:creationId xmlns:a16="http://schemas.microsoft.com/office/drawing/2014/main" id="{590C0425-3D20-DD6F-3B6D-C265D3042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6651" y="311352"/>
            <a:ext cx="6822738" cy="456544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155451F-19A8-0AC6-6DC1-D2EC7E1C84DC}"/>
              </a:ext>
            </a:extLst>
          </p:cNvPr>
          <p:cNvSpPr/>
          <p:nvPr/>
        </p:nvSpPr>
        <p:spPr>
          <a:xfrm>
            <a:off x="1010873" y="2594076"/>
            <a:ext cx="8022768" cy="517321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Public protests and website ‘blackouts’</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The bills proposed that anyone found guilty of streaming copyrighted content without permission 10 or more times within six months should face up to five years in jail.</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The US government and rights holders would have the right to seek court orders against any site accused of "enabling or facilitating" piracy. </a:t>
            </a:r>
          </a:p>
        </p:txBody>
      </p:sp>
      <p:pic>
        <p:nvPicPr>
          <p:cNvPr id="2054" name="Picture 6" descr="undefined">
            <a:extLst>
              <a:ext uri="{FF2B5EF4-FFF2-40B4-BE49-F238E27FC236}">
                <a16:creationId xmlns:a16="http://schemas.microsoft.com/office/drawing/2014/main" id="{A6604DB3-3B36-8B5B-3097-8A3AC0C84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6651" y="5183549"/>
            <a:ext cx="6822738" cy="4258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447956"/>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0EFFA-6607-1DEF-FD01-5FBBF38D8BAD}"/>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F3BCE76-442B-DE71-BE4D-108696959CDD}"/>
              </a:ext>
            </a:extLst>
          </p:cNvPr>
          <p:cNvSpPr txBox="1"/>
          <p:nvPr/>
        </p:nvSpPr>
        <p:spPr>
          <a:xfrm>
            <a:off x="1028459" y="730197"/>
            <a:ext cx="1174048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2012: Algorithms and deep learning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125647C-F969-C8BE-4C4E-3961A877DFA0}"/>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6146" name="Picture 2" descr="YouTube Algorithm 2024: Focus on Audience - Babcox Media">
            <a:extLst>
              <a:ext uri="{FF2B5EF4-FFF2-40B4-BE49-F238E27FC236}">
                <a16:creationId xmlns:a16="http://schemas.microsoft.com/office/drawing/2014/main" id="{E42317E5-E397-7063-0190-647DA1CF3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393" y="2320159"/>
            <a:ext cx="15310411" cy="51132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57B10B-3D2A-5CCA-DBEA-5A0AE24D7D1B}"/>
              </a:ext>
            </a:extLst>
          </p:cNvPr>
          <p:cNvSpPr txBox="1"/>
          <p:nvPr/>
        </p:nvSpPr>
        <p:spPr>
          <a:xfrm>
            <a:off x="2153773" y="7869196"/>
            <a:ext cx="13005649" cy="64889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Piracy is in decline due to new business models, but revenues are still stagnating</a:t>
            </a:r>
          </a:p>
        </p:txBody>
      </p:sp>
    </p:spTree>
    <p:extLst>
      <p:ext uri="{BB962C8B-B14F-4D97-AF65-F5344CB8AC3E}">
        <p14:creationId xmlns:p14="http://schemas.microsoft.com/office/powerpoint/2010/main" val="2548507327"/>
      </p:ext>
    </p:extLst>
  </p:cSld>
  <p:clrMapOvr>
    <a:masterClrMapping/>
  </p:clrMapOvr>
  <p:transition spd="med" advTm="222639"/>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6825-862D-629E-FCB0-14BAAB8775E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9E3F4EB-BA8A-1793-F6E4-B9BBC3F6B8D8}"/>
              </a:ext>
            </a:extLst>
          </p:cNvPr>
          <p:cNvSpPr txBox="1"/>
          <p:nvPr/>
        </p:nvSpPr>
        <p:spPr>
          <a:xfrm>
            <a:off x="1010873" y="730197"/>
            <a:ext cx="10908983"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2019: CDSM Directive (EU)</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B3B0302-9889-C7BB-1ED7-1F4A0DBE3D70}"/>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2" name="Picture 4" descr="Inside the giant German protest trying to bring down Article 13 | WIRED UK">
            <a:extLst>
              <a:ext uri="{FF2B5EF4-FFF2-40B4-BE49-F238E27FC236}">
                <a16:creationId xmlns:a16="http://schemas.microsoft.com/office/drawing/2014/main" id="{B40E80F7-401D-FD48-CDA3-42B23197D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5531" y="2814617"/>
            <a:ext cx="7153858" cy="47706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B76896-7D50-D219-918B-815ECD394840}"/>
              </a:ext>
            </a:extLst>
          </p:cNvPr>
          <p:cNvSpPr txBox="1"/>
          <p:nvPr/>
        </p:nvSpPr>
        <p:spPr>
          <a:xfrm>
            <a:off x="1010873" y="2290192"/>
            <a:ext cx="7659258" cy="581954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Public protests in EU, institutional resistance (academic, industry)</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Rhetoric -&gt; Big Tech is profiting from unauthorised hosting of infringing content</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Rhetoric -&gt; New technologies can achieve automated enforcement and prevent infringing material from being uploaded (’upload filters’, ‘YouTube tax’, ‘censorship machines’)</a:t>
            </a:r>
          </a:p>
        </p:txBody>
      </p:sp>
    </p:spTree>
    <p:extLst>
      <p:ext uri="{BB962C8B-B14F-4D97-AF65-F5344CB8AC3E}">
        <p14:creationId xmlns:p14="http://schemas.microsoft.com/office/powerpoint/2010/main" val="940442391"/>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E2A79-52D8-9B77-06A3-DF39EB98761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55D0729-14B7-549F-5834-C5AA1F473617}"/>
              </a:ext>
            </a:extLst>
          </p:cNvPr>
          <p:cNvSpPr txBox="1"/>
          <p:nvPr/>
        </p:nvSpPr>
        <p:spPr>
          <a:xfrm>
            <a:off x="1010873" y="730197"/>
            <a:ext cx="10908983"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2025: AI protests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F8097B2-A236-02F2-2B5D-ED9F73761F21}"/>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4098" name="Picture 2" descr="The tracklisting on the back cover of the album carries a message: &quot;The British government must not legalise music theft to benefit AI companies.&quot;">
            <a:extLst>
              <a:ext uri="{FF2B5EF4-FFF2-40B4-BE49-F238E27FC236}">
                <a16:creationId xmlns:a16="http://schemas.microsoft.com/office/drawing/2014/main" id="{9A856FED-E410-2502-4D5C-5DBDEA3CA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4201" y="1358474"/>
            <a:ext cx="7036652" cy="703665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69A1C90-A1BE-9B5C-8B99-6949D7357138}"/>
              </a:ext>
            </a:extLst>
          </p:cNvPr>
          <p:cNvSpPr txBox="1"/>
          <p:nvPr/>
        </p:nvSpPr>
        <p:spPr>
          <a:xfrm>
            <a:off x="1010873" y="3237832"/>
            <a:ext cx="8826810" cy="323421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Symbolic/artistic protests</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Over 1,000 artists release a ‘silent’ album (Is This What We Want)</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‘Make It </a:t>
            </a:r>
            <a:r>
              <a:rPr lang="en-GB" sz="2800" b="0" dirty="0" err="1">
                <a:solidFill>
                  <a:schemeClr val="tx2"/>
                </a:solidFill>
                <a:latin typeface="Barlow" pitchFamily="2" charset="77"/>
              </a:rPr>
              <a:t>FAIr</a:t>
            </a:r>
            <a:r>
              <a:rPr lang="en-GB" sz="2800" b="0" dirty="0">
                <a:solidFill>
                  <a:schemeClr val="tx2"/>
                </a:solidFill>
                <a:latin typeface="Barlow" pitchFamily="2" charset="77"/>
              </a:rPr>
              <a:t>’ campaign</a:t>
            </a:r>
          </a:p>
          <a:p>
            <a:pPr marL="342900" indent="-342900" algn="just">
              <a:lnSpc>
                <a:spcPct val="150000"/>
              </a:lnSpc>
              <a:buFont typeface="Arial" panose="020B0604020202020204" pitchFamily="34" charset="0"/>
              <a:buChar char="•"/>
            </a:pPr>
            <a:r>
              <a:rPr lang="en-GB" sz="2800" b="0" dirty="0">
                <a:solidFill>
                  <a:schemeClr val="tx2"/>
                </a:solidFill>
                <a:latin typeface="Barlow" pitchFamily="2" charset="77"/>
              </a:rPr>
              <a:t>Online petitions, anti-AI groups, AI ‘slop’, </a:t>
            </a:r>
            <a:r>
              <a:rPr lang="en-GB" sz="2800" b="0" dirty="0" err="1">
                <a:solidFill>
                  <a:schemeClr val="tx2"/>
                </a:solidFill>
                <a:latin typeface="Barlow" pitchFamily="2" charset="77"/>
              </a:rPr>
              <a:t>clankers</a:t>
            </a:r>
            <a:endParaRPr lang="en-GB" sz="2800" b="0" dirty="0">
              <a:solidFill>
                <a:schemeClr val="tx2"/>
              </a:solidFill>
              <a:latin typeface="Barlow" pitchFamily="2" charset="77"/>
            </a:endParaRPr>
          </a:p>
        </p:txBody>
      </p:sp>
    </p:spTree>
    <p:extLst>
      <p:ext uri="{BB962C8B-B14F-4D97-AF65-F5344CB8AC3E}">
        <p14:creationId xmlns:p14="http://schemas.microsoft.com/office/powerpoint/2010/main" val="1021898404"/>
      </p:ext>
    </p:extLst>
  </p:cSld>
  <p:clrMapOvr>
    <a:masterClrMapping/>
  </p:clrMapOvr>
  <p:transition spd="med" advTm="222639"/>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ED27-DB5B-DD84-684E-29D86C91C90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6CF957E0-6C72-8627-08EF-96A3ABC387E2}"/>
              </a:ext>
            </a:extLst>
          </p:cNvPr>
          <p:cNvSpPr txBox="1"/>
          <p:nvPr/>
        </p:nvSpPr>
        <p:spPr>
          <a:xfrm>
            <a:off x="1010873" y="730197"/>
            <a:ext cx="14041558"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Mid 00s – Position mapping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5F1258D-CC0E-41C1-4C7E-BF525F12DC46}"/>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2" name="Diagram 1">
            <a:extLst>
              <a:ext uri="{FF2B5EF4-FFF2-40B4-BE49-F238E27FC236}">
                <a16:creationId xmlns:a16="http://schemas.microsoft.com/office/drawing/2014/main" id="{9BEA58D5-5AF7-0DBC-9E4B-695EF940AB9A}"/>
              </a:ext>
            </a:extLst>
          </p:cNvPr>
          <p:cNvGraphicFramePr/>
          <p:nvPr/>
        </p:nvGraphicFramePr>
        <p:xfrm>
          <a:off x="1289518" y="2290483"/>
          <a:ext cx="15225231" cy="39456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8F718ECA-397A-7A6C-ED65-FEE889B0C7A8}"/>
              </a:ext>
            </a:extLst>
          </p:cNvPr>
          <p:cNvSpPr txBox="1"/>
          <p:nvPr/>
        </p:nvSpPr>
        <p:spPr>
          <a:xfrm>
            <a:off x="2071241" y="6020647"/>
            <a:ext cx="3172100" cy="9028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chemeClr val="tx2"/>
                </a:solidFill>
                <a:effectLst/>
                <a:uFillTx/>
                <a:latin typeface="Barlow" pitchFamily="2" charset="77"/>
                <a:sym typeface="Helvetica Neue"/>
              </a:rPr>
              <a:t>Rightsholders (and creators)</a:t>
            </a:r>
          </a:p>
        </p:txBody>
      </p:sp>
      <p:sp>
        <p:nvSpPr>
          <p:cNvPr id="5" name="TextBox 4">
            <a:extLst>
              <a:ext uri="{FF2B5EF4-FFF2-40B4-BE49-F238E27FC236}">
                <a16:creationId xmlns:a16="http://schemas.microsoft.com/office/drawing/2014/main" id="{C44A834B-715B-81C6-FC10-D2255492BA1B}"/>
              </a:ext>
            </a:extLst>
          </p:cNvPr>
          <p:cNvSpPr txBox="1"/>
          <p:nvPr/>
        </p:nvSpPr>
        <p:spPr>
          <a:xfrm>
            <a:off x="7347597" y="6129419"/>
            <a:ext cx="2645067" cy="9028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lang="en-GB" sz="2800" b="0" dirty="0">
                <a:solidFill>
                  <a:schemeClr val="tx2"/>
                </a:solidFill>
                <a:latin typeface="Barlow" pitchFamily="2" charset="77"/>
              </a:rPr>
              <a:t>Platforms and users</a:t>
            </a:r>
            <a:endParaRPr kumimoji="0" lang="en-GB" sz="2800" b="0" i="0" u="none" strike="noStrike" cap="none" spc="0" normalizeH="0" baseline="0" dirty="0">
              <a:ln>
                <a:noFill/>
              </a:ln>
              <a:solidFill>
                <a:schemeClr val="tx2"/>
              </a:solidFill>
              <a:effectLst/>
              <a:uFillTx/>
              <a:latin typeface="Barlow" pitchFamily="2" charset="77"/>
              <a:sym typeface="Helvetica Neue"/>
            </a:endParaRPr>
          </a:p>
        </p:txBody>
      </p:sp>
      <p:sp>
        <p:nvSpPr>
          <p:cNvPr id="6" name="TextBox 5">
            <a:extLst>
              <a:ext uri="{FF2B5EF4-FFF2-40B4-BE49-F238E27FC236}">
                <a16:creationId xmlns:a16="http://schemas.microsoft.com/office/drawing/2014/main" id="{52BDA283-0D44-9A04-3A2F-F38436C7DC1D}"/>
              </a:ext>
            </a:extLst>
          </p:cNvPr>
          <p:cNvSpPr txBox="1"/>
          <p:nvPr/>
        </p:nvSpPr>
        <p:spPr>
          <a:xfrm>
            <a:off x="12629237" y="5589759"/>
            <a:ext cx="2148648" cy="176458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chemeClr val="tx2"/>
                </a:solidFill>
                <a:effectLst/>
                <a:uFillTx/>
                <a:latin typeface="Barlow" pitchFamily="2" charset="77"/>
                <a:sym typeface="Helvetica Neue"/>
              </a:rPr>
              <a:t>? AI companies ? – some of them maybe!</a:t>
            </a:r>
          </a:p>
        </p:txBody>
      </p:sp>
    </p:spTree>
    <p:extLst>
      <p:ext uri="{BB962C8B-B14F-4D97-AF65-F5344CB8AC3E}">
        <p14:creationId xmlns:p14="http://schemas.microsoft.com/office/powerpoint/2010/main" val="2870583432"/>
      </p:ext>
    </p:extLst>
  </p:cSld>
  <p:clrMapOvr>
    <a:masterClrMapping/>
  </p:clrMapOvr>
  <p:transition spd="med" advTm="222639"/>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E75B-82BD-65DC-D149-27DA0E73941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6E9D59C-1859-3069-90E9-07994AC8BC1D}"/>
              </a:ext>
            </a:extLst>
          </p:cNvPr>
          <p:cNvSpPr txBox="1"/>
          <p:nvPr/>
        </p:nvSpPr>
        <p:spPr>
          <a:xfrm>
            <a:off x="1010873" y="730197"/>
            <a:ext cx="10908983"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Closing thoughts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00ADD1D-2C1D-5EF4-82B2-EFAD11FD6481}"/>
              </a:ext>
            </a:extLst>
          </p:cNvPr>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4" name="Rectangle 3">
            <a:extLst>
              <a:ext uri="{FF2B5EF4-FFF2-40B4-BE49-F238E27FC236}">
                <a16:creationId xmlns:a16="http://schemas.microsoft.com/office/drawing/2014/main" id="{91834C86-697E-CD94-58B2-6EF1E6C2E370}"/>
              </a:ext>
            </a:extLst>
          </p:cNvPr>
          <p:cNvSpPr/>
          <p:nvPr/>
        </p:nvSpPr>
        <p:spPr>
          <a:xfrm>
            <a:off x="1028459" y="1947120"/>
            <a:ext cx="14862995" cy="5819542"/>
          </a:xfrm>
          <a:prstGeom prst="rect">
            <a:avLst/>
          </a:prstGeom>
        </p:spPr>
        <p:txBody>
          <a:bodyPr wrap="square">
            <a:spAutoFit/>
          </a:bodyPr>
          <a:lstStyle/>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Changing targets: individual users, rogue platforms, the ‘open’ internet, Big Tech, AI developers</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Changing concerns: loss of sales, loss of control, loss of culture/creativity</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The law-making process is not neutral</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Music often makes up a disproportionate amount of the history of modern copyright</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US-centric narrative</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Evidence is important… and so is language!</a:t>
            </a:r>
          </a:p>
          <a:p>
            <a:pPr marL="285750" indent="-285750" algn="just"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If every major change to copyright policy causes protest, what is its legitimacy in the digital environment?</a:t>
            </a:r>
            <a:endParaRPr lang="en-GB" sz="2800" i="1" dirty="0">
              <a:solidFill>
                <a:schemeClr val="tx2"/>
              </a:solidFill>
              <a:latin typeface="Barlow" pitchFamily="2" charset="77"/>
            </a:endParaRPr>
          </a:p>
        </p:txBody>
      </p:sp>
    </p:spTree>
    <p:extLst>
      <p:ext uri="{BB962C8B-B14F-4D97-AF65-F5344CB8AC3E}">
        <p14:creationId xmlns:p14="http://schemas.microsoft.com/office/powerpoint/2010/main" val="770568188"/>
      </p:ext>
    </p:extLst>
  </p:cSld>
  <p:clrMapOvr>
    <a:masterClrMapping/>
  </p:clrMapOvr>
  <p:transition spd="med" advTm="222639"/>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E0F1-5C4A-F1E0-6590-BBFB95A70A3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73FE985-6DED-1570-3889-F2CD8D6F8568}"/>
              </a:ext>
            </a:extLst>
          </p:cNvPr>
          <p:cNvSpPr txBox="1"/>
          <p:nvPr/>
        </p:nvSpPr>
        <p:spPr>
          <a:xfrm>
            <a:off x="1010873" y="730197"/>
            <a:ext cx="10908983"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Next week…</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CF8E07E2-E11F-367F-8E45-35BF672ADC10}"/>
              </a:ext>
            </a:extLst>
          </p:cNvPr>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70DA12B3-41B2-A7F1-2F30-B6D432D7A657}"/>
              </a:ext>
            </a:extLst>
          </p:cNvPr>
          <p:cNvSpPr/>
          <p:nvPr/>
        </p:nvSpPr>
        <p:spPr>
          <a:xfrm>
            <a:off x="1028459" y="1947120"/>
            <a:ext cx="14862995" cy="1941557"/>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Feeling lost? Don’t worry! Copyright basics will begin next week.</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Authorship, ownership and subject-matter (21 January, Adam Smith 584)</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Any questions/concerns, email me and/or contact me for an office hour slot</a:t>
            </a:r>
          </a:p>
        </p:txBody>
      </p:sp>
    </p:spTree>
    <p:extLst>
      <p:ext uri="{BB962C8B-B14F-4D97-AF65-F5344CB8AC3E}">
        <p14:creationId xmlns:p14="http://schemas.microsoft.com/office/powerpoint/2010/main" val="654854263"/>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2262</TotalTime>
  <Words>1221</Words>
  <Application>Microsoft Macintosh PowerPoint</Application>
  <PresentationFormat>Custom</PresentationFormat>
  <Paragraphs>151</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Barlow</vt:lpstr>
      <vt:lpstr>Helvetica Neue</vt:lpstr>
      <vt:lpstr>Helvetica Neue Light</vt:lpstr>
      <vt:lpstr>Helvetica Neue Medium</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95</cp:revision>
  <dcterms:created xsi:type="dcterms:W3CDTF">2020-07-21T13:40:18Z</dcterms:created>
  <dcterms:modified xsi:type="dcterms:W3CDTF">2026-01-14T12:31:32Z</dcterms:modified>
</cp:coreProperties>
</file>