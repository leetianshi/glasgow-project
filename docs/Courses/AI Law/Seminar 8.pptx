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66" r:id="rId5"/>
    <p:sldId id="276" r:id="rId6"/>
    <p:sldId id="273" r:id="rId7"/>
    <p:sldId id="277" r:id="rId8"/>
    <p:sldId id="278" r:id="rId9"/>
    <p:sldId id="274" r:id="rId10"/>
    <p:sldId id="268" r:id="rId11"/>
    <p:sldId id="275" r:id="rId12"/>
    <p:sldId id="267" r:id="rId13"/>
    <p:sldId id="262" r:id="rId14"/>
    <p:sldId id="269" r:id="rId15"/>
    <p:sldId id="287" r:id="rId16"/>
    <p:sldId id="259" r:id="rId17"/>
    <p:sldId id="289" r:id="rId18"/>
    <p:sldId id="290" r:id="rId19"/>
    <p:sldId id="291" r:id="rId20"/>
    <p:sldId id="292" r:id="rId21"/>
    <p:sldId id="293" r:id="rId22"/>
    <p:sldId id="294" r:id="rId23"/>
    <p:sldId id="288" r:id="rId24"/>
    <p:sldId id="271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72" r:id="rId34"/>
    <p:sldId id="261" r:id="rId35"/>
    <p:sldId id="26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70C0"/>
    <a:srgbClr val="4F5E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83" autoAdjust="0"/>
    <p:restoredTop sz="94660"/>
  </p:normalViewPr>
  <p:slideViewPr>
    <p:cSldViewPr snapToGrid="0">
      <p:cViewPr>
        <p:scale>
          <a:sx n="75" d="100"/>
          <a:sy n="75" d="100"/>
        </p:scale>
        <p:origin x="217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18:50:38.357"/>
    </inkml:context>
    <inkml:brush xml:id="br0">
      <inkml:brushProperty name="width" value="0.1" units="cm"/>
      <inkml:brushProperty name="height" value="0.1" units="cm"/>
      <inkml:brushProperty name="color" value="#0740DF"/>
    </inkml:brush>
  </inkml:definitions>
  <inkml:trace contextRef="#ctx0" brushRef="#br0">1884 30 24575,'-19'-7'0,"-1"1"0,1 1 0,-1 1 0,0 1 0,0 1 0,0 0 0,0 1 0,-28 3 0,5-2 0,-42-2 0,-1 3 0,0 4 0,1 4 0,-92 21 0,116-12 0,0 2 0,2 3 0,0 2 0,2 3 0,1 3 0,1 1 0,-52 42 0,48-27 0,2 2 0,3 2 0,1 3 0,3 2 0,-71 104 0,93-115 0,2 2 0,2 1 0,2 0 0,2 2 0,2 1 0,3 0 0,-16 96 0,20-63 0,3 0 0,4 0 0,4 1 0,13 101 0,4-84 0,3 0 0,49 139 0,-58-204 0,2-2 0,2 1 0,1-2 0,1 0 0,2-1 0,2-1 0,1 0 0,1-2 0,1-1 0,2-1 0,1-1 0,1-1 0,37 26 0,-4-12 0,3-2 0,128 55 0,148 33 0,-310-115 0,83 27 0,1-5 0,1-5 0,218 24 0,-259-47 0,0-3 0,0-4 0,0-2 0,-1-4 0,0-4 0,0-2 0,95-32 0,-109 25 0,0-2 0,-1-3 0,-2-3 0,-1-1 0,100-76 0,-121 78 0,-1-1 0,-2-2 0,0-1 0,-3-2 0,0 0 0,-2-2 0,-2-1 0,-2-1 0,25-57 0,-24 37 0,-3 0 0,-2-2 0,-3 0 0,-2-1 0,-4 0 0,-2-1 0,-2 0 0,-4 0 0,-2 0 0,-2 0 0,-4 0 0,-21-93 0,11 86 0,-52-188 0,54 216 0,-1 1 0,-1 1 0,-3 1 0,-30-46 0,17 38 0,-3 1 0,-1 2 0,-2 2 0,-2 2 0,-2 1 0,-1 2 0,-2 3 0,-1 1 0,-2 2 0,-1 3 0,-1 1 0,-1 3 0,-65-19 0,-103-21 0,-373-55 0,542 111-273,0 3 0,-1 2 0,1 2 0,-56 8 0,64-1-6553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18:50:44.645"/>
    </inkml:context>
    <inkml:brush xml:id="br0">
      <inkml:brushProperty name="width" value="0.1" units="cm"/>
      <inkml:brushProperty name="height" value="0.1" units="cm"/>
      <inkml:brushProperty name="color" value="#0740DF"/>
    </inkml:brush>
  </inkml:definitions>
  <inkml:trace contextRef="#ctx0" brushRef="#br0">1765 0 24575,'-62'11'0,"19"-1"0,-6-1 0,0 3 0,1 1 0,-59 26 0,-136 75 0,159-69 0,2 4 0,2 4 0,2 3 0,3 4 0,2 3 0,3 2 0,-81 101 0,-75 129 0,185-233 0,3 2 0,-59 134 0,82-156 0,1 1 0,3 0 0,1 1 0,3 0 0,1 0 0,2 1 0,2-1 0,2 1 0,2-1 0,2 1 0,15 66 0,-3-48 0,2 0 0,3-1 0,3-1 0,2-1 0,3-1 0,3-1 0,46 62 0,8-1 0,5-4 0,5-4 0,4-5 0,6-4 0,207 155 0,-247-214 0,2-3 0,1-3 0,3-3 0,0-4 0,2-2 0,118 27 0,-25-20 0,333 26 0,-439-59 0,1-1 0,-1-4 0,1-2 0,91-20 0,-74 6 0,0-5 0,141-61 0,-120 38 0,174-111 0,-217 119 0,-2-3 0,-3-2 0,-1-2 0,55-65 0,-61 58 0,-2-3 0,-3-2 0,-3-1 0,-2-2 0,-3-1 0,-2-2 0,-4-1 0,-2 0 0,-3-2 0,-3-1 0,-3-1 0,-3 0 0,-3 0 0,-3-1 0,-3 0 0,-9-105 0,-2 126 0,-2-1 0,-1 2 0,-3-1 0,-3 2 0,-1 0 0,-2 1 0,-2 1 0,-2 1 0,-34-46 0,-11-5 0,-3 3 0,-153-147 0,161 182 0,-3 2 0,-1 4 0,-3 2 0,-3 4 0,0 3 0,-3 3 0,-134-47 0,13 22 0,-2 9 0,-208-28 0,120 38 0,-321-8 0,557 51 0,-84 8 0,110-3 0,1 2 0,0 0 0,0 2 0,0 0 0,-32 16 0,-1 8-273,2 3 0,1 2 0,2 2 0,-61 57 0,12-4-6553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18:50:52.0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2394 0 24575,'-37'1'0,"0"3"0,0 0 0,1 2 0,-53 17 0,17 0 0,-83 40 0,-73 51 0,6 10 0,-274 201 0,390-248 0,3 4 0,-147 150 0,200-177 0,3 2 0,3 2 0,1 2 0,4 1 0,2 2 0,-35 84 0,34-48 0,4 2 0,4 2 0,-23 152 0,34-114 0,6 1 0,6 153 0,9-228 0,3 0 0,3-1 0,24 96 0,-22-126 0,1-1 0,2 0 0,1 0 0,2-2 0,1 0 0,2 0 0,40 52 0,-41-66 0,1-1 0,0 0 0,1-2 0,1 0 0,0-1 0,1-1 0,1-2 0,0 0 0,1-1 0,0-1 0,1-2 0,37 9 0,30 2 0,1-4 0,100 4 0,-186-19 0,1082 20 0,-864-22 0,-45 0 0,-1-8 0,322-59 0,-418 50 0,-1-3 0,-1-4 0,-1-4 0,-1-3 0,-2-3 0,-1-4 0,-3-3 0,75-56 0,-93 55 0,-2-1 0,-2-3 0,-2-3 0,57-75 0,-77 87 0,-2-2 0,-3-1 0,0 0 0,-3-2 0,-2 0 0,-2-2 0,13-51 0,-13 14 0,-3 0 0,-4-1 0,-4-1 0,-9-161 0,-4 191 0,-1 0 0,-3 0 0,-3 1 0,-2 1 0,-2 1 0,-2 0 0,-3 1 0,-2 1 0,-2 2 0,-2 0 0,-2 2 0,-2 2 0,-2 1 0,-47-45 0,25 36 0,-2 3 0,-3 3 0,-1 2 0,-3 3 0,-1 3 0,-86-35 0,-443-138 0,266 121 0,-660-93 0,983 182 0,-53-7 0,0 2 0,0 3 0,-72 5 0,113 0 0,0 1 0,0 0 0,1 2 0,-1 0 0,1 1 0,0 1 0,1 0 0,0 2 0,0 0 0,0 0 0,1 2 0,1 0 0,0 1 0,-19 19 0,-29 40 0,4 4 0,3 1 0,-45 85 0,49-79 0,-457 804-1365,434-720-5461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18:50:59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2439 61 24575,'-61'-11'0,"0"3"0,-1 3 0,-100 4 0,122 1 0,-78 5 0,0 5 0,1 4 0,0 6 0,2 5 0,1 5 0,1 5 0,2 5 0,1 5 0,3 4 0,2 5 0,3 4 0,2 5 0,-140 115 0,206-149 0,2 0 0,1 3 0,1 0 0,2 2 0,-24 37 0,33-41 0,2 1 0,1 0 0,2 1 0,1 0 0,1 1 0,-12 62 0,6 13 0,-7 183 0,26 111 0,0-358 0,3 0 0,1 0 0,2 0 0,2-1 0,24 71 0,-22-87 0,1-1 0,1 0 0,1 0 0,1-2 0,1 0 0,2 0 0,0-2 0,1 0 0,37 32 0,-12-20 0,1-2 0,1-2 0,1-2 0,98 42 0,217 54 0,-196-79 0,2-7 0,2-8 0,1-8 0,184 2 0,-166-21 0,375-42 0,-492 27 0,0-2 0,-1-3 0,0-4 0,-2-2 0,0-4 0,-2-2 0,-1-4 0,73-48 0,-106 58 0,-2-1 0,0-1 0,-2-1 0,-1-2 0,-1-1 0,-1-1 0,-2-1 0,-1-2 0,-1 0 0,-2-1 0,-2-1 0,-1 0 0,-1-2 0,-3 0 0,0-1 0,-3 0 0,-1 0 0,-2-1 0,-1 0 0,0-60 0,-5 24 0,-14-119 0,8 163 0,-1-1 0,-1 1 0,-2 1 0,-1-1 0,-2 2 0,-22-43 0,-10-2 0,-4 2 0,-57-66 0,-126-126 0,212 243 0,-392-389 0,329 340 0,-2 4 0,-4 3 0,-132-70 0,162 105 0,-2 3 0,0 2 0,-1 4 0,-1 1 0,-96-13 0,2 13 0,-170 1 0,169 17-682,-235 31-1,222-5-6143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0AF02-95DC-4A8B-BA8B-D804F6169116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8B03C-194A-4E41-9C8B-181EE85F86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39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8B03C-194A-4E41-9C8B-181EE85F864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049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B44D7-5875-8950-C79F-92929599F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3B427-33F8-826E-A876-F24B62EC4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FA696-E133-B184-53A2-60C90D38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6D73-9310-4260-A2AA-C4316AE130C0}" type="datetime1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680AF-A5C3-FF8E-28B8-254510BC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BD1E7-664F-F6F0-3BB9-443E787F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76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0FE63-10DF-CF0B-E75F-C1102B75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9D01-EA82-DE49-C374-F0B0D717C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9594-7D56-6E7B-C493-0B33C3C48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3DED7-91FE-4347-9EFB-7DE411649332}" type="datetime1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73487-B7F5-6403-54F4-51401CD9C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D65CC-7709-35B1-8460-35FE75C1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550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72BA3-CF4B-AFF0-2B3E-636CE34C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61366-7FBD-50BA-8BFA-CBE1E7DBE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C0C00-FBE1-923D-ACFF-B8ED8ED5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015B-B639-4AFA-BDDC-453371CDA115}" type="datetime1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61D09-8838-D8BD-96DC-816801BD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06440-D75D-B38B-45B2-C178C13E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622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3A43-AA37-F6E7-3B7D-1BA85A5ED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5D827-C0DE-1F05-B3CA-3F2EC6AED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D735F-BDBF-F78B-0174-B5138ABF9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89226-5A87-2D81-9B34-9CC5F5441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F9E0-1D76-45A9-B75F-B5140297E7AF}" type="datetime1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C9ECA-7AA6-FBF3-EF8C-92D82DF1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245AC-917C-D7BD-9DC9-4210E58D9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80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04A5-2F08-008C-1A47-499F6197C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F9C93-7605-3F01-AD28-48145A404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9FF72-50BA-5728-21A5-80483B39F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B3254-0FA5-1B5C-4843-B8240391E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38ACC-5E19-D43D-DE7A-1D446003F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431DF-D7F5-287A-0818-D15ABC96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9CE8-BB2C-4DDA-B6D5-97147B8D8C70}" type="datetime1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B88B08-D6DB-A487-A16A-9BFE527B1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111C0-E412-FACA-C7C1-731FB9C0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132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B7E4-DECA-B725-054C-DD468D54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D2ABF-62D7-3D06-8B5B-18B93EE5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FD15D-52E1-4F95-B4D0-23445B9C45A6}" type="datetime1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35DD9-17A9-0A8D-499B-E1C5DAF2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E707D-810C-C710-AA94-6B66837E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09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B4846-30B4-A997-2669-610F2B238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3C177-8FAD-4BD9-AC8F-C029B9A56852}" type="datetime1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665EF-7722-E1DD-FD30-624EFB02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DA794-D6FE-91B8-EC83-0C75CA75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287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CDE3-B0F1-F212-6730-0CA106684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7C85-DD46-22A0-1269-F7CF4BA50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37629-70A8-B380-82B4-1B12B97F2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F13E7-59A7-B957-A1F6-6447B733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F4E4-F4E1-46D5-984D-0A087254F60C}" type="datetime1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7FF3C-A7B0-6A3D-9A49-7A4D2682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F0C34-5205-1A41-F8AA-26AABD28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22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0975-6F55-3073-C4CE-53C774FAB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1067E6-65B8-C364-2A30-2444AFC31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3A0A5-AC7F-4C9D-0226-5B7A43C56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7185A-A1D8-868E-AA43-2DCDB831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AC93-F045-43D8-9E56-FCAE9B0AAF13}" type="datetime1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01B6C-F74E-DE22-459F-3E0C9135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F69C5-10DB-C259-542C-215AB737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08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DEDC6-99E4-B63C-5F00-6430C58B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9D27C-1BC5-F0CD-401A-A982C7694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732D4-06D2-49BE-08AE-87B521F6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177D7-83BC-40C0-9CCB-A096BFE9B3C0}" type="datetime1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E2A7A-EA51-DC4A-D4C7-A8ACB652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95993-52C6-60AB-EA9D-40E455D55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83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C7A67-52A5-758C-64AE-B9E6E8F50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4AEA0-3A02-CB44-0BCF-B7CA37F75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8E9D3-3EED-F7AB-F303-60771183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641B-D7E7-4B8F-A179-E007B92DAC29}" type="datetime1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65829-418C-F4AF-DDB2-CE2AC33C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03CF2-E71C-5AA4-DF06-7895E826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60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9DF623-614A-96C5-DE52-C0555E7D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1309-4A72-FA11-4303-D85A02EBA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5CFD6-5C51-9527-A253-EC2AEC54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C6D05-887F-4DD6-ABBB-0A58539B5EAE}" type="datetime1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13CFC-0280-EC88-5F72-7C6A0A173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4D81D-66CE-CAE0-1FC8-72DB33EDA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D5A5B-811B-418E-9483-61F67F998C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69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s43681-022-00143-x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-strategy.ec.europa.eu/en/library/ethics-guidelines-trustworthy-ai" TargetMode="External"/><Relationship Id="rId2" Type="http://schemas.openxmlformats.org/officeDocument/2006/relationships/hyperlink" Target="https://doi.org/10.1016/j.jsis.2024.101885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i.org/10.1007/s43681-022-00143-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i.org/10.1007/s43681-022-00143-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i.org/10.1016/j.jsis.2024.10188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erald.com/intr/article-pdf/33/7/133/1214024/intr-01-2022-0042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pdf/10.1145/3593013.359407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emerald.com/intr/article-pdf/33/7/133/1214024/intr-01-2022-0042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patter.2022.100489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patter.2022.100489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doi.org/10.1016/j.patter.2022.100489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hyperlink" Target="https://doi.org/10.1016/j.plas.2022.100068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3.png"/><Relationship Id="rId5" Type="http://schemas.openxmlformats.org/officeDocument/2006/relationships/image" Target="../media/image10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oi.org/10.1016/j.plas.2022.100068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i.org/10.1016/j.plas.2022.100068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hyperlink" Target="https://www.iif.com/portals/0/Files/content/Innovation/Data%20Cloud%20AI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i.org/10.1016/j.plas.2022.100068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l.gi.de/server/api/core/bitstreams/ad27d25b-060f-4e24-b8a9-915eeed80544/conten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dl.gi.de/server/api/core/bitstreams/ad27d25b-060f-4e24-b8a9-915eeed80544/content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dl.gi.de/server/api/core/bitstreams/ad27d25b-060f-4e24-b8a9-915eeed80544/content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dl.gi.de/server/api/core/bitstreams/ad27d25b-060f-4e24-b8a9-915eeed80544/conten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dl.gi.de/server/api/core/bitstreams/ad27d25b-060f-4e24-b8a9-915eeed80544/content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l.gi.de/server/api/core/bitstreams/ad27d25b-060f-4e24-b8a9-915eeed80544/content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dl.gi.de/server/api/core/bitstreams/ad27d25b-060f-4e24-b8a9-915eeed80544/content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mailto:Alessio.Azzutti@glasgow.ac.uk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57CC-06FE-BAAB-ADE0-B641E1F56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650" y="724125"/>
            <a:ext cx="7867650" cy="1735137"/>
          </a:xfrm>
        </p:spPr>
        <p:txBody>
          <a:bodyPr>
            <a:normAutofit fontScale="90000"/>
          </a:bodyPr>
          <a:lstStyle/>
          <a:p>
            <a:pPr algn="l"/>
            <a:r>
              <a:rPr lang="en-GB" b="1" cap="small" dirty="0"/>
              <a:t>AI Governance</a:t>
            </a:r>
            <a:r>
              <a:rPr lang="en-GB" cap="small" dirty="0"/>
              <a:t> and </a:t>
            </a:r>
            <a:br>
              <a:rPr lang="en-GB" cap="small" dirty="0"/>
            </a:br>
            <a:r>
              <a:rPr lang="en-GB" cap="small" dirty="0"/>
              <a:t>the </a:t>
            </a:r>
            <a:r>
              <a:rPr lang="en-GB" b="1" cap="small" dirty="0"/>
              <a:t>AI Lifecycle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ECF7C-6835-3956-190A-47E85B2B4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6650" y="3602037"/>
            <a:ext cx="7867650" cy="268446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b="1" dirty="0"/>
              <a:t>Dr. Alessio Azzutti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2100" dirty="0"/>
              <a:t>Lecturer in Law &amp; Technology (FinTech)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University of Glasgow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Faculty of Law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GB" sz="20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2000" b="1" i="1" dirty="0"/>
              <a:t>LLM</a:t>
            </a:r>
            <a:r>
              <a:rPr lang="en-GB" sz="2000" b="1" dirty="0"/>
              <a:t> </a:t>
            </a:r>
            <a:r>
              <a:rPr lang="en-GB" sz="2000" b="1" i="1" dirty="0"/>
              <a:t>Artificial Intelligence &amp; Law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Seminar 8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2000" dirty="0"/>
              <a:t>13 March 2026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C0230F-4BA9-C96E-48B0-8F5A947F1323}"/>
              </a:ext>
            </a:extLst>
          </p:cNvPr>
          <p:cNvCxnSpPr>
            <a:cxnSpLocks/>
          </p:cNvCxnSpPr>
          <p:nvPr/>
        </p:nvCxnSpPr>
        <p:spPr>
          <a:xfrm>
            <a:off x="3676650" y="704850"/>
            <a:ext cx="725805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854666-36C8-76C9-9555-34B73386AF73}"/>
              </a:ext>
            </a:extLst>
          </p:cNvPr>
          <p:cNvCxnSpPr>
            <a:cxnSpLocks/>
          </p:cNvCxnSpPr>
          <p:nvPr/>
        </p:nvCxnSpPr>
        <p:spPr>
          <a:xfrm>
            <a:off x="3676650" y="6286500"/>
            <a:ext cx="725805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5BEE8E1-6465-D3B3-1FDD-A5ADF501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75" y="402363"/>
            <a:ext cx="2716225" cy="144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271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DDAE-1698-B1F3-1038-B9B3D962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cap="small" dirty="0"/>
              <a:t>Seminar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CB33A-7DA6-6CC2-D232-9B3288727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6300"/>
            <a:ext cx="10515600" cy="39797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GB" b="1" dirty="0"/>
              <a:t>AI Governance</a:t>
            </a:r>
            <a:r>
              <a:rPr lang="en-GB" dirty="0"/>
              <a:t>: An Introduction</a:t>
            </a:r>
          </a:p>
          <a:p>
            <a:pPr marL="514350" indent="-514350">
              <a:buAutoNum type="arabicPeriod"/>
            </a:pPr>
            <a:endParaRPr lang="en-GB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GB" b="1" dirty="0"/>
              <a:t>Intra-organisational Dimension</a:t>
            </a:r>
            <a:r>
              <a:rPr lang="en-GB" dirty="0"/>
              <a:t>: The “</a:t>
            </a:r>
            <a:r>
              <a:rPr lang="en-GB" b="1" dirty="0"/>
              <a:t>AI Lifecycle</a:t>
            </a:r>
            <a:r>
              <a:rPr lang="en-GB" dirty="0"/>
              <a:t>”</a:t>
            </a:r>
          </a:p>
          <a:p>
            <a:pPr marL="514350" indent="-514350">
              <a:buAutoNum type="arabicPeriod"/>
            </a:pPr>
            <a:endParaRPr lang="en-GB" dirty="0"/>
          </a:p>
          <a:p>
            <a:pPr marL="514350" indent="-514350">
              <a:buAutoNum type="arabicPeriod"/>
            </a:pPr>
            <a:r>
              <a:rPr lang="en-GB" b="1" dirty="0"/>
              <a:t>The AI Lifecycle and Emerging AI Regulations</a:t>
            </a:r>
          </a:p>
          <a:p>
            <a:pPr marL="514350" indent="-514350">
              <a:buAutoNum type="arabicPeriod"/>
            </a:pPr>
            <a:endParaRPr lang="en-GB" b="1" dirty="0"/>
          </a:p>
          <a:p>
            <a:pPr marL="514350" indent="-514350">
              <a:buAutoNum type="arabicPeriod"/>
            </a:pPr>
            <a:r>
              <a:rPr lang="en-GB" b="1" dirty="0"/>
              <a:t>In-class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206C8-69EF-7538-54CB-E609C92F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960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9B2C5-7408-676A-B7AF-07405404E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2569B1-089F-D7D0-B3B6-02C8A621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cap="sm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Part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1A859-8E3B-0B6C-125E-5FB514007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7178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AI Governance</a:t>
            </a:r>
          </a:p>
        </p:txBody>
      </p:sp>
      <p:sp>
        <p:nvSpPr>
          <p:cNvPr id="233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34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35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9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3F14A-F090-4A7C-5280-AC4319F3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ABD5A5B-811B-418E-9483-61F67F998C2D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272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7CB96-198C-10A3-FE44-F31FF7E38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ED3A-5898-302C-AD9A-D135F5C7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 algn="ctr"/>
            <a:r>
              <a:rPr lang="en-GB" cap="small" dirty="0"/>
              <a:t>Key Questions for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40990-A3D9-A5A5-5A8D-053D5D03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4</a:t>
            </a:fld>
            <a:endParaRPr lang="en-GB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F335107B-7DF5-0BFD-DAB2-2EA8E29E4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62088"/>
            <a:ext cx="10591800" cy="4528283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542925" indent="-457200">
              <a:buFont typeface="Wingdings" panose="05000000000000000000" pitchFamily="2" charset="2"/>
              <a:buChar char="q"/>
            </a:pPr>
            <a:r>
              <a:rPr lang="en-GB" i="1" dirty="0"/>
              <a:t>What do we mean by </a:t>
            </a:r>
            <a:r>
              <a:rPr lang="en-GB" b="1" i="1" dirty="0"/>
              <a:t>AI governance</a:t>
            </a:r>
            <a:r>
              <a:rPr lang="en-GB" i="1" dirty="0"/>
              <a:t>? </a:t>
            </a:r>
          </a:p>
          <a:p>
            <a:pPr marL="542925" indent="-457200">
              <a:buFont typeface="Wingdings" panose="05000000000000000000" pitchFamily="2" charset="2"/>
              <a:buChar char="q"/>
            </a:pPr>
            <a:endParaRPr lang="en-GB" i="1" dirty="0"/>
          </a:p>
          <a:p>
            <a:pPr marL="542925" indent="-457200">
              <a:buFont typeface="Wingdings" panose="05000000000000000000" pitchFamily="2" charset="2"/>
              <a:buChar char="q"/>
            </a:pPr>
            <a:r>
              <a:rPr lang="en-GB" i="1" dirty="0"/>
              <a:t>Why do we need it?</a:t>
            </a:r>
          </a:p>
          <a:p>
            <a:pPr marL="542925" indent="-457200">
              <a:buFont typeface="Wingdings" panose="05000000000000000000" pitchFamily="2" charset="2"/>
              <a:buChar char="q"/>
            </a:pPr>
            <a:endParaRPr lang="en-GB" i="1" dirty="0"/>
          </a:p>
          <a:p>
            <a:pPr marL="542925" indent="-457200">
              <a:buFont typeface="Wingdings" panose="05000000000000000000" pitchFamily="2" charset="2"/>
              <a:buChar char="q"/>
            </a:pPr>
            <a:r>
              <a:rPr lang="en-GB" i="1" dirty="0"/>
              <a:t>Who should be responsible for it?</a:t>
            </a:r>
          </a:p>
          <a:p>
            <a:pPr marL="542925" indent="-457200">
              <a:buFont typeface="Wingdings" panose="05000000000000000000" pitchFamily="2" charset="2"/>
              <a:buChar char="q"/>
            </a:pPr>
            <a:endParaRPr lang="en-GB" i="1" dirty="0"/>
          </a:p>
          <a:p>
            <a:pPr marL="542925" indent="-457200">
              <a:buFont typeface="Wingdings" panose="05000000000000000000" pitchFamily="2" charset="2"/>
              <a:buChar char="q"/>
            </a:pPr>
            <a:r>
              <a:rPr lang="en-GB" i="1" dirty="0"/>
              <a:t>Why does AI governance require an </a:t>
            </a:r>
            <a:r>
              <a:rPr lang="en-GB" b="1" i="1" dirty="0"/>
              <a:t>engineering understanding of AI systems</a:t>
            </a:r>
            <a:r>
              <a:rPr lang="en-GB" i="1" dirty="0"/>
              <a:t>?</a:t>
            </a:r>
          </a:p>
          <a:p>
            <a:pPr marL="542925" indent="-457200">
              <a:buFont typeface="Wingdings" panose="05000000000000000000" pitchFamily="2" charset="2"/>
              <a:buChar char="q"/>
            </a:pPr>
            <a:endParaRPr lang="en-GB" i="1" dirty="0"/>
          </a:p>
          <a:p>
            <a:pPr marL="542925" indent="-457200">
              <a:buFont typeface="Wingdings" panose="05000000000000000000" pitchFamily="2" charset="2"/>
              <a:buChar char="q"/>
            </a:pPr>
            <a:r>
              <a:rPr lang="en-GB" i="1" dirty="0"/>
              <a:t>How can </a:t>
            </a:r>
            <a:r>
              <a:rPr lang="en-GB" b="1" i="1" dirty="0"/>
              <a:t>technical design </a:t>
            </a:r>
            <a:r>
              <a:rPr lang="en-GB" i="1" dirty="0"/>
              <a:t>be aligned with </a:t>
            </a:r>
            <a:r>
              <a:rPr lang="en-GB" b="1" i="1" dirty="0"/>
              <a:t>regulatory standards</a:t>
            </a:r>
            <a:r>
              <a:rPr lang="en-GB" i="1" dirty="0"/>
              <a:t> in practice?</a:t>
            </a:r>
          </a:p>
        </p:txBody>
      </p:sp>
    </p:spTree>
    <p:extLst>
      <p:ext uri="{BB962C8B-B14F-4D97-AF65-F5344CB8AC3E}">
        <p14:creationId xmlns:p14="http://schemas.microsoft.com/office/powerpoint/2010/main" val="364044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D453E9-CF99-3C84-86D7-D3B311B51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45D9-54C5-C970-5A8E-7D7417CB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cap="small" dirty="0"/>
              <a:t>Defining </a:t>
            </a:r>
            <a:r>
              <a:rPr lang="en-GB" b="1" cap="small" dirty="0"/>
              <a:t>AI 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A3DB1-3B16-7694-E53A-93ACDB0F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5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E4D76-1358-92B4-A170-46495FC1B380}"/>
              </a:ext>
            </a:extLst>
          </p:cNvPr>
          <p:cNvSpPr txBox="1"/>
          <p:nvPr/>
        </p:nvSpPr>
        <p:spPr>
          <a:xfrm>
            <a:off x="935611" y="84187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2"/>
              </a:rPr>
              <a:t>Mäntymäki</a:t>
            </a:r>
            <a:r>
              <a:rPr lang="en-GB" dirty="0">
                <a:hlinkClick r:id="rId2"/>
              </a:rPr>
              <a:t> et al. (2022: 604)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156CE-73F0-651B-976F-16E7FA93B481}"/>
              </a:ext>
            </a:extLst>
          </p:cNvPr>
          <p:cNvSpPr txBox="1"/>
          <p:nvPr/>
        </p:nvSpPr>
        <p:spPr>
          <a:xfrm>
            <a:off x="1330750" y="2163229"/>
            <a:ext cx="9530499" cy="2941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1000"/>
              </a:lnSpc>
            </a:pPr>
            <a:r>
              <a:rPr lang="en-GB" sz="2800" i="1" dirty="0"/>
              <a:t>“AI governance is </a:t>
            </a:r>
            <a:r>
              <a:rPr lang="en-GB" sz="2800" b="1" i="1" dirty="0"/>
              <a:t>a system</a:t>
            </a:r>
            <a:r>
              <a:rPr lang="en-GB" sz="2800" i="1" dirty="0"/>
              <a:t> of rules, practices, processes, and technological tools that are employed </a:t>
            </a:r>
            <a:r>
              <a:rPr lang="en-GB" sz="2800" b="1" i="1" dirty="0"/>
              <a:t>to ensure</a:t>
            </a:r>
            <a:r>
              <a:rPr lang="en-GB" sz="2800" i="1" dirty="0"/>
              <a:t> an organization’s </a:t>
            </a:r>
            <a:r>
              <a:rPr lang="en-GB" sz="2800" b="1" i="1" dirty="0"/>
              <a:t>use of AI </a:t>
            </a:r>
            <a:r>
              <a:rPr lang="en-GB" sz="2800" i="1" dirty="0"/>
              <a:t>technologies </a:t>
            </a:r>
            <a:r>
              <a:rPr lang="en-GB" sz="2800" b="1" i="1" dirty="0"/>
              <a:t>aligns with </a:t>
            </a:r>
            <a:r>
              <a:rPr lang="en-GB" sz="2800" i="1" dirty="0"/>
              <a:t>the </a:t>
            </a:r>
            <a:r>
              <a:rPr lang="en-GB" sz="2800" b="1" i="1" dirty="0"/>
              <a:t>organization’s strategies</a:t>
            </a:r>
            <a:r>
              <a:rPr lang="en-GB" sz="2800" i="1" dirty="0"/>
              <a:t>, </a:t>
            </a:r>
            <a:r>
              <a:rPr lang="en-GB" sz="2800" b="1" i="1" dirty="0"/>
              <a:t>objectives</a:t>
            </a:r>
            <a:r>
              <a:rPr lang="en-GB" sz="2800" i="1" dirty="0"/>
              <a:t>, </a:t>
            </a:r>
            <a:r>
              <a:rPr lang="en-GB" sz="2800" b="1" i="1" dirty="0"/>
              <a:t>and values</a:t>
            </a:r>
            <a:r>
              <a:rPr lang="en-GB" sz="2800" i="1" dirty="0"/>
              <a:t>; </a:t>
            </a:r>
            <a:r>
              <a:rPr lang="en-GB" sz="2800" b="1" i="1" dirty="0"/>
              <a:t>fulfils legal requirements</a:t>
            </a:r>
            <a:r>
              <a:rPr lang="en-GB" sz="2800" i="1" dirty="0"/>
              <a:t>; and </a:t>
            </a:r>
            <a:r>
              <a:rPr lang="en-GB" sz="2800" b="1" i="1" dirty="0"/>
              <a:t>meets principles of ethical AI </a:t>
            </a:r>
            <a:r>
              <a:rPr lang="en-GB" sz="2800" i="1" dirty="0"/>
              <a:t>followed by the organization.”  </a:t>
            </a:r>
          </a:p>
        </p:txBody>
      </p:sp>
    </p:spTree>
    <p:extLst>
      <p:ext uri="{BB962C8B-B14F-4D97-AF65-F5344CB8AC3E}">
        <p14:creationId xmlns:p14="http://schemas.microsoft.com/office/powerpoint/2010/main" val="161155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F0D01-36B2-708F-5D74-C7486F990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2829-0BDF-44FA-3AE2-7E2329931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cap="small" dirty="0"/>
              <a:t>AI Governance </a:t>
            </a:r>
            <a:r>
              <a:rPr lang="en-GB" b="1" cap="small" dirty="0"/>
              <a:t>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BD686-23D7-BB31-33B0-2E55599D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6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4A4BC-C9B0-8FBA-6F69-69B746AB9CCF}"/>
              </a:ext>
            </a:extLst>
          </p:cNvPr>
          <p:cNvSpPr txBox="1"/>
          <p:nvPr/>
        </p:nvSpPr>
        <p:spPr>
          <a:xfrm>
            <a:off x="935611" y="87100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</a:t>
            </a:r>
            <a:r>
              <a:rPr lang="en-GB" dirty="0"/>
              <a:t> </a:t>
            </a:r>
            <a:r>
              <a:rPr lang="en-GB" dirty="0" err="1">
                <a:hlinkClick r:id="rId2"/>
              </a:rPr>
              <a:t>Papagiannidis</a:t>
            </a:r>
            <a:r>
              <a:rPr lang="en-GB" dirty="0">
                <a:hlinkClick r:id="rId2"/>
              </a:rPr>
              <a:t>, </a:t>
            </a:r>
            <a:r>
              <a:rPr lang="en-GB" dirty="0" err="1">
                <a:hlinkClick r:id="rId2"/>
              </a:rPr>
              <a:t>Mikalef</a:t>
            </a:r>
            <a:r>
              <a:rPr lang="en-GB" dirty="0">
                <a:hlinkClick r:id="rId2"/>
              </a:rPr>
              <a:t>, &amp; Conboy (2025)</a:t>
            </a:r>
            <a:endParaRPr lang="en-GB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D63741D-4E69-17FA-DF98-B52A607F2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167" y="1524436"/>
            <a:ext cx="11064133" cy="413976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3000" b="1" dirty="0"/>
              <a:t>Principled AI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 dirty="0"/>
              <a:t>Defines governance dimensions through a set of </a:t>
            </a:r>
            <a:r>
              <a:rPr lang="en-GB" sz="2400" b="1" dirty="0"/>
              <a:t>high-level principles</a:t>
            </a:r>
            <a:r>
              <a:rPr lang="en-GB" sz="2400" dirty="0"/>
              <a:t>, such as privacy, transparency, and fairness.</a:t>
            </a:r>
          </a:p>
          <a:p>
            <a:pPr>
              <a:spcAft>
                <a:spcPts val="600"/>
              </a:spcAft>
            </a:pPr>
            <a:r>
              <a:rPr lang="en-GB" sz="3000" b="1" dirty="0"/>
              <a:t>Responsible AI</a:t>
            </a:r>
            <a:r>
              <a:rPr lang="en-GB" sz="3000" dirty="0"/>
              <a:t>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 dirty="0"/>
              <a:t>Refers to frameworks that guide the design, development, and use of AI through </a:t>
            </a:r>
            <a:r>
              <a:rPr lang="en-GB" sz="2400" b="1" dirty="0"/>
              <a:t>multiple ethical and governance principles</a:t>
            </a:r>
            <a:r>
              <a:rPr lang="en-GB" sz="2400" dirty="0"/>
              <a:t>…</a:t>
            </a:r>
          </a:p>
          <a:p>
            <a:pPr>
              <a:spcAft>
                <a:spcPts val="600"/>
              </a:spcAft>
            </a:pPr>
            <a:r>
              <a:rPr lang="en-GB" sz="3000" b="1" dirty="0"/>
              <a:t>Trustworthy AI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400" dirty="0"/>
              <a:t>Commonly defined through </a:t>
            </a:r>
            <a:r>
              <a:rPr lang="en-GB" sz="2400" b="1" dirty="0"/>
              <a:t>seven core principles</a:t>
            </a:r>
            <a:r>
              <a:rPr lang="en-GB" sz="2400" dirty="0"/>
              <a:t>: accountability, human agency and oversight, technical robustness and safety, privacy and data governance, transparency, fairness, and social and environmental well-being (cf. </a:t>
            </a:r>
            <a:r>
              <a:rPr lang="en-GB" sz="2400" dirty="0">
                <a:hlinkClick r:id="rId3"/>
              </a:rPr>
              <a:t>EU Commission, 2019</a:t>
            </a:r>
            <a:r>
              <a:rPr lang="en-GB" sz="2400" dirty="0"/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CD97A-5CA3-B16C-5F40-9103F3BC1622}"/>
              </a:ext>
            </a:extLst>
          </p:cNvPr>
          <p:cNvSpPr txBox="1"/>
          <p:nvPr/>
        </p:nvSpPr>
        <p:spPr>
          <a:xfrm>
            <a:off x="480167" y="5563999"/>
            <a:ext cx="11231666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600" b="1" i="1" dirty="0"/>
              <a:t>How far do these labels clarify AI governance — and when do they simply become buzzwords?</a:t>
            </a:r>
          </a:p>
        </p:txBody>
      </p:sp>
    </p:spTree>
    <p:extLst>
      <p:ext uri="{BB962C8B-B14F-4D97-AF65-F5344CB8AC3E}">
        <p14:creationId xmlns:p14="http://schemas.microsoft.com/office/powerpoint/2010/main" val="333092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C314C-8AE9-48E0-4AB1-3B44CF4D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104C-D51F-0230-A80A-BBC048402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3676"/>
            <a:ext cx="11125200" cy="1325563"/>
          </a:xfrm>
        </p:spPr>
        <p:txBody>
          <a:bodyPr/>
          <a:lstStyle/>
          <a:p>
            <a:r>
              <a:rPr lang="en-GB" cap="small" dirty="0"/>
              <a:t>Organisational AI 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B5DFA-D457-1CE2-FAC9-EB9EF771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7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DEBFC-F607-EF86-1E22-944C7E764901}"/>
              </a:ext>
            </a:extLst>
          </p:cNvPr>
          <p:cNvSpPr txBox="1"/>
          <p:nvPr/>
        </p:nvSpPr>
        <p:spPr>
          <a:xfrm>
            <a:off x="668911" y="83234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2"/>
              </a:rPr>
              <a:t>Mäntymäki</a:t>
            </a:r>
            <a:r>
              <a:rPr lang="en-GB" dirty="0">
                <a:hlinkClick r:id="rId2"/>
              </a:rPr>
              <a:t> et al. (2022: 605)</a:t>
            </a:r>
            <a:endParaRPr lang="en-GB" dirty="0"/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33AD56DB-0F09-BA9E-F856-3733B3EF9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55" y="1600719"/>
            <a:ext cx="5318744" cy="45608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B6A4E6-624C-70E4-6794-26F47710945A}"/>
              </a:ext>
            </a:extLst>
          </p:cNvPr>
          <p:cNvSpPr txBox="1"/>
          <p:nvPr/>
        </p:nvSpPr>
        <p:spPr>
          <a:xfrm>
            <a:off x="6388100" y="1600719"/>
            <a:ext cx="4965700" cy="45550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</a:rPr>
              <a:t>AI is the new flatmate!</a:t>
            </a:r>
          </a:p>
          <a:p>
            <a:r>
              <a:rPr lang="en-GB" sz="2000" i="1" dirty="0">
                <a:solidFill>
                  <a:srgbClr val="000000"/>
                </a:solidFill>
              </a:rPr>
              <a:t>And it need clear house rules.</a:t>
            </a:r>
          </a:p>
          <a:p>
            <a:endParaRPr lang="en-GB" sz="1200" b="1" dirty="0">
              <a:solidFill>
                <a:srgbClr val="000000"/>
              </a:solidFill>
            </a:endParaRPr>
          </a:p>
          <a:p>
            <a:endParaRPr lang="en-GB" sz="1200" dirty="0">
              <a:solidFill>
                <a:srgbClr val="000000"/>
              </a:solidFill>
            </a:endParaRPr>
          </a:p>
          <a:p>
            <a:endParaRPr lang="en-GB" sz="1200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200" b="1" dirty="0">
                <a:solidFill>
                  <a:srgbClr val="000000"/>
                </a:solidFill>
              </a:rPr>
              <a:t>Corporate Governance</a:t>
            </a:r>
          </a:p>
          <a:p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Sets direction, accountability, and strategic alignment for AI.</a:t>
            </a:r>
          </a:p>
          <a:p>
            <a:endParaRPr lang="en-GB" b="1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200" b="1" dirty="0">
                <a:solidFill>
                  <a:srgbClr val="000000"/>
                </a:solidFill>
              </a:rPr>
              <a:t>IT Governance</a:t>
            </a:r>
          </a:p>
          <a:p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Provides oversight of the infrastructure and technical systems behind AI.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200" b="1" dirty="0">
                <a:solidFill>
                  <a:srgbClr val="000000"/>
                </a:solidFill>
              </a:rPr>
              <a:t>Data Governance</a:t>
            </a:r>
          </a:p>
          <a:p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Governs the quality, protection, and responsible use of AI data.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79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F2DB6-285D-FA36-8516-D2784448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382DB-B631-D935-7978-8FD340B1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8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AA155-71D5-9169-545E-36F570C316B4}"/>
              </a:ext>
            </a:extLst>
          </p:cNvPr>
          <p:cNvSpPr txBox="1"/>
          <p:nvPr/>
        </p:nvSpPr>
        <p:spPr>
          <a:xfrm>
            <a:off x="668911" y="80951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2"/>
              </a:rPr>
              <a:t>Mäntymäki</a:t>
            </a:r>
            <a:r>
              <a:rPr lang="en-GB" dirty="0">
                <a:hlinkClick r:id="rId2"/>
              </a:rPr>
              <a:t> et al. (2022: 607)</a:t>
            </a:r>
            <a:endParaRPr lang="en-GB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4742ABD-DEA0-630A-2B3E-F780497E0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72" y="1359301"/>
            <a:ext cx="10095053" cy="499704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A30BBA5-C39B-0848-12F0-ED9AAE1D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0"/>
            <a:ext cx="11125200" cy="1325563"/>
          </a:xfrm>
        </p:spPr>
        <p:txBody>
          <a:bodyPr/>
          <a:lstStyle/>
          <a:p>
            <a:r>
              <a:rPr lang="en-GB" cap="small" dirty="0"/>
              <a:t>Organisational AI Governance (</a:t>
            </a:r>
            <a:r>
              <a:rPr lang="en-GB" cap="small" dirty="0" err="1"/>
              <a:t>i</a:t>
            </a:r>
            <a:r>
              <a:rPr lang="en-GB" cap="smal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7476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84B27-4167-EADD-4736-C8112A93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3CA9-00F2-2940-A1C1-49EAA135F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cap="small" dirty="0"/>
              <a:t>Responsible </a:t>
            </a:r>
            <a:r>
              <a:rPr lang="en-GB" b="1" cap="small" dirty="0"/>
              <a:t>AI Governance </a:t>
            </a:r>
            <a:r>
              <a:rPr lang="en-GB" cap="small" dirty="0"/>
              <a:t>into Context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5F0D1-0EB9-7307-D548-3EA10F6C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9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EC167-DA91-1DF0-9240-BDA4FE4518AE}"/>
              </a:ext>
            </a:extLst>
          </p:cNvPr>
          <p:cNvSpPr txBox="1"/>
          <p:nvPr/>
        </p:nvSpPr>
        <p:spPr>
          <a:xfrm>
            <a:off x="935611" y="84187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</a:t>
            </a:r>
            <a:r>
              <a:rPr lang="en-GB" dirty="0"/>
              <a:t> </a:t>
            </a:r>
            <a:r>
              <a:rPr lang="en-GB" dirty="0" err="1">
                <a:hlinkClick r:id="rId2"/>
              </a:rPr>
              <a:t>Papagiannidis</a:t>
            </a:r>
            <a:r>
              <a:rPr lang="en-GB" dirty="0">
                <a:hlinkClick r:id="rId2"/>
              </a:rPr>
              <a:t>, </a:t>
            </a:r>
            <a:r>
              <a:rPr lang="en-GB" dirty="0" err="1">
                <a:hlinkClick r:id="rId2"/>
              </a:rPr>
              <a:t>Mikalef</a:t>
            </a:r>
            <a:r>
              <a:rPr lang="en-GB" dirty="0">
                <a:hlinkClick r:id="rId2"/>
              </a:rPr>
              <a:t>, &amp; Conboy (2025: 11)</a:t>
            </a:r>
            <a:endParaRPr lang="en-GB" dirty="0"/>
          </a:p>
        </p:txBody>
      </p:sp>
      <p:pic>
        <p:nvPicPr>
          <p:cNvPr id="8" name="Content Placeholder 7" descr="A diagram of a diagram&#10;&#10;AI-generated content may be incorrect.">
            <a:extLst>
              <a:ext uri="{FF2B5EF4-FFF2-40B4-BE49-F238E27FC236}">
                <a16:creationId xmlns:a16="http://schemas.microsoft.com/office/drawing/2014/main" id="{F7261789-C4AF-30DC-0899-5477A3BE5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43" y="1735992"/>
            <a:ext cx="11494913" cy="3979008"/>
          </a:xfrm>
        </p:spPr>
      </p:pic>
    </p:spTree>
    <p:extLst>
      <p:ext uri="{BB962C8B-B14F-4D97-AF65-F5344CB8AC3E}">
        <p14:creationId xmlns:p14="http://schemas.microsoft.com/office/powerpoint/2010/main" val="35885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8CD36-BAF1-207F-3931-D7B9CC329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9337-BE7C-EC8E-5261-FFF4508C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67"/>
            <a:ext cx="10515600" cy="1325563"/>
          </a:xfrm>
        </p:spPr>
        <p:txBody>
          <a:bodyPr/>
          <a:lstStyle/>
          <a:p>
            <a:r>
              <a:rPr lang="en-GB" b="1" cap="small" dirty="0"/>
              <a:t>Key Themes </a:t>
            </a:r>
            <a:r>
              <a:rPr lang="en-GB" cap="small" dirty="0"/>
              <a:t>in Organisational AI 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2EC0C-20C3-6346-946B-E8D9C622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10</a:t>
            </a:fld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467A05D-F317-0E94-0552-89893980E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8631" y="1403480"/>
            <a:ext cx="7934738" cy="4868834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872913-2444-BDC1-E914-2E22400CFF88}"/>
              </a:ext>
            </a:extLst>
          </p:cNvPr>
          <p:cNvSpPr txBox="1"/>
          <p:nvPr/>
        </p:nvSpPr>
        <p:spPr>
          <a:xfrm>
            <a:off x="935611" y="83435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3"/>
              </a:rPr>
              <a:t>Birkstedt</a:t>
            </a:r>
            <a:r>
              <a:rPr lang="en-GB" dirty="0">
                <a:hlinkClick r:id="rId3"/>
              </a:rPr>
              <a:t> et al. (2023: 143-150)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8705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A5C42-E1DF-DA4A-D518-927590C9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AD811-3923-1DA3-8677-F52BE03BC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cap="small" dirty="0"/>
              <a:t>AI Regulation Is Not All You Need?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6F63A-BC8A-FCDF-2AC4-FFCF15E9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11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94151-AFE7-E9F8-8E64-145133DF9A58}"/>
              </a:ext>
            </a:extLst>
          </p:cNvPr>
          <p:cNvSpPr txBox="1"/>
          <p:nvPr/>
        </p:nvSpPr>
        <p:spPr>
          <a:xfrm>
            <a:off x="935611" y="80342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Cf. </a:t>
            </a:r>
            <a:r>
              <a:rPr lang="en-GB" dirty="0">
                <a:hlinkClick r:id="rId2"/>
              </a:rPr>
              <a:t>Lucaj, van der </a:t>
            </a:r>
            <a:r>
              <a:rPr lang="en-GB" dirty="0" err="1">
                <a:hlinkClick r:id="rId2"/>
              </a:rPr>
              <a:t>Smagt</a:t>
            </a:r>
            <a:r>
              <a:rPr lang="en-GB" dirty="0">
                <a:hlinkClick r:id="rId2"/>
              </a:rPr>
              <a:t>, &amp; </a:t>
            </a:r>
            <a:r>
              <a:rPr lang="en-GB" dirty="0" err="1">
                <a:hlinkClick r:id="rId2"/>
              </a:rPr>
              <a:t>Benbouzid</a:t>
            </a:r>
            <a:r>
              <a:rPr lang="en-GB" dirty="0">
                <a:hlinkClick r:id="rId2"/>
              </a:rPr>
              <a:t> (2023)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793344-9D02-1F44-7DB7-41298A332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520000"/>
            <a:ext cx="10769600" cy="51377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GB" sz="2600" b="1" dirty="0"/>
              <a:t>The “Big Issue”</a:t>
            </a:r>
            <a:r>
              <a:rPr lang="en-GB" sz="2600" dirty="0"/>
              <a:t>: </a:t>
            </a:r>
            <a:r>
              <a:rPr lang="en-GB" sz="2600" b="1" dirty="0"/>
              <a:t>Moving from Principles to Practice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2100" b="1" dirty="0"/>
              <a:t>Regulation matters</a:t>
            </a:r>
            <a:r>
              <a:rPr lang="en-GB" sz="2100" dirty="0"/>
              <a:t>, but it is </a:t>
            </a:r>
            <a:r>
              <a:rPr lang="en-GB" sz="2100" b="1" dirty="0"/>
              <a:t>not enough on its own</a:t>
            </a:r>
            <a:r>
              <a:rPr lang="en-GB" sz="2100" dirty="0"/>
              <a:t>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2100" dirty="0"/>
              <a:t>Effective AI governance also depends on </a:t>
            </a:r>
            <a:r>
              <a:rPr lang="en-GB" sz="2100" b="1" dirty="0"/>
              <a:t>technical</a:t>
            </a:r>
            <a:r>
              <a:rPr lang="en-GB" sz="2100" dirty="0"/>
              <a:t> </a:t>
            </a:r>
            <a:r>
              <a:rPr lang="en-GB" sz="2100" b="1" dirty="0"/>
              <a:t>standards</a:t>
            </a:r>
            <a:r>
              <a:rPr lang="en-GB" sz="2100" dirty="0"/>
              <a:t> and </a:t>
            </a:r>
            <a:r>
              <a:rPr lang="en-GB" sz="2100" b="1" dirty="0"/>
              <a:t>human</a:t>
            </a:r>
            <a:r>
              <a:rPr lang="en-GB" sz="2100" dirty="0"/>
              <a:t> </a:t>
            </a:r>
            <a:r>
              <a:rPr lang="en-GB" sz="2100" b="1" dirty="0"/>
              <a:t>expertise</a:t>
            </a:r>
            <a:r>
              <a:rPr lang="en-GB" sz="2100" dirty="0"/>
              <a:t>.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2100" dirty="0"/>
              <a:t>Regulators often lack the </a:t>
            </a:r>
            <a:r>
              <a:rPr lang="en-GB" sz="2100" b="1" dirty="0"/>
              <a:t>specialised knowledge and capacity </a:t>
            </a:r>
            <a:r>
              <a:rPr lang="en-GB" sz="2100" dirty="0"/>
              <a:t>needed to address AI’s </a:t>
            </a:r>
            <a:r>
              <a:rPr lang="en-GB" sz="2100" b="1" dirty="0"/>
              <a:t>socio-technical complexity </a:t>
            </a:r>
            <a:r>
              <a:rPr lang="en-GB" sz="2100" dirty="0"/>
              <a:t>(cf. </a:t>
            </a:r>
            <a:r>
              <a:rPr lang="en-GB" sz="2100" i="1" dirty="0"/>
              <a:t>public regulation theory</a:t>
            </a:r>
            <a:r>
              <a:rPr lang="en-GB" sz="2100" dirty="0"/>
              <a:t>). 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2100" dirty="0">
                <a:ea typeface="+mn-lt"/>
                <a:cs typeface="+mn-lt"/>
              </a:rPr>
              <a:t>The private sector is often better placed to attract </a:t>
            </a:r>
            <a:r>
              <a:rPr lang="en-GB" sz="2100" b="1" dirty="0">
                <a:ea typeface="+mn-lt"/>
                <a:cs typeface="+mn-lt"/>
              </a:rPr>
              <a:t>top AI talent </a:t>
            </a:r>
            <a:r>
              <a:rPr lang="en-GB" sz="2100" dirty="0">
                <a:ea typeface="+mn-lt"/>
                <a:cs typeface="+mn-lt"/>
              </a:rPr>
              <a:t>and develop </a:t>
            </a:r>
            <a:r>
              <a:rPr lang="en-GB" sz="2100" b="1" dirty="0">
                <a:ea typeface="+mn-lt"/>
                <a:cs typeface="+mn-lt"/>
              </a:rPr>
              <a:t>technical standards </a:t>
            </a:r>
            <a:r>
              <a:rPr lang="en-GB" sz="2100" dirty="0">
                <a:ea typeface="+mn-lt"/>
                <a:cs typeface="+mn-lt"/>
              </a:rPr>
              <a:t>(cf. </a:t>
            </a:r>
            <a:r>
              <a:rPr lang="en-GB" sz="2100" i="1" dirty="0">
                <a:ea typeface="+mn-lt"/>
                <a:cs typeface="+mn-lt"/>
              </a:rPr>
              <a:t>private regulation theory</a:t>
            </a:r>
            <a:r>
              <a:rPr lang="en-GB" sz="2100" dirty="0">
                <a:ea typeface="+mn-lt"/>
                <a:cs typeface="+mn-lt"/>
              </a:rPr>
              <a:t>).</a:t>
            </a:r>
          </a:p>
          <a:p>
            <a:pPr lvl="1">
              <a:lnSpc>
                <a:spcPct val="11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2100" dirty="0">
                <a:ea typeface="+mn-lt"/>
                <a:cs typeface="+mn-lt"/>
              </a:rPr>
              <a:t>Within organisations, AI governance depends on </a:t>
            </a:r>
            <a:r>
              <a:rPr lang="en-GB" sz="2100" b="1" dirty="0">
                <a:ea typeface="+mn-lt"/>
                <a:cs typeface="+mn-lt"/>
              </a:rPr>
              <a:t>internal expertise</a:t>
            </a:r>
            <a:r>
              <a:rPr lang="en-GB" sz="2100" dirty="0">
                <a:ea typeface="+mn-lt"/>
                <a:cs typeface="+mn-lt"/>
              </a:rPr>
              <a:t>, </a:t>
            </a:r>
            <a:r>
              <a:rPr lang="en-GB" sz="2100" b="1" dirty="0">
                <a:ea typeface="+mn-lt"/>
                <a:cs typeface="+mn-lt"/>
              </a:rPr>
              <a:t>compliance capacity</a:t>
            </a:r>
            <a:r>
              <a:rPr lang="en-GB" sz="2100" dirty="0">
                <a:ea typeface="+mn-lt"/>
                <a:cs typeface="+mn-lt"/>
              </a:rPr>
              <a:t>, and </a:t>
            </a:r>
            <a:r>
              <a:rPr lang="en-GB" sz="2100" b="1" dirty="0">
                <a:ea typeface="+mn-lt"/>
                <a:cs typeface="+mn-lt"/>
              </a:rPr>
              <a:t>operational best practices</a:t>
            </a:r>
            <a:r>
              <a:rPr lang="en-GB" sz="2100" dirty="0">
                <a:ea typeface="+mn-lt"/>
                <a:cs typeface="+mn-lt"/>
              </a:rPr>
              <a:t>.</a:t>
            </a:r>
          </a:p>
          <a:p>
            <a:pPr>
              <a:spcAft>
                <a:spcPts val="1200"/>
              </a:spcAft>
              <a:buFont typeface="Arial"/>
              <a:buChar char="•"/>
            </a:pPr>
            <a:r>
              <a:rPr lang="en-GB" sz="2600" b="1" dirty="0"/>
              <a:t>Key Challenges</a:t>
            </a:r>
            <a:r>
              <a:rPr lang="en-GB" sz="2600" dirty="0">
                <a:ea typeface="+mn-lt"/>
                <a:cs typeface="+mn-lt"/>
              </a:rPr>
              <a:t>:</a:t>
            </a:r>
            <a:endParaRPr lang="en-US" sz="2600" dirty="0">
              <a:ea typeface="+mn-lt"/>
              <a:cs typeface="+mn-lt"/>
            </a:endParaRPr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dirty="0">
                <a:ea typeface="+mn-lt"/>
                <a:cs typeface="+mn-lt"/>
              </a:rPr>
              <a:t>❓</a:t>
            </a:r>
            <a:r>
              <a:rPr lang="en-GB" sz="1900" dirty="0">
                <a:ea typeface="+mn-lt"/>
                <a:cs typeface="+mn-lt"/>
              </a:rPr>
              <a:t>How can we build </a:t>
            </a:r>
            <a:r>
              <a:rPr lang="en-GB" sz="1900" b="1" dirty="0">
                <a:ea typeface="+mn-lt"/>
                <a:cs typeface="+mn-lt"/>
              </a:rPr>
              <a:t>balanced</a:t>
            </a:r>
            <a:r>
              <a:rPr lang="en-GB" sz="1900" dirty="0">
                <a:ea typeface="+mn-lt"/>
                <a:cs typeface="+mn-lt"/>
              </a:rPr>
              <a:t> and </a:t>
            </a:r>
            <a:r>
              <a:rPr lang="en-GB" sz="1900" b="1" dirty="0">
                <a:ea typeface="+mn-lt"/>
                <a:cs typeface="+mn-lt"/>
              </a:rPr>
              <a:t>effective public-private collaboration</a:t>
            </a:r>
            <a:r>
              <a:rPr lang="en-GB" sz="1900" dirty="0">
                <a:ea typeface="+mn-lt"/>
                <a:cs typeface="+mn-lt"/>
              </a:rPr>
              <a:t>? </a:t>
            </a:r>
            <a:endParaRPr lang="en-GB" sz="1900" dirty="0"/>
          </a:p>
          <a:p>
            <a:pPr marL="457200" lvl="1" indent="0">
              <a:spcBef>
                <a:spcPts val="600"/>
              </a:spcBef>
              <a:buNone/>
            </a:pPr>
            <a:r>
              <a:rPr lang="en-GB" sz="1900" dirty="0">
                <a:ea typeface="+mn-lt"/>
                <a:cs typeface="+mn-lt"/>
              </a:rPr>
              <a:t>❓How can we ensure AI ultimately advances the </a:t>
            </a:r>
            <a:r>
              <a:rPr lang="en-GB" sz="1900" b="1" dirty="0">
                <a:ea typeface="+mn-lt"/>
                <a:cs typeface="+mn-lt"/>
              </a:rPr>
              <a:t>public good </a:t>
            </a:r>
            <a:r>
              <a:rPr lang="en-GB" sz="1900" dirty="0">
                <a:ea typeface="+mn-lt"/>
                <a:cs typeface="+mn-lt"/>
              </a:rPr>
              <a:t>and promotes </a:t>
            </a:r>
            <a:r>
              <a:rPr lang="en-GB" sz="1900" b="1" dirty="0">
                <a:ea typeface="+mn-lt"/>
                <a:cs typeface="+mn-lt"/>
              </a:rPr>
              <a:t>societal well-being</a:t>
            </a:r>
            <a:r>
              <a:rPr lang="en-GB" sz="1900" dirty="0">
                <a:ea typeface="+mn-lt"/>
                <a:cs typeface="+mn-lt"/>
              </a:rPr>
              <a:t>?</a:t>
            </a: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134739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C8259-D983-ADC0-B18C-751FA14F1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B0B4-7FA3-5C3C-E5FE-39998D031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b="1" cap="small" dirty="0"/>
              <a:t>Research Agenda </a:t>
            </a:r>
            <a:r>
              <a:rPr lang="en-GB" cap="small" dirty="0"/>
              <a:t>in AI 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57845-15A2-E760-1A6A-D07491F7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12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8D5CC5-B2F3-63AB-7262-8F5D508D2814}"/>
              </a:ext>
            </a:extLst>
          </p:cNvPr>
          <p:cNvSpPr txBox="1"/>
          <p:nvPr/>
        </p:nvSpPr>
        <p:spPr>
          <a:xfrm>
            <a:off x="935611" y="85043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2"/>
              </a:rPr>
              <a:t>Birkstedt</a:t>
            </a:r>
            <a:r>
              <a:rPr lang="en-GB" dirty="0">
                <a:hlinkClick r:id="rId2"/>
              </a:rPr>
              <a:t> et al. (2023: 155) </a:t>
            </a:r>
            <a:endParaRPr lang="en-GB" dirty="0"/>
          </a:p>
        </p:txBody>
      </p:sp>
      <p:pic>
        <p:nvPicPr>
          <p:cNvPr id="7" name="Content Placeholder 6" descr="A diagram of a organizational organization&#10;&#10;AI-generated content may be incorrect.">
            <a:extLst>
              <a:ext uri="{FF2B5EF4-FFF2-40B4-BE49-F238E27FC236}">
                <a16:creationId xmlns:a16="http://schemas.microsoft.com/office/drawing/2014/main" id="{AEF405D1-94BA-81EA-7A6D-5586A9935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82" y="1483307"/>
            <a:ext cx="9401636" cy="4795647"/>
          </a:xfrm>
        </p:spPr>
      </p:pic>
    </p:spTree>
    <p:extLst>
      <p:ext uri="{BB962C8B-B14F-4D97-AF65-F5344CB8AC3E}">
        <p14:creationId xmlns:p14="http://schemas.microsoft.com/office/powerpoint/2010/main" val="146961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09479-61CD-8FE1-C9EC-2678D9F6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766218"/>
            <a:ext cx="4572000" cy="1325563"/>
          </a:xfrm>
        </p:spPr>
        <p:txBody>
          <a:bodyPr/>
          <a:lstStyle/>
          <a:p>
            <a:pPr algn="ctr"/>
            <a:r>
              <a:rPr lang="en-GB" b="1" i="1" dirty="0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A57F0-C1C6-EF2F-E08D-667D4FB5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E9EE5-AB74-5FDB-F07A-AABAB0FF5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5171" y="3114675"/>
            <a:ext cx="54102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53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225ED-BABD-88B6-BA06-4296AEF8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2BA1D782-E489-2624-7893-1FE811284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E868C55F-46D8-94D2-8FB6-6EDC2D960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DF6C1583-A255-1267-B073-64C70686C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9C60F100-628F-6A08-A2CB-007585834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FE1CF-29DC-377F-E208-6BAEDF28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cap="sm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Part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09D69-EF44-26DA-7BD2-A5CD42A88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7178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The AI Lifecycle</a:t>
            </a:r>
          </a:p>
        </p:txBody>
      </p:sp>
      <p:sp>
        <p:nvSpPr>
          <p:cNvPr id="233" name="Graphic 212">
            <a:extLst>
              <a:ext uri="{FF2B5EF4-FFF2-40B4-BE49-F238E27FC236}">
                <a16:creationId xmlns:a16="http://schemas.microsoft.com/office/drawing/2014/main" id="{6A0D61BB-77A8-EBF8-4D5D-C19707322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34" name="Graphic 212">
            <a:extLst>
              <a:ext uri="{FF2B5EF4-FFF2-40B4-BE49-F238E27FC236}">
                <a16:creationId xmlns:a16="http://schemas.microsoft.com/office/drawing/2014/main" id="{9B4996E2-E666-258A-9BE2-3163E95A0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35" name="Graphic 190">
            <a:extLst>
              <a:ext uri="{FF2B5EF4-FFF2-40B4-BE49-F238E27FC236}">
                <a16:creationId xmlns:a16="http://schemas.microsoft.com/office/drawing/2014/main" id="{E28FB1A1-6A04-A1EF-17A4-0B57C2E6B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7F020AF-ABF3-7ADE-2895-205CE7EAB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AA40E857-C834-0C7B-5883-E7D203F4B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26475A1C-A745-7D36-517D-D93B9DEE2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92EC22A3-01F5-D0F4-C73A-268824DDC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9" name="Graphic 4">
            <a:extLst>
              <a:ext uri="{FF2B5EF4-FFF2-40B4-BE49-F238E27FC236}">
                <a16:creationId xmlns:a16="http://schemas.microsoft.com/office/drawing/2014/main" id="{E1844A54-9B7B-9711-5808-A8DFFC1D6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2612B86-226D-336F-C9FC-C3DBA34A8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0E68ECD-341A-CBE7-A900-216715D0B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32E245C6-EE19-7D11-81A9-FE681D86C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84ED644-24D8-7DDF-40A1-66DC8AE14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E4E16207-31F8-F1B4-5D16-AB0E1F8DA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76808BC-3914-0469-FF0B-03FD12BAC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453B5292-5715-04DD-22FF-4F31FF304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CBD0DE6-F8B7-59D5-C246-FAA2A7061B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480FE62F-D8DF-6945-0E7E-E0867AD9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419354-D7F3-B946-805B-BF87B0C26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AB00CD4-7DBC-A058-A6C8-0BB283385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3DF4F63-CE4A-6A88-8717-812C1A8FE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06C811C-8F05-35CA-E6B3-32E529A6A1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2A9819B-3765-3017-2113-6771873A5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92EB71-CC70-95D6-7E96-22140B33E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63334DE-4F5A-7FE3-6FF2-5815DC6DD0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82C0352-3531-35DA-A0D7-87EF577A8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EDC110D-2A35-0D0C-0EBF-84C95609F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2ED156B-046D-8398-BAC1-106B19D91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A7D2E8E-C357-9CA4-D5AA-5F03CD8EF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0B9E632-7203-FC96-098F-A56B6964A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643469B-CCD4-2152-8ABA-9474AE4F8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729FDD6-AD10-C1B9-17F4-33D3AA391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1E9086B-8156-29F0-CA0B-C3BB3AC6D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4AAC8A9-E2B0-06C8-2E19-99CEB0B76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AB70BAF-5D17-6F30-57A7-06F7A18AF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8FCA60-84B4-A46A-3AD5-18970C65E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7CFFADA-BC00-41F4-AC5A-E2ACC4870A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9AD8E91-190E-9E35-1FF1-6F8DC45F4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D0F6740-480E-CA1D-B710-55444ACF5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2BAC01C-EBE1-5B63-B44E-FFBA3F10D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940C0B2-8CDF-2838-2A70-4D42781CC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3224DDE-FA2A-2BAA-B7F1-458FD473BC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2424242-8001-0784-FEE1-5EDFFE3870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C2ED65A-B344-4ED0-7BC2-4D3AFC858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6FE584-F104-6766-E1E4-3FD03A808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39C326-F780-26D4-0DEF-8DEE49B3E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A239885-20AA-606D-C5DA-01EFDE794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745131B-C05B-8984-FEA5-A22054981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C977F6B-44C2-8A4E-17C5-49DC84D71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F4F3463-2452-E750-4031-6F4C236BD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29762A2-46A2-81F1-0853-67ED35041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1FFF258-E311-51E3-D29B-90FDD2B4A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E903632-E417-AADE-D062-858465F8E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CDF9029-8440-6F64-6CAE-D1FFDD586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5A0FE49-A30C-19B9-4CD5-410783F46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EA774AC-B32F-8F10-F033-F6D1B90EC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D88B4D6-4FD0-F3BD-E399-51D8DA81F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261C502-8DEB-31D7-3BC4-11BEC3A60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4B791BF-7E69-3793-84A1-2B17380B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C55C7C7-C948-52BA-D8BE-025E35BA0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897A5AF-FE63-55DB-2A38-C42DC8C9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FE4EFF5-CBB5-C419-A5AB-7E99F3574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0ED5D903-95D7-2BD9-A7F6-09BC23A6A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B2EE070-8F2E-90AF-14D2-1E5ADB2DC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7411EF6-89BD-D7C0-792C-D171047F6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969F258-9640-A66F-AEA0-303D89A5C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3D20AB6-298A-F7F9-8BB4-6442D2C84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F33D252-1BC3-0482-6688-A8F1B103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D22E3FA1-BDA8-0259-18A9-7757C6F98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C525626-6EC9-99FB-19FC-C53E56702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CE49C6F-F0AF-380B-1136-81CD717D8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9BA3040-3FA5-7AE2-6EE0-1C1A26277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E0D2E-EE48-BE1D-3134-F63DFEADA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2B7CF067-E7DF-D1C9-40BB-39779FA91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6F72971-860D-0AE3-1802-BF97D5845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3E44F14-C9DE-0965-E1DE-2203BA25C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6EB31D3-A03D-41E1-366E-E531F7B683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329C719-D853-C931-F245-0FAC7C27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895C1ED-FEDF-895F-7220-C5AA22419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4D18EE5-9711-B75C-37AE-D57A4265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F844CFA-7CE3-D10C-1156-431659733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9F7C856-D046-3C36-EC51-B5AC9E89F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3E42511-F1C7-43F5-DFFA-F2E6BE5FA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6DDC9BD-E29D-21D0-ED18-8C790BE3F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38F21C3-3CCB-8762-9B41-48348D736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4495A6A-EDF5-E13C-AFC4-C4D29DB51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954293A-3AC9-FB2A-14A3-31A3A29F1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96E2193-84CE-5428-8B61-DAC639639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4DFF30B-A062-2E0F-AB9A-A85AAC6EDD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4D726B-B70E-D03A-5CC2-65BCECFAA6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D6F94D1-DF99-913D-CD31-A6D599ABE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05AB6AB-D59F-2DBD-01ED-B3AD78C53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A6D2BD2-BB3C-4FE8-5DE7-D2047DCD6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087E1DE-E580-6C63-5A13-F87BE5F4A8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ADBE2FC6-BDB7-9764-9599-684F6CFB6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8377489-C7EE-E920-BC52-707D615BD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F9D3EAD-6716-065B-563C-42129A6DB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30736D8-F707-8A3D-BDF2-7FBEE83E2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F411EA4-8E7B-C53A-9464-79FA2BA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9825852-0CCC-4B3A-DD9E-B54B0D271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80442CD3-B52B-51D6-7E5B-7BD3663F8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C1E9734-D4CC-1C9B-2401-F57A1FA40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C67B35-D161-F5FB-A2F9-B5184C5EC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9D3E6396-8DE2-E4FF-CF4F-F84FC6D64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2433C99-11C6-5768-8939-B9977A40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4FE6E44-23AF-F710-27E9-889E70592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5FE63D2-5FE3-704D-8D02-15FFFEF5B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1294860F-3724-FE66-DB08-006ADBEC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B90DAA-031F-CD9B-D037-539C3BBD5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6E6973F-5891-E1A0-D4C6-03D1C7083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2213C68-8873-7AAB-42C1-2A7577EF7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EF12298-5050-753A-B9A4-BFB6DB4FC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3B53E34-900B-CEF7-356C-51EAC7ECC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7043BE3-4131-FA22-B107-2C25EC53A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D10560E-99A9-8E4B-0155-949A2E285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D674161-629A-91AE-EA54-CB9928E3E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786B10C-BB4D-B073-0FB4-0AE117848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000AA5E3-56E3-9F18-9E52-C383D6838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CD32CF9-2EEB-092F-52F0-606564E7E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A2B3FFB-7D24-AFA2-9ED2-A858DB1E7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24FC9-FB13-415C-50DA-68B571D16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ABC561B-34D5-3B99-AE62-411617660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9AE0866-2614-3D40-E604-F2661C4D1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204E0BA-C338-B44E-FFA4-3C2452EC8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4F5692C-40AF-1969-D0FF-D278437C7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BD51843B-04DC-4F92-2FC7-08DA6677E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9F92284-9FD9-6176-0801-5F57AF7EF8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B42F62E0-91EC-FD6E-3B16-85DB3A49B5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5091538-88F2-E21E-0687-28AC40BE81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5288E2B1-909C-34AF-1DCB-8DB4AFA4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64DF5E1-990D-42A1-BF35-2FE44F874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DA8135F-E425-51FB-3721-B7EE2C629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CFE0C3B-C7C7-A827-942A-D602E2836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D4166B4-F2EF-9ACF-24F9-DBD27560A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9D0E185-98EA-C08D-EA80-91DD9D8F63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645B4A4-321D-CEE2-A72E-740482570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C0EC266-1487-2571-3477-C340089FA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99A3218-EB96-7B16-DFB6-BBAE5F44D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5613F408-354A-AAC7-8452-6F03A03FE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B50A8D9F-E6AF-5F27-E040-AE12E348A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CA061297-4651-AF74-55CE-769E3DFA9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A0649C4-0AF9-86CF-CFD5-95FC2799E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F9F652F-1BD5-8C40-7730-5486D4E29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52D72A6-EB91-FECB-E4A0-7C5871CCD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5302556-01E1-AE84-E329-74C8B6DC5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7696A60E-7395-91AD-A39E-9C2104750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81E3C01-5E29-417F-52F8-E70BD1DAB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C188C85-34B3-93B3-E967-A46AD248B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1DD6456-2AF8-2F30-0561-0846A1F48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EF7BF02-6098-1FE5-B3F8-B86DB228B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96DD459-2A00-44A5-1BAD-047277F296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FD5AC142-9C4F-A171-DDEE-38C5F89E4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E09B4D4-68E5-06D2-8984-052029881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FE5B67C-F46C-1962-3850-4F9BFD8B2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54C9A0FE-A89F-33A9-A773-8169A6884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5AC7321B-55D7-CEC3-C5C4-926FA239E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0BF761B8-B5CC-3536-3B6F-371C14392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303FD1F-C5F9-B703-A18F-6C5633696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0EC1CFA6-B53F-05E1-22A7-D04123138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8F17BB0-2E0D-A2DA-CFE2-68B04B6AC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1299E3E-46B4-2945-CD7A-4396C42F8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B8F6A7E-9432-9553-9151-BF4ED101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55461C61-0675-1AAD-E8E2-F17C3D634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F5B9CC3C-892E-51B4-1E9C-862B73BFA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D9B08888-3158-BF0D-8701-3E681D105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9E162DE8-6415-F69D-A663-AC71F1DC1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D04DA999-2C92-A7E2-5A32-3B80DDC4D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14A5CD5-ADF2-4C24-4134-939D0F351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5BE5A8-7658-E4C0-DB13-E3618EAD9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CE5FC67-D21E-2088-74BC-B185DDA08A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268A1D1-FB6B-4439-6780-645A91AC2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C8C79A8-3E5E-77DC-7266-8A82F756C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A009AE4D-2827-63BF-1FC2-18B14760C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6262FF7-C2CA-F25E-C904-F3D66EA861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0CE6D05-3E83-C2AE-88A2-C98D2F9A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65AE8392-7604-B86D-BF92-16FB956F1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626F5F61-B6C3-FBE7-3D4B-785A4FB25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7E453B12-6AA3-97A3-E583-8F7FA39E9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98CBB-A1B1-5590-59C3-A7F5B254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ABD5A5B-811B-418E-9483-61F67F998C2D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896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313C6-CAD7-49D1-8C2A-0471B9019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0F2C-379F-B165-BB1A-8D41DA8A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cap="small" dirty="0"/>
              <a:t>The </a:t>
            </a:r>
            <a:r>
              <a:rPr lang="en-GB" b="1" cap="small" dirty="0"/>
              <a:t>AI Lifecycle </a:t>
            </a:r>
            <a:r>
              <a:rPr lang="en-GB" cap="small" dirty="0"/>
              <a:t>&amp; Its Role in AI 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64817-9613-B8A5-87BE-0E87A0CF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15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672BA-4EE3-A612-8991-3B8263BD35A1}"/>
              </a:ext>
            </a:extLst>
          </p:cNvPr>
          <p:cNvSpPr txBox="1"/>
          <p:nvPr/>
        </p:nvSpPr>
        <p:spPr>
          <a:xfrm>
            <a:off x="935611" y="81174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De Silva &amp; </a:t>
            </a:r>
            <a:r>
              <a:rPr lang="en-GB" dirty="0" err="1">
                <a:hlinkClick r:id="rId2"/>
              </a:rPr>
              <a:t>Alahakoon</a:t>
            </a:r>
            <a:r>
              <a:rPr lang="en-GB" dirty="0">
                <a:hlinkClick r:id="rId2"/>
              </a:rPr>
              <a:t> (2022)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6D297-9FEF-4BE3-9966-4C5462EEA324}"/>
              </a:ext>
            </a:extLst>
          </p:cNvPr>
          <p:cNvSpPr txBox="1"/>
          <p:nvPr/>
        </p:nvSpPr>
        <p:spPr>
          <a:xfrm>
            <a:off x="736600" y="1405912"/>
            <a:ext cx="10769600" cy="489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1000"/>
              </a:lnSpc>
              <a:spcAft>
                <a:spcPts val="600"/>
              </a:spcAft>
            </a:pPr>
            <a:r>
              <a:rPr lang="en-GB" sz="2400" b="1" dirty="0"/>
              <a:t>What is the </a:t>
            </a:r>
            <a:r>
              <a:rPr lang="en-GB" sz="2400" b="1" dirty="0">
                <a:solidFill>
                  <a:srgbClr val="FF0000"/>
                </a:solidFill>
              </a:rPr>
              <a:t>AI Lifecycle</a:t>
            </a:r>
            <a:r>
              <a:rPr lang="en-GB" sz="2400" b="1" dirty="0"/>
              <a:t>?</a:t>
            </a:r>
          </a:p>
          <a:p>
            <a:pPr algn="just">
              <a:lnSpc>
                <a:spcPct val="90000"/>
              </a:lnSpc>
              <a:spcAft>
                <a:spcPts val="1200"/>
              </a:spcAft>
            </a:pPr>
            <a:r>
              <a:rPr lang="en-GB" sz="2000" dirty="0"/>
              <a:t>Rooted in engineering and systems design, the AI lifecycle provides a </a:t>
            </a:r>
            <a:r>
              <a:rPr lang="en-GB" sz="2000" b="1" dirty="0"/>
              <a:t>holistic framework </a:t>
            </a:r>
            <a:r>
              <a:rPr lang="en-GB" sz="2000" dirty="0"/>
              <a:t>for understanding AI systems as </a:t>
            </a:r>
            <a:r>
              <a:rPr lang="en-GB" sz="2000" b="1" dirty="0"/>
              <a:t>complex socio-technical systems</a:t>
            </a:r>
            <a:r>
              <a:rPr lang="en-GB" sz="2000" dirty="0"/>
              <a:t>. It is typically structured around three main phases: (</a:t>
            </a:r>
            <a:r>
              <a:rPr lang="en-GB" sz="2000" dirty="0" err="1"/>
              <a:t>i</a:t>
            </a:r>
            <a:r>
              <a:rPr lang="en-GB" sz="2000" dirty="0"/>
              <a:t>) </a:t>
            </a:r>
            <a:r>
              <a:rPr lang="en-GB" sz="2000" b="1" dirty="0"/>
              <a:t>design</a:t>
            </a:r>
            <a:r>
              <a:rPr lang="en-GB" sz="2000" dirty="0"/>
              <a:t>, (ii) </a:t>
            </a:r>
            <a:r>
              <a:rPr lang="en-GB" sz="2000" b="1" dirty="0"/>
              <a:t>development</a:t>
            </a:r>
            <a:r>
              <a:rPr lang="en-GB" sz="2000" dirty="0"/>
              <a:t>, and (iii) </a:t>
            </a:r>
            <a:r>
              <a:rPr lang="en-GB" sz="2000" b="1" dirty="0"/>
              <a:t>deployment</a:t>
            </a:r>
            <a:r>
              <a:rPr lang="en-GB" sz="2000" dirty="0"/>
              <a:t>.</a:t>
            </a:r>
          </a:p>
          <a:p>
            <a:pPr algn="just">
              <a:lnSpc>
                <a:spcPct val="111000"/>
              </a:lnSpc>
              <a:spcAft>
                <a:spcPts val="600"/>
              </a:spcAft>
            </a:pPr>
            <a:r>
              <a:rPr lang="en-GB" sz="2400" b="1" dirty="0"/>
              <a:t>Why Does It Matter for </a:t>
            </a:r>
            <a:r>
              <a:rPr lang="en-GB" sz="2400" b="1" dirty="0">
                <a:solidFill>
                  <a:srgbClr val="0000FF"/>
                </a:solidFill>
              </a:rPr>
              <a:t>AI Governance</a:t>
            </a:r>
            <a:r>
              <a:rPr lang="en-GB" sz="2400" b="1" dirty="0"/>
              <a:t>? </a:t>
            </a:r>
            <a:endParaRPr lang="en-GB" sz="2400" dirty="0"/>
          </a:p>
          <a:p>
            <a:pPr marL="457200" indent="-457200" algn="just">
              <a:lnSpc>
                <a:spcPct val="90000"/>
              </a:lnSpc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GB" sz="2000" b="1" dirty="0"/>
              <a:t>AI-specific by design</a:t>
            </a:r>
            <a:r>
              <a:rPr lang="en-GB" sz="2000" dirty="0"/>
              <a:t> – Traditional software lifecycles do not fully capture the governance needs created by AI’s autonomy, opacity, and adaptability. </a:t>
            </a:r>
          </a:p>
          <a:p>
            <a:pPr marL="457200" indent="-457200" algn="just">
              <a:lnSpc>
                <a:spcPct val="90000"/>
              </a:lnSpc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GB" sz="2000" b="1" dirty="0"/>
              <a:t>Risk-based </a:t>
            </a:r>
            <a:r>
              <a:rPr lang="en-GB" sz="2000" dirty="0"/>
              <a:t>– It embeds governance across the full lifecycle, helping organisations identify and manage risks before, during, and after deployment, including privacy, cybersecurity, and explainability risks.</a:t>
            </a:r>
          </a:p>
          <a:p>
            <a:pPr marL="457200" indent="-457200" algn="just">
              <a:lnSpc>
                <a:spcPct val="90000"/>
              </a:lnSpc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GB" sz="2000" b="1" dirty="0"/>
              <a:t>Bridges regulation and practice </a:t>
            </a:r>
            <a:r>
              <a:rPr lang="en-GB" sz="2000" dirty="0"/>
              <a:t>– Serves as a governance framework for both legal compliance (e.g., AI Act, GDPR) and industry self-regulation. </a:t>
            </a:r>
          </a:p>
          <a:p>
            <a:pPr marL="457200" indent="-457200" algn="just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GB" sz="2000" b="1" dirty="0"/>
              <a:t>Supports Trustworthy AI </a:t>
            </a:r>
            <a:r>
              <a:rPr lang="en-GB" sz="2000" dirty="0"/>
              <a:t>– Facilitates accountability, transparency, human oversight, and continuous evaluation, ensuring AI systems align with ethical and regulatory expectations.</a:t>
            </a:r>
          </a:p>
        </p:txBody>
      </p:sp>
    </p:spTree>
    <p:extLst>
      <p:ext uri="{BB962C8B-B14F-4D97-AF65-F5344CB8AC3E}">
        <p14:creationId xmlns:p14="http://schemas.microsoft.com/office/powerpoint/2010/main" val="122691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7C632-D831-8D95-E5D0-D1D49DC4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204;p35">
            <a:extLst>
              <a:ext uri="{FF2B5EF4-FFF2-40B4-BE49-F238E27FC236}">
                <a16:creationId xmlns:a16="http://schemas.microsoft.com/office/drawing/2014/main" id="{5A33B564-F7D1-353B-9817-AEC13300319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0454" y="623535"/>
            <a:ext cx="6763592" cy="56109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A7A6A-1956-32AF-6E2B-6A2FD9EA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16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E657F-7EC9-2EE9-25E2-6AC0766BB206}"/>
              </a:ext>
            </a:extLst>
          </p:cNvPr>
          <p:cNvSpPr txBox="1"/>
          <p:nvPr/>
        </p:nvSpPr>
        <p:spPr>
          <a:xfrm>
            <a:off x="312509" y="25420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</a:t>
            </a:r>
            <a:r>
              <a:rPr lang="en-GB" dirty="0"/>
              <a:t> </a:t>
            </a:r>
            <a:r>
              <a:rPr lang="en-GB" dirty="0">
                <a:hlinkClick r:id="rId4"/>
              </a:rPr>
              <a:t>De Silva &amp; </a:t>
            </a:r>
            <a:r>
              <a:rPr lang="en-GB" dirty="0" err="1">
                <a:hlinkClick r:id="rId4"/>
              </a:rPr>
              <a:t>Alahakoon</a:t>
            </a:r>
            <a:r>
              <a:rPr lang="en-GB" dirty="0">
                <a:hlinkClick r:id="rId4"/>
              </a:rPr>
              <a:t> (2022)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7AE716-11C4-1D86-8879-FBE7179EBBA7}"/>
              </a:ext>
            </a:extLst>
          </p:cNvPr>
          <p:cNvSpPr txBox="1"/>
          <p:nvPr/>
        </p:nvSpPr>
        <p:spPr>
          <a:xfrm>
            <a:off x="188684" y="788315"/>
            <a:ext cx="4693281" cy="546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1000"/>
              </a:lnSpc>
              <a:spcAft>
                <a:spcPts val="2400"/>
              </a:spcAft>
            </a:pPr>
            <a:r>
              <a:rPr lang="en-GB" dirty="0"/>
              <a:t>👥 </a:t>
            </a:r>
            <a:r>
              <a:rPr lang="en-GB" sz="2100" b="1" dirty="0"/>
              <a:t>AI Lifecycle &amp; Human Involvement</a:t>
            </a:r>
          </a:p>
          <a:p>
            <a:pPr marL="285750" indent="-28575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700" dirty="0"/>
              <a:t>Each phase of the AI lifecycle requires </a:t>
            </a:r>
            <a:r>
              <a:rPr lang="en-GB" sz="1700" b="1" dirty="0"/>
              <a:t>specialised human expertise </a:t>
            </a:r>
            <a:r>
              <a:rPr lang="en-GB" sz="1700" dirty="0"/>
              <a:t>— from AI scientists and data engineers to compliance officers and ethicists.</a:t>
            </a:r>
          </a:p>
          <a:p>
            <a:pPr marL="285750" indent="-28575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700" dirty="0"/>
              <a:t>The </a:t>
            </a:r>
            <a:r>
              <a:rPr lang="en-GB" sz="1700" b="1" dirty="0"/>
              <a:t>composition of AI teams </a:t>
            </a:r>
            <a:r>
              <a:rPr lang="en-GB" sz="1700" dirty="0"/>
              <a:t>depends on the </a:t>
            </a:r>
            <a:r>
              <a:rPr lang="en-GB" sz="1700" b="1" dirty="0"/>
              <a:t>size, scope, and complexity </a:t>
            </a:r>
            <a:r>
              <a:rPr lang="en-GB" sz="1700" dirty="0"/>
              <a:t>of the project. Larger initiatives may require dedicated roles in </a:t>
            </a:r>
            <a:r>
              <a:rPr lang="en-GB" sz="1700" b="1" dirty="0"/>
              <a:t>governance, risk management, and deployment</a:t>
            </a:r>
            <a:r>
              <a:rPr lang="en-GB" sz="1700" dirty="0"/>
              <a:t>.</a:t>
            </a:r>
          </a:p>
          <a:p>
            <a:pPr marL="285750" indent="-28575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700" dirty="0"/>
              <a:t>Not all AI lifecycles are equally complex. For example, the process may be more straightforward when systems are </a:t>
            </a:r>
            <a:r>
              <a:rPr lang="en-GB" sz="1700" b="1" dirty="0"/>
              <a:t>procured from third parties</a:t>
            </a:r>
            <a:r>
              <a:rPr lang="en-GB" sz="1700" dirty="0"/>
              <a:t> rather than developed in-house.</a:t>
            </a:r>
            <a:endParaRPr lang="en-GB" sz="1700" b="1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Governance and compliance responsibilities also vary depending on whether the system is </a:t>
            </a:r>
            <a:r>
              <a:rPr lang="en-GB" sz="1700" b="1" dirty="0"/>
              <a:t>custom-built, fine-tuned, or externally sourced</a:t>
            </a:r>
            <a:r>
              <a:rPr lang="en-GB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045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EA15F-A019-649F-E9CF-F5007F8F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BB52-2D6B-7A4F-D11C-764266CA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0"/>
            <a:ext cx="11107888" cy="1325563"/>
          </a:xfrm>
        </p:spPr>
        <p:txBody>
          <a:bodyPr/>
          <a:lstStyle/>
          <a:p>
            <a:r>
              <a:rPr lang="en-GB" cap="small" dirty="0"/>
              <a:t>The Organisational Context of the AI Lifecycle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80E9E-26FF-AFEE-5ACE-BD104F43C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17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33302F-85CC-D598-B49E-8899D1E6A2CD}"/>
              </a:ext>
            </a:extLst>
          </p:cNvPr>
          <p:cNvSpPr txBox="1"/>
          <p:nvPr/>
        </p:nvSpPr>
        <p:spPr>
          <a:xfrm>
            <a:off x="579287" y="86284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De Silva &amp; </a:t>
            </a:r>
            <a:r>
              <a:rPr lang="en-GB" dirty="0" err="1">
                <a:hlinkClick r:id="rId2"/>
              </a:rPr>
              <a:t>Alahakoon</a:t>
            </a:r>
            <a:r>
              <a:rPr lang="en-GB" dirty="0">
                <a:hlinkClick r:id="rId2"/>
              </a:rPr>
              <a:t> (2022)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A74FA6-84A0-8D34-BE98-7F91C6A4C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87" y="1404267"/>
            <a:ext cx="5136290" cy="4309053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sz="2000" dirty="0"/>
              <a:t>The AI lifecycle operates within the wider organisational workflow, from </a:t>
            </a:r>
            <a:r>
              <a:rPr lang="en-GB" sz="2000" b="1" dirty="0"/>
              <a:t>strategic planning </a:t>
            </a:r>
            <a:r>
              <a:rPr lang="en-GB" sz="2000" dirty="0"/>
              <a:t>to</a:t>
            </a:r>
            <a:r>
              <a:rPr lang="en-GB" sz="2000" b="1" dirty="0"/>
              <a:t> operational decision-making</a:t>
            </a:r>
            <a:r>
              <a:rPr lang="en-GB" sz="2000" dirty="0"/>
              <a:t>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sz="2000" dirty="0"/>
              <a:t>AI development must be aligned with </a:t>
            </a:r>
            <a:r>
              <a:rPr lang="en-GB" sz="2000" b="1" dirty="0"/>
              <a:t>organisational objectives</a:t>
            </a:r>
            <a:r>
              <a:rPr lang="en-GB" sz="2000" dirty="0"/>
              <a:t>, ensuring that AI systems support business goals, compliance requirements, and risk management.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sz="2000" dirty="0"/>
              <a:t>Effective AI governance also requires </a:t>
            </a:r>
            <a:r>
              <a:rPr lang="en-GB" sz="2000" b="1" dirty="0"/>
              <a:t>cross-functional collaboration</a:t>
            </a:r>
            <a:r>
              <a:rPr lang="en-GB" sz="2000" dirty="0"/>
              <a:t>. AI teams need to work closely with senior management, legal and compliance functions, ethicists, and end-users.</a:t>
            </a:r>
          </a:p>
        </p:txBody>
      </p:sp>
      <p:pic>
        <p:nvPicPr>
          <p:cNvPr id="3" name="Google Shape;204;p35">
            <a:extLst>
              <a:ext uri="{FF2B5EF4-FFF2-40B4-BE49-F238E27FC236}">
                <a16:creationId xmlns:a16="http://schemas.microsoft.com/office/drawing/2014/main" id="{050795A4-841C-86D7-172C-0108A3A4F3A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5857102" y="1472833"/>
            <a:ext cx="5151861" cy="39638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A80E2E-CD9A-A9FB-5187-00DE099E081D}"/>
              </a:ext>
            </a:extLst>
          </p:cNvPr>
          <p:cNvSpPr/>
          <p:nvPr/>
        </p:nvSpPr>
        <p:spPr>
          <a:xfrm rot="5400000">
            <a:off x="10210347" y="3778303"/>
            <a:ext cx="2342508" cy="462225"/>
          </a:xfrm>
          <a:prstGeom prst="rect">
            <a:avLst/>
          </a:prstGeom>
          <a:solidFill>
            <a:srgbClr val="4F5E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AI lifecycle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3811C4-AF38-BF16-8740-D265B476329C}"/>
              </a:ext>
            </a:extLst>
          </p:cNvPr>
          <p:cNvSpPr txBox="1"/>
          <p:nvPr/>
        </p:nvSpPr>
        <p:spPr>
          <a:xfrm>
            <a:off x="579287" y="5530494"/>
            <a:ext cx="10515600" cy="10084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GB" sz="2200" dirty="0"/>
              <a:t>🔗 </a:t>
            </a:r>
            <a:r>
              <a:rPr lang="en-GB" sz="2200" b="1" dirty="0"/>
              <a:t>Key Takeaway</a:t>
            </a:r>
            <a:r>
              <a:rPr lang="en-GB" sz="2200" dirty="0"/>
              <a:t>: Understanding the organisational context of AI is essential for </a:t>
            </a:r>
            <a:r>
              <a:rPr lang="en-GB" sz="2200" b="1" dirty="0"/>
              <a:t>effective integration/adoption, stakeholder alignment, and responsible deployment</a:t>
            </a:r>
            <a:r>
              <a:rPr lang="en-GB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035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3AA73-33B6-6832-A791-34906787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F081-9FB8-441E-D622-37835C4D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78"/>
            <a:ext cx="10515600" cy="1325563"/>
          </a:xfrm>
        </p:spPr>
        <p:txBody>
          <a:bodyPr/>
          <a:lstStyle/>
          <a:p>
            <a:r>
              <a:rPr lang="en-GB" cap="small" dirty="0"/>
              <a:t>Who are the </a:t>
            </a:r>
            <a:r>
              <a:rPr lang="en-GB" b="1" cap="small" dirty="0"/>
              <a:t>Stakeholders</a:t>
            </a:r>
            <a:r>
              <a:rPr lang="en-GB" cap="small" dirty="0"/>
              <a:t> of an AI Project?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D48D6-B110-23EB-5646-5759B166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18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75D5E6-3F7E-BC28-C4F0-7D525E055478}"/>
              </a:ext>
            </a:extLst>
          </p:cNvPr>
          <p:cNvSpPr txBox="1"/>
          <p:nvPr/>
        </p:nvSpPr>
        <p:spPr>
          <a:xfrm>
            <a:off x="935611" y="83265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Miller (2022)</a:t>
            </a:r>
            <a:endParaRPr lang="en-GB" dirty="0"/>
          </a:p>
        </p:txBody>
      </p:sp>
      <p:pic>
        <p:nvPicPr>
          <p:cNvPr id="3" name="Picture 2" descr="A diagram of a user&#10;&#10;Description automatically generated">
            <a:extLst>
              <a:ext uri="{FF2B5EF4-FFF2-40B4-BE49-F238E27FC236}">
                <a16:creationId xmlns:a16="http://schemas.microsoft.com/office/drawing/2014/main" id="{CF9536B0-B405-AECC-9455-7E87870A0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51" y="1539742"/>
            <a:ext cx="10768097" cy="40150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8D629E-3392-68A7-EE12-D643AF4BB68F}"/>
              </a:ext>
            </a:extLst>
          </p:cNvPr>
          <p:cNvSpPr txBox="1"/>
          <p:nvPr/>
        </p:nvSpPr>
        <p:spPr>
          <a:xfrm>
            <a:off x="711952" y="5726601"/>
            <a:ext cx="10768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+mj-lt"/>
                <a:ea typeface="Archivo Light"/>
                <a:cs typeface="Archivo Light"/>
              </a:rPr>
              <a:t>In and along the lifecycle, we find both </a:t>
            </a:r>
            <a:r>
              <a:rPr lang="en-GB" sz="2400" b="1" dirty="0">
                <a:solidFill>
                  <a:srgbClr val="0000FF"/>
                </a:solidFill>
                <a:latin typeface="+mj-lt"/>
                <a:ea typeface="Archivo Light"/>
                <a:cs typeface="Archivo Light"/>
              </a:rPr>
              <a:t>active</a:t>
            </a:r>
            <a:r>
              <a:rPr lang="en-GB" sz="2400" dirty="0">
                <a:latin typeface="+mj-lt"/>
                <a:ea typeface="Archivo Light"/>
                <a:cs typeface="Archivo Light"/>
              </a:rPr>
              <a:t> and </a:t>
            </a:r>
            <a:r>
              <a:rPr lang="en-GB" sz="2400" b="1" dirty="0">
                <a:solidFill>
                  <a:srgbClr val="FF0000"/>
                </a:solidFill>
                <a:latin typeface="+mj-lt"/>
                <a:ea typeface="Archivo Light"/>
                <a:cs typeface="Archivo Light"/>
              </a:rPr>
              <a:t>passive</a:t>
            </a:r>
            <a:r>
              <a:rPr lang="en-GB" sz="2400" dirty="0">
                <a:latin typeface="+mj-lt"/>
                <a:ea typeface="Archivo Light"/>
                <a:cs typeface="Archivo Light"/>
              </a:rPr>
              <a:t> </a:t>
            </a:r>
            <a:r>
              <a:rPr lang="en-GB" sz="2400" b="1" dirty="0">
                <a:latin typeface="+mj-lt"/>
                <a:ea typeface="Archivo Light"/>
                <a:cs typeface="Archivo Light"/>
              </a:rPr>
              <a:t>stakeholders </a:t>
            </a:r>
            <a:r>
              <a:rPr lang="en-GB" sz="2400" dirty="0">
                <a:latin typeface="+mj-lt"/>
                <a:ea typeface="Archivo Light"/>
                <a:cs typeface="Archivo Light"/>
              </a:rPr>
              <a:t>of AI systems.</a:t>
            </a:r>
            <a:endParaRPr lang="en-GB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E4853B0-E6F0-4573-193C-8579E3F87AA3}"/>
                  </a:ext>
                </a:extLst>
              </p14:cNvPr>
              <p14:cNvContentPartPr/>
              <p14:nvPr/>
            </p14:nvContentPartPr>
            <p14:xfrm>
              <a:off x="5493180" y="2066520"/>
              <a:ext cx="1205640" cy="111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4853B0-E6F0-4573-193C-8579E3F87A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75180" y="2048520"/>
                <a:ext cx="1241280" cy="11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1376207-9588-EFDC-7599-7952B70E5912}"/>
                  </a:ext>
                </a:extLst>
              </p14:cNvPr>
              <p14:cNvContentPartPr/>
              <p14:nvPr/>
            </p14:nvContentPartPr>
            <p14:xfrm>
              <a:off x="2467225" y="1999931"/>
              <a:ext cx="1515600" cy="1332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1376207-9588-EFDC-7599-7952B70E59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49225" y="1981931"/>
                <a:ext cx="1551240" cy="13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A8EB29C-C1C9-5E7E-034C-798737C566FD}"/>
                  </a:ext>
                </a:extLst>
              </p14:cNvPr>
              <p14:cNvContentPartPr/>
              <p14:nvPr/>
            </p14:nvContentPartPr>
            <p14:xfrm>
              <a:off x="2392345" y="4164885"/>
              <a:ext cx="1590480" cy="1316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A8EB29C-C1C9-5E7E-034C-798737C566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74345" y="4146885"/>
                <a:ext cx="1626120" cy="13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0F2B41C-37F9-FCE8-CF6C-9F1990BB3BCD}"/>
                  </a:ext>
                </a:extLst>
              </p14:cNvPr>
              <p14:cNvContentPartPr/>
              <p14:nvPr/>
            </p14:nvContentPartPr>
            <p14:xfrm>
              <a:off x="10166485" y="3182520"/>
              <a:ext cx="1379160" cy="1102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0F2B41C-37F9-FCE8-CF6C-9F1990BB3B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48485" y="3164520"/>
                <a:ext cx="1414800" cy="113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653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66415-0C91-9FF5-D550-A840F628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F2B5-A1CE-1D33-D03E-D16585676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cap="small" dirty="0"/>
              <a:t>The </a:t>
            </a:r>
            <a:r>
              <a:rPr lang="en-GB" b="1" cap="small" dirty="0"/>
              <a:t>Complex Network </a:t>
            </a:r>
            <a:r>
              <a:rPr lang="en-GB" cap="small" dirty="0"/>
              <a:t>of AI Stakeholders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BEBC5-3C70-F3FB-4141-264E780F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19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AE9E33-F01F-20A7-52D4-13797EECAFA8}"/>
              </a:ext>
            </a:extLst>
          </p:cNvPr>
          <p:cNvSpPr txBox="1"/>
          <p:nvPr/>
        </p:nvSpPr>
        <p:spPr>
          <a:xfrm>
            <a:off x="935611" y="85020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Miller (2022)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BD846-D471-ED41-BFB4-0CE11250BEDF}"/>
              </a:ext>
            </a:extLst>
          </p:cNvPr>
          <p:cNvSpPr txBox="1"/>
          <p:nvPr/>
        </p:nvSpPr>
        <p:spPr>
          <a:xfrm>
            <a:off x="523875" y="5920877"/>
            <a:ext cx="11144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+mj-lt"/>
                <a:ea typeface="Archivo Light"/>
                <a:cs typeface="Archivo Light"/>
              </a:rPr>
              <a:t>The group of </a:t>
            </a:r>
            <a:r>
              <a:rPr lang="en-GB" sz="2400" b="1" dirty="0">
                <a:latin typeface="+mj-lt"/>
                <a:ea typeface="Archivo Light"/>
                <a:cs typeface="Archivo Light"/>
              </a:rPr>
              <a:t>AI stakeholders </a:t>
            </a:r>
            <a:r>
              <a:rPr lang="en-GB" sz="2400" dirty="0">
                <a:latin typeface="+mj-lt"/>
                <a:ea typeface="Archivo Light"/>
                <a:cs typeface="Archivo Light"/>
              </a:rPr>
              <a:t>functions itself as a </a:t>
            </a:r>
            <a:r>
              <a:rPr lang="en-GB" sz="2400" b="1" dirty="0">
                <a:latin typeface="+mj-lt"/>
                <a:ea typeface="Archivo Light"/>
                <a:cs typeface="Archivo Light"/>
              </a:rPr>
              <a:t>complex system </a:t>
            </a:r>
            <a:r>
              <a:rPr lang="en-GB" sz="2400" dirty="0">
                <a:latin typeface="+mj-lt"/>
                <a:ea typeface="Archivo Light"/>
                <a:cs typeface="Archivo Light"/>
              </a:rPr>
              <a:t>of networked actors. </a:t>
            </a: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B3BBF-800C-2CAD-5D31-AE78D7744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50950" y="1373803"/>
            <a:ext cx="9690100" cy="44847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5967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E95486-47BA-6028-9A7E-B80A8C83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8B8F-C054-C8B2-DA13-9317663BB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cap="small" dirty="0"/>
              <a:t>(Some) Stakeholder Roles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D9D62-0197-51B1-3420-B6E7F7CD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20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84A132-2AB3-D429-5F14-A14ED31870CF}"/>
              </a:ext>
            </a:extLst>
          </p:cNvPr>
          <p:cNvSpPr txBox="1"/>
          <p:nvPr/>
        </p:nvSpPr>
        <p:spPr>
          <a:xfrm>
            <a:off x="935611" y="86310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Miller (2022)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35FB2-05BD-84BD-1CBE-C80D7E3C3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48662" y="1508646"/>
            <a:ext cx="7294675" cy="4744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1400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A8EAA-C65B-8377-FF48-66893B89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rrow: Right 19">
            <a:extLst>
              <a:ext uri="{FF2B5EF4-FFF2-40B4-BE49-F238E27FC236}">
                <a16:creationId xmlns:a16="http://schemas.microsoft.com/office/drawing/2014/main" id="{4A3B3153-C5E3-B376-5C78-B7281AE3AADD}"/>
              </a:ext>
            </a:extLst>
          </p:cNvPr>
          <p:cNvSpPr/>
          <p:nvPr/>
        </p:nvSpPr>
        <p:spPr>
          <a:xfrm>
            <a:off x="0" y="874207"/>
            <a:ext cx="12192000" cy="3326004"/>
          </a:xfrm>
          <a:prstGeom prst="rightArrow">
            <a:avLst>
              <a:gd name="adj1" fmla="val 56042"/>
              <a:gd name="adj2" fmla="val 5000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043B1-FD9F-E79C-FC81-ABD7A72C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96"/>
            <a:ext cx="10515600" cy="1325563"/>
          </a:xfrm>
        </p:spPr>
        <p:txBody>
          <a:bodyPr/>
          <a:lstStyle/>
          <a:p>
            <a:r>
              <a:rPr lang="en-GB" cap="small" dirty="0"/>
              <a:t>High-Level View of the </a:t>
            </a:r>
            <a:r>
              <a:rPr lang="en-GB" cap="small" dirty="0" err="1"/>
              <a:t>GenAI</a:t>
            </a:r>
            <a:r>
              <a:rPr lang="en-GB" cap="small" dirty="0"/>
              <a:t> Lifecycle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5093B-274E-BFE8-C26E-38BE2108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21</a:t>
            </a:fld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4B56AC-6768-1D02-9361-35B57E86F5CF}"/>
              </a:ext>
            </a:extLst>
          </p:cNvPr>
          <p:cNvSpPr txBox="1"/>
          <p:nvPr/>
        </p:nvSpPr>
        <p:spPr>
          <a:xfrm>
            <a:off x="655488" y="6222750"/>
            <a:ext cx="6267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i="1" dirty="0"/>
              <a:t>Source</a:t>
            </a:r>
            <a:r>
              <a:rPr lang="en-GB" sz="1800" dirty="0"/>
              <a:t>: </a:t>
            </a:r>
            <a:r>
              <a:rPr lang="en-GB" sz="1800" dirty="0">
                <a:hlinkClick r:id="rId2"/>
              </a:rPr>
              <a:t>The Institute of International Finance (2024: 8) 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058188-97AC-DEC4-362A-D097F4A60E5D}"/>
              </a:ext>
            </a:extLst>
          </p:cNvPr>
          <p:cNvSpPr/>
          <p:nvPr/>
        </p:nvSpPr>
        <p:spPr>
          <a:xfrm>
            <a:off x="888999" y="1851530"/>
            <a:ext cx="2288512" cy="1323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Develops</a:t>
            </a:r>
          </a:p>
          <a:p>
            <a:pPr algn="ctr"/>
            <a:r>
              <a:rPr lang="en-GB" dirty="0"/>
              <a:t>Foundation model (e.g., LLM)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DB1981-1280-CA8D-293E-AEDC279C030A}"/>
              </a:ext>
            </a:extLst>
          </p:cNvPr>
          <p:cNvSpPr/>
          <p:nvPr/>
        </p:nvSpPr>
        <p:spPr>
          <a:xfrm>
            <a:off x="3562350" y="1851529"/>
            <a:ext cx="2288512" cy="1323975"/>
          </a:xfrm>
          <a:prstGeom prst="rect">
            <a:avLst/>
          </a:prstGeom>
          <a:solidFill>
            <a:srgbClr val="4F5EB7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/>
              <a:t>Customise Foundation model to suit a given use case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82A114-311B-FE6D-B5C8-90E6B2AE566B}"/>
              </a:ext>
            </a:extLst>
          </p:cNvPr>
          <p:cNvSpPr/>
          <p:nvPr/>
        </p:nvSpPr>
        <p:spPr>
          <a:xfrm>
            <a:off x="6235702" y="1851532"/>
            <a:ext cx="2288512" cy="132397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Further fine-tuning of the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54690B-6B35-D54E-06D3-F0647CB52BCF}"/>
              </a:ext>
            </a:extLst>
          </p:cNvPr>
          <p:cNvSpPr/>
          <p:nvPr/>
        </p:nvSpPr>
        <p:spPr>
          <a:xfrm>
            <a:off x="8909053" y="1851529"/>
            <a:ext cx="2288512" cy="1323975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Use of AI tool</a:t>
            </a:r>
          </a:p>
        </p:txBody>
      </p:sp>
      <p:pic>
        <p:nvPicPr>
          <p:cNvPr id="26" name="Graphic 25" descr="Production with solid fill">
            <a:extLst>
              <a:ext uri="{FF2B5EF4-FFF2-40B4-BE49-F238E27FC236}">
                <a16:creationId xmlns:a16="http://schemas.microsoft.com/office/drawing/2014/main" id="{C728D8DA-5CFD-825B-323D-348B85CE42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76055" y="3644219"/>
            <a:ext cx="914400" cy="914400"/>
          </a:xfrm>
          <a:prstGeom prst="rect">
            <a:avLst/>
          </a:prstGeom>
        </p:spPr>
      </p:pic>
      <p:pic>
        <p:nvPicPr>
          <p:cNvPr id="27" name="Graphic 26" descr="Cut with solid fill">
            <a:extLst>
              <a:ext uri="{FF2B5EF4-FFF2-40B4-BE49-F238E27FC236}">
                <a16:creationId xmlns:a16="http://schemas.microsoft.com/office/drawing/2014/main" id="{B1A32EAD-A269-F866-CFCE-2DBA9D496C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249406" y="3644219"/>
            <a:ext cx="914400" cy="914400"/>
          </a:xfrm>
          <a:prstGeom prst="rect">
            <a:avLst/>
          </a:prstGeom>
        </p:spPr>
      </p:pic>
      <p:pic>
        <p:nvPicPr>
          <p:cNvPr id="28" name="Graphic 27" descr="Tools with solid fill">
            <a:extLst>
              <a:ext uri="{FF2B5EF4-FFF2-40B4-BE49-F238E27FC236}">
                <a16:creationId xmlns:a16="http://schemas.microsoft.com/office/drawing/2014/main" id="{C53E7143-DD8B-64FA-CF22-1E8C03BE84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922758" y="3644219"/>
            <a:ext cx="914400" cy="914400"/>
          </a:xfrm>
          <a:prstGeom prst="rect">
            <a:avLst/>
          </a:prstGeom>
        </p:spPr>
      </p:pic>
      <p:pic>
        <p:nvPicPr>
          <p:cNvPr id="29" name="Graphic 28" descr="Puppet with solid fill">
            <a:extLst>
              <a:ext uri="{FF2B5EF4-FFF2-40B4-BE49-F238E27FC236}">
                <a16:creationId xmlns:a16="http://schemas.microsoft.com/office/drawing/2014/main" id="{B9DAF915-5A17-C2CC-E193-02530673D9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596110" y="3650241"/>
            <a:ext cx="914400" cy="9144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F95EC98-8B46-2A6F-7EDA-536D87E474DE}"/>
              </a:ext>
            </a:extLst>
          </p:cNvPr>
          <p:cNvSpPr/>
          <p:nvPr/>
        </p:nvSpPr>
        <p:spPr>
          <a:xfrm>
            <a:off x="1140455" y="4705481"/>
            <a:ext cx="1785600" cy="1364245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 dirty="0"/>
              <a:t>Hyperscale</a:t>
            </a:r>
            <a:r>
              <a:rPr lang="en-GB" dirty="0"/>
              <a:t> technology firm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486D7F-F168-FAFF-00F5-8A9CCE1E3142}"/>
              </a:ext>
            </a:extLst>
          </p:cNvPr>
          <p:cNvSpPr/>
          <p:nvPr/>
        </p:nvSpPr>
        <p:spPr>
          <a:xfrm>
            <a:off x="3814759" y="4705481"/>
            <a:ext cx="1785600" cy="1358384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/>
              <a:t>Tech provider</a:t>
            </a:r>
          </a:p>
          <a:p>
            <a:pPr algn="ctr"/>
            <a:r>
              <a:rPr lang="en-GB" dirty="0"/>
              <a:t>(</a:t>
            </a:r>
            <a:r>
              <a:rPr lang="en-GB" b="1" dirty="0"/>
              <a:t>deployer one</a:t>
            </a:r>
            <a:r>
              <a:rPr lang="en-GB" dirty="0"/>
              <a:t>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6072B9-596A-A349-8C6C-76D0A64BAF1E}"/>
              </a:ext>
            </a:extLst>
          </p:cNvPr>
          <p:cNvSpPr/>
          <p:nvPr/>
        </p:nvSpPr>
        <p:spPr>
          <a:xfrm>
            <a:off x="6489064" y="4700288"/>
            <a:ext cx="1785600" cy="1358384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/>
              <a:t>Corporate User</a:t>
            </a:r>
            <a:endParaRPr lang="en-US" dirty="0"/>
          </a:p>
          <a:p>
            <a:pPr algn="ctr"/>
            <a:r>
              <a:rPr lang="en-GB" dirty="0"/>
              <a:t>(</a:t>
            </a:r>
            <a:r>
              <a:rPr lang="en-GB" b="1" dirty="0"/>
              <a:t>deployer two</a:t>
            </a:r>
            <a:r>
              <a:rPr lang="en-GB" dirty="0"/>
              <a:t>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CEF35B-265F-7C38-29E9-88DCB098A6BB}"/>
              </a:ext>
            </a:extLst>
          </p:cNvPr>
          <p:cNvSpPr/>
          <p:nvPr/>
        </p:nvSpPr>
        <p:spPr>
          <a:xfrm>
            <a:off x="9163368" y="4705481"/>
            <a:ext cx="1785600" cy="1364245"/>
          </a:xfrm>
          <a:prstGeom prst="rect">
            <a:avLst/>
          </a:prstGeom>
          <a:ln w="19050">
            <a:solidFill>
              <a:srgbClr val="D8892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 dirty="0"/>
              <a:t>Employees</a:t>
            </a:r>
            <a:r>
              <a:rPr lang="en-GB" dirty="0"/>
              <a:t> of deployer two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99E2C-886B-AB3C-1AE8-E495179471ED}"/>
              </a:ext>
            </a:extLst>
          </p:cNvPr>
          <p:cNvSpPr txBox="1"/>
          <p:nvPr/>
        </p:nvSpPr>
        <p:spPr>
          <a:xfrm>
            <a:off x="890954" y="874207"/>
            <a:ext cx="62249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dirty="0"/>
              <a:t>As Embedded in Its Value Chain (Wait Unti Next Seminar!)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627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3794E-4BC4-3716-DC74-2C79FAE2A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6A6A8-ECF7-E699-B6B1-745232CA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cap="small" dirty="0"/>
              <a:t>Stakeholder Engagement in the AI Lifecycle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40A0C-637D-8C4D-E580-A6BA3733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22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76F7D-EB57-9596-B603-B45A875E2370}"/>
              </a:ext>
            </a:extLst>
          </p:cNvPr>
          <p:cNvSpPr txBox="1"/>
          <p:nvPr/>
        </p:nvSpPr>
        <p:spPr>
          <a:xfrm>
            <a:off x="935611" y="82986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Miller (2022)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B1052-8F7A-C62E-C129-8774DBCA0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67962" y="1635754"/>
            <a:ext cx="7294675" cy="4667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AA4F977C-C9E4-FAAC-3BF4-1797F1E1A696}"/>
              </a:ext>
            </a:extLst>
          </p:cNvPr>
          <p:cNvSpPr/>
          <p:nvPr/>
        </p:nvSpPr>
        <p:spPr>
          <a:xfrm>
            <a:off x="6256020" y="3355439"/>
            <a:ext cx="396000" cy="396000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2AC3A-1EFE-A7D8-389E-B70F3823C3AB}"/>
              </a:ext>
            </a:extLst>
          </p:cNvPr>
          <p:cNvSpPr txBox="1"/>
          <p:nvPr/>
        </p:nvSpPr>
        <p:spPr>
          <a:xfrm>
            <a:off x="6261882" y="3386358"/>
            <a:ext cx="438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  <a:ea typeface="Archivo Light"/>
                <a:cs typeface="Calibri" panose="020F0502020204030204" pitchFamily="34" charset="0"/>
                <a:sym typeface="Archivo Light"/>
              </a:rPr>
              <a:t>R1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FF83AE-B8CD-5BCD-3895-CA27C746F8A8}"/>
              </a:ext>
            </a:extLst>
          </p:cNvPr>
          <p:cNvSpPr/>
          <p:nvPr/>
        </p:nvSpPr>
        <p:spPr>
          <a:xfrm>
            <a:off x="8115300" y="2905859"/>
            <a:ext cx="396000" cy="396000"/>
          </a:xfrm>
          <a:prstGeom prst="ellipse">
            <a:avLst/>
          </a:prstGeom>
          <a:solidFill>
            <a:srgbClr val="00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0ED842-3C7B-E963-2755-853572292B62}"/>
              </a:ext>
            </a:extLst>
          </p:cNvPr>
          <p:cNvSpPr txBox="1"/>
          <p:nvPr/>
        </p:nvSpPr>
        <p:spPr>
          <a:xfrm>
            <a:off x="8088217" y="2919194"/>
            <a:ext cx="485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00FF00"/>
                </a:highlight>
                <a:latin typeface="+mj-lt"/>
                <a:ea typeface="Archivo Light"/>
                <a:cs typeface="Archivo Light"/>
                <a:sym typeface="Archivo Light"/>
              </a:rPr>
              <a:t>R2</a:t>
            </a:r>
            <a:endParaRPr lang="en-GB" dirty="0">
              <a:highlight>
                <a:srgbClr val="00FF00"/>
              </a:highlight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D9049B-B7FE-9D42-4974-F141EB4EE715}"/>
              </a:ext>
            </a:extLst>
          </p:cNvPr>
          <p:cNvSpPr/>
          <p:nvPr/>
        </p:nvSpPr>
        <p:spPr>
          <a:xfrm>
            <a:off x="9052560" y="3355439"/>
            <a:ext cx="396000" cy="396000"/>
          </a:xfrm>
          <a:prstGeom prst="ellipse">
            <a:avLst/>
          </a:prstGeom>
          <a:solidFill>
            <a:srgbClr val="00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highlight>
                <a:srgbClr val="00FFFF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B9C0FA-4F9A-DF81-78FF-FC5C78269C2D}"/>
              </a:ext>
            </a:extLst>
          </p:cNvPr>
          <p:cNvSpPr txBox="1"/>
          <p:nvPr/>
        </p:nvSpPr>
        <p:spPr>
          <a:xfrm>
            <a:off x="9048922" y="3370684"/>
            <a:ext cx="497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00FFFF"/>
                </a:highlight>
                <a:latin typeface="+mj-lt"/>
                <a:ea typeface="Archivo Light"/>
                <a:cs typeface="Archivo Light"/>
                <a:sym typeface="Archivo Light"/>
              </a:rPr>
              <a:t>R3</a:t>
            </a:r>
            <a:endParaRPr lang="en-GB" dirty="0">
              <a:highlight>
                <a:srgbClr val="00FFFF"/>
              </a:highligh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06A496-FFD0-44C0-EEC6-07FE4CFE65F0}"/>
              </a:ext>
            </a:extLst>
          </p:cNvPr>
          <p:cNvSpPr/>
          <p:nvPr/>
        </p:nvSpPr>
        <p:spPr>
          <a:xfrm>
            <a:off x="8115300" y="4974689"/>
            <a:ext cx="396000" cy="396000"/>
          </a:xfrm>
          <a:prstGeom prst="ellipse">
            <a:avLst/>
          </a:prstGeom>
          <a:solidFill>
            <a:srgbClr val="FF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A5DC20-8E99-95D3-3435-3EB37D1E17A6}"/>
              </a:ext>
            </a:extLst>
          </p:cNvPr>
          <p:cNvSpPr txBox="1"/>
          <p:nvPr/>
        </p:nvSpPr>
        <p:spPr>
          <a:xfrm>
            <a:off x="8103577" y="4982162"/>
            <a:ext cx="456028" cy="381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FF00FF"/>
                </a:highlight>
                <a:latin typeface="+mj-lt"/>
                <a:ea typeface="Archivo Light"/>
                <a:cs typeface="Archivo Light"/>
                <a:sym typeface="Archivo Light"/>
              </a:rPr>
              <a:t>R4</a:t>
            </a:r>
            <a:endParaRPr lang="en-GB" dirty="0">
              <a:highlight>
                <a:srgbClr val="FF00FF"/>
              </a:highlight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850C7D2-43F3-C4AF-5E3D-59B755E365C6}"/>
              </a:ext>
            </a:extLst>
          </p:cNvPr>
          <p:cNvSpPr/>
          <p:nvPr/>
        </p:nvSpPr>
        <p:spPr>
          <a:xfrm>
            <a:off x="6261160" y="5471124"/>
            <a:ext cx="396000" cy="3960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E977BB-0D3C-A4DB-7413-707CFF832742}"/>
              </a:ext>
            </a:extLst>
          </p:cNvPr>
          <p:cNvSpPr txBox="1"/>
          <p:nvPr/>
        </p:nvSpPr>
        <p:spPr>
          <a:xfrm>
            <a:off x="6237263" y="5484458"/>
            <a:ext cx="48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FF0000"/>
                </a:highlight>
                <a:latin typeface="+mj-lt"/>
                <a:ea typeface="Archivo Light"/>
                <a:cs typeface="Archivo Light"/>
                <a:sym typeface="Archivo Light"/>
              </a:rPr>
              <a:t>R5</a:t>
            </a:r>
            <a:endParaRPr lang="en-GB" dirty="0">
              <a:highlight>
                <a:srgbClr val="FF0000"/>
              </a:highlight>
            </a:endParaRPr>
          </a:p>
        </p:txBody>
      </p:sp>
      <p:sp>
        <p:nvSpPr>
          <p:cNvPr id="19" name="Google Shape;203;p35">
            <a:extLst>
              <a:ext uri="{FF2B5EF4-FFF2-40B4-BE49-F238E27FC236}">
                <a16:creationId xmlns:a16="http://schemas.microsoft.com/office/drawing/2014/main" id="{5AF734C2-BD0D-74E6-258A-8A66A3354B19}"/>
              </a:ext>
            </a:extLst>
          </p:cNvPr>
          <p:cNvSpPr txBox="1"/>
          <p:nvPr/>
        </p:nvSpPr>
        <p:spPr>
          <a:xfrm>
            <a:off x="256248" y="1585369"/>
            <a:ext cx="4211714" cy="4904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0487">
              <a:lnSpc>
                <a:spcPct val="90000"/>
              </a:lnSpc>
              <a:spcAft>
                <a:spcPts val="1200"/>
              </a:spcAft>
              <a:buClr>
                <a:srgbClr val="434343"/>
              </a:buClr>
              <a:buSzPts val="1300"/>
            </a:pPr>
            <a:r>
              <a:rPr lang="en-GB" b="1" dirty="0">
                <a:highlight>
                  <a:srgbClr val="FFFF00"/>
                </a:highlight>
                <a:latin typeface="+mj-lt"/>
                <a:ea typeface="Archivo Light"/>
                <a:cs typeface="Archivo Light"/>
                <a:sym typeface="Archivo Light"/>
              </a:rPr>
              <a:t>R1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: </a:t>
            </a:r>
            <a:r>
              <a:rPr lang="en-GB" b="1" dirty="0">
                <a:latin typeface="+mj-lt"/>
                <a:ea typeface="Archivo Light"/>
                <a:cs typeface="Archivo Light"/>
                <a:sym typeface="Archivo Light"/>
              </a:rPr>
              <a:t>Development stakeholders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 can identify the groups or interests likely to be affected by the system.</a:t>
            </a:r>
          </a:p>
          <a:p>
            <a:pPr marL="90487">
              <a:lnSpc>
                <a:spcPct val="90000"/>
              </a:lnSpc>
              <a:spcAft>
                <a:spcPts val="1200"/>
              </a:spcAft>
              <a:buClr>
                <a:srgbClr val="434343"/>
              </a:buClr>
              <a:buSzPts val="1300"/>
            </a:pPr>
            <a:r>
              <a:rPr lang="en-GB" b="1" dirty="0">
                <a:highlight>
                  <a:srgbClr val="00FF00"/>
                </a:highlight>
                <a:latin typeface="+mj-lt"/>
                <a:ea typeface="Archivo Light"/>
                <a:cs typeface="Archivo Light"/>
                <a:sym typeface="Archivo Light"/>
              </a:rPr>
              <a:t>R2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: </a:t>
            </a:r>
            <a:r>
              <a:rPr lang="en-GB" b="1" dirty="0">
                <a:latin typeface="+mj-lt"/>
                <a:ea typeface="Archivo Light"/>
                <a:cs typeface="Archivo Light"/>
                <a:sym typeface="Archivo Light"/>
              </a:rPr>
              <a:t>Certain stakeholder representatives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 can influence decisions throughout the AI lifecycle.</a:t>
            </a:r>
          </a:p>
          <a:p>
            <a:pPr marL="90487">
              <a:lnSpc>
                <a:spcPct val="90000"/>
              </a:lnSpc>
              <a:spcAft>
                <a:spcPts val="1200"/>
              </a:spcAft>
              <a:buClr>
                <a:srgbClr val="434343"/>
              </a:buClr>
              <a:buSzPts val="1300"/>
            </a:pPr>
            <a:r>
              <a:rPr lang="en-GB" b="1" dirty="0">
                <a:highlight>
                  <a:srgbClr val="00FFFF"/>
                </a:highlight>
                <a:latin typeface="+mj-lt"/>
                <a:ea typeface="Archivo Light"/>
                <a:cs typeface="Archivo Light"/>
                <a:sym typeface="Archivo Light"/>
              </a:rPr>
              <a:t>R3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: </a:t>
            </a:r>
            <a:r>
              <a:rPr lang="en-GB" b="1" dirty="0">
                <a:latin typeface="+mj-lt"/>
                <a:ea typeface="Archivo Light"/>
                <a:cs typeface="Archivo Light"/>
                <a:sym typeface="Archivo Light"/>
              </a:rPr>
              <a:t>Future deployers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 can also shape AI systems during design and development.</a:t>
            </a:r>
          </a:p>
          <a:p>
            <a:pPr marL="90487">
              <a:lnSpc>
                <a:spcPct val="90000"/>
              </a:lnSpc>
              <a:spcAft>
                <a:spcPts val="1200"/>
              </a:spcAft>
              <a:buClr>
                <a:srgbClr val="434343"/>
              </a:buClr>
              <a:buSzPts val="1300"/>
            </a:pPr>
            <a:r>
              <a:rPr lang="en-GB" b="1" dirty="0">
                <a:highlight>
                  <a:srgbClr val="FF00FF"/>
                </a:highlight>
                <a:latin typeface="+mj-lt"/>
                <a:ea typeface="Archivo Light"/>
                <a:cs typeface="Archivo Light"/>
                <a:sym typeface="Archivo Light"/>
              </a:rPr>
              <a:t>R4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: </a:t>
            </a:r>
            <a:r>
              <a:rPr lang="en-GB" b="1" dirty="0">
                <a:latin typeface="+mj-lt"/>
                <a:ea typeface="Archivo Light"/>
                <a:cs typeface="Archivo Light"/>
                <a:sym typeface="Archivo Light"/>
              </a:rPr>
              <a:t>Designers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 and </a:t>
            </a:r>
            <a:r>
              <a:rPr lang="en-GB" b="1" dirty="0">
                <a:latin typeface="+mj-lt"/>
                <a:ea typeface="Archivo Light"/>
                <a:cs typeface="Archivo Light"/>
                <a:sym typeface="Archivo Light"/>
              </a:rPr>
              <a:t>decision-makers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 play a central role throughout the lifecycle, as they are the ones best positioned to balance and account for the interests of multiple stakeholders.</a:t>
            </a:r>
          </a:p>
          <a:p>
            <a:pPr marL="90487">
              <a:lnSpc>
                <a:spcPct val="90000"/>
              </a:lnSpc>
              <a:spcAft>
                <a:spcPts val="900"/>
              </a:spcAft>
              <a:buClr>
                <a:srgbClr val="434343"/>
              </a:buClr>
              <a:buSzPts val="1300"/>
            </a:pPr>
            <a:r>
              <a:rPr lang="en-GB" b="1" dirty="0">
                <a:highlight>
                  <a:srgbClr val="FF0000"/>
                </a:highlight>
                <a:latin typeface="+mj-lt"/>
                <a:ea typeface="Archivo Light"/>
                <a:cs typeface="Archivo Light"/>
                <a:sym typeface="Archivo Light"/>
              </a:rPr>
              <a:t>R5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: The behaviour of </a:t>
            </a:r>
            <a:r>
              <a:rPr lang="en-GB" b="1" dirty="0">
                <a:latin typeface="+mj-lt"/>
                <a:ea typeface="Archivo Light"/>
                <a:cs typeface="Archivo Light"/>
                <a:sym typeface="Archivo Light"/>
              </a:rPr>
              <a:t>deployers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 and </a:t>
            </a:r>
            <a:r>
              <a:rPr lang="en-GB" b="1" dirty="0">
                <a:latin typeface="+mj-lt"/>
                <a:ea typeface="Archivo Light"/>
                <a:cs typeface="Archivo Light"/>
                <a:sym typeface="Archivo Light"/>
              </a:rPr>
              <a:t>users</a:t>
            </a:r>
            <a:r>
              <a:rPr lang="en-GB" dirty="0">
                <a:latin typeface="+mj-lt"/>
                <a:ea typeface="Archivo Light"/>
                <a:cs typeface="Archivo Light"/>
                <a:sym typeface="Archivo Light"/>
              </a:rPr>
              <a:t> is crucial in determining how AI systems affect passive stakeholders in practice. </a:t>
            </a:r>
          </a:p>
        </p:txBody>
      </p:sp>
    </p:spTree>
    <p:extLst>
      <p:ext uri="{BB962C8B-B14F-4D97-AF65-F5344CB8AC3E}">
        <p14:creationId xmlns:p14="http://schemas.microsoft.com/office/powerpoint/2010/main" val="1538645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447E1-505B-551B-5AC2-18AB4236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82C2-F8C7-C314-306C-135168E83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766218"/>
            <a:ext cx="4572000" cy="1325563"/>
          </a:xfrm>
        </p:spPr>
        <p:txBody>
          <a:bodyPr/>
          <a:lstStyle/>
          <a:p>
            <a:pPr algn="ctr"/>
            <a:r>
              <a:rPr lang="en-GB" b="1" i="1" dirty="0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DF856-038D-EEEA-EBAB-8F1DD782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3EE10D-2410-664D-AB46-A00BFD138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55171" y="3114675"/>
            <a:ext cx="54102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46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583AB-F7F1-11B7-F9AC-84958CD58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E26D8A5C-9497-43E4-9880-EF06F59D3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A220F7CB-FC77-0FD2-10AB-5F197F69B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0481C44C-4F26-81D5-B42A-3C59DA6F6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7B651EE4-0667-5721-BBBC-4C3BEEBDF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4CACA-AE3B-EC7D-1371-85816B01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cap="sm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Part Three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3A37F-6E90-91E6-DBD1-C90713AED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323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The AI Lifecycle in AI Regulations</a:t>
            </a:r>
          </a:p>
        </p:txBody>
      </p:sp>
      <p:sp>
        <p:nvSpPr>
          <p:cNvPr id="233" name="Graphic 212">
            <a:extLst>
              <a:ext uri="{FF2B5EF4-FFF2-40B4-BE49-F238E27FC236}">
                <a16:creationId xmlns:a16="http://schemas.microsoft.com/office/drawing/2014/main" id="{BEDD3116-BF67-89A6-2847-9673F78DA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34" name="Graphic 212">
            <a:extLst>
              <a:ext uri="{FF2B5EF4-FFF2-40B4-BE49-F238E27FC236}">
                <a16:creationId xmlns:a16="http://schemas.microsoft.com/office/drawing/2014/main" id="{B3AA943E-2685-AC22-1BDB-09DF7F838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35" name="Graphic 190">
            <a:extLst>
              <a:ext uri="{FF2B5EF4-FFF2-40B4-BE49-F238E27FC236}">
                <a16:creationId xmlns:a16="http://schemas.microsoft.com/office/drawing/2014/main" id="{AA7B8449-4FEB-6055-E6F8-E62823EA7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A26759F-7444-DAF5-8609-46B7C7D20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AC9C62D6-4F6B-CD96-13B6-257949DFB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24B9CE31-C2DC-0AA2-FE6C-88BE00190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4C1DCBFE-165D-D760-C84B-317581EC7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9" name="Graphic 4">
            <a:extLst>
              <a:ext uri="{FF2B5EF4-FFF2-40B4-BE49-F238E27FC236}">
                <a16:creationId xmlns:a16="http://schemas.microsoft.com/office/drawing/2014/main" id="{23599257-3D4B-5111-2141-0BFC0ED3B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A67A8F2A-0DFA-87E3-FF6B-8E303EC8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A7E46E8-BC61-9318-4B3A-FE239A732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DE337DB2-A47A-06A0-E5FC-7F2BC8FA0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7FE4CA2-49B6-AF2A-783F-2016F5FE3D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3C54D4CA-BB76-8257-0948-44E925C9E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9B55188-1D3C-6AF5-3790-6BFDD38801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7A2F805-CD4A-7A01-C1D8-E1A33BECB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0B66CE5-F9DF-5200-1DD9-2C741AA38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0E92B507-E7D3-4D27-ABF9-5F7A5E378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DB10494-A045-D145-1F34-07B4D79C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EE2DD57-BA31-89D5-45DB-CC342DCFB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229A8FC-E7E9-739C-6BF1-05DE87C08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0BB1145-0EA7-A567-F64E-488B9A081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667D1AD-2590-2D9A-64C7-D907EEA02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2194A43-6CEC-C670-AB23-FDD8D6721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EFE89AC-8B36-6842-1CBB-3BE0DB85F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467B571-38F9-1BD0-4518-99300925B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E8DE892-7215-0C8F-E14D-625EDE761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3875694-41B1-6E66-D10F-A1EC58C96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DB1C893-31EC-8B15-8755-CD00A7E42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413FEB3-B8B7-D5A3-8448-47D984D2A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A98EB9F-A952-BB78-9529-982A80303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EB6E5AF-3ABF-BD68-7104-446A555AA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B8AABB6-1A90-7FE0-E983-6F61A46F1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F478EF3-756A-C2D0-43AE-8A1C2FBEB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44A48F4-BBFF-A805-E2C1-29DE3EE542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4F5EBC2-CF74-AC87-2DE2-0F8D639D3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DF2F4B5-566C-1295-30E5-A39CC356B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DE5EEB8-41F4-0C0A-1A8B-6BE1E5FA1C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8AF8627-009F-456D-8FC2-AB20060E3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AFF2AE8-145F-C190-22A7-7F3FA6337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C17ADAE-A9A2-EA88-0C67-068C0FD1D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FD76A3-D3F2-D6B1-A7FA-B1F5118B9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EFF8574-CBEC-920C-33B6-FCCF0B1D8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9167E7D-B720-EA05-853E-589BE2250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10E0C8D-7751-235E-4E5F-8D1FF9598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AB4759F-8193-4F1C-05E6-461AFEB76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583CF2A-25FE-8A7A-6BA6-3FB63CD17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6ED45F-9EA1-1749-5E5A-A05FD8E0E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0E92C5B-70CF-18FE-8F16-1A60604D2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5BDEDE5-008F-AC71-94BD-8810989D7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A798F0A-3D20-C3B1-C12D-015C49CA6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885FC8-3CF3-14B9-E670-6F51E098B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AD8D017-CDAA-248B-ACA2-583235F9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35C1435-0EA5-A41E-7E75-89F199408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8DD6078-4275-C5C1-42B3-258069CE3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9530F66-CAD0-E382-BAA1-1FB3EB014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1C4F2F3E-EA03-4EF1-C6D2-125CB374A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8AC58D1-83C6-9BB1-BCB5-3B30B0B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B66AB70-503C-FAB1-69EE-435BA8943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A970249-C8D4-5A72-5A1A-67287CE04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8963E8D-45CB-0935-9F41-E57B72903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F8DF0A7-06B5-B322-36ED-70C396A4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29E3DD0-44AE-8E16-19C1-D6474AD68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B08B55A-4393-EDFF-11DE-0B09F8B35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0AB011F-D8F5-E14E-AC51-0B1914362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F063D7A-A4C5-FC26-BDA1-847991127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9D3312D-4530-C2FF-8ECF-B6D1D2A454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92D3A29-568C-58EF-B81A-F5C7B9EC6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58885E2-F8A4-4F39-000E-20CC4BB45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C359E7C-D895-F0F0-A228-E33A6362E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FED11EA-F40A-2807-B4FB-855301F2C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7A2736-6710-BF8B-BDA7-6EF986A63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86163D4-0F2A-D282-CA4E-D0AB4181A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76CF9DB-6574-0B44-6794-A0D1F6DD5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744B34-A33F-64CA-F2FE-6C985CF1B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BC2779F-074D-CF1C-3A51-B37BCC26C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76972CF-048C-F77D-7C26-C01F63CA0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E23A649-20ED-A9B0-ACB1-2E1E4D22C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E5CFCBF-224F-6189-A20D-C7F6B72743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1F34E2D-053D-0625-6494-AA87C424C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171D892-9335-8B42-C516-3EE3BDF22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678924-5FD5-334C-C611-DFA7582141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787412D-3876-A179-829C-0D2AA94E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93FA8D8-88A3-BFE1-4E61-8A86E9F02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0CB25BB-B914-129C-79A5-DDD450F8BF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A119AEE-7919-06A3-1BB2-838BD2AFB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A6C8EB0-C06D-FBE7-29E6-0595DFA98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D2FB9D5-D61D-6090-A153-E1C6176A0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8B1B871-1E4E-5174-BA2B-D1F1C8052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82C8AE4-5B67-EE4D-1B56-61B804526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822CA74E-7CC7-09F4-1205-7AF4882546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4B0152F-0C72-6C1E-8C02-12BF7306F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2AB52DED-AAC6-FD3A-A296-6774C5CE7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2D92CBB-D765-A849-E9DC-4590974E1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AA12E8F-5F44-CA10-7787-CF53D3C25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BB9DD10-1CB7-5A2B-E06A-A03ECB069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400D21F-0EBE-8BAE-6E2D-CE0133E7D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D96D3CD-0479-E8CC-2E66-9A6B60F45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441DD1A-3CC3-28F7-B6B4-BAE669E0C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5D6F41C-140E-07B0-B1E6-D4BE6DADA9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B257932-FC5B-5870-F1CB-562892CDE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3805FA4-39C2-D0AF-1503-4ECF5207B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62AB3EA-DF84-2599-811E-A2164AACD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F502DE5-1BBC-39AB-DAE9-FD73B38A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6BA1279-4241-6906-9F2E-B0762E4D4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ABC0DFA-963E-C672-75AE-467EDB0E7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5042511-16E2-EDF9-425A-DBD90B321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D1232FF-68CD-A28A-C525-CF844E867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9E3B959-EE95-B580-695C-08198ADDC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039F33E-311B-419D-6477-005D5A275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52C51D1-6C55-44D5-8930-575A7FAF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10E9184-E11B-D349-1B34-E3516310D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422042C-6D00-7727-E67D-0EB70A01A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C68EC9B9-CA35-395E-A4E6-9A48EFD9BA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13122E4-B626-CAB2-82F1-A99B406DA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8EA0BC7-C009-614D-FC6E-3D182410C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8085A2F-DCFE-0CBD-9D23-D73B2ECFC9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0A01112B-BB13-CDC4-BE50-67392D3E7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7BB6119-6A02-A3AE-3FE6-A3FAEF41F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72B97B4C-DE74-5076-8C1F-B7971AB2C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0996A77-814B-28D1-D9C1-D5349467B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A2725EF-2933-2016-134E-74FEB70B7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ECE01B9-4FB3-A382-7E49-8BF4C7332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A55C2968-4216-7266-290B-A08B93658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E9DDBED-9B24-97D0-754F-F0ABDEA83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1B5DA8A-0A91-25A9-23C4-BB18096BB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E3864C9-9772-29E3-A08C-4D74D5C9C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E6511741-112B-79A3-2743-ED2AB19F5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7C9A389-CEB3-057F-66EB-20A28F0E04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C2E62D4-414B-74D3-B9B2-1D4B74645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D9A0C6E-5C16-B812-74F5-F144AAEB49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FAE0DBB-23F9-6130-B6C7-02F490D49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DC4CA24-EF05-702D-6795-F5255DCFF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37DFD1B6-4544-E864-62FD-7D28508F0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C691F40-D9DA-C820-4ED5-0EFE90763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5D349C8-E964-DC16-E769-F8653BB80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751E2027-5E75-4D64-A243-2A1293293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35584B6-A05D-B62C-6980-DE05581083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1F72C57-974D-3403-FC3A-4DA33B0E3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4A40E1E0-6976-377D-C608-BB7309DF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45FEC66-5261-F6AE-F12C-67634A469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E12C3188-2CA6-3028-20C3-BA61A7CF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98B7BCD-0A97-73EA-4393-632A5E8C3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804756C-E7BC-C5F7-33AB-558EA13B0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16973565-47F8-3E19-51E1-B0A055E81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9FB415D-FECF-AA18-0C03-922F48B7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31861B32-C5ED-B4E2-26AD-17BA18015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E672508-B51F-1AAD-8D6B-4925CE6F1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2C348BC8-E825-9BD5-AAAC-A4ADD9C24C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F6B2D0B-B232-10EE-1B5A-7D2DA0AC8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DB5204E-9779-C59E-D6B6-021AE988C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4D49694-0FAD-4ACD-110C-6AC56C8E9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9D735EA-19A8-9D5E-9B89-53210070F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184CC60A-1F07-C6D6-2012-3EC0DB570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D909E6A-9F9B-77BC-9283-967EF4B2D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C68306A-B152-861A-2ABC-70778283D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1B4C75A-D20C-9691-373D-94948FF46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19B32928-C98F-EB93-14AD-062F20045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AC4CF2FE-DFFB-20A0-FB19-5963D5904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067D112E-E5FE-A9C4-8799-D824A75D79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04E939C-9782-D6D0-81FC-7DBC02CCE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6B59103-05AD-1ADB-6DB6-0CD37CEAD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4DEB465B-6614-4010-D674-147627390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C08EA19-69CC-C8F9-BD1E-F36557A96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4E3C4A0A-BC75-8014-3179-2D98A929E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8E518F9F-79EC-A1E8-66E1-F865D029C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35CAC5C9-0BCA-652B-4A03-5D3073062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FD23C2D-1E42-1957-6BD0-2B123118D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7E70441-7DFC-115C-C4EE-9BF5FBC0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5022E83-3725-B1CF-1715-C0827BB42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AD52575-ADE6-FC59-5772-056A329C8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B88D60F-2A25-890D-5CB5-0A3A2CD23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48F631A7-A7A9-BCEB-90DA-65FBB9EBB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3CC1B514-1F8F-AAE9-CF4E-937D0C275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69DE854-7716-9D89-C9AE-BFCCCC1D1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3F5E26D9-E9C3-4FC9-E2A2-E82DE571C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92CFFE42-A4BD-FA4B-F1FB-314FAA2E3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93A5D165-3539-F27F-5BBC-F45ED9C83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C6E93-315F-2A08-A8C1-583D4F3A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ABD5A5B-811B-418E-9483-61F67F998C2D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144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BA9F3-0F85-1CE2-62C8-2F12F2EF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87C1-B5FF-9BAC-ED59-7B6DC131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cap="small" dirty="0"/>
              <a:t>Mapping the AI Act into the AI Lifecycle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CF446-8FF4-751A-43DE-7046E5514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GB" sz="2600" dirty="0"/>
              <a:t>Gotsch &amp; </a:t>
            </a:r>
            <a:r>
              <a:rPr lang="en-GB" sz="2600" dirty="0" err="1"/>
              <a:t>Puchan</a:t>
            </a:r>
            <a:r>
              <a:rPr lang="en-GB" sz="2600" dirty="0"/>
              <a:t> (2024) propose an </a:t>
            </a:r>
            <a:r>
              <a:rPr lang="en-GB" sz="2600" b="1" dirty="0"/>
              <a:t>AI Act-compliant lifecycle</a:t>
            </a:r>
            <a:r>
              <a:rPr lang="en-GB" sz="2600" dirty="0"/>
              <a:t> model structured around five key phases:</a:t>
            </a:r>
          </a:p>
          <a:p>
            <a:pPr marL="1082675" indent="-571500" algn="just">
              <a:spcAft>
                <a:spcPts val="600"/>
              </a:spcAft>
              <a:buFont typeface="+mj-lt"/>
              <a:buAutoNum type="romanLcPeriod"/>
            </a:pPr>
            <a:r>
              <a:rPr lang="en-GB" sz="2600" b="1" dirty="0"/>
              <a:t>Business understanding</a:t>
            </a:r>
            <a:r>
              <a:rPr lang="en-GB" sz="2600" dirty="0"/>
              <a:t>;</a:t>
            </a:r>
          </a:p>
          <a:p>
            <a:pPr marL="1082675" indent="-571500" algn="just">
              <a:spcAft>
                <a:spcPts val="600"/>
              </a:spcAft>
              <a:buFont typeface="+mj-lt"/>
              <a:buAutoNum type="romanLcPeriod"/>
            </a:pPr>
            <a:r>
              <a:rPr lang="en-GB" sz="2600" b="1" dirty="0"/>
              <a:t>Data management</a:t>
            </a:r>
            <a:r>
              <a:rPr lang="en-GB" sz="2600" dirty="0"/>
              <a:t>;</a:t>
            </a:r>
          </a:p>
          <a:p>
            <a:pPr marL="1082675" indent="-571500" algn="just">
              <a:spcAft>
                <a:spcPts val="600"/>
              </a:spcAft>
              <a:buFont typeface="+mj-lt"/>
              <a:buAutoNum type="romanLcPeriod"/>
            </a:pPr>
            <a:r>
              <a:rPr lang="en-GB" sz="2600" b="1" dirty="0"/>
              <a:t>ML/AI modelling</a:t>
            </a:r>
            <a:r>
              <a:rPr lang="en-GB" sz="2600" dirty="0"/>
              <a:t>;</a:t>
            </a:r>
          </a:p>
          <a:p>
            <a:pPr marL="1082675" indent="-571500" algn="just">
              <a:spcAft>
                <a:spcPts val="600"/>
              </a:spcAft>
              <a:buFont typeface="+mj-lt"/>
              <a:buAutoNum type="romanLcPeriod"/>
            </a:pPr>
            <a:r>
              <a:rPr lang="en-GB" sz="2600" b="1" dirty="0"/>
              <a:t>Application development</a:t>
            </a:r>
            <a:r>
              <a:rPr lang="en-GB" sz="2600" dirty="0"/>
              <a:t>;</a:t>
            </a:r>
          </a:p>
          <a:p>
            <a:pPr marL="1082675" indent="-571500" algn="just">
              <a:spcAft>
                <a:spcPts val="600"/>
              </a:spcAft>
              <a:buFont typeface="+mj-lt"/>
              <a:buAutoNum type="romanLcPeriod"/>
            </a:pPr>
            <a:r>
              <a:rPr lang="en-GB" sz="2600" b="1" dirty="0"/>
              <a:t>Deployment and Operation</a:t>
            </a:r>
            <a:r>
              <a:rPr lang="en-GB" sz="26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C8777-77F4-A75E-523E-3CD4DCF5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25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CE4E6-BC95-D401-34FD-6C5D34C823D1}"/>
              </a:ext>
            </a:extLst>
          </p:cNvPr>
          <p:cNvSpPr txBox="1"/>
          <p:nvPr/>
        </p:nvSpPr>
        <p:spPr>
          <a:xfrm>
            <a:off x="954465" y="87951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 </a:t>
            </a:r>
            <a:r>
              <a:rPr lang="en-GB" dirty="0" err="1">
                <a:hlinkClick r:id="rId2"/>
              </a:rPr>
              <a:t>Gotsch</a:t>
            </a:r>
            <a:r>
              <a:rPr lang="en-GB" dirty="0">
                <a:hlinkClick r:id="rId2"/>
              </a:rPr>
              <a:t> &amp; </a:t>
            </a:r>
            <a:r>
              <a:rPr lang="en-GB" dirty="0" err="1">
                <a:hlinkClick r:id="rId2"/>
              </a:rPr>
              <a:t>Puchan</a:t>
            </a:r>
            <a:r>
              <a:rPr lang="en-GB" dirty="0">
                <a:hlinkClick r:id="rId2"/>
              </a:rPr>
              <a:t> (2024)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607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00BC3-BB64-AA00-60DC-A2E6C072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B289-C027-AB49-3003-2FC83C5CF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cap="small" dirty="0"/>
              <a:t>Phase I: Business Understanding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8DFF0-3F35-336B-710F-765E08D9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79C1C-B999-2755-B571-3A2FEE9799C2}"/>
              </a:ext>
            </a:extLst>
          </p:cNvPr>
          <p:cNvSpPr txBox="1"/>
          <p:nvPr/>
        </p:nvSpPr>
        <p:spPr>
          <a:xfrm>
            <a:off x="954465" y="82151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 </a:t>
            </a:r>
            <a:r>
              <a:rPr lang="en-GB" dirty="0" err="1">
                <a:hlinkClick r:id="rId2"/>
              </a:rPr>
              <a:t>Gotsch</a:t>
            </a:r>
            <a:r>
              <a:rPr lang="en-GB" dirty="0">
                <a:hlinkClick r:id="rId2"/>
              </a:rPr>
              <a:t> &amp; </a:t>
            </a:r>
            <a:r>
              <a:rPr lang="en-GB" dirty="0" err="1">
                <a:hlinkClick r:id="rId2"/>
              </a:rPr>
              <a:t>Puchan</a:t>
            </a:r>
            <a:r>
              <a:rPr lang="en-GB" dirty="0">
                <a:hlinkClick r:id="rId2"/>
              </a:rPr>
              <a:t> (2024: 85-86)</a:t>
            </a:r>
            <a:endParaRPr lang="en-GB" dirty="0"/>
          </a:p>
        </p:txBody>
      </p:sp>
      <p:pic>
        <p:nvPicPr>
          <p:cNvPr id="9" name="Picture 8" descr="A diagram of a flowchart&#10;&#10;AI-generated content may be incorrect.">
            <a:extLst>
              <a:ext uri="{FF2B5EF4-FFF2-40B4-BE49-F238E27FC236}">
                <a16:creationId xmlns:a16="http://schemas.microsoft.com/office/drawing/2014/main" id="{1E35A6EC-DEDB-2D25-4EDE-E0AE6852E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02" y="1438078"/>
            <a:ext cx="11069595" cy="28197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4475338-3E0F-F99A-EB42-BF57ADC77F3C}"/>
              </a:ext>
            </a:extLst>
          </p:cNvPr>
          <p:cNvSpPr/>
          <p:nvPr/>
        </p:nvSpPr>
        <p:spPr>
          <a:xfrm>
            <a:off x="447674" y="1314450"/>
            <a:ext cx="5648325" cy="125995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48DE39-8EDD-DDE4-89AE-7132F4394552}"/>
              </a:ext>
            </a:extLst>
          </p:cNvPr>
          <p:cNvSpPr/>
          <p:nvPr/>
        </p:nvSpPr>
        <p:spPr>
          <a:xfrm>
            <a:off x="4867275" y="1763077"/>
            <a:ext cx="5114925" cy="1875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A05131-B676-EE34-676F-E0E8BC3878D2}"/>
              </a:ext>
            </a:extLst>
          </p:cNvPr>
          <p:cNvSpPr txBox="1"/>
          <p:nvPr/>
        </p:nvSpPr>
        <p:spPr>
          <a:xfrm>
            <a:off x="561203" y="4377390"/>
            <a:ext cx="11069594" cy="2008242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b="1" dirty="0"/>
              <a:t> </a:t>
            </a:r>
            <a:r>
              <a:rPr lang="en-GB" sz="2400" b="1" u="sng" dirty="0"/>
              <a:t>Fundamental Steps</a:t>
            </a:r>
            <a:r>
              <a:rPr lang="en-GB" sz="2400" dirty="0"/>
              <a:t>:</a:t>
            </a:r>
          </a:p>
          <a:p>
            <a:pPr marL="342900" indent="-342900" algn="just"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0070C0"/>
                </a:solidFill>
              </a:rPr>
              <a:t>Use Case Definition </a:t>
            </a:r>
            <a:r>
              <a:rPr lang="en-GB" sz="1600" dirty="0"/>
              <a:t>– Define the AI system’s </a:t>
            </a:r>
            <a:r>
              <a:rPr lang="en-GB" sz="1600" b="1" dirty="0"/>
              <a:t>purpose, objectives, and scope</a:t>
            </a:r>
            <a:r>
              <a:rPr lang="en-GB" sz="1600" dirty="0"/>
              <a:t>.</a:t>
            </a:r>
          </a:p>
          <a:p>
            <a:pPr marL="342900" indent="-342900" algn="just"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AI Act Applicability </a:t>
            </a:r>
            <a:r>
              <a:rPr lang="en-GB" sz="1600" dirty="0"/>
              <a:t>– Assess whether the system falls within the </a:t>
            </a:r>
            <a:r>
              <a:rPr lang="en-GB" sz="1600" b="1" dirty="0"/>
              <a:t>scope of the AI Act</a:t>
            </a:r>
            <a:r>
              <a:rPr lang="en-GB" sz="1600" dirty="0"/>
              <a:t>.</a:t>
            </a:r>
          </a:p>
          <a:p>
            <a:pPr marL="342900" indent="-342900" algn="just"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Risk Classification</a:t>
            </a:r>
            <a:r>
              <a:rPr lang="en-GB" b="1" dirty="0"/>
              <a:t> </a:t>
            </a:r>
            <a:r>
              <a:rPr lang="en-GB" sz="1600" dirty="0"/>
              <a:t>– Determine the system’s </a:t>
            </a:r>
            <a:r>
              <a:rPr lang="en-GB" sz="1600" b="1" dirty="0"/>
              <a:t>risk category </a:t>
            </a:r>
            <a:r>
              <a:rPr lang="en-GB" sz="1600" dirty="0"/>
              <a:t>under the AI Act.</a:t>
            </a:r>
          </a:p>
          <a:p>
            <a:pPr marL="342900" indent="-342900" algn="just"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Feasibility &amp; Compliance</a:t>
            </a:r>
            <a:r>
              <a:rPr lang="en-GB" b="1" dirty="0"/>
              <a:t> </a:t>
            </a:r>
            <a:r>
              <a:rPr lang="en-GB" sz="1600" dirty="0"/>
              <a:t>– Evaluate </a:t>
            </a:r>
            <a:r>
              <a:rPr lang="en-GB" sz="1600" b="1" dirty="0"/>
              <a:t>technical feasibility</a:t>
            </a:r>
            <a:r>
              <a:rPr lang="en-GB" sz="1600" dirty="0"/>
              <a:t>, </a:t>
            </a:r>
            <a:r>
              <a:rPr lang="en-GB" sz="1600" b="1" dirty="0"/>
              <a:t>costs, and compliance requirements</a:t>
            </a:r>
            <a:r>
              <a:rPr lang="en-GB" sz="1600" dirty="0"/>
              <a:t>, supported by </a:t>
            </a:r>
            <a:r>
              <a:rPr lang="en-GB" sz="1600" b="1" dirty="0"/>
              <a:t>documentation</a:t>
            </a:r>
            <a:r>
              <a:rPr lang="en-GB" sz="1600" dirty="0"/>
              <a:t> of key considerations (cf. </a:t>
            </a:r>
            <a:r>
              <a:rPr lang="en-GB" sz="1600" b="1" dirty="0"/>
              <a:t>Art. 11 AIA</a:t>
            </a:r>
            <a:r>
              <a:rPr lang="en-GB" sz="1600" dirty="0"/>
              <a:t>).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F68ED7B-870E-4A3A-566C-5F258FBD2861}"/>
              </a:ext>
            </a:extLst>
          </p:cNvPr>
          <p:cNvSpPr/>
          <p:nvPr/>
        </p:nvSpPr>
        <p:spPr>
          <a:xfrm>
            <a:off x="7094175" y="3489751"/>
            <a:ext cx="4536622" cy="768121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284D6-4005-3C7B-B4B2-1666FD56DCCE}"/>
              </a:ext>
            </a:extLst>
          </p:cNvPr>
          <p:cNvSpPr txBox="1"/>
          <p:nvPr/>
        </p:nvSpPr>
        <p:spPr>
          <a:xfrm>
            <a:off x="628062" y="2640013"/>
            <a:ext cx="381000" cy="5232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1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4E134-112D-941D-482C-0594309686B9}"/>
              </a:ext>
            </a:extLst>
          </p:cNvPr>
          <p:cNvSpPr txBox="1"/>
          <p:nvPr/>
        </p:nvSpPr>
        <p:spPr>
          <a:xfrm>
            <a:off x="5128053" y="3701939"/>
            <a:ext cx="381000" cy="5232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2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C99CC-DAE2-2B99-8315-846D7DF3134D}"/>
              </a:ext>
            </a:extLst>
          </p:cNvPr>
          <p:cNvSpPr txBox="1"/>
          <p:nvPr/>
        </p:nvSpPr>
        <p:spPr>
          <a:xfrm>
            <a:off x="9381352" y="1145597"/>
            <a:ext cx="381000" cy="5232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3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93E33F-6EF5-408C-FE9D-FCA2E5495AAA}"/>
              </a:ext>
            </a:extLst>
          </p:cNvPr>
          <p:cNvSpPr txBox="1"/>
          <p:nvPr/>
        </p:nvSpPr>
        <p:spPr>
          <a:xfrm>
            <a:off x="10859861" y="2966531"/>
            <a:ext cx="381000" cy="52322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>
                <a:solidFill>
                  <a:srgbClr val="7030A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42855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5B3D6-8CDC-3F22-1216-8F78619C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2B459-0B92-81ED-6208-1FD680D99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cap="small" dirty="0"/>
              <a:t>Phase II: Data Management/Governance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52489-0D2A-2FC5-61DB-2D1BAFF6A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C3FA0-299E-FF88-F098-F5C1A6D11866}"/>
              </a:ext>
            </a:extLst>
          </p:cNvPr>
          <p:cNvSpPr txBox="1"/>
          <p:nvPr/>
        </p:nvSpPr>
        <p:spPr>
          <a:xfrm>
            <a:off x="954465" y="80091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 </a:t>
            </a:r>
            <a:r>
              <a:rPr lang="en-GB" dirty="0" err="1">
                <a:hlinkClick r:id="rId2"/>
              </a:rPr>
              <a:t>Gotsch</a:t>
            </a:r>
            <a:r>
              <a:rPr lang="en-GB" dirty="0">
                <a:hlinkClick r:id="rId2"/>
              </a:rPr>
              <a:t> &amp; </a:t>
            </a:r>
            <a:r>
              <a:rPr lang="en-GB" dirty="0" err="1">
                <a:hlinkClick r:id="rId2"/>
              </a:rPr>
              <a:t>Puchan</a:t>
            </a:r>
            <a:r>
              <a:rPr lang="en-GB" dirty="0">
                <a:hlinkClick r:id="rId2"/>
              </a:rPr>
              <a:t> (2024: 87)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292843-8E91-EF2E-0092-F0688450B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202" y="1230823"/>
            <a:ext cx="11069595" cy="27005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3109A9-BCE8-7413-1647-A4C6A802EBE9}"/>
              </a:ext>
            </a:extLst>
          </p:cNvPr>
          <p:cNvSpPr txBox="1"/>
          <p:nvPr/>
        </p:nvSpPr>
        <p:spPr>
          <a:xfrm>
            <a:off x="561203" y="4042511"/>
            <a:ext cx="11069594" cy="23544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b="1" dirty="0"/>
              <a:t> </a:t>
            </a:r>
            <a:r>
              <a:rPr lang="en-GB" sz="2400" b="1" u="sng" dirty="0"/>
              <a:t>Fundamental Steps</a:t>
            </a:r>
            <a:r>
              <a:rPr lang="en-GB" sz="2400" dirty="0"/>
              <a:t>:</a:t>
            </a:r>
          </a:p>
          <a:p>
            <a:pPr marL="342900" indent="-342900" algn="just"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0070C0"/>
                </a:solidFill>
              </a:rPr>
              <a:t>Data acquisition </a:t>
            </a:r>
            <a:r>
              <a:rPr lang="en-GB" sz="1600" dirty="0"/>
              <a:t>– Source data from internal and/or external providers.</a:t>
            </a:r>
          </a:p>
          <a:p>
            <a:pPr marL="342900" indent="-342900" algn="just"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GDPR compliance </a:t>
            </a:r>
            <a:r>
              <a:rPr lang="en-GB" sz="1600" dirty="0"/>
              <a:t>– Ensure compliance when processing personal data.</a:t>
            </a:r>
          </a:p>
          <a:p>
            <a:pPr marL="342900" indent="-342900" algn="just">
              <a:spcAft>
                <a:spcPts val="300"/>
              </a:spcAft>
              <a:buAutoNum type="arabicPeriod"/>
            </a:pPr>
            <a:r>
              <a:rPr lang="en-GB" b="1" dirty="0"/>
              <a:t>Defining Data Quality Requirements</a:t>
            </a:r>
            <a:r>
              <a:rPr lang="en-GB" dirty="0"/>
              <a:t> </a:t>
            </a:r>
            <a:r>
              <a:rPr lang="en-GB" sz="1600" dirty="0"/>
              <a:t>– Establish quality standards before data preparation begins.</a:t>
            </a:r>
          </a:p>
          <a:p>
            <a:pPr marL="342900" indent="-342900" algn="just"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00B050"/>
                </a:solidFill>
              </a:rPr>
              <a:t>Data Preparation </a:t>
            </a:r>
            <a:r>
              <a:rPr lang="en-GB" sz="1600" dirty="0"/>
              <a:t>– Prepare the data once quality requirements are met, before moving to </a:t>
            </a:r>
            <a:r>
              <a:rPr lang="en-GB" sz="1600" b="1" dirty="0"/>
              <a:t>AI modelling (Phase III)</a:t>
            </a:r>
            <a:r>
              <a:rPr lang="en-GB" sz="1600" dirty="0"/>
              <a:t>.</a:t>
            </a:r>
          </a:p>
          <a:p>
            <a:pPr marL="342900" indent="-342900" algn="just"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Technical Documentation</a:t>
            </a:r>
            <a:r>
              <a:rPr lang="en-GB" b="1" dirty="0"/>
              <a:t> </a:t>
            </a:r>
            <a:r>
              <a:rPr lang="en-GB" sz="1600" dirty="0"/>
              <a:t>– Document data sources, processing methods, data characteristics, and governance practices (cf. </a:t>
            </a:r>
            <a:r>
              <a:rPr lang="en-GB" sz="1600" b="1" dirty="0"/>
              <a:t>Art. 11 AIA</a:t>
            </a:r>
            <a:r>
              <a:rPr lang="en-GB" sz="1600" dirty="0"/>
              <a:t>).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5E0C28-282E-F8FF-6306-6BBE3AA769B0}"/>
              </a:ext>
            </a:extLst>
          </p:cNvPr>
          <p:cNvSpPr/>
          <p:nvPr/>
        </p:nvSpPr>
        <p:spPr>
          <a:xfrm>
            <a:off x="2564091" y="1843253"/>
            <a:ext cx="1498862" cy="100074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9C1371D-B20B-462D-B704-3807A4949C4A}"/>
              </a:ext>
            </a:extLst>
          </p:cNvPr>
          <p:cNvSpPr/>
          <p:nvPr/>
        </p:nvSpPr>
        <p:spPr>
          <a:xfrm>
            <a:off x="3506772" y="2542336"/>
            <a:ext cx="2366128" cy="1253765"/>
          </a:xfrm>
          <a:prstGeom prst="triangle">
            <a:avLst>
              <a:gd name="adj" fmla="val 4959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5276A3-FD70-FA28-03D9-E2AB41FFD603}"/>
              </a:ext>
            </a:extLst>
          </p:cNvPr>
          <p:cNvSpPr/>
          <p:nvPr/>
        </p:nvSpPr>
        <p:spPr>
          <a:xfrm>
            <a:off x="2564091" y="1265115"/>
            <a:ext cx="7392709" cy="1771313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820BB9-1626-4E10-1023-45F2DA87FAE7}"/>
              </a:ext>
            </a:extLst>
          </p:cNvPr>
          <p:cNvSpPr/>
          <p:nvPr/>
        </p:nvSpPr>
        <p:spPr>
          <a:xfrm>
            <a:off x="9706428" y="2935877"/>
            <a:ext cx="1698172" cy="916921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0D524A-AF9D-FE93-72A6-3E0FC8B69653}"/>
              </a:ext>
            </a:extLst>
          </p:cNvPr>
          <p:cNvSpPr txBox="1"/>
          <p:nvPr/>
        </p:nvSpPr>
        <p:spPr>
          <a:xfrm>
            <a:off x="2621593" y="1366009"/>
            <a:ext cx="381000" cy="5232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1</a:t>
            </a:r>
            <a:endParaRPr lang="en-GB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8C941-B730-59A9-47A8-02CB190A2856}"/>
              </a:ext>
            </a:extLst>
          </p:cNvPr>
          <p:cNvSpPr txBox="1"/>
          <p:nvPr/>
        </p:nvSpPr>
        <p:spPr>
          <a:xfrm>
            <a:off x="3125772" y="3183003"/>
            <a:ext cx="381000" cy="5232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2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FB917DC-D8B9-E69F-A41A-4E7D28A95E16}"/>
              </a:ext>
            </a:extLst>
          </p:cNvPr>
          <p:cNvSpPr/>
          <p:nvPr/>
        </p:nvSpPr>
        <p:spPr>
          <a:xfrm>
            <a:off x="5355472" y="1774574"/>
            <a:ext cx="1498862" cy="1176254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51B5C1-307C-7582-0D88-5F5AE458EE91}"/>
              </a:ext>
            </a:extLst>
          </p:cNvPr>
          <p:cNvSpPr txBox="1"/>
          <p:nvPr/>
        </p:nvSpPr>
        <p:spPr>
          <a:xfrm>
            <a:off x="6745918" y="1475352"/>
            <a:ext cx="381000" cy="5232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1"/>
                </a:solidFill>
              </a:rPr>
              <a:t>3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51B5F0-8878-A931-490F-C1D58E08F387}"/>
              </a:ext>
            </a:extLst>
          </p:cNvPr>
          <p:cNvSpPr txBox="1"/>
          <p:nvPr/>
        </p:nvSpPr>
        <p:spPr>
          <a:xfrm>
            <a:off x="10054268" y="1297426"/>
            <a:ext cx="381000" cy="52322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4</a:t>
            </a:r>
            <a:endParaRPr lang="en-GB" sz="2800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6B5C86-38A1-4192-733E-28E0C05DA7D5}"/>
              </a:ext>
            </a:extLst>
          </p:cNvPr>
          <p:cNvSpPr txBox="1"/>
          <p:nvPr/>
        </p:nvSpPr>
        <p:spPr>
          <a:xfrm>
            <a:off x="9187493" y="3332965"/>
            <a:ext cx="381000" cy="52322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5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934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B613E-59CD-E6BA-3A28-E9073948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BC54-481E-0AC9-5EE4-78066B51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cap="small" dirty="0"/>
              <a:t>Phase III: AI/ML Modelling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4367D-FC70-DB49-018E-F3AED788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683B5-ECF1-134B-0BC4-A0007769533D}"/>
              </a:ext>
            </a:extLst>
          </p:cNvPr>
          <p:cNvSpPr txBox="1"/>
          <p:nvPr/>
        </p:nvSpPr>
        <p:spPr>
          <a:xfrm>
            <a:off x="954465" y="81280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 </a:t>
            </a:r>
            <a:r>
              <a:rPr lang="en-GB" dirty="0" err="1">
                <a:hlinkClick r:id="rId2"/>
              </a:rPr>
              <a:t>Gotsch</a:t>
            </a:r>
            <a:r>
              <a:rPr lang="en-GB" dirty="0">
                <a:hlinkClick r:id="rId2"/>
              </a:rPr>
              <a:t> &amp; </a:t>
            </a:r>
            <a:r>
              <a:rPr lang="en-GB" dirty="0" err="1">
                <a:hlinkClick r:id="rId2"/>
              </a:rPr>
              <a:t>Puchan</a:t>
            </a:r>
            <a:r>
              <a:rPr lang="en-GB" dirty="0">
                <a:hlinkClick r:id="rId2"/>
              </a:rPr>
              <a:t> (2024: 87-88)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9E5810-5B35-46FD-A787-2A1D76F6E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202" y="1309291"/>
            <a:ext cx="11069595" cy="21197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F9763C-4799-D04E-B881-7A0BEF540704}"/>
              </a:ext>
            </a:extLst>
          </p:cNvPr>
          <p:cNvSpPr txBox="1"/>
          <p:nvPr/>
        </p:nvSpPr>
        <p:spPr>
          <a:xfrm>
            <a:off x="561203" y="3534845"/>
            <a:ext cx="11069594" cy="2826864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b="1" dirty="0"/>
              <a:t> </a:t>
            </a:r>
            <a:r>
              <a:rPr lang="en-GB" sz="2400" b="1" u="sng" dirty="0"/>
              <a:t>Fundamental Steps</a:t>
            </a:r>
            <a:r>
              <a:rPr lang="en-GB" sz="2400" dirty="0"/>
              <a:t>:</a:t>
            </a:r>
          </a:p>
          <a:p>
            <a:pPr marL="342900" indent="-342900" algn="just">
              <a:lnSpc>
                <a:spcPct val="90000"/>
              </a:lnSpc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0070C0"/>
                </a:solidFill>
              </a:rPr>
              <a:t>Model selection </a:t>
            </a:r>
            <a:r>
              <a:rPr lang="en-GB" sz="1600" dirty="0"/>
              <a:t>– Choose a model that fits the problem and consider its governance implications, such as </a:t>
            </a:r>
            <a:r>
              <a:rPr lang="en-GB" sz="1600" b="1" dirty="0"/>
              <a:t>opacity</a:t>
            </a:r>
            <a:r>
              <a:rPr lang="en-GB" sz="1600" dirty="0"/>
              <a:t> and </a:t>
            </a:r>
            <a:r>
              <a:rPr lang="en-GB" sz="1600" b="1" dirty="0"/>
              <a:t>explainability</a:t>
            </a:r>
            <a:r>
              <a:rPr lang="en-GB" sz="1600" dirty="0"/>
              <a:t>.</a:t>
            </a:r>
          </a:p>
          <a:p>
            <a:pPr marL="342900" indent="-342900" algn="just">
              <a:lnSpc>
                <a:spcPct val="90000"/>
              </a:lnSpc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Model training </a:t>
            </a:r>
            <a:r>
              <a:rPr lang="en-GB" sz="1600" dirty="0"/>
              <a:t>– Train the model on </a:t>
            </a:r>
            <a:r>
              <a:rPr lang="en-GB" sz="1600" b="1" dirty="0"/>
              <a:t>relevant datasets</a:t>
            </a:r>
            <a:r>
              <a:rPr lang="en-GB" sz="1600" dirty="0"/>
              <a:t> and </a:t>
            </a:r>
            <a:r>
              <a:rPr lang="en-GB" sz="1600" b="1" dirty="0"/>
              <a:t>optimise hyperparameters</a:t>
            </a:r>
            <a:r>
              <a:rPr lang="en-GB" sz="1600" dirty="0"/>
              <a:t> to achieve strong performance.</a:t>
            </a:r>
          </a:p>
          <a:p>
            <a:pPr marL="342900" indent="-342900" algn="just">
              <a:lnSpc>
                <a:spcPct val="90000"/>
              </a:lnSpc>
              <a:spcAft>
                <a:spcPts val="300"/>
              </a:spcAft>
              <a:buAutoNum type="arabicPeriod"/>
            </a:pPr>
            <a:r>
              <a:rPr lang="en-GB" b="1" dirty="0"/>
              <a:t>Interpretability and explainability</a:t>
            </a:r>
            <a:r>
              <a:rPr lang="en-GB" dirty="0"/>
              <a:t> </a:t>
            </a:r>
            <a:r>
              <a:rPr lang="en-GB" sz="1600" dirty="0"/>
              <a:t>– Integrate XAI methods where models are not inherently transparent.</a:t>
            </a:r>
          </a:p>
          <a:p>
            <a:pPr marL="342900" indent="-342900" algn="just">
              <a:lnSpc>
                <a:spcPct val="90000"/>
              </a:lnSpc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00B050"/>
                </a:solidFill>
              </a:rPr>
              <a:t>Model evaluation (validation) </a:t>
            </a:r>
            <a:r>
              <a:rPr lang="en-GB" sz="1600" dirty="0"/>
              <a:t>– Test the trained model on an </a:t>
            </a:r>
            <a:r>
              <a:rPr lang="en-GB" sz="1600" b="1" dirty="0"/>
              <a:t>independent dataset </a:t>
            </a:r>
            <a:r>
              <a:rPr lang="en-GB" sz="1600" dirty="0"/>
              <a:t>to assess its accuracy, reliability, and generalisability. </a:t>
            </a:r>
          </a:p>
          <a:p>
            <a:pPr marL="342900" indent="-342900" algn="just">
              <a:lnSpc>
                <a:spcPct val="90000"/>
              </a:lnSpc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Technical robustness assurance </a:t>
            </a:r>
            <a:r>
              <a:rPr lang="en-GB" sz="1600" dirty="0"/>
              <a:t>– Evaluate the model against key performance metrics and regulatory benchmarks, and document the results (cf. </a:t>
            </a:r>
            <a:r>
              <a:rPr lang="en-GB" sz="1600" b="1" dirty="0"/>
              <a:t>Art. 15 AIA</a:t>
            </a:r>
            <a:r>
              <a:rPr lang="en-GB" sz="1600" dirty="0"/>
              <a:t>).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46BD942-0FB0-082D-574F-CBE69FC5FE3B}"/>
              </a:ext>
            </a:extLst>
          </p:cNvPr>
          <p:cNvSpPr/>
          <p:nvPr/>
        </p:nvSpPr>
        <p:spPr>
          <a:xfrm>
            <a:off x="561202" y="1782503"/>
            <a:ext cx="1590927" cy="1095712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07AA218-4D0B-64CB-EF87-7A1D82F73A0E}"/>
              </a:ext>
            </a:extLst>
          </p:cNvPr>
          <p:cNvSpPr/>
          <p:nvPr/>
        </p:nvSpPr>
        <p:spPr>
          <a:xfrm>
            <a:off x="2008172" y="1570682"/>
            <a:ext cx="2366128" cy="1253765"/>
          </a:xfrm>
          <a:prstGeom prst="triangle">
            <a:avLst>
              <a:gd name="adj" fmla="val 4959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9F473E-2D4C-BF82-5320-8C5483FB1ED1}"/>
              </a:ext>
            </a:extLst>
          </p:cNvPr>
          <p:cNvSpPr/>
          <p:nvPr/>
        </p:nvSpPr>
        <p:spPr>
          <a:xfrm>
            <a:off x="6053992" y="1416775"/>
            <a:ext cx="3229708" cy="1982156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7A2C07-629B-B5E6-3AD6-BE8DAA898C8F}"/>
              </a:ext>
            </a:extLst>
          </p:cNvPr>
          <p:cNvSpPr/>
          <p:nvPr/>
        </p:nvSpPr>
        <p:spPr>
          <a:xfrm>
            <a:off x="8407400" y="1928877"/>
            <a:ext cx="3111500" cy="916921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BBB22-9ECE-D45C-54A0-C8A706CD4972}"/>
              </a:ext>
            </a:extLst>
          </p:cNvPr>
          <p:cNvSpPr txBox="1"/>
          <p:nvPr/>
        </p:nvSpPr>
        <p:spPr>
          <a:xfrm>
            <a:off x="596826" y="1342763"/>
            <a:ext cx="381000" cy="5232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1</a:t>
            </a:r>
            <a:endParaRPr lang="en-GB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F2C0F3-F647-4BC2-A47A-46CF85E5AF48}"/>
              </a:ext>
            </a:extLst>
          </p:cNvPr>
          <p:cNvSpPr txBox="1"/>
          <p:nvPr/>
        </p:nvSpPr>
        <p:spPr>
          <a:xfrm>
            <a:off x="2393503" y="1419725"/>
            <a:ext cx="381000" cy="5232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2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DED78A8-8D2D-21EC-3A11-73B67BEE5E85}"/>
              </a:ext>
            </a:extLst>
          </p:cNvPr>
          <p:cNvSpPr/>
          <p:nvPr/>
        </p:nvSpPr>
        <p:spPr>
          <a:xfrm>
            <a:off x="4523627" y="1784746"/>
            <a:ext cx="1498862" cy="1176254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4DEABF-2906-C7C2-2BEF-37EA264B8BEA}"/>
              </a:ext>
            </a:extLst>
          </p:cNvPr>
          <p:cNvSpPr txBox="1"/>
          <p:nvPr/>
        </p:nvSpPr>
        <p:spPr>
          <a:xfrm>
            <a:off x="4425174" y="1335172"/>
            <a:ext cx="381000" cy="5232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1"/>
                </a:solidFill>
              </a:rPr>
              <a:t>3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BE9A8F-9255-799E-4E5B-0E9B99A039A3}"/>
              </a:ext>
            </a:extLst>
          </p:cNvPr>
          <p:cNvSpPr txBox="1"/>
          <p:nvPr/>
        </p:nvSpPr>
        <p:spPr>
          <a:xfrm>
            <a:off x="8629846" y="829903"/>
            <a:ext cx="381000" cy="52322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4</a:t>
            </a:r>
            <a:endParaRPr lang="en-GB" sz="280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1A7694-CD2C-0CEF-86C5-B219626CB071}"/>
              </a:ext>
            </a:extLst>
          </p:cNvPr>
          <p:cNvSpPr txBox="1"/>
          <p:nvPr/>
        </p:nvSpPr>
        <p:spPr>
          <a:xfrm>
            <a:off x="10677721" y="1400401"/>
            <a:ext cx="381000" cy="52322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47470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EF2A7-275F-E289-3F2D-6BE3A6AD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CA11-1EDA-2027-7054-19ACB8EEA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cap="small" dirty="0"/>
              <a:t>Phase IV: Application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ECB2D-9701-EC06-3D6D-5A709968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29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8BF30-8E30-F24A-6D03-E5CA602F70A9}"/>
              </a:ext>
            </a:extLst>
          </p:cNvPr>
          <p:cNvSpPr txBox="1"/>
          <p:nvPr/>
        </p:nvSpPr>
        <p:spPr>
          <a:xfrm>
            <a:off x="954465" y="83394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 </a:t>
            </a:r>
            <a:r>
              <a:rPr lang="en-GB" dirty="0" err="1">
                <a:hlinkClick r:id="rId2"/>
              </a:rPr>
              <a:t>Gotsch</a:t>
            </a:r>
            <a:r>
              <a:rPr lang="en-GB" dirty="0">
                <a:hlinkClick r:id="rId2"/>
              </a:rPr>
              <a:t> &amp; </a:t>
            </a:r>
            <a:r>
              <a:rPr lang="en-GB" dirty="0" err="1">
                <a:hlinkClick r:id="rId2"/>
              </a:rPr>
              <a:t>Puchan</a:t>
            </a:r>
            <a:r>
              <a:rPr lang="en-GB" dirty="0">
                <a:hlinkClick r:id="rId2"/>
              </a:rPr>
              <a:t> (2024: 88-90)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8DBCEE-06A6-8D07-AAD8-836FAD4E3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100" y="1356916"/>
            <a:ext cx="10845799" cy="21197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2426AD-753F-803D-8624-72E3C4BAD097}"/>
              </a:ext>
            </a:extLst>
          </p:cNvPr>
          <p:cNvSpPr txBox="1"/>
          <p:nvPr/>
        </p:nvSpPr>
        <p:spPr>
          <a:xfrm>
            <a:off x="673100" y="3657375"/>
            <a:ext cx="10845800" cy="268849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b="1" dirty="0"/>
              <a:t> </a:t>
            </a:r>
            <a:r>
              <a:rPr lang="en-GB" sz="2400" b="1" u="sng" dirty="0"/>
              <a:t>Fundamental Steps</a:t>
            </a:r>
            <a:r>
              <a:rPr lang="en-GB" sz="2400" dirty="0"/>
              <a:t>:</a:t>
            </a: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GB" b="1" dirty="0">
                <a:solidFill>
                  <a:srgbClr val="0070C0"/>
                </a:solidFill>
              </a:rPr>
              <a:t>Application design </a:t>
            </a:r>
            <a:r>
              <a:rPr lang="en-GB" dirty="0"/>
              <a:t>– Develop and code the AI system’s functionalities while integrating key AI Act requirements, including </a:t>
            </a:r>
            <a:r>
              <a:rPr lang="en-GB" b="1" dirty="0"/>
              <a:t>human oversight </a:t>
            </a:r>
            <a:r>
              <a:rPr lang="en-GB" dirty="0"/>
              <a:t>(</a:t>
            </a:r>
            <a:r>
              <a:rPr lang="en-GB" i="1" dirty="0"/>
              <a:t>Art. 14 AIA</a:t>
            </a:r>
            <a:r>
              <a:rPr lang="en-GB" dirty="0"/>
              <a:t>), </a:t>
            </a:r>
            <a:r>
              <a:rPr lang="en-GB" b="1" dirty="0"/>
              <a:t>record-keeping</a:t>
            </a:r>
            <a:r>
              <a:rPr lang="en-GB" dirty="0"/>
              <a:t> (</a:t>
            </a:r>
            <a:r>
              <a:rPr lang="en-GB" i="1" dirty="0"/>
              <a:t>Art. 12 AIA</a:t>
            </a:r>
            <a:r>
              <a:rPr lang="en-GB" dirty="0"/>
              <a:t>), and </a:t>
            </a:r>
            <a:r>
              <a:rPr lang="en-GB" b="1" dirty="0"/>
              <a:t>technical robustness </a:t>
            </a:r>
            <a:r>
              <a:rPr lang="en-GB" dirty="0"/>
              <a:t>(</a:t>
            </a:r>
            <a:r>
              <a:rPr lang="en-GB" i="1" dirty="0"/>
              <a:t>Art. 15 AIA</a:t>
            </a:r>
            <a:r>
              <a:rPr lang="en-GB" dirty="0"/>
              <a:t>). </a:t>
            </a: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Testing </a:t>
            </a:r>
            <a:r>
              <a:rPr lang="en-GB" dirty="0"/>
              <a:t>– Conduct thorough testing to ensure the system’s </a:t>
            </a:r>
            <a:r>
              <a:rPr lang="en-GB" b="1" dirty="0"/>
              <a:t>compliance, reliability, and safety </a:t>
            </a:r>
            <a:r>
              <a:rPr lang="en-GB" dirty="0"/>
              <a:t>(cf. </a:t>
            </a:r>
            <a:r>
              <a:rPr lang="en-GB" i="1" dirty="0"/>
              <a:t>Art. 9 AIA</a:t>
            </a:r>
            <a:r>
              <a:rPr lang="en-GB" dirty="0"/>
              <a:t>).</a:t>
            </a:r>
          </a:p>
          <a:p>
            <a:pPr marL="342900" indent="-342900" algn="just">
              <a:lnSpc>
                <a:spcPct val="90000"/>
              </a:lnSpc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Technical Documentation </a:t>
            </a:r>
            <a:r>
              <a:rPr lang="en-GB" dirty="0"/>
              <a:t>– Once testing is successfully completed, finalise the relevant sections of the </a:t>
            </a:r>
            <a:r>
              <a:rPr lang="en-GB" b="1" dirty="0"/>
              <a:t>technical documentation </a:t>
            </a:r>
            <a:r>
              <a:rPr lang="en-GB" dirty="0"/>
              <a:t>(</a:t>
            </a:r>
            <a:r>
              <a:rPr lang="en-GB" i="1" dirty="0"/>
              <a:t>Art. 11 AIA</a:t>
            </a:r>
            <a:r>
              <a:rPr lang="en-GB" dirty="0"/>
              <a:t>) and prepare the </a:t>
            </a:r>
            <a:r>
              <a:rPr lang="en-GB" b="1" dirty="0"/>
              <a:t>instructions for use </a:t>
            </a:r>
            <a:r>
              <a:rPr lang="en-GB" dirty="0"/>
              <a:t>(</a:t>
            </a:r>
            <a:r>
              <a:rPr lang="en-GB" i="1" dirty="0"/>
              <a:t>Art. 13 AIA</a:t>
            </a:r>
            <a:r>
              <a:rPr lang="en-GB" dirty="0"/>
              <a:t>) to support deployers and promote compliance across the AI value chain.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70FE17-2FDA-269D-4D00-6CF359359FB8}"/>
              </a:ext>
            </a:extLst>
          </p:cNvPr>
          <p:cNvSpPr/>
          <p:nvPr/>
        </p:nvSpPr>
        <p:spPr>
          <a:xfrm>
            <a:off x="561203" y="1618307"/>
            <a:ext cx="4812075" cy="179308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1B98A1D2-6E13-EBF1-0839-09658BB3BF9E}"/>
              </a:ext>
            </a:extLst>
          </p:cNvPr>
          <p:cNvSpPr/>
          <p:nvPr/>
        </p:nvSpPr>
        <p:spPr>
          <a:xfrm>
            <a:off x="5184742" y="1654425"/>
            <a:ext cx="2856322" cy="1253765"/>
          </a:xfrm>
          <a:prstGeom prst="trapezoid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ABF3DF-2A97-E338-C31D-4A1FC522C42C}"/>
              </a:ext>
            </a:extLst>
          </p:cNvPr>
          <p:cNvSpPr/>
          <p:nvPr/>
        </p:nvSpPr>
        <p:spPr>
          <a:xfrm>
            <a:off x="8041064" y="1326892"/>
            <a:ext cx="3704734" cy="1669547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4E93E-9AFE-5098-EC34-0BEDD1E1F8AD}"/>
              </a:ext>
            </a:extLst>
          </p:cNvPr>
          <p:cNvSpPr txBox="1"/>
          <p:nvPr/>
        </p:nvSpPr>
        <p:spPr>
          <a:xfrm>
            <a:off x="732804" y="2617640"/>
            <a:ext cx="381000" cy="5232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1</a:t>
            </a:r>
            <a:endParaRPr lang="en-GB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A978B-0952-E071-B25F-2A1F5EF6EFD4}"/>
              </a:ext>
            </a:extLst>
          </p:cNvPr>
          <p:cNvSpPr txBox="1"/>
          <p:nvPr/>
        </p:nvSpPr>
        <p:spPr>
          <a:xfrm>
            <a:off x="6667893" y="2943394"/>
            <a:ext cx="381000" cy="5232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2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AD081-999A-D3AD-91A5-8910A411F7BE}"/>
              </a:ext>
            </a:extLst>
          </p:cNvPr>
          <p:cNvSpPr txBox="1"/>
          <p:nvPr/>
        </p:nvSpPr>
        <p:spPr>
          <a:xfrm>
            <a:off x="8610600" y="2920960"/>
            <a:ext cx="381000" cy="52322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3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308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6E326B-D392-76A3-46ED-24EE57D4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system&#10;&#10;AI-generated content may be incorrect.">
            <a:extLst>
              <a:ext uri="{FF2B5EF4-FFF2-40B4-BE49-F238E27FC236}">
                <a16:creationId xmlns:a16="http://schemas.microsoft.com/office/drawing/2014/main" id="{D985E60B-D7F4-1750-4E4F-C362D5D31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0" y="1248846"/>
            <a:ext cx="11136279" cy="2953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94BB43-45B8-1A87-5E1B-14721F4D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cap="small" dirty="0"/>
              <a:t>Phase V: System Deployment and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C093D-A5AD-E8D2-C75E-B00970CD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30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32EACF-ADCC-4253-702C-2E05CAF0C1D3}"/>
              </a:ext>
            </a:extLst>
          </p:cNvPr>
          <p:cNvSpPr txBox="1"/>
          <p:nvPr/>
        </p:nvSpPr>
        <p:spPr>
          <a:xfrm>
            <a:off x="954465" y="82057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 </a:t>
            </a:r>
            <a:r>
              <a:rPr lang="en-GB" dirty="0" err="1">
                <a:hlinkClick r:id="rId3"/>
              </a:rPr>
              <a:t>Gotsch</a:t>
            </a:r>
            <a:r>
              <a:rPr lang="en-GB" dirty="0">
                <a:hlinkClick r:id="rId3"/>
              </a:rPr>
              <a:t> &amp; </a:t>
            </a:r>
            <a:r>
              <a:rPr lang="en-GB" dirty="0" err="1">
                <a:hlinkClick r:id="rId3"/>
              </a:rPr>
              <a:t>Puchan</a:t>
            </a:r>
            <a:r>
              <a:rPr lang="en-GB" dirty="0">
                <a:hlinkClick r:id="rId3"/>
              </a:rPr>
              <a:t> (2024: 90-91)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514151-D48F-76F9-7694-CB0EDAE13615}"/>
              </a:ext>
            </a:extLst>
          </p:cNvPr>
          <p:cNvSpPr txBox="1"/>
          <p:nvPr/>
        </p:nvSpPr>
        <p:spPr>
          <a:xfrm>
            <a:off x="528209" y="4263524"/>
            <a:ext cx="11135929" cy="250831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200" b="1" dirty="0"/>
              <a:t> </a:t>
            </a:r>
            <a:r>
              <a:rPr lang="en-GB" sz="2200" b="1" u="sng" dirty="0"/>
              <a:t>Fundamental Steps</a:t>
            </a:r>
            <a:r>
              <a:rPr lang="en-GB" sz="2200" dirty="0"/>
              <a:t>:</a:t>
            </a:r>
          </a:p>
          <a:p>
            <a:pPr marL="342900" indent="-342900" algn="just">
              <a:lnSpc>
                <a:spcPct val="90000"/>
              </a:lnSpc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0070C0"/>
                </a:solidFill>
              </a:rPr>
              <a:t>Conformity assessment </a:t>
            </a:r>
            <a:r>
              <a:rPr lang="en-GB" sz="1600" dirty="0"/>
              <a:t>– </a:t>
            </a:r>
            <a:r>
              <a:rPr lang="en-GB" sz="1600" b="1" dirty="0"/>
              <a:t>High-risk AI systems </a:t>
            </a:r>
            <a:r>
              <a:rPr lang="en-GB" sz="1600" dirty="0"/>
              <a:t>must undergo a conformity assessment </a:t>
            </a:r>
            <a:r>
              <a:rPr lang="en-GB" sz="1600" b="1" dirty="0"/>
              <a:t>before being placed on the market </a:t>
            </a:r>
            <a:r>
              <a:rPr lang="en-GB" sz="1600" dirty="0"/>
              <a:t>(</a:t>
            </a:r>
            <a:r>
              <a:rPr lang="en-GB" sz="1600" i="1" dirty="0"/>
              <a:t>Art. 43 AIA</a:t>
            </a:r>
            <a:r>
              <a:rPr lang="en-GB" sz="1600" dirty="0"/>
              <a:t>). </a:t>
            </a:r>
          </a:p>
          <a:p>
            <a:pPr marL="342900" indent="-342900" algn="just">
              <a:lnSpc>
                <a:spcPct val="90000"/>
              </a:lnSpc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CE marking </a:t>
            </a:r>
            <a:r>
              <a:rPr lang="en-GB" sz="1600" dirty="0"/>
              <a:t>– Systems that successfully </a:t>
            </a:r>
            <a:r>
              <a:rPr lang="en-GB" sz="1600" b="1" dirty="0"/>
              <a:t>pass the conformity assessment</a:t>
            </a:r>
            <a:r>
              <a:rPr lang="en-GB" sz="1600" dirty="0"/>
              <a:t> receive </a:t>
            </a:r>
            <a:r>
              <a:rPr lang="en-GB" sz="1600" b="1" dirty="0"/>
              <a:t>CE marking</a:t>
            </a:r>
            <a:r>
              <a:rPr lang="en-GB" sz="1600" dirty="0"/>
              <a:t>, signalling compliance with the AI Act and other relevant requirements (</a:t>
            </a:r>
            <a:r>
              <a:rPr lang="en-GB" sz="1600" i="1" dirty="0"/>
              <a:t>Art. 48 AIA</a:t>
            </a:r>
            <a:r>
              <a:rPr lang="en-GB" sz="1600" dirty="0"/>
              <a:t>).</a:t>
            </a:r>
          </a:p>
          <a:p>
            <a:pPr marL="342900" indent="-342900" algn="just">
              <a:lnSpc>
                <a:spcPct val="90000"/>
              </a:lnSpc>
              <a:spcAft>
                <a:spcPts val="300"/>
              </a:spcAft>
              <a:buAutoNum type="arabicPeriod"/>
            </a:pPr>
            <a:r>
              <a:rPr lang="en-GB" b="1" dirty="0">
                <a:solidFill>
                  <a:srgbClr val="00B050"/>
                </a:solidFill>
              </a:rPr>
              <a:t>Database registration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sz="1600" dirty="0"/>
              <a:t>– AI systems listed in </a:t>
            </a:r>
            <a:r>
              <a:rPr lang="en-GB" sz="1600" b="1" dirty="0"/>
              <a:t>Annex III AIA</a:t>
            </a:r>
            <a:r>
              <a:rPr lang="en-GB" sz="1600" dirty="0"/>
              <a:t> must be registered in the relevant EU or national database, depending on the use case (</a:t>
            </a:r>
            <a:r>
              <a:rPr lang="en-GB" sz="1600" i="1" dirty="0"/>
              <a:t>Art. 49 AIA; Annex III, p. 2 AIA</a:t>
            </a:r>
            <a:r>
              <a:rPr lang="en-GB" sz="1600" dirty="0"/>
              <a:t>).</a:t>
            </a:r>
          </a:p>
          <a:p>
            <a:pPr marL="342900" indent="-342900" algn="just">
              <a:lnSpc>
                <a:spcPct val="90000"/>
              </a:lnSpc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Deployment and ongoing monitoring </a:t>
            </a:r>
            <a:r>
              <a:rPr lang="en-GB" sz="1600" dirty="0"/>
              <a:t>– Once deployed, AI systems require continuous monitoring to maintain compliance, mitigate risks, and address emerging issues (see </a:t>
            </a:r>
            <a:r>
              <a:rPr lang="en-GB" sz="1600" i="1" dirty="0"/>
              <a:t>Art. 72 AIA</a:t>
            </a:r>
            <a:r>
              <a:rPr lang="en-GB" sz="1600" dirty="0"/>
              <a:t>).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958DE1-A44C-4FD3-3A77-D0C86BE72936}"/>
              </a:ext>
            </a:extLst>
          </p:cNvPr>
          <p:cNvSpPr/>
          <p:nvPr/>
        </p:nvSpPr>
        <p:spPr>
          <a:xfrm>
            <a:off x="594196" y="1290543"/>
            <a:ext cx="3407483" cy="2460621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1D8A8286-E8A6-ED40-E80E-51A405DC5A6F}"/>
              </a:ext>
            </a:extLst>
          </p:cNvPr>
          <p:cNvSpPr/>
          <p:nvPr/>
        </p:nvSpPr>
        <p:spPr>
          <a:xfrm>
            <a:off x="3784601" y="1640083"/>
            <a:ext cx="1874061" cy="1253765"/>
          </a:xfrm>
          <a:prstGeom prst="triangle">
            <a:avLst>
              <a:gd name="adj" fmla="val 4959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3C138-4CB0-34DE-814A-6983974DF131}"/>
              </a:ext>
            </a:extLst>
          </p:cNvPr>
          <p:cNvSpPr/>
          <p:nvPr/>
        </p:nvSpPr>
        <p:spPr>
          <a:xfrm>
            <a:off x="5467546" y="3007150"/>
            <a:ext cx="4223209" cy="1160501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42AFF3-310D-A3BD-FE0C-DAB71C17DEEC}"/>
              </a:ext>
            </a:extLst>
          </p:cNvPr>
          <p:cNvSpPr/>
          <p:nvPr/>
        </p:nvSpPr>
        <p:spPr>
          <a:xfrm>
            <a:off x="8041064" y="1955786"/>
            <a:ext cx="3556740" cy="989848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4BCC1-33B5-40A8-0BC9-6B4A4D44464D}"/>
              </a:ext>
            </a:extLst>
          </p:cNvPr>
          <p:cNvSpPr txBox="1"/>
          <p:nvPr/>
        </p:nvSpPr>
        <p:spPr>
          <a:xfrm>
            <a:off x="647700" y="3289460"/>
            <a:ext cx="381000" cy="5232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1</a:t>
            </a:r>
            <a:endParaRPr lang="en-GB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5B38C8-37E8-65C0-E4FA-0EBEFF12D0FB}"/>
              </a:ext>
            </a:extLst>
          </p:cNvPr>
          <p:cNvSpPr txBox="1"/>
          <p:nvPr/>
        </p:nvSpPr>
        <p:spPr>
          <a:xfrm>
            <a:off x="5072705" y="1432566"/>
            <a:ext cx="381000" cy="5232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2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F82F1-B2FA-718C-FED5-6FAF65579F19}"/>
              </a:ext>
            </a:extLst>
          </p:cNvPr>
          <p:cNvSpPr txBox="1"/>
          <p:nvPr/>
        </p:nvSpPr>
        <p:spPr>
          <a:xfrm>
            <a:off x="4940167" y="3567076"/>
            <a:ext cx="381000" cy="52322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3</a:t>
            </a:r>
            <a:endParaRPr lang="en-GB" sz="2800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6CC9EC-33DF-A1FF-9C6B-9979CD7523DA}"/>
              </a:ext>
            </a:extLst>
          </p:cNvPr>
          <p:cNvSpPr txBox="1"/>
          <p:nvPr/>
        </p:nvSpPr>
        <p:spPr>
          <a:xfrm>
            <a:off x="10588492" y="1340706"/>
            <a:ext cx="381000" cy="52322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4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395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6C7AF-1230-07BD-7579-5E34A676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F214-54C1-CDDC-FF8F-451671F48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cap="small" dirty="0"/>
              <a:t>AI Systems as </a:t>
            </a:r>
            <a:r>
              <a:rPr lang="en-GB" sz="4000" b="1" cap="small" dirty="0"/>
              <a:t>Complex Socio-Technical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BA2FD-2E2C-93EF-F2C7-C1373B4E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31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6A998-866B-3A7B-1DEC-6CC1EEEFF9D1}"/>
              </a:ext>
            </a:extLst>
          </p:cNvPr>
          <p:cNvSpPr txBox="1"/>
          <p:nvPr/>
        </p:nvSpPr>
        <p:spPr>
          <a:xfrm>
            <a:off x="954465" y="80516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See </a:t>
            </a:r>
            <a:r>
              <a:rPr lang="en-GB" dirty="0" err="1">
                <a:hlinkClick r:id="rId2"/>
              </a:rPr>
              <a:t>Gotsch</a:t>
            </a:r>
            <a:r>
              <a:rPr lang="en-GB" dirty="0">
                <a:hlinkClick r:id="rId2"/>
              </a:rPr>
              <a:t> &amp; </a:t>
            </a:r>
            <a:r>
              <a:rPr lang="en-GB" dirty="0" err="1">
                <a:hlinkClick r:id="rId2"/>
              </a:rPr>
              <a:t>Puchan</a:t>
            </a:r>
            <a:r>
              <a:rPr lang="en-GB" dirty="0">
                <a:hlinkClick r:id="rId2"/>
              </a:rPr>
              <a:t> (2024: 92)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CC3AB-9F8F-3F1D-1C8E-E0DDC73515A4}"/>
              </a:ext>
            </a:extLst>
          </p:cNvPr>
          <p:cNvSpPr txBox="1"/>
          <p:nvPr/>
        </p:nvSpPr>
        <p:spPr>
          <a:xfrm>
            <a:off x="838200" y="4067267"/>
            <a:ext cx="10526988" cy="229293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2000" dirty="0"/>
              <a:t>The </a:t>
            </a:r>
            <a:r>
              <a:rPr lang="en-GB" sz="2000" b="1" dirty="0"/>
              <a:t>AI lifecycle </a:t>
            </a:r>
            <a:r>
              <a:rPr lang="en-GB" sz="2000" dirty="0"/>
              <a:t>is a </a:t>
            </a:r>
            <a:r>
              <a:rPr lang="en-GB" sz="2000" b="1" dirty="0"/>
              <a:t>complex socio-technical system</a:t>
            </a:r>
            <a:r>
              <a:rPr lang="en-GB" sz="2000" dirty="0"/>
              <a:t>, in which phases, processes, people, data, software, and hardware interact to shape AI governance. </a:t>
            </a:r>
            <a:r>
              <a:rPr lang="en-GB" sz="2000" b="1" dirty="0"/>
              <a:t>Compliance is not a one-off step, but an ongoing and integrated responsibility across the lifecycle.</a:t>
            </a:r>
            <a:r>
              <a:rPr lang="en-GB" sz="2000" dirty="0"/>
              <a:t> Key cross-cutting AI Act requirements for high-risk AI systems include: </a:t>
            </a:r>
            <a:endParaRPr lang="en-GB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sz="1600" dirty="0"/>
          </a:p>
        </p:txBody>
      </p:sp>
      <p:pic>
        <p:nvPicPr>
          <p:cNvPr id="11" name="Picture 10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1AE7482B-408A-81F5-93FC-7B4B13723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14992"/>
            <a:ext cx="10521294" cy="2773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72137E-2429-F386-0808-C6FA21EE0DCD}"/>
              </a:ext>
            </a:extLst>
          </p:cNvPr>
          <p:cNvSpPr txBox="1"/>
          <p:nvPr/>
        </p:nvSpPr>
        <p:spPr>
          <a:xfrm>
            <a:off x="954465" y="5324886"/>
            <a:ext cx="10294106" cy="144513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sz="1800" b="1" dirty="0"/>
              <a:t>Risk Management (Art. 9 AIA)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sz="1800" b="1" dirty="0"/>
              <a:t>Technical Documentation (art. 11 AIA)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b="1" dirty="0"/>
              <a:t>Record-keeping (Art. 12 AIA)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sz="1800" b="1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sz="1800" b="1" dirty="0"/>
              <a:t>Transparency (Art. 13 AIA)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sz="1800" b="1" dirty="0"/>
              <a:t>Human Oversight (Art. 14 AIA)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sz="1800" b="1" dirty="0"/>
              <a:t>Technical Robustness &amp; Security (Art. 15 AIA)</a:t>
            </a:r>
          </a:p>
        </p:txBody>
      </p:sp>
    </p:spTree>
    <p:extLst>
      <p:ext uri="{BB962C8B-B14F-4D97-AF65-F5344CB8AC3E}">
        <p14:creationId xmlns:p14="http://schemas.microsoft.com/office/powerpoint/2010/main" val="33711188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0ABBC-3E00-FE81-F282-19EAA10CD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74A76-32E6-99B9-4B11-58CED0A18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766218"/>
            <a:ext cx="4572000" cy="1325563"/>
          </a:xfrm>
        </p:spPr>
        <p:txBody>
          <a:bodyPr/>
          <a:lstStyle/>
          <a:p>
            <a:pPr algn="ctr"/>
            <a:r>
              <a:rPr lang="en-GB" b="1" i="1" dirty="0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6DC94-AB43-D953-DF6B-5F98F3D7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32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80081-58EA-066A-CBF3-D3507EED1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50044" y="1054100"/>
            <a:ext cx="8320088" cy="554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73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9598C-C96F-9F74-1F63-D6AA3101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AC024CFF-424C-B71F-BF99-32A67E3CD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2DD7598B-4775-1744-7661-944401E2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5F7B2EE7-B916-5507-D4EE-513C048CB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E2187C7B-EAD5-E59B-3F4B-CE1C0446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C9B45-06AC-E290-E6EF-DDE068B4F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cap="sm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Part Four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E781C-7F22-D128-383B-CAEA015E4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7178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In-class Activity</a:t>
            </a:r>
          </a:p>
        </p:txBody>
      </p:sp>
      <p:sp>
        <p:nvSpPr>
          <p:cNvPr id="233" name="Graphic 212">
            <a:extLst>
              <a:ext uri="{FF2B5EF4-FFF2-40B4-BE49-F238E27FC236}">
                <a16:creationId xmlns:a16="http://schemas.microsoft.com/office/drawing/2014/main" id="{484630EA-2566-6068-BE35-2ABFB1553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34" name="Graphic 212">
            <a:extLst>
              <a:ext uri="{FF2B5EF4-FFF2-40B4-BE49-F238E27FC236}">
                <a16:creationId xmlns:a16="http://schemas.microsoft.com/office/drawing/2014/main" id="{A73C718B-FAFE-C94A-E415-AFB5D8FA2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35" name="Graphic 190">
            <a:extLst>
              <a:ext uri="{FF2B5EF4-FFF2-40B4-BE49-F238E27FC236}">
                <a16:creationId xmlns:a16="http://schemas.microsoft.com/office/drawing/2014/main" id="{AB7C1D75-85A1-EAB7-6914-0DC887B05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99CD336-59F0-F32F-B301-11EFF8D2B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A3A3C72B-0140-A1C7-5B66-DB9DF89F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F1BFDD60-B4B3-DDD7-41C0-169EDF6A4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ACC2C6BB-16FF-DE73-D98F-82E38B00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9" name="Graphic 4">
            <a:extLst>
              <a:ext uri="{FF2B5EF4-FFF2-40B4-BE49-F238E27FC236}">
                <a16:creationId xmlns:a16="http://schemas.microsoft.com/office/drawing/2014/main" id="{AC718CFB-D249-45B6-B93E-2C7FCA5A1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E34F17FD-E332-4A42-7239-7C42CF741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333464D-F843-98E0-CA01-19076329B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F7034807-98ED-3735-894A-57FF0062A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ABBC9DB-0805-3CEC-9CDD-3D1A6144D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2070BD7A-818E-101E-8C27-3799D40AA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FB9FF76-9618-3E81-1BF6-5C86D52F2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B04F7097-BABE-205B-5562-A6583B831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891019A-65DF-89CA-96E1-A3E2D9D5A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87C397A-3978-5DBA-E89F-2C56A6017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029F131-2FE4-9017-0530-E00B6B7AE7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3400B15-07C1-7430-5119-6C4BBF648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D884BDD-9859-03C1-1743-E2B5D6FAD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BDC311F-621E-1678-E7DB-DF1F67DC1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4F6F802-4038-3CA2-B0B9-5EF7ABA08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58AFDF7-3170-DB70-49F6-DB6B85334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C5E3BC2-9A58-C22C-A29E-960B67005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F6954B5-73C9-B442-9687-593D0FE8A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1A07CCE-8F31-56E0-DC79-36C701B5C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0BD6C44-1E57-ADE3-FE08-69552511B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95A1628-BBAD-BD32-A5B6-524E08C23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7E49D0C-FFEA-C1F5-D66C-91EB913AB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D06890D-28D7-8458-FCF8-3F7D687FC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4125953-EB35-2926-EA66-0B2B7CF69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ED4C82D-715E-C2BF-2331-99B51B687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4139999-5CF5-2494-041D-77494FE80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47163CE-8DEF-FD22-70F3-40DF5427B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A473553-7139-45A8-2563-DB675753D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CFA4D5F-2335-7633-10DE-41DEE728D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0A3C97F-9A61-8AA7-F29D-98B8D0704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0E1BF87-6E51-6683-21BD-F2A700671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EEFFD0A-E17B-EDA0-DF63-1FCD35C24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91D23BF-EA1C-EDAB-F75D-342047113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7A726E6-A59A-86A0-91C7-8B611FA3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DFF94B3-16B4-C312-F4A7-878D607A7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01E3A94-5CC5-E33E-A3A7-DBE519AAD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BED6B6C-B519-784E-EF63-D8BC834F8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0693EBB-F38F-560A-E068-3BBAB0B9EC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8B6C653-5B8F-F0E9-120D-6BBE8168A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22C3ADB-5F54-1BD1-BDC5-52CC25C60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8BB597B-4BC3-4515-A8CA-4BCF73567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6B6E406-FCAE-49F4-1FAA-B40D26A5A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454D645-53CF-1426-538F-927939CBF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F1599FF-0BD1-1461-B0EE-432DB18F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71684A6-BE9F-5DB1-F3CF-22B35558C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E33913D-6491-56E8-0801-4F12FDBC43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895EE1F-F64C-2CED-8EF4-46158DF06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13B37DB-6196-16E8-A030-82F0819D5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F16B073-36A0-AE18-842A-770FD4E76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1639BE1-20CB-2883-E05D-1981960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418696D-CCF3-AB46-CCB0-01158E34F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0A3EA2-CEAF-BCDD-EF48-6B2BC66CD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AEB5942-8F46-0BA1-259E-773DF4C8E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3D94B1A-A697-ECEC-7B6F-E324143AC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5211A08-FDD5-6D57-9D15-896254E77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B27EB94-C64A-E189-EEC6-6E616870F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6DCEDBE-1BFD-E85C-84BE-89757225D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DC2D1BD-9B48-A036-8187-5F1E11680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5B49494-9D1E-90FB-04E0-9826DD92C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E3514D8-A96A-E648-2C63-704329804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873789A-28F2-49A3-50CE-50172AFD5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896A18C-C959-C294-201B-D087BFCDB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8E73247-10B0-0E5C-69DE-5FA4DD417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BCC5B04-3A9D-23E7-56B9-E54E598C0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05DDDA9-2A7B-BA21-166D-B16A8C964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EE76651-EEC5-1C25-9A5F-AF3F7901F8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E6FCBF4-B9F0-C866-9653-612EA5DBA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96478B8-D80F-CB33-94E9-F5100D527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342B96F-2109-AFE1-7137-8E027E885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80FE01D-6964-5B52-6010-F3E80376C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4DBB1C4-6820-682E-E9D4-3CF92CABD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D59A7C5-9C43-F2F8-79ED-4E5C1BB6C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6F3BE42-A149-C706-33E7-3A44F86F2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0306403-0463-F110-27F2-67E82C567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A259EC2-EA8B-1805-675C-D712851F1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B2B1E77-DA2A-075B-DA96-5D4417F75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E17D5AB-FD7E-0733-95F7-66C13675B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AF03B8E-4159-E98F-1739-8168DBCABB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911642B-5BBA-1FF1-CD12-27613A6FC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CB9E899-868C-2EB4-C450-3123ED939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FC3C156-EC62-45C6-BC4F-F993FE74D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25ABF22-2F14-28E3-53F7-8C8D2E297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648B3C5-69E3-AC8F-B417-51135817E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66215E1-4235-8DE2-06B4-6B8239094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E98AB15-5BA0-D9A1-8CEF-25DB30A9A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1D04DA2-DA65-5732-394F-C88512E03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A26FFB0-61EB-0302-E13A-7546C5C43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4DF3291-8AA6-0F22-3CC1-03BEE2C8B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93C8D32-2279-47EC-02D2-C235FB280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EBD9E6B-93A4-F94A-E9E6-5D8092C17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64273FD-69EE-409D-46FD-A0DE951BC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02E57E1-3A8E-0FA4-DD21-28B3BB0E1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8CC7D3D-A393-FB50-94AB-EFF49210D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EE419B22-3384-22C8-4ECA-4FB8599E4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B9866A9-D545-D78F-7D83-103A3AEE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E48D880-80B0-3EE6-97B4-4ED72AC51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699F278A-17AD-14BA-BA4F-41F14C6DA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462010C-2355-8C28-506E-499A5B5DE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D52DF98-1B70-9AF2-353F-6D0CFBE41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77591F51-CC9F-63CA-4E64-3A3A1E91F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02C4273E-7C5B-0E71-F8C2-65588FE55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458130F5-88CB-64D3-C933-98E735948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70B32F4-94CD-C25E-569D-E4109AA91C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41C8F4E-9AD1-FA63-D34E-023D8A65D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F8AAE51-0520-54E6-3087-8968120BF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B3801E0-2200-FB79-6C3B-E79111ED58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BA65387-1E3A-FEC4-1870-CD6AE5AF8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CC4D28FD-5336-9A10-B76B-3348DCC34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E107C96-13AA-2787-22CF-C36F97BC8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83E7855-74BF-F783-FFF6-0BA975B6CA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0E8404F-F174-4194-F300-ADA3F503E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63C543E-8CB3-5BE9-2796-280D4DEA5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776CA7D-9A85-5193-5B47-F216AB2AD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D250CFC-9C91-204E-A156-A15AF12DC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5A15022-E945-6202-C84B-95E40D9D9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045D60B6-B954-332F-822D-F747FFBC0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0ACE921C-97D1-C1F5-3E16-4209587F7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691B359-3055-7F1D-4028-038C497C3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4A12859-C382-76F9-36DC-73888598D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617BEFEB-FE63-F562-5141-927155174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536FC5C-0785-3401-3D1A-158A5C169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7BF9CB0-AE83-9548-E459-C2B2AFEAA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081634C-B0FA-46F6-499D-C5AED831F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49415EF-8C16-DFD4-AA92-B1B94BD86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9A500FAD-85E5-A5B7-1C28-43D2B3D6D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8DF0259-0A7E-358E-0FC5-762E059185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CF3E39E6-F167-99C5-2EB3-190F0C064B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644EE8EE-D739-0119-FA61-817F19C91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9E2A420-03D7-1671-3FCC-205DE1CD7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1240FAE4-70B1-E85C-88CA-026150EF46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7C88454E-075E-123A-D1FA-0F5467160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73CEED2B-E4B5-2584-D019-0F471531C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B79957B-C9F7-34EE-FDA7-037E9710C6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D637143-D8BC-5E12-832B-562427B29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28DF69D-8F75-1516-2B70-9282F44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2C2334E-9BEA-D8FF-2DCC-9C0F4C590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1FDE7C1-0CD6-28E4-55C4-8CFF2EFC7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CD0953F-E80D-520E-A53C-BBB17422F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7881AAD-6213-07DE-FF8F-9C503D6E4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9445EAE-A455-7D2C-0A51-38F6E533A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FF98B4A-E91E-B44A-01B6-6E9EAB5C8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58D8178F-C475-056D-9E4C-E9C00A8AD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317958A-E469-9257-A8F2-B15819363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0D7905D-D582-4B42-9B6A-466194218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16289CC-BC81-9E53-2FA6-A878542E6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347C8CC-4D7B-2B2E-4618-BB96AC6FB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7B7813D2-24A0-B2D4-AD95-E6380DD5D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AA08B8-9E8E-75AB-8FB1-9EEDFBC15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59C94941-9E93-6542-D01F-0341E0BFE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D67F669-41D2-3F34-F40E-F74C1F056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D301AEB-5229-2C66-F4C5-8764B258CE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ABC2D9BC-ACAF-F053-F9EF-CAA73F083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35B2EC5-10F1-A727-D2CD-86315EDD5E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12D59DC-7D8F-359B-E845-8DE9BE89D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DE717417-1864-FCD0-7456-B477AC015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56F3D50-0BC5-0B51-8D15-855FA659AE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3B180AC-09D1-C33A-9CB4-A0C3C35AE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194150CD-728A-1749-55DA-CB7955B38F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D853B072-E6FD-AB2B-3205-A751272AE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9CAF8F47-3C55-8C3C-7045-C46CDA6E4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6E27EE6-B6D9-C5AD-9AB1-6B2875B73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0443256D-6FB1-87AA-479A-BE3950CCA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AF9EB14-905F-29C6-0D4E-63FCF5462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7E58451-1CB2-FF94-C1B9-DD0090962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25F0D-785A-1A7B-AFAB-D2E898533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6351E67B-67B4-A101-C729-ED7F82FE9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CB13465-5B4B-588D-3148-7AA91FDED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06DF37D7-094F-2284-8F3B-E6A0A9608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639EC7A7-F281-BDB7-A596-1B58CD7B3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3F038EC-8604-965F-DE66-5C46BABD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81741-8396-702B-9E60-07704CF8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ABD5A5B-811B-418E-9483-61F67F998C2D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33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641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81D00-A094-4031-1997-A890BC84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B5A5-BED1-8032-3BD1-6D5321461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4817"/>
            <a:ext cx="10515600" cy="1325563"/>
          </a:xfrm>
        </p:spPr>
        <p:txBody>
          <a:bodyPr/>
          <a:lstStyle/>
          <a:p>
            <a:r>
              <a:rPr lang="en-GB" cap="small" dirty="0"/>
              <a:t>Group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3D4D-75BC-78C4-F10D-56EA519BE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931" y="1210746"/>
            <a:ext cx="10820400" cy="537765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3100" dirty="0"/>
              <a:t>Work in </a:t>
            </a:r>
            <a:r>
              <a:rPr lang="en-GB" sz="3100" b="1" dirty="0"/>
              <a:t>groups of 3-4 students</a:t>
            </a:r>
            <a:r>
              <a:rPr lang="en-GB" sz="3100" dirty="0"/>
              <a:t>. </a:t>
            </a:r>
          </a:p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GB" sz="2600" dirty="0"/>
              <a:t>Consider the lifecycle of a </a:t>
            </a:r>
            <a:r>
              <a:rPr lang="en-GB" sz="2600" b="1" dirty="0"/>
              <a:t>large generative AI system such as ChatGPT</a:t>
            </a:r>
            <a:r>
              <a:rPr lang="en-GB" sz="2600" dirty="0"/>
              <a:t> (e.g., data collection, model development, deployment, and monitoring).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3400" b="1" u="sng" cap="small" dirty="0"/>
              <a:t>Your Tasks</a:t>
            </a:r>
            <a:r>
              <a:rPr lang="en-GB" sz="3400" cap="small" dirty="0"/>
              <a:t> 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b="1" dirty="0"/>
              <a:t>1. Reflect </a:t>
            </a:r>
          </a:p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GB" sz="2600" i="1" dirty="0"/>
              <a:t>Why might a </a:t>
            </a:r>
            <a:r>
              <a:rPr lang="en-GB" sz="2600" b="1" i="1" dirty="0"/>
              <a:t>lifecycle approach </a:t>
            </a:r>
            <a:r>
              <a:rPr lang="en-GB" sz="2600" i="1" dirty="0"/>
              <a:t>be useful for regulating and governing such AI system? </a:t>
            </a:r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b="1" dirty="0"/>
              <a:t>2. Apply regulatory theory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GB" sz="2600" i="1" dirty="0"/>
              <a:t>How does </a:t>
            </a:r>
            <a:r>
              <a:rPr lang="en-GB" sz="2600" b="1" i="1" dirty="0"/>
              <a:t>public regulation theory </a:t>
            </a:r>
            <a:r>
              <a:rPr lang="en-GB" sz="2600" i="1" dirty="0"/>
              <a:t>justify regulating the AI lifecycle?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lang="en-GB" sz="2600" i="1" dirty="0"/>
              <a:t>How does </a:t>
            </a:r>
            <a:r>
              <a:rPr lang="en-GB" sz="2600" b="1" i="1" dirty="0"/>
              <a:t>private regulation theory </a:t>
            </a:r>
            <a:r>
              <a:rPr lang="en-GB" sz="2600" i="1" dirty="0"/>
              <a:t>explain the lifecycle’s governance role?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3. Debate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GB" sz="2600" i="1" dirty="0"/>
              <a:t>Should regulation of the AI lifecycle rely more on </a:t>
            </a:r>
            <a:r>
              <a:rPr lang="en-GB" sz="2600" b="1" i="1" dirty="0"/>
              <a:t>principles</a:t>
            </a:r>
            <a:r>
              <a:rPr lang="en-GB" sz="2600" i="1" dirty="0"/>
              <a:t> or on </a:t>
            </a:r>
            <a:r>
              <a:rPr lang="en-GB" sz="2600" b="1" i="1" dirty="0"/>
              <a:t>detailed rules</a:t>
            </a:r>
            <a:r>
              <a:rPr lang="en-GB" sz="2600" i="1" dirty="0"/>
              <a:t>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100" dirty="0"/>
              <a:t>📌 </a:t>
            </a:r>
            <a:r>
              <a:rPr lang="en-GB" sz="3100" b="1" dirty="0"/>
              <a:t>Prepare a </a:t>
            </a:r>
            <a:r>
              <a:rPr lang="en-GB" sz="3100" b="1" dirty="0">
                <a:solidFill>
                  <a:srgbClr val="FF0000"/>
                </a:solidFill>
              </a:rPr>
              <a:t>short reflection</a:t>
            </a:r>
            <a:r>
              <a:rPr lang="en-GB" sz="3100" b="1" dirty="0"/>
              <a:t> to </a:t>
            </a:r>
            <a:r>
              <a:rPr lang="en-GB" sz="3100" b="1" dirty="0">
                <a:solidFill>
                  <a:srgbClr val="0000FF"/>
                </a:solidFill>
              </a:rPr>
              <a:t>share</a:t>
            </a:r>
            <a:r>
              <a:rPr lang="en-GB" sz="3100" b="1" dirty="0"/>
              <a:t> with the </a:t>
            </a:r>
            <a:r>
              <a:rPr lang="en-GB" sz="3100" b="1" dirty="0">
                <a:solidFill>
                  <a:srgbClr val="0000FF"/>
                </a:solidFill>
              </a:rPr>
              <a:t>class</a:t>
            </a:r>
            <a:r>
              <a:rPr lang="en-GB" sz="3100" b="1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541B1-6956-6E9E-C473-5E80CED2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34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2F50BA-C402-A5C6-5F8B-2EC5B5836254}"/>
              </a:ext>
            </a:extLst>
          </p:cNvPr>
          <p:cNvSpPr txBox="1"/>
          <p:nvPr/>
        </p:nvSpPr>
        <p:spPr>
          <a:xfrm>
            <a:off x="954464" y="723284"/>
            <a:ext cx="1039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The AI Lifecycle as a Regulatory concept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9844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01777-E13F-6A4A-CE01-61505872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4263-E979-7F29-4C38-8BD80C62E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6710"/>
            <a:ext cx="3784600" cy="1178662"/>
          </a:xfrm>
        </p:spPr>
        <p:txBody>
          <a:bodyPr>
            <a:normAutofit/>
          </a:bodyPr>
          <a:lstStyle/>
          <a:p>
            <a:r>
              <a:rPr lang="en-GB" sz="5400" b="1" cap="small" dirty="0"/>
              <a:t>Thank You!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A5C0DE-3324-6A9E-D9AC-CDB6C9EF3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4251" y="401867"/>
            <a:ext cx="4923402" cy="492340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2B3EE-060B-F4D1-C1C3-8B89BBEB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D5A5B-811B-418E-9483-61F67F998C2D}" type="slidenum">
              <a:rPr lang="en-GB" smtClean="0"/>
              <a:t>35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9EA9B-021B-7A71-DA69-FAC369DD1246}"/>
              </a:ext>
            </a:extLst>
          </p:cNvPr>
          <p:cNvSpPr txBox="1"/>
          <p:nvPr/>
        </p:nvSpPr>
        <p:spPr>
          <a:xfrm>
            <a:off x="711200" y="5604669"/>
            <a:ext cx="391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You can reach out at: </a:t>
            </a:r>
            <a:r>
              <a:rPr lang="en-GB" sz="2000" i="1" dirty="0">
                <a:hlinkClick r:id="rId3"/>
              </a:rPr>
              <a:t>Alessio.Azzutti@glasgow.ac.uk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79497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2223</Words>
  <Application>Microsoft Office PowerPoint</Application>
  <PresentationFormat>Widescreen</PresentationFormat>
  <Paragraphs>266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AI Governance and  the AI Lifecycle</vt:lpstr>
      <vt:lpstr>Seminar Outline</vt:lpstr>
      <vt:lpstr>Part One</vt:lpstr>
      <vt:lpstr>Key Questions for Today</vt:lpstr>
      <vt:lpstr>Defining AI Governance</vt:lpstr>
      <vt:lpstr>AI Governance Terminology</vt:lpstr>
      <vt:lpstr>Organisational AI Governance</vt:lpstr>
      <vt:lpstr>Organisational AI Governance (i)</vt:lpstr>
      <vt:lpstr>Responsible AI Governance into Context</vt:lpstr>
      <vt:lpstr>Key Themes in Organisational AI Governance</vt:lpstr>
      <vt:lpstr>AI Regulation Is Not All You Need?</vt:lpstr>
      <vt:lpstr>Research Agenda in AI Governance</vt:lpstr>
      <vt:lpstr>Questions?</vt:lpstr>
      <vt:lpstr>Part Two</vt:lpstr>
      <vt:lpstr>The AI Lifecycle &amp; Its Role in AI Governance</vt:lpstr>
      <vt:lpstr>PowerPoint Presentation</vt:lpstr>
      <vt:lpstr>The Organisational Context of the AI Lifecycle</vt:lpstr>
      <vt:lpstr>Who are the Stakeholders of an AI Project?</vt:lpstr>
      <vt:lpstr>The Complex Network of AI Stakeholders</vt:lpstr>
      <vt:lpstr>(Some) Stakeholder Roles</vt:lpstr>
      <vt:lpstr>High-Level View of the GenAI Lifecycle</vt:lpstr>
      <vt:lpstr>Stakeholder Engagement in the AI Lifecycle</vt:lpstr>
      <vt:lpstr>Questions?</vt:lpstr>
      <vt:lpstr>Part Three</vt:lpstr>
      <vt:lpstr>Mapping the AI Act into the AI Lifecycle </vt:lpstr>
      <vt:lpstr>Phase I: Business Understanding</vt:lpstr>
      <vt:lpstr>Phase II: Data Management/Governance</vt:lpstr>
      <vt:lpstr>Phase III: AI/ML Modelling</vt:lpstr>
      <vt:lpstr>Phase IV: Application Development</vt:lpstr>
      <vt:lpstr>Phase V: System Deployment and Operation</vt:lpstr>
      <vt:lpstr>AI Systems as Complex Socio-Technical Systems</vt:lpstr>
      <vt:lpstr>Questions?</vt:lpstr>
      <vt:lpstr>Part Four</vt:lpstr>
      <vt:lpstr>Group Activity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Azzutti</dc:creator>
  <cp:lastModifiedBy>Alessio Azzutti</cp:lastModifiedBy>
  <cp:revision>190</cp:revision>
  <dcterms:created xsi:type="dcterms:W3CDTF">2025-02-17T16:22:13Z</dcterms:created>
  <dcterms:modified xsi:type="dcterms:W3CDTF">2026-03-12T16:07:02Z</dcterms:modified>
</cp:coreProperties>
</file>