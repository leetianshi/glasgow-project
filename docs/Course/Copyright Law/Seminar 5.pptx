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74" r:id="rId3"/>
    <p:sldId id="304" r:id="rId4"/>
    <p:sldId id="301" r:id="rId5"/>
    <p:sldId id="275" r:id="rId6"/>
    <p:sldId id="276" r:id="rId7"/>
    <p:sldId id="277" r:id="rId8"/>
    <p:sldId id="278" r:id="rId9"/>
    <p:sldId id="279" r:id="rId10"/>
    <p:sldId id="308" r:id="rId11"/>
    <p:sldId id="291" r:id="rId12"/>
    <p:sldId id="313" r:id="rId13"/>
    <p:sldId id="281" r:id="rId14"/>
    <p:sldId id="299" r:id="rId15"/>
    <p:sldId id="282" r:id="rId16"/>
    <p:sldId id="283" r:id="rId17"/>
    <p:sldId id="287" r:id="rId18"/>
    <p:sldId id="286" r:id="rId19"/>
    <p:sldId id="288" r:id="rId20"/>
    <p:sldId id="302" r:id="rId21"/>
    <p:sldId id="290" r:id="rId22"/>
    <p:sldId id="316" r:id="rId23"/>
    <p:sldId id="306" r:id="rId24"/>
    <p:sldId id="300" r:id="rId25"/>
  </p:sldIdLst>
  <p:sldSz cx="17340263"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765"/>
    <a:srgbClr val="EC62A7"/>
    <a:srgbClr val="D17D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3175"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3175" cap="flat">
              <a:solidFill>
                <a:srgbClr val="B8B8B8"/>
              </a:solidFill>
              <a:prstDash val="solid"/>
              <a:miter lim="400000"/>
            </a:ln>
          </a:left>
          <a:right>
            <a:ln w="3175" cap="flat">
              <a:solidFill>
                <a:srgbClr val="B8B8B8"/>
              </a:solidFill>
              <a:prstDash val="solid"/>
              <a:miter lim="400000"/>
            </a:ln>
          </a:right>
          <a:top>
            <a:ln w="3175" cap="flat">
              <a:solidFill>
                <a:srgbClr val="B8B8B8"/>
              </a:solidFill>
              <a:prstDash val="solid"/>
              <a:miter lim="400000"/>
            </a:ln>
          </a:top>
          <a:bottom>
            <a:ln w="3175" cap="flat">
              <a:solidFill>
                <a:srgbClr val="B8B8B8"/>
              </a:solidFill>
              <a:prstDash val="solid"/>
              <a:miter lim="400000"/>
            </a:ln>
          </a:bottom>
          <a:insideH>
            <a:ln w="3175" cap="flat">
              <a:solidFill>
                <a:srgbClr val="B8B8B8"/>
              </a:solidFill>
              <a:prstDash val="solid"/>
              <a:miter lim="400000"/>
            </a:ln>
          </a:insideH>
          <a:insideV>
            <a:ln w="3175"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3175" cap="flat">
              <a:solidFill>
                <a:srgbClr val="929292"/>
              </a:solidFill>
              <a:prstDash val="solid"/>
              <a:miter lim="400000"/>
            </a:ln>
          </a:left>
          <a:right>
            <a:ln w="3175" cap="flat">
              <a:solidFill>
                <a:srgbClr val="929292"/>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929292"/>
              </a:solidFill>
              <a:prstDash val="solid"/>
              <a:miter lim="400000"/>
            </a:ln>
          </a:insideH>
          <a:insideV>
            <a:ln w="3175"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3175" cap="flat">
              <a:solidFill>
                <a:srgbClr val="5D5D5D"/>
              </a:solidFill>
              <a:custDash>
                <a:ds d="200000" sp="200000"/>
              </a:custDash>
              <a:miter lim="400000"/>
            </a:ln>
          </a:left>
          <a:right>
            <a:ln w="3175" cap="flat">
              <a:solidFill>
                <a:srgbClr val="5D5D5D"/>
              </a:solidFill>
              <a:custDash>
                <a:ds d="200000" sp="200000"/>
              </a:custDash>
              <a:miter lim="400000"/>
            </a:ln>
          </a:right>
          <a:top>
            <a:ln w="3175" cap="flat">
              <a:solidFill>
                <a:srgbClr val="5D5D5D"/>
              </a:solidFill>
              <a:custDash>
                <a:ds d="200000" sp="200000"/>
              </a:custDash>
              <a:miter lim="400000"/>
            </a:ln>
          </a:top>
          <a:bottom>
            <a:ln w="3175" cap="flat">
              <a:solidFill>
                <a:srgbClr val="5D5D5D"/>
              </a:solidFill>
              <a:custDash>
                <a:ds d="200000" sp="200000"/>
              </a:custDash>
              <a:miter lim="400000"/>
            </a:ln>
          </a:bottom>
          <a:insideH>
            <a:ln w="3175" cap="flat">
              <a:solidFill>
                <a:srgbClr val="5D5D5D"/>
              </a:solidFill>
              <a:custDash>
                <a:ds d="200000" sp="200000"/>
              </a:custDash>
              <a:miter lim="400000"/>
            </a:ln>
          </a:insideH>
          <a:insideV>
            <a:ln w="3175"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3175"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prstDash val="solid"/>
              <a:miter lim="400000"/>
            </a:ln>
          </a:top>
          <a:bottom>
            <a:ln w="12700" cap="flat">
              <a:noFill/>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12700" cap="flat">
              <a:noFill/>
              <a:miter lim="400000"/>
            </a:ln>
          </a:top>
          <a:bottom>
            <a:ln w="3175" cap="flat">
              <a:solidFill>
                <a:srgbClr val="000000"/>
              </a:solidFill>
              <a:prstDash val="solid"/>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769" autoAdjust="0"/>
    <p:restoredTop sz="94564"/>
  </p:normalViewPr>
  <p:slideViewPr>
    <p:cSldViewPr snapToGrid="0" snapToObjects="1">
      <p:cViewPr varScale="1">
        <p:scale>
          <a:sx n="75" d="100"/>
          <a:sy n="75" d="100"/>
        </p:scale>
        <p:origin x="208" y="512"/>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381000" y="685800"/>
            <a:ext cx="6096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olo e sottotitolo">
    <p:spTree>
      <p:nvGrpSpPr>
        <p:cNvPr id="1" name=""/>
        <p:cNvGrpSpPr/>
        <p:nvPr/>
      </p:nvGrpSpPr>
      <p:grpSpPr>
        <a:xfrm>
          <a:off x="0" y="0"/>
          <a:ext cx="0" cy="0"/>
          <a:chOff x="0" y="0"/>
          <a:chExt cx="0" cy="0"/>
        </a:xfrm>
      </p:grpSpPr>
      <p:sp>
        <p:nvSpPr>
          <p:cNvPr id="11" name="Titolo Testo"/>
          <p:cNvSpPr txBox="1">
            <a:spLocks noGrp="1"/>
          </p:cNvSpPr>
          <p:nvPr>
            <p:ph type="title"/>
          </p:nvPr>
        </p:nvSpPr>
        <p:spPr>
          <a:prstGeom prst="rect">
            <a:avLst/>
          </a:prstGeom>
        </p:spPr>
        <p:txBody>
          <a:bodyPr/>
          <a:lstStyle/>
          <a:p>
            <a:r>
              <a:t>Titolo Testo</a:t>
            </a:r>
          </a:p>
        </p:txBody>
      </p:sp>
      <p:sp>
        <p:nvSpPr>
          <p:cNvPr id="12" name="Corpo livello uno…"/>
          <p:cNvSpPr txBox="1">
            <a:spLocks noGrp="1"/>
          </p:cNvSpPr>
          <p:nvPr>
            <p:ph type="body" sz="quarter" idx="1"/>
          </p:nvPr>
        </p:nvSpPr>
        <p:spPr>
          <a:prstGeom prst="rect">
            <a:avLst/>
          </a:prstGeom>
        </p:spPr>
        <p:txBody>
          <a:bodyPr/>
          <a:lstStyle/>
          <a:p>
            <a:r>
              <a:t>Corpo livello uno</a:t>
            </a:r>
          </a:p>
          <a:p>
            <a:pPr lvl="1"/>
            <a:r>
              <a:t>Corpo livello due</a:t>
            </a:r>
          </a:p>
          <a:p>
            <a:pPr lvl="2"/>
            <a:r>
              <a:t>Corpo livello tre</a:t>
            </a:r>
          </a:p>
          <a:p>
            <a:pPr lvl="3"/>
            <a:r>
              <a:t>Corpo livello quattro</a:t>
            </a:r>
          </a:p>
          <a:p>
            <a:pPr lvl="4"/>
            <a:r>
              <a:t>Corpo livello cinque</a:t>
            </a:r>
          </a:p>
        </p:txBody>
      </p:sp>
      <p:sp>
        <p:nvSpPr>
          <p:cNvPr id="13"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unti elenco">
    <p:spTree>
      <p:nvGrpSpPr>
        <p:cNvPr id="1" name=""/>
        <p:cNvGrpSpPr/>
        <p:nvPr/>
      </p:nvGrpSpPr>
      <p:grpSpPr>
        <a:xfrm>
          <a:off x="0" y="0"/>
          <a:ext cx="0" cy="0"/>
          <a:chOff x="0" y="0"/>
          <a:chExt cx="0" cy="0"/>
        </a:xfrm>
      </p:grpSpPr>
      <p:sp>
        <p:nvSpPr>
          <p:cNvPr id="75" name="Corpo livello uno…"/>
          <p:cNvSpPr txBox="1">
            <a:spLocks noGrp="1"/>
          </p:cNvSpPr>
          <p:nvPr>
            <p:ph type="body" sz="half" idx="1"/>
          </p:nvPr>
        </p:nvSpPr>
        <p:spPr>
          <a:xfrm>
            <a:off x="3068413" y="2844799"/>
            <a:ext cx="11203438" cy="4064002"/>
          </a:xfrm>
          <a:prstGeom prst="rect">
            <a:avLst/>
          </a:prstGeom>
        </p:spPr>
        <p:txBody>
          <a:bodyPr anchor="ctr"/>
          <a:lstStyle>
            <a:lvl1pPr marL="564472" indent="-564472" algn="l">
              <a:spcBef>
                <a:spcPts val="5467"/>
              </a:spcBef>
              <a:buSzPct val="125000"/>
              <a:buChar char="•"/>
              <a:defRPr sz="4267"/>
            </a:lvl1pPr>
            <a:lvl2pPr marL="1411181" indent="-564472" algn="l">
              <a:spcBef>
                <a:spcPts val="5467"/>
              </a:spcBef>
              <a:buSzPct val="125000"/>
              <a:buChar char="•"/>
              <a:defRPr sz="4267"/>
            </a:lvl2pPr>
            <a:lvl3pPr marL="2257890" indent="-564472" algn="l">
              <a:spcBef>
                <a:spcPts val="5467"/>
              </a:spcBef>
              <a:buSzPct val="125000"/>
              <a:buChar char="•"/>
              <a:defRPr sz="4267"/>
            </a:lvl3pPr>
            <a:lvl4pPr marL="3104599" indent="-564472" algn="l">
              <a:spcBef>
                <a:spcPts val="5467"/>
              </a:spcBef>
              <a:buSzPct val="125000"/>
              <a:buChar char="•"/>
              <a:defRPr sz="4267"/>
            </a:lvl4pPr>
            <a:lvl5pPr marL="3951308" indent="-564472" algn="l">
              <a:spcBef>
                <a:spcPts val="5467"/>
              </a:spcBef>
              <a:buSzPct val="125000"/>
              <a:buChar char="•"/>
              <a:defRPr sz="4267"/>
            </a:lvl5pPr>
          </a:lstStyle>
          <a:p>
            <a:r>
              <a:t>Corpo livello uno</a:t>
            </a:r>
          </a:p>
          <a:p>
            <a:pPr lvl="1"/>
            <a:r>
              <a:t>Corpo livello due</a:t>
            </a:r>
          </a:p>
          <a:p>
            <a:pPr lvl="2"/>
            <a:r>
              <a:t>Corpo livello tre</a:t>
            </a:r>
          </a:p>
          <a:p>
            <a:pPr lvl="3"/>
            <a:r>
              <a:t>Corpo livello quattro</a:t>
            </a:r>
          </a:p>
          <a:p>
            <a:pPr lvl="4"/>
            <a:r>
              <a:t>Corpo livello cinque</a:t>
            </a:r>
          </a:p>
        </p:txBody>
      </p:sp>
      <p:sp>
        <p:nvSpPr>
          <p:cNvPr id="76"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Foto - 3 per pagina">
    <p:spTree>
      <p:nvGrpSpPr>
        <p:cNvPr id="1" name=""/>
        <p:cNvGrpSpPr/>
        <p:nvPr/>
      </p:nvGrpSpPr>
      <p:grpSpPr>
        <a:xfrm>
          <a:off x="0" y="0"/>
          <a:ext cx="0" cy="0"/>
          <a:chOff x="0" y="0"/>
          <a:chExt cx="0" cy="0"/>
        </a:xfrm>
      </p:grpSpPr>
      <p:sp>
        <p:nvSpPr>
          <p:cNvPr id="83" name="Immagine"/>
          <p:cNvSpPr>
            <a:spLocks noGrp="1"/>
          </p:cNvSpPr>
          <p:nvPr>
            <p:ph type="pic" sz="quarter" idx="13"/>
          </p:nvPr>
        </p:nvSpPr>
        <p:spPr>
          <a:xfrm>
            <a:off x="10531170" y="4947921"/>
            <a:ext cx="4478366" cy="2240281"/>
          </a:xfrm>
          <a:prstGeom prst="rect">
            <a:avLst/>
          </a:prstGeom>
        </p:spPr>
        <p:txBody>
          <a:bodyPr lIns="91439" tIns="45719" rIns="91439" bIns="45719">
            <a:noAutofit/>
          </a:bodyPr>
          <a:lstStyle/>
          <a:p>
            <a:endParaRPr/>
          </a:p>
        </p:txBody>
      </p:sp>
      <p:sp>
        <p:nvSpPr>
          <p:cNvPr id="84" name="Immagine"/>
          <p:cNvSpPr>
            <a:spLocks noGrp="1"/>
          </p:cNvSpPr>
          <p:nvPr>
            <p:ph type="pic" sz="quarter" idx="14"/>
          </p:nvPr>
        </p:nvSpPr>
        <p:spPr>
          <a:xfrm>
            <a:off x="10322876" y="2585720"/>
            <a:ext cx="4443444" cy="2221655"/>
          </a:xfrm>
          <a:prstGeom prst="rect">
            <a:avLst/>
          </a:prstGeom>
        </p:spPr>
        <p:txBody>
          <a:bodyPr lIns="91439" tIns="45719" rIns="91439" bIns="45719">
            <a:noAutofit/>
          </a:bodyPr>
          <a:lstStyle/>
          <a:p>
            <a:endParaRPr/>
          </a:p>
        </p:txBody>
      </p:sp>
      <p:sp>
        <p:nvSpPr>
          <p:cNvPr id="85" name="Immagine"/>
          <p:cNvSpPr>
            <a:spLocks noGrp="1"/>
          </p:cNvSpPr>
          <p:nvPr>
            <p:ph type="pic" sz="half" idx="15"/>
          </p:nvPr>
        </p:nvSpPr>
        <p:spPr>
          <a:xfrm>
            <a:off x="2004967" y="2585719"/>
            <a:ext cx="9174763" cy="4587242"/>
          </a:xfrm>
          <a:prstGeom prst="rect">
            <a:avLst/>
          </a:prstGeom>
        </p:spPr>
        <p:txBody>
          <a:bodyPr lIns="91439" tIns="45719" rIns="91439" bIns="45719">
            <a:noAutofit/>
          </a:bodyPr>
          <a:lstStyle/>
          <a:p>
            <a:endParaRPr/>
          </a:p>
        </p:txBody>
      </p:sp>
      <p:sp>
        <p:nvSpPr>
          <p:cNvPr id="86"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Citazione">
    <p:spTree>
      <p:nvGrpSpPr>
        <p:cNvPr id="1" name=""/>
        <p:cNvGrpSpPr/>
        <p:nvPr/>
      </p:nvGrpSpPr>
      <p:grpSpPr>
        <a:xfrm>
          <a:off x="0" y="0"/>
          <a:ext cx="0" cy="0"/>
          <a:chOff x="0" y="0"/>
          <a:chExt cx="0" cy="0"/>
        </a:xfrm>
      </p:grpSpPr>
      <p:sp>
        <p:nvSpPr>
          <p:cNvPr id="93" name="–Giovanni Mela"/>
          <p:cNvSpPr txBox="1">
            <a:spLocks noGrp="1"/>
          </p:cNvSpPr>
          <p:nvPr>
            <p:ph type="body" sz="quarter" idx="13"/>
          </p:nvPr>
        </p:nvSpPr>
        <p:spPr>
          <a:xfrm>
            <a:off x="3440957" y="5715001"/>
            <a:ext cx="10465122" cy="451470"/>
          </a:xfrm>
          <a:prstGeom prst="rect">
            <a:avLst/>
          </a:prstGeom>
        </p:spPr>
        <p:txBody>
          <a:bodyPr>
            <a:spAutoFit/>
          </a:bodyPr>
          <a:lstStyle>
            <a:lvl1pPr>
              <a:defRPr sz="2667" i="1"/>
            </a:lvl1pPr>
          </a:lstStyle>
          <a:p>
            <a:r>
              <a:t>–Giovanni Mela</a:t>
            </a:r>
          </a:p>
        </p:txBody>
      </p:sp>
      <p:sp>
        <p:nvSpPr>
          <p:cNvPr id="94" name="“Inserisci qui una citazione”."/>
          <p:cNvSpPr txBox="1">
            <a:spLocks noGrp="1"/>
          </p:cNvSpPr>
          <p:nvPr>
            <p:ph type="body" sz="quarter" idx="14"/>
          </p:nvPr>
        </p:nvSpPr>
        <p:spPr>
          <a:xfrm>
            <a:off x="3440957" y="4380634"/>
            <a:ext cx="10465122" cy="697692"/>
          </a:xfrm>
          <a:prstGeom prst="rect">
            <a:avLst/>
          </a:prstGeom>
        </p:spPr>
        <p:txBody>
          <a:bodyPr anchor="ctr">
            <a:spAutoFit/>
          </a:bodyPr>
          <a:lstStyle>
            <a:lvl1pPr>
              <a:defRPr sz="4267">
                <a:latin typeface="+mn-lt"/>
                <a:ea typeface="+mn-ea"/>
                <a:cs typeface="+mn-cs"/>
                <a:sym typeface="Helvetica Neue Medium"/>
              </a:defRPr>
            </a:lvl1pPr>
          </a:lstStyle>
          <a:p>
            <a:r>
              <a:t>“Inserisci qui una citazione”. </a:t>
            </a:r>
          </a:p>
        </p:txBody>
      </p:sp>
      <p:sp>
        <p:nvSpPr>
          <p:cNvPr id="95"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Foto">
    <p:spTree>
      <p:nvGrpSpPr>
        <p:cNvPr id="1" name=""/>
        <p:cNvGrpSpPr/>
        <p:nvPr/>
      </p:nvGrpSpPr>
      <p:grpSpPr>
        <a:xfrm>
          <a:off x="0" y="0"/>
          <a:ext cx="0" cy="0"/>
          <a:chOff x="0" y="0"/>
          <a:chExt cx="0" cy="0"/>
        </a:xfrm>
      </p:grpSpPr>
      <p:sp>
        <p:nvSpPr>
          <p:cNvPr id="102" name="Immagine"/>
          <p:cNvSpPr>
            <a:spLocks noGrp="1"/>
          </p:cNvSpPr>
          <p:nvPr>
            <p:ph type="pic" idx="13"/>
          </p:nvPr>
        </p:nvSpPr>
        <p:spPr>
          <a:xfrm>
            <a:off x="2167532" y="2133600"/>
            <a:ext cx="13005200" cy="6505789"/>
          </a:xfrm>
          <a:prstGeom prst="rect">
            <a:avLst/>
          </a:prstGeom>
        </p:spPr>
        <p:txBody>
          <a:bodyPr lIns="91439" tIns="45719" rIns="91439" bIns="45719">
            <a:noAutofit/>
          </a:bodyPr>
          <a:lstStyle/>
          <a:p>
            <a:endParaRPr/>
          </a:p>
        </p:txBody>
      </p:sp>
      <p:sp>
        <p:nvSpPr>
          <p:cNvPr id="103"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Vuoto">
    <p:spTree>
      <p:nvGrpSpPr>
        <p:cNvPr id="1" name=""/>
        <p:cNvGrpSpPr/>
        <p:nvPr/>
      </p:nvGrpSpPr>
      <p:grpSpPr>
        <a:xfrm>
          <a:off x="0" y="0"/>
          <a:ext cx="0" cy="0"/>
          <a:chOff x="0" y="0"/>
          <a:chExt cx="0" cy="0"/>
        </a:xfrm>
      </p:grpSpPr>
      <p:sp>
        <p:nvSpPr>
          <p:cNvPr id="110"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olo Testo"/>
          <p:cNvSpPr txBox="1">
            <a:spLocks noGrp="1"/>
          </p:cNvSpPr>
          <p:nvPr>
            <p:ph type="title"/>
          </p:nvPr>
        </p:nvSpPr>
        <p:spPr>
          <a:xfrm>
            <a:off x="3115827" y="3053080"/>
            <a:ext cx="11108609" cy="185928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0320" tIns="20320" rIns="20320" bIns="20320" anchor="b">
            <a:normAutofit/>
          </a:bodyPr>
          <a:lstStyle/>
          <a:p>
            <a:r>
              <a:t>Titolo Testo</a:t>
            </a:r>
          </a:p>
        </p:txBody>
      </p:sp>
      <p:sp>
        <p:nvSpPr>
          <p:cNvPr id="3" name="Corpo livello uno…"/>
          <p:cNvSpPr txBox="1">
            <a:spLocks noGrp="1"/>
          </p:cNvSpPr>
          <p:nvPr>
            <p:ph type="body" idx="1"/>
          </p:nvPr>
        </p:nvSpPr>
        <p:spPr>
          <a:xfrm>
            <a:off x="3115827" y="4963160"/>
            <a:ext cx="11108609" cy="6350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0320" tIns="20320" rIns="20320" bIns="20320">
            <a:normAutofit/>
          </a:bodyPr>
          <a:lstStyle/>
          <a:p>
            <a:r>
              <a:t>Corpo livello uno</a:t>
            </a:r>
          </a:p>
          <a:p>
            <a:pPr lvl="1"/>
            <a:r>
              <a:t>Corpo livello due</a:t>
            </a:r>
          </a:p>
          <a:p>
            <a:pPr lvl="2"/>
            <a:r>
              <a:t>Corpo livello tre</a:t>
            </a:r>
          </a:p>
          <a:p>
            <a:pPr lvl="3"/>
            <a:r>
              <a:t>Corpo livello quattro</a:t>
            </a:r>
          </a:p>
          <a:p>
            <a:pPr lvl="4"/>
            <a:r>
              <a:t>Corpo livello cinque</a:t>
            </a:r>
          </a:p>
        </p:txBody>
      </p:sp>
      <p:sp>
        <p:nvSpPr>
          <p:cNvPr id="4" name="Numero diapositiva"/>
          <p:cNvSpPr txBox="1">
            <a:spLocks noGrp="1"/>
          </p:cNvSpPr>
          <p:nvPr>
            <p:ph type="sldNum" sz="quarter" idx="2"/>
          </p:nvPr>
        </p:nvSpPr>
        <p:spPr>
          <a:xfrm>
            <a:off x="8517184" y="7366001"/>
            <a:ext cx="299121" cy="328360"/>
          </a:xfrm>
          <a:prstGeom prst="rect">
            <a:avLst/>
          </a:prstGeom>
          <a:ln w="3175">
            <a:miter lim="400000"/>
          </a:ln>
        </p:spPr>
        <p:txBody>
          <a:bodyPr wrap="none" lIns="20320" tIns="20320" rIns="20320" bIns="20320">
            <a:spAutoFit/>
          </a:bodyPr>
          <a:lstStyle>
            <a:lvl1pPr>
              <a:defRPr sz="1867" b="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6" r:id="rId2"/>
    <p:sldLayoutId id="2147483657" r:id="rId3"/>
    <p:sldLayoutId id="2147483658" r:id="rId4"/>
    <p:sldLayoutId id="2147483659" r:id="rId5"/>
    <p:sldLayoutId id="2147483660" r:id="rId6"/>
  </p:sldLayoutIdLst>
  <p:transition spd="med"/>
  <p:txStyles>
    <p:titleStyle>
      <a:lvl1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1pPr>
      <a:lvl2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2pPr>
      <a:lvl3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3pPr>
      <a:lvl4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4pPr>
      <a:lvl5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5pPr>
      <a:lvl6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6pPr>
      <a:lvl7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7pPr>
      <a:lvl8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8pPr>
      <a:lvl9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9pPr>
    </p:titleStyle>
    <p:bodyStyle>
      <a:lvl1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1pPr>
      <a:lvl2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2pPr>
      <a:lvl3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3pPr>
      <a:lvl4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4pPr>
      <a:lvl5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5pPr>
      <a:lvl6pPr marL="0" marR="0" indent="474157"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6pPr>
      <a:lvl7pPr marL="0" marR="0" indent="948314"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7pPr>
      <a:lvl8pPr marL="0" marR="0" indent="1422471"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8pPr>
      <a:lvl9pPr marL="0" marR="0" indent="1896628"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1pPr>
      <a:lvl2pPr marL="0" marR="0" indent="304815"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2pPr>
      <a:lvl3pPr marL="0" marR="0" indent="609630"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3pPr>
      <a:lvl4pPr marL="0" marR="0" indent="914446"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4pPr>
      <a:lvl5pPr marL="0" marR="0" indent="1219261"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5pPr>
      <a:lvl6pPr marL="0" marR="0" indent="1524076"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6pPr>
      <a:lvl7pPr marL="0" marR="0" indent="1828891"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7pPr>
      <a:lvl8pPr marL="0" marR="0" indent="2133707"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8pPr>
      <a:lvl9pPr marL="0" marR="0" indent="2438522"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1.xml"/><Relationship Id="rId1" Type="http://schemas.openxmlformats.org/officeDocument/2006/relationships/video" Target="https://www.youtube.com/embed/oaXFc4Zb78s?feature=oembed"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 name="POWER POINT_2.pdf" descr="POWER POINT_2.pdf"/>
          <p:cNvPicPr>
            <a:picLocks noChangeAspect="1"/>
          </p:cNvPicPr>
          <p:nvPr/>
        </p:nvPicPr>
        <p:blipFill>
          <a:blip r:embed="rId2"/>
          <a:stretch>
            <a:fillRect/>
          </a:stretch>
        </p:blipFill>
        <p:spPr>
          <a:xfrm>
            <a:off x="-5414" y="-3251597"/>
            <a:ext cx="17345677" cy="13005197"/>
          </a:xfrm>
          <a:prstGeom prst="rect">
            <a:avLst/>
          </a:prstGeom>
          <a:ln w="12700">
            <a:miter lim="400000"/>
          </a:ln>
        </p:spPr>
      </p:pic>
      <p:sp>
        <p:nvSpPr>
          <p:cNvPr id="121" name="PROJECT NAME…"/>
          <p:cNvSpPr txBox="1"/>
          <p:nvPr/>
        </p:nvSpPr>
        <p:spPr>
          <a:xfrm>
            <a:off x="643085" y="8266745"/>
            <a:ext cx="4958379" cy="8128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chor="b">
            <a:normAutofit/>
          </a:bodyPr>
          <a:lstStyle/>
          <a:p>
            <a:pPr algn="l" defTabSz="782735">
              <a:defRPr sz="2400">
                <a:solidFill>
                  <a:srgbClr val="FFFFFF"/>
                </a:solidFill>
                <a:latin typeface="Barlow Bold"/>
                <a:ea typeface="Barlow Bold"/>
                <a:cs typeface="Barlow Bold"/>
                <a:sym typeface="Barlow Bold"/>
              </a:defRPr>
            </a:pPr>
            <a:r>
              <a:rPr lang="en-GB" sz="3467" dirty="0"/>
              <a:t>18 February 2026</a:t>
            </a:r>
            <a:endParaRPr lang="en-GB" sz="3200" dirty="0"/>
          </a:p>
        </p:txBody>
      </p:sp>
      <p:sp>
        <p:nvSpPr>
          <p:cNvPr id="122" name="Shape 21"/>
          <p:cNvSpPr txBox="1"/>
          <p:nvPr/>
        </p:nvSpPr>
        <p:spPr>
          <a:xfrm>
            <a:off x="643085" y="2236193"/>
            <a:ext cx="15442981" cy="13555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7735" tIns="67735" rIns="67735" bIns="67735">
            <a:spAutoFit/>
          </a:bodyPr>
          <a:lstStyle/>
          <a:p>
            <a:pPr algn="l" defTabSz="778972">
              <a:lnSpc>
                <a:spcPct val="90000"/>
              </a:lnSpc>
              <a:defRPr sz="8300">
                <a:solidFill>
                  <a:srgbClr val="F47A63"/>
                </a:solidFill>
                <a:latin typeface="Barlow-Medium"/>
                <a:ea typeface="Barlow-Medium"/>
                <a:cs typeface="Barlow-Medium"/>
                <a:sym typeface="Barlow-Medium"/>
              </a:defRPr>
            </a:pPr>
            <a:r>
              <a:rPr lang="en-GB" sz="8800" dirty="0"/>
              <a:t>Infringement</a:t>
            </a:r>
          </a:p>
        </p:txBody>
      </p:sp>
      <p:sp>
        <p:nvSpPr>
          <p:cNvPr id="123" name="Shape 21"/>
          <p:cNvSpPr txBox="1"/>
          <p:nvPr/>
        </p:nvSpPr>
        <p:spPr>
          <a:xfrm>
            <a:off x="620857" y="3591820"/>
            <a:ext cx="6000578" cy="858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67735" tIns="67735" rIns="67735" bIns="67735">
            <a:spAutoFit/>
          </a:bodyPr>
          <a:lstStyle>
            <a:lvl1pPr algn="l" defTabSz="584200">
              <a:lnSpc>
                <a:spcPct val="80000"/>
              </a:lnSpc>
              <a:defRPr sz="2200">
                <a:solidFill>
                  <a:srgbClr val="575453"/>
                </a:solidFill>
                <a:latin typeface="Source Sans Pro"/>
                <a:ea typeface="Source Sans Pro"/>
                <a:cs typeface="Source Sans Pro"/>
                <a:sym typeface="Source Sans Pro"/>
              </a:defRPr>
            </a:lvl1pPr>
          </a:lstStyle>
          <a:p>
            <a:r>
              <a:rPr lang="en-GB" sz="2933" b="0" dirty="0">
                <a:latin typeface="Barlow" pitchFamily="2" charset="77"/>
              </a:rPr>
              <a:t>Copyright in the Digital Environment</a:t>
            </a:r>
          </a:p>
          <a:p>
            <a:r>
              <a:rPr lang="en-GB" sz="2933" b="0" dirty="0">
                <a:latin typeface="Barlow" pitchFamily="2" charset="77"/>
              </a:rPr>
              <a:t>Amy Thomas</a:t>
            </a:r>
            <a:endParaRPr sz="2933" b="0" dirty="0">
              <a:latin typeface="Barlow" pitchFamily="2" charset="77"/>
            </a:endParaRPr>
          </a:p>
        </p:txBody>
      </p:sp>
      <p:pic>
        <p:nvPicPr>
          <p:cNvPr id="128" name="CREATe_logo.pdf" descr="CREATe_logo.pdf"/>
          <p:cNvPicPr>
            <a:picLocks noChangeAspect="1"/>
          </p:cNvPicPr>
          <p:nvPr/>
        </p:nvPicPr>
        <p:blipFill>
          <a:blip r:embed="rId3"/>
          <a:stretch>
            <a:fillRect/>
          </a:stretch>
        </p:blipFill>
        <p:spPr>
          <a:xfrm>
            <a:off x="14800771" y="8771894"/>
            <a:ext cx="2458227" cy="837875"/>
          </a:xfrm>
          <a:prstGeom prst="rect">
            <a:avLst/>
          </a:prstGeom>
          <a:ln w="12700">
            <a:miter lim="400000"/>
          </a:ln>
        </p:spPr>
      </p:pic>
      <p:pic>
        <p:nvPicPr>
          <p:cNvPr id="3" name="Picture 2" descr="Logo&#10;&#10;Description automatically generated with medium confidence">
            <a:extLst>
              <a:ext uri="{FF2B5EF4-FFF2-40B4-BE49-F238E27FC236}">
                <a16:creationId xmlns:a16="http://schemas.microsoft.com/office/drawing/2014/main" id="{C3063262-4A96-2F70-7806-EDB3098D322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094759" y="8796944"/>
            <a:ext cx="2624747" cy="812825"/>
          </a:xfrm>
          <a:prstGeom prst="rect">
            <a:avLst/>
          </a:prstGeom>
        </p:spPr>
      </p:pic>
    </p:spTree>
    <p:extLst>
      <p:ext uri="{BB962C8B-B14F-4D97-AF65-F5344CB8AC3E}">
        <p14:creationId xmlns:p14="http://schemas.microsoft.com/office/powerpoint/2010/main" val="1671474396"/>
      </p:ext>
    </p:extLst>
  </p:cSld>
  <p:clrMapOvr>
    <a:masterClrMapping/>
  </p:clrMapOvr>
  <p:transition spd="med" advTm="27815"/>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28459" y="730197"/>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Format: 11 February</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45BED730-319F-B81C-01BA-95190CA990FA}"/>
              </a:ext>
            </a:extLst>
          </p:cNvPr>
          <p:cNvSpPr/>
          <p:nvPr/>
        </p:nvSpPr>
        <p:spPr>
          <a:xfrm>
            <a:off x="1028459" y="1947120"/>
            <a:ext cx="14862995" cy="3137269"/>
          </a:xfrm>
          <a:prstGeom prst="rect">
            <a:avLst/>
          </a:prstGeom>
        </p:spPr>
        <p:txBody>
          <a:bodyPr wrap="square">
            <a:sp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Primary infringement and enforcement (literal + non-literal copying)</a:t>
            </a:r>
          </a:p>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Secondary infringement and enforcement (+ secondary liability for platforms)</a:t>
            </a:r>
          </a:p>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Formative assessment – overview and Q&amp;A</a:t>
            </a:r>
          </a:p>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lang="en-GB" sz="2800" dirty="0">
              <a:solidFill>
                <a:schemeClr val="tx2"/>
              </a:solidFill>
              <a:latin typeface="Barlow" pitchFamily="2" charset="77"/>
            </a:endParaRPr>
          </a:p>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u="sng" dirty="0">
                <a:solidFill>
                  <a:schemeClr val="tx2"/>
                </a:solidFill>
                <a:latin typeface="Barlow" pitchFamily="2" charset="77"/>
              </a:rPr>
              <a:t>New date for revision class</a:t>
            </a:r>
            <a:r>
              <a:rPr lang="en-GB" sz="2800" dirty="0">
                <a:solidFill>
                  <a:schemeClr val="tx2"/>
                </a:solidFill>
                <a:latin typeface="Barlow" pitchFamily="2" charset="77"/>
              </a:rPr>
              <a:t>: Wednesday 25 March</a:t>
            </a:r>
          </a:p>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u="sng" dirty="0">
                <a:solidFill>
                  <a:schemeClr val="tx2"/>
                </a:solidFill>
                <a:latin typeface="Barlow" pitchFamily="2" charset="77"/>
              </a:rPr>
              <a:t>New due date for summative assignment</a:t>
            </a:r>
            <a:r>
              <a:rPr lang="en-GB" sz="2800" dirty="0">
                <a:solidFill>
                  <a:schemeClr val="tx2"/>
                </a:solidFill>
                <a:latin typeface="Barlow" pitchFamily="2" charset="77"/>
              </a:rPr>
              <a:t>: Monday 13 April</a:t>
            </a:r>
          </a:p>
        </p:txBody>
      </p:sp>
    </p:spTree>
    <p:extLst>
      <p:ext uri="{BB962C8B-B14F-4D97-AF65-F5344CB8AC3E}">
        <p14:creationId xmlns:p14="http://schemas.microsoft.com/office/powerpoint/2010/main" val="347818077"/>
      </p:ext>
    </p:extLst>
  </p:cSld>
  <p:clrMapOvr>
    <a:masterClrMapping/>
  </p:clrMapOvr>
  <p:transition spd="med" advTm="222639"/>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1778B-7B2A-4AA9-30A8-7B608B00DCE3}"/>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85533A9B-A184-A8F3-6681-522D66C7664C}"/>
              </a:ext>
            </a:extLst>
          </p:cNvPr>
          <p:cNvSpPr txBox="1"/>
          <p:nvPr/>
        </p:nvSpPr>
        <p:spPr>
          <a:xfrm>
            <a:off x="1028459" y="730197"/>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Mid-semester feedback</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0AFD2958-FAAD-5D47-A348-493C407F381C}"/>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88BD9DD1-11BD-AAD4-8C51-B33DCCF60A16}"/>
              </a:ext>
            </a:extLst>
          </p:cNvPr>
          <p:cNvSpPr/>
          <p:nvPr/>
        </p:nvSpPr>
        <p:spPr>
          <a:xfrm>
            <a:off x="1028460" y="3107084"/>
            <a:ext cx="7517664" cy="3970318"/>
          </a:xfrm>
          <a:prstGeom prst="rect">
            <a:avLst/>
          </a:prstGeom>
        </p:spPr>
        <p:txBody>
          <a:bodyPr wrap="square">
            <a:spAutoFit/>
          </a:bodyPr>
          <a:lstStyle/>
          <a:p>
            <a:pPr marL="457200" indent="-457200" algn="just">
              <a:buFont typeface="Arial" panose="020B0604020202020204" pitchFamily="34" charset="0"/>
              <a:buChar char="•"/>
            </a:pPr>
            <a:r>
              <a:rPr lang="en-GB" sz="2800" b="0" dirty="0">
                <a:solidFill>
                  <a:schemeClr val="tx2"/>
                </a:solidFill>
                <a:latin typeface="Barlow" pitchFamily="2" charset="77"/>
              </a:rPr>
              <a:t>This form is </a:t>
            </a:r>
            <a:r>
              <a:rPr lang="en-GB" sz="2800" dirty="0">
                <a:solidFill>
                  <a:schemeClr val="tx2"/>
                </a:solidFill>
                <a:latin typeface="Barlow" pitchFamily="2" charset="77"/>
              </a:rPr>
              <a:t>anonymous</a:t>
            </a:r>
            <a:r>
              <a:rPr lang="en-GB" sz="2800" b="0" dirty="0">
                <a:solidFill>
                  <a:schemeClr val="tx2"/>
                </a:solidFill>
                <a:latin typeface="Barlow" pitchFamily="2" charset="77"/>
              </a:rPr>
              <a:t> – your names/email addresses are not collected or visible to the teaching team – so be as honest as you like!</a:t>
            </a:r>
          </a:p>
          <a:p>
            <a:pPr marL="457200" indent="-457200" algn="just">
              <a:buFont typeface="Arial" panose="020B0604020202020204" pitchFamily="34" charset="0"/>
              <a:buChar char="•"/>
            </a:pPr>
            <a:endParaRPr lang="en-GB" sz="2800" b="0" dirty="0">
              <a:solidFill>
                <a:schemeClr val="tx2"/>
              </a:solidFill>
              <a:latin typeface="Barlow" pitchFamily="2" charset="77"/>
            </a:endParaRPr>
          </a:p>
          <a:p>
            <a:pPr marL="457200" indent="-457200" algn="just">
              <a:buFont typeface="Arial" panose="020B0604020202020204" pitchFamily="34" charset="0"/>
              <a:buChar char="•"/>
            </a:pPr>
            <a:r>
              <a:rPr lang="en-GB" sz="2800" b="0" dirty="0">
                <a:solidFill>
                  <a:schemeClr val="tx2"/>
                </a:solidFill>
                <a:latin typeface="Barlow" pitchFamily="2" charset="77"/>
              </a:rPr>
              <a:t>What have you liked about the course so far?</a:t>
            </a:r>
          </a:p>
          <a:p>
            <a:pPr algn="just"/>
            <a:endParaRPr lang="en-GB" sz="2800" b="0" dirty="0">
              <a:solidFill>
                <a:schemeClr val="tx2"/>
              </a:solidFill>
              <a:latin typeface="Barlow" pitchFamily="2" charset="77"/>
            </a:endParaRPr>
          </a:p>
          <a:p>
            <a:pPr marL="457200" indent="-457200" algn="just">
              <a:buFont typeface="Arial" panose="020B0604020202020204" pitchFamily="34" charset="0"/>
              <a:buChar char="•"/>
            </a:pPr>
            <a:r>
              <a:rPr lang="en-GB" sz="2800" b="0" dirty="0">
                <a:solidFill>
                  <a:schemeClr val="tx2"/>
                </a:solidFill>
                <a:latin typeface="Barlow" pitchFamily="2" charset="77"/>
              </a:rPr>
              <a:t>Is there anything about the course that you would like the teaching team to consider changing?</a:t>
            </a:r>
          </a:p>
        </p:txBody>
      </p:sp>
      <p:pic>
        <p:nvPicPr>
          <p:cNvPr id="1026" name="Picture 2" descr="QR code">
            <a:extLst>
              <a:ext uri="{FF2B5EF4-FFF2-40B4-BE49-F238E27FC236}">
                <a16:creationId xmlns:a16="http://schemas.microsoft.com/office/drawing/2014/main" id="{C7C99E7F-852B-71A3-7A66-8CD0F139C2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2161" y="1926978"/>
            <a:ext cx="5899643" cy="589964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8982607-027C-2B74-9796-8A1F49A80883}"/>
              </a:ext>
            </a:extLst>
          </p:cNvPr>
          <p:cNvSpPr txBox="1"/>
          <p:nvPr/>
        </p:nvSpPr>
        <p:spPr>
          <a:xfrm>
            <a:off x="10806901" y="7846763"/>
            <a:ext cx="5110162" cy="83099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2400" b="0" dirty="0">
                <a:solidFill>
                  <a:schemeClr val="tx2"/>
                </a:solidFill>
                <a:latin typeface="Barlow" pitchFamily="2" charset="77"/>
              </a:rPr>
              <a:t>https://</a:t>
            </a:r>
            <a:r>
              <a:rPr lang="en-GB" sz="2400" b="0" dirty="0" err="1">
                <a:solidFill>
                  <a:schemeClr val="tx2"/>
                </a:solidFill>
                <a:latin typeface="Barlow" pitchFamily="2" charset="77"/>
              </a:rPr>
              <a:t>forms.cloud.microsoft</a:t>
            </a:r>
            <a:r>
              <a:rPr lang="en-GB" sz="2400" b="0" dirty="0">
                <a:solidFill>
                  <a:schemeClr val="tx2"/>
                </a:solidFill>
                <a:latin typeface="Barlow" pitchFamily="2" charset="77"/>
              </a:rPr>
              <a:t>/e/3uUt2h2Gws</a:t>
            </a:r>
          </a:p>
        </p:txBody>
      </p:sp>
    </p:spTree>
    <p:extLst>
      <p:ext uri="{BB962C8B-B14F-4D97-AF65-F5344CB8AC3E}">
        <p14:creationId xmlns:p14="http://schemas.microsoft.com/office/powerpoint/2010/main" val="811406418"/>
      </p:ext>
    </p:extLst>
  </p:cSld>
  <p:clrMapOvr>
    <a:masterClrMapping/>
  </p:clrMapOvr>
  <p:transition spd="med" advTm="222639"/>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B038B-1DF7-8F50-4507-4F46068B26E3}"/>
            </a:ext>
          </a:extLst>
        </p:cNvPr>
        <p:cNvGrpSpPr/>
        <p:nvPr/>
      </p:nvGrpSpPr>
      <p:grpSpPr>
        <a:xfrm>
          <a:off x="0" y="0"/>
          <a:ext cx="0" cy="0"/>
          <a:chOff x="0" y="0"/>
          <a:chExt cx="0" cy="0"/>
        </a:xfrm>
      </p:grpSpPr>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D93300AC-97CD-FA75-B660-CB5FD955902A}"/>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7C1BE3EE-290B-D3D3-1EF4-39F154308C66}"/>
              </a:ext>
            </a:extLst>
          </p:cNvPr>
          <p:cNvSpPr/>
          <p:nvPr/>
        </p:nvSpPr>
        <p:spPr>
          <a:xfrm>
            <a:off x="1448809" y="2614642"/>
            <a:ext cx="14862995" cy="4524315"/>
          </a:xfrm>
          <a:prstGeom prst="rect">
            <a:avLst/>
          </a:prstGeom>
        </p:spPr>
        <p:txBody>
          <a:bodyPr wrap="square">
            <a:spAutoFit/>
          </a:bodyPr>
          <a:lstStyle/>
          <a:p>
            <a:r>
              <a:rPr lang="en-US" sz="3200" b="0" dirty="0">
                <a:solidFill>
                  <a:schemeClr val="tx2"/>
                </a:solidFill>
                <a:latin typeface="Barlow" pitchFamily="2" charset="77"/>
              </a:rPr>
              <a:t>Work falls within copyrightable subject-matter + fixed permanently + meets the originality standard = copyright </a:t>
            </a:r>
          </a:p>
          <a:p>
            <a:pPr marL="457223" indent="-457223">
              <a:buFont typeface="Arial" panose="020B0604020202020204" pitchFamily="34" charset="0"/>
              <a:buChar char="•"/>
            </a:pPr>
            <a:endParaRPr lang="en-GB" sz="3200" b="0" dirty="0">
              <a:solidFill>
                <a:schemeClr val="tx2"/>
              </a:solidFill>
              <a:latin typeface="Barlow" pitchFamily="2" charset="77"/>
            </a:endParaRPr>
          </a:p>
          <a:p>
            <a:r>
              <a:rPr lang="en-GB" sz="3200" b="0" dirty="0">
                <a:solidFill>
                  <a:schemeClr val="tx2"/>
                </a:solidFill>
                <a:latin typeface="Barlow" pitchFamily="2" charset="77"/>
              </a:rPr>
              <a:t>Copyright = Economic and moral rights</a:t>
            </a:r>
          </a:p>
          <a:p>
            <a:endParaRPr lang="en-GB" sz="3200" b="0" dirty="0">
              <a:solidFill>
                <a:schemeClr val="tx2"/>
              </a:solidFill>
              <a:latin typeface="Barlow" pitchFamily="2" charset="77"/>
            </a:endParaRPr>
          </a:p>
          <a:p>
            <a:r>
              <a:rPr lang="en-GB" sz="3200" b="0" dirty="0">
                <a:solidFill>
                  <a:schemeClr val="tx2"/>
                </a:solidFill>
                <a:latin typeface="Barlow" pitchFamily="2" charset="77"/>
              </a:rPr>
              <a:t>Permission is needed to do anything with these rights unless a limitation or exception applies to the activity</a:t>
            </a:r>
          </a:p>
          <a:p>
            <a:endParaRPr lang="en-GB" sz="3200" b="0" dirty="0">
              <a:solidFill>
                <a:schemeClr val="tx2"/>
              </a:solidFill>
              <a:latin typeface="Barlow" pitchFamily="2" charset="77"/>
            </a:endParaRPr>
          </a:p>
          <a:p>
            <a:r>
              <a:rPr lang="en-GB" sz="3200" b="0" dirty="0">
                <a:solidFill>
                  <a:schemeClr val="tx2"/>
                </a:solidFill>
                <a:latin typeface="Barlow" pitchFamily="2" charset="77"/>
              </a:rPr>
              <a:t>If not then = infringement</a:t>
            </a:r>
          </a:p>
        </p:txBody>
      </p:sp>
    </p:spTree>
    <p:extLst>
      <p:ext uri="{BB962C8B-B14F-4D97-AF65-F5344CB8AC3E}">
        <p14:creationId xmlns:p14="http://schemas.microsoft.com/office/powerpoint/2010/main" val="3999355062"/>
      </p:ext>
    </p:extLst>
  </p:cSld>
  <p:clrMapOvr>
    <a:masterClrMapping/>
  </p:clrMapOvr>
  <p:transition spd="med" advTm="222639"/>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DFFE0-E9F2-6113-430E-E2F59D67BF9E}"/>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472BBA16-EB9A-0BDA-D5C0-8DF29D734F20}"/>
              </a:ext>
            </a:extLst>
          </p:cNvPr>
          <p:cNvSpPr txBox="1"/>
          <p:nvPr/>
        </p:nvSpPr>
        <p:spPr>
          <a:xfrm>
            <a:off x="1028458" y="730197"/>
            <a:ext cx="10744441"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Primary v secondary infringement</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35C4920A-C388-DBA5-D192-262EB0986B3D}"/>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8B112208-75F0-EC1D-35B4-99577A866B43}"/>
              </a:ext>
            </a:extLst>
          </p:cNvPr>
          <p:cNvSpPr/>
          <p:nvPr/>
        </p:nvSpPr>
        <p:spPr>
          <a:xfrm>
            <a:off x="1028459" y="1947120"/>
            <a:ext cx="14862995" cy="3693319"/>
          </a:xfrm>
          <a:prstGeom prst="rect">
            <a:avLst/>
          </a:prstGeom>
        </p:spPr>
        <p:txBody>
          <a:bodyPr wrap="square">
            <a:spAutoFit/>
          </a:bodyPr>
          <a:lstStyle/>
          <a:p>
            <a:pPr marL="342900" indent="-342900" algn="just">
              <a:spcAft>
                <a:spcPts val="600"/>
              </a:spcAft>
              <a:buFont typeface="Arial" panose="020B0604020202020204" pitchFamily="34" charset="0"/>
              <a:buChar char="•"/>
              <a:defRPr>
                <a:solidFill>
                  <a:srgbClr val="474C55"/>
                </a:solidFill>
              </a:defRPr>
            </a:pPr>
            <a:r>
              <a:rPr lang="en-US" sz="3200" b="0" dirty="0">
                <a:solidFill>
                  <a:schemeClr val="tx2"/>
                </a:solidFill>
                <a:latin typeface="Barlow" pitchFamily="2" charset="77"/>
              </a:rPr>
              <a:t>s.16(2) and (3) CDPA: ‘Copyright in a work is infringed by a person who without the </a:t>
            </a:r>
            <a:r>
              <a:rPr lang="en-US" sz="3200" b="0" dirty="0" err="1">
                <a:solidFill>
                  <a:schemeClr val="tx2"/>
                </a:solidFill>
                <a:latin typeface="Barlow" pitchFamily="2" charset="77"/>
              </a:rPr>
              <a:t>licence</a:t>
            </a:r>
            <a:r>
              <a:rPr lang="en-US" sz="3200" b="0" dirty="0">
                <a:solidFill>
                  <a:schemeClr val="tx2"/>
                </a:solidFill>
                <a:latin typeface="Barlow" pitchFamily="2" charset="77"/>
              </a:rPr>
              <a:t> of the copyright owner does [</a:t>
            </a:r>
            <a:r>
              <a:rPr lang="en-US" sz="3200" dirty="0">
                <a:solidFill>
                  <a:schemeClr val="tx2"/>
                </a:solidFill>
                <a:latin typeface="Barlow" pitchFamily="2" charset="77"/>
              </a:rPr>
              <a:t>primary infringement</a:t>
            </a:r>
            <a:r>
              <a:rPr lang="en-US" sz="3200" b="0" dirty="0">
                <a:solidFill>
                  <a:schemeClr val="tx2"/>
                </a:solidFill>
                <a:latin typeface="Barlow" pitchFamily="2" charset="77"/>
              </a:rPr>
              <a:t>], or </a:t>
            </a:r>
            <a:r>
              <a:rPr lang="en-US" sz="3200" b="0" u="sng" dirty="0" err="1">
                <a:solidFill>
                  <a:schemeClr val="tx2"/>
                </a:solidFill>
                <a:latin typeface="Barlow" pitchFamily="2" charset="77"/>
              </a:rPr>
              <a:t>authorises</a:t>
            </a:r>
            <a:r>
              <a:rPr lang="en-US" sz="3200" b="0" dirty="0">
                <a:solidFill>
                  <a:schemeClr val="tx2"/>
                </a:solidFill>
                <a:latin typeface="Barlow" pitchFamily="2" charset="77"/>
              </a:rPr>
              <a:t> another to do [</a:t>
            </a:r>
            <a:r>
              <a:rPr lang="en-US" sz="3200" dirty="0">
                <a:solidFill>
                  <a:schemeClr val="tx2"/>
                </a:solidFill>
                <a:latin typeface="Barlow" pitchFamily="2" charset="77"/>
              </a:rPr>
              <a:t>secondary infringement</a:t>
            </a:r>
            <a:r>
              <a:rPr lang="en-US" sz="3200" b="0" dirty="0">
                <a:solidFill>
                  <a:schemeClr val="tx2"/>
                </a:solidFill>
                <a:latin typeface="Barlow" pitchFamily="2" charset="77"/>
              </a:rPr>
              <a:t>], any of the acts restricted by the copyright.’ (a) in relation to the work as a </a:t>
            </a:r>
            <a:r>
              <a:rPr lang="en-US" sz="3200" b="0" u="sng" dirty="0">
                <a:solidFill>
                  <a:schemeClr val="tx2"/>
                </a:solidFill>
                <a:latin typeface="Barlow" pitchFamily="2" charset="77"/>
              </a:rPr>
              <a:t>whole or any substantial</a:t>
            </a:r>
            <a:r>
              <a:rPr lang="en-US" sz="3200" b="0" dirty="0">
                <a:solidFill>
                  <a:schemeClr val="tx2"/>
                </a:solidFill>
                <a:latin typeface="Barlow" pitchFamily="2" charset="77"/>
              </a:rPr>
              <a:t> part of it […] </a:t>
            </a:r>
          </a:p>
          <a:p>
            <a:pPr marL="342900" indent="-342900" algn="just">
              <a:spcAft>
                <a:spcPts val="600"/>
              </a:spcAft>
              <a:buFont typeface="Arial" panose="020B0604020202020204" pitchFamily="34" charset="0"/>
              <a:buChar char="•"/>
              <a:defRPr>
                <a:solidFill>
                  <a:srgbClr val="474C55"/>
                </a:solidFill>
              </a:defRPr>
            </a:pPr>
            <a:endParaRPr lang="en-US" sz="3200" b="0" dirty="0">
              <a:solidFill>
                <a:schemeClr val="tx2"/>
              </a:solidFill>
              <a:latin typeface="Barlow" pitchFamily="2" charset="77"/>
            </a:endParaRPr>
          </a:p>
          <a:p>
            <a:pPr marL="342900" indent="-342900" algn="just">
              <a:spcAft>
                <a:spcPts val="600"/>
              </a:spcAft>
              <a:buFont typeface="Arial" panose="020B0604020202020204" pitchFamily="34" charset="0"/>
              <a:buChar char="•"/>
              <a:defRPr>
                <a:solidFill>
                  <a:srgbClr val="474C55"/>
                </a:solidFill>
              </a:defRPr>
            </a:pPr>
            <a:r>
              <a:rPr lang="en-US" sz="3200" b="0" dirty="0">
                <a:solidFill>
                  <a:schemeClr val="tx2"/>
                </a:solidFill>
                <a:latin typeface="Barlow" pitchFamily="2" charset="77"/>
              </a:rPr>
              <a:t>Note: mostly concerned with infringement of the reproduction right, but other rights are implicated in infringement (e.g., distribution)</a:t>
            </a:r>
          </a:p>
        </p:txBody>
      </p:sp>
    </p:spTree>
    <p:extLst>
      <p:ext uri="{BB962C8B-B14F-4D97-AF65-F5344CB8AC3E}">
        <p14:creationId xmlns:p14="http://schemas.microsoft.com/office/powerpoint/2010/main" val="1818230633"/>
      </p:ext>
    </p:extLst>
  </p:cSld>
  <p:clrMapOvr>
    <a:masterClrMapping/>
  </p:clrMapOvr>
  <p:transition spd="med" advTm="222639"/>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AD904-67AD-2CA0-30C8-0308E39ECF89}"/>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04AFEC3F-A3F6-2416-9E51-A45254242989}"/>
              </a:ext>
            </a:extLst>
          </p:cNvPr>
          <p:cNvSpPr txBox="1"/>
          <p:nvPr/>
        </p:nvSpPr>
        <p:spPr>
          <a:xfrm>
            <a:off x="1028458" y="730197"/>
            <a:ext cx="10744441"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Primary infringement</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E09345D8-0E1A-1227-B153-50FED29E1148}"/>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2E965F27-CC18-5F66-39E7-E829529E4283}"/>
              </a:ext>
            </a:extLst>
          </p:cNvPr>
          <p:cNvSpPr/>
          <p:nvPr/>
        </p:nvSpPr>
        <p:spPr>
          <a:xfrm>
            <a:off x="1028459" y="1947120"/>
            <a:ext cx="14862995" cy="4163191"/>
          </a:xfrm>
          <a:prstGeom prst="rect">
            <a:avLst/>
          </a:prstGeom>
        </p:spPr>
        <p:txBody>
          <a:bodyPr wrap="square">
            <a:spAutoFit/>
          </a:bodyPr>
          <a:lstStyle/>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Where the defendant is the person who, without prior authorisation, did something within the scope of the exclusive rights of the author</a:t>
            </a:r>
          </a:p>
          <a:p>
            <a:pPr algn="just" defTabSz="457200">
              <a:lnSpc>
                <a:spcPct val="120000"/>
              </a:lnSpc>
              <a:defRPr sz="1400" b="0" spc="-27">
                <a:latin typeface="Barlow Regular"/>
                <a:ea typeface="Barlow Regular"/>
                <a:cs typeface="Barlow Regular"/>
                <a:sym typeface="Barlow Regular"/>
              </a:defRPr>
            </a:pPr>
            <a:endParaRPr lang="en-GB" sz="3200" dirty="0">
              <a:solidFill>
                <a:schemeClr val="tx2"/>
              </a:solidFill>
              <a:latin typeface="Barlow" pitchFamily="2" charset="77"/>
            </a:endParaRP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Primary copyright infringement is a </a:t>
            </a:r>
            <a:r>
              <a:rPr lang="en-GB" sz="3200" u="sng" dirty="0">
                <a:solidFill>
                  <a:schemeClr val="tx2"/>
                </a:solidFill>
                <a:latin typeface="Barlow" pitchFamily="2" charset="77"/>
              </a:rPr>
              <a:t>strict liability tort</a:t>
            </a:r>
            <a:r>
              <a:rPr lang="en-GB" sz="3200" dirty="0">
                <a:solidFill>
                  <a:schemeClr val="tx2"/>
                </a:solidFill>
                <a:latin typeface="Barlow" pitchFamily="2" charset="77"/>
              </a:rPr>
              <a:t> – mental state is irrelevant if there is causality between the original and derivative work – e.g., an exact copy of the original work (</a:t>
            </a:r>
            <a:r>
              <a:rPr lang="en-GB" sz="3200" u="sng" dirty="0">
                <a:solidFill>
                  <a:schemeClr val="tx2"/>
                </a:solidFill>
                <a:latin typeface="Barlow" pitchFamily="2" charset="77"/>
              </a:rPr>
              <a:t>literal copying</a:t>
            </a:r>
            <a:r>
              <a:rPr lang="en-GB" sz="3200" dirty="0">
                <a:solidFill>
                  <a:schemeClr val="tx2"/>
                </a:solidFill>
                <a:latin typeface="Barlow" pitchFamily="2" charset="77"/>
              </a:rPr>
              <a:t>) or something similar to the original work (</a:t>
            </a:r>
            <a:r>
              <a:rPr lang="en-GB" sz="3200" u="sng" dirty="0">
                <a:solidFill>
                  <a:schemeClr val="tx2"/>
                </a:solidFill>
                <a:latin typeface="Barlow" pitchFamily="2" charset="77"/>
              </a:rPr>
              <a:t>non-literal copying</a:t>
            </a:r>
            <a:r>
              <a:rPr lang="en-GB" sz="3200" dirty="0">
                <a:solidFill>
                  <a:schemeClr val="tx2"/>
                </a:solidFill>
                <a:latin typeface="Barlow" pitchFamily="2" charset="77"/>
              </a:rPr>
              <a:t>)</a:t>
            </a:r>
          </a:p>
        </p:txBody>
      </p:sp>
    </p:spTree>
    <p:extLst>
      <p:ext uri="{BB962C8B-B14F-4D97-AF65-F5344CB8AC3E}">
        <p14:creationId xmlns:p14="http://schemas.microsoft.com/office/powerpoint/2010/main" val="1971711408"/>
      </p:ext>
    </p:extLst>
  </p:cSld>
  <p:clrMapOvr>
    <a:masterClrMapping/>
  </p:clrMapOvr>
  <p:transition spd="med" advTm="222639"/>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08436-6E53-3E18-539F-1DC2064B1A73}"/>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99ABE749-3A0F-760E-95FD-9D29FFF0505D}"/>
              </a:ext>
            </a:extLst>
          </p:cNvPr>
          <p:cNvSpPr txBox="1"/>
          <p:nvPr/>
        </p:nvSpPr>
        <p:spPr>
          <a:xfrm>
            <a:off x="1028458" y="730197"/>
            <a:ext cx="10744441"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Primary infringement</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679F57F3-2AF9-B367-5E24-A89B7FACDB69}"/>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629B9654-1DFA-F3A4-D8AA-816070F00CE3}"/>
              </a:ext>
            </a:extLst>
          </p:cNvPr>
          <p:cNvSpPr/>
          <p:nvPr/>
        </p:nvSpPr>
        <p:spPr>
          <a:xfrm>
            <a:off x="1028460" y="1947120"/>
            <a:ext cx="12879988" cy="5345053"/>
          </a:xfrm>
          <a:prstGeom prst="rect">
            <a:avLst/>
          </a:prstGeom>
        </p:spPr>
        <p:txBody>
          <a:bodyPr wrap="square">
            <a:spAutoFit/>
          </a:bodyPr>
          <a:lstStyle/>
          <a:p>
            <a:pPr lvl="0" algn="just" defTabSz="457200">
              <a:lnSpc>
                <a:spcPct val="120000"/>
              </a:lnSpc>
              <a:defRPr sz="1400" b="0" spc="-27">
                <a:latin typeface="Barlow Regular"/>
                <a:ea typeface="Barlow Regular"/>
                <a:cs typeface="Barlow Regular"/>
                <a:sym typeface="Barlow Regular"/>
              </a:defRPr>
            </a:pPr>
            <a:r>
              <a:rPr lang="en-GB" sz="3200" b="0" spc="-27" dirty="0">
                <a:solidFill>
                  <a:schemeClr val="tx2"/>
                </a:solidFill>
                <a:latin typeface="Barlow" pitchFamily="2" charset="77"/>
                <a:sym typeface="Barlow Regular"/>
              </a:rPr>
              <a:t>Common elements: </a:t>
            </a:r>
          </a:p>
          <a:p>
            <a:pPr algn="just" defTabSz="457200">
              <a:lnSpc>
                <a:spcPct val="120000"/>
              </a:lnSpc>
              <a:defRPr sz="1400" b="0" spc="-27">
                <a:latin typeface="Barlow Regular"/>
                <a:ea typeface="Barlow Regular"/>
                <a:cs typeface="Barlow Regular"/>
                <a:sym typeface="Barlow Regular"/>
              </a:defRPr>
            </a:pPr>
            <a:endParaRPr lang="en-GB" sz="3200" b="0" spc="-27" dirty="0">
              <a:solidFill>
                <a:schemeClr val="tx2"/>
              </a:solidFill>
              <a:latin typeface="Barlow" pitchFamily="2" charset="77"/>
              <a:sym typeface="Barlow Regular"/>
            </a:endParaRPr>
          </a:p>
          <a:p>
            <a:pPr algn="just" defTabSz="457200">
              <a:lnSpc>
                <a:spcPct val="120000"/>
              </a:lnSpc>
              <a:defRPr sz="1400" b="0" spc="-27">
                <a:latin typeface="Barlow Regular"/>
                <a:ea typeface="Barlow Regular"/>
                <a:cs typeface="Barlow Regular"/>
                <a:sym typeface="Barlow Regular"/>
              </a:defRPr>
            </a:pPr>
            <a:r>
              <a:rPr lang="en-GB" sz="3200" b="0" spc="-27" dirty="0">
                <a:solidFill>
                  <a:schemeClr val="tx2"/>
                </a:solidFill>
                <a:latin typeface="Barlow" pitchFamily="2" charset="77"/>
                <a:sym typeface="Barlow Regular"/>
              </a:rPr>
              <a:t>Was one of the acts reserved for the copyright owner done? (s16(1) - CDPA)</a:t>
            </a:r>
          </a:p>
          <a:p>
            <a:pPr algn="just" defTabSz="457200">
              <a:lnSpc>
                <a:spcPct val="120000"/>
              </a:lnSpc>
              <a:defRPr sz="1400" b="0" spc="-27">
                <a:latin typeface="Barlow Regular"/>
                <a:ea typeface="Barlow Regular"/>
                <a:cs typeface="Barlow Regular"/>
                <a:sym typeface="Barlow Regular"/>
              </a:defRPr>
            </a:pPr>
            <a:endParaRPr lang="en-GB" sz="3200" b="0" spc="-27" dirty="0">
              <a:solidFill>
                <a:schemeClr val="tx2"/>
              </a:solidFill>
              <a:latin typeface="Barlow" pitchFamily="2" charset="77"/>
              <a:sym typeface="Barlow Regular"/>
            </a:endParaRPr>
          </a:p>
          <a:p>
            <a:pPr algn="just" defTabSz="457200">
              <a:lnSpc>
                <a:spcPct val="120000"/>
              </a:lnSpc>
              <a:defRPr sz="1400" b="0" spc="-27">
                <a:latin typeface="Barlow Regular"/>
                <a:ea typeface="Barlow Regular"/>
                <a:cs typeface="Barlow Regular"/>
                <a:sym typeface="Barlow Regular"/>
              </a:defRPr>
            </a:pPr>
            <a:endParaRPr lang="en-GB" sz="3200" b="0" spc="-27" dirty="0">
              <a:solidFill>
                <a:schemeClr val="tx2"/>
              </a:solidFill>
              <a:latin typeface="Barlow" pitchFamily="2" charset="77"/>
              <a:sym typeface="Barlow Regular"/>
            </a:endParaRPr>
          </a:p>
          <a:p>
            <a:pPr algn="just" defTabSz="457200">
              <a:lnSpc>
                <a:spcPct val="120000"/>
              </a:lnSpc>
              <a:defRPr sz="1400" b="0" spc="-27">
                <a:latin typeface="Barlow Regular"/>
                <a:ea typeface="Barlow Regular"/>
                <a:cs typeface="Barlow Regular"/>
                <a:sym typeface="Barlow Regular"/>
              </a:defRPr>
            </a:pPr>
            <a:r>
              <a:rPr lang="en-GB" sz="3200" b="0" spc="-27" dirty="0">
                <a:solidFill>
                  <a:schemeClr val="tx2"/>
                </a:solidFill>
                <a:latin typeface="Barlow" pitchFamily="2" charset="77"/>
                <a:sym typeface="Barlow Regular"/>
              </a:rPr>
              <a:t>Derivation – a causal connection between the works?</a:t>
            </a:r>
          </a:p>
          <a:p>
            <a:pPr algn="just" defTabSz="457200">
              <a:lnSpc>
                <a:spcPct val="120000"/>
              </a:lnSpc>
              <a:defRPr sz="1400" b="0" spc="-27">
                <a:latin typeface="Barlow Regular"/>
                <a:ea typeface="Barlow Regular"/>
                <a:cs typeface="Barlow Regular"/>
                <a:sym typeface="Barlow Regular"/>
              </a:defRPr>
            </a:pPr>
            <a:endParaRPr lang="en-GB" sz="3200" b="0" spc="-27" dirty="0">
              <a:solidFill>
                <a:schemeClr val="tx2"/>
              </a:solidFill>
              <a:latin typeface="Barlow" pitchFamily="2" charset="77"/>
              <a:sym typeface="Barlow Regular"/>
            </a:endParaRPr>
          </a:p>
          <a:p>
            <a:pPr lvl="1" indent="0" algn="just" defTabSz="457200">
              <a:lnSpc>
                <a:spcPct val="120000"/>
              </a:lnSpc>
              <a:defRPr sz="1400" b="0" spc="-27">
                <a:latin typeface="Barlow Regular"/>
                <a:ea typeface="Barlow Regular"/>
                <a:cs typeface="Barlow Regular"/>
                <a:sym typeface="Barlow Regular"/>
              </a:defRPr>
            </a:pPr>
            <a:r>
              <a:rPr lang="en-GB" sz="3200" b="0" spc="-27" dirty="0">
                <a:solidFill>
                  <a:schemeClr val="tx2"/>
                </a:solidFill>
                <a:latin typeface="Barlow" pitchFamily="2" charset="77"/>
                <a:sym typeface="Barlow Regular"/>
              </a:rPr>
              <a:t>Substantiality – infringing act in relation to the whole or a substantial part of the work? (= a ‘part’ following </a:t>
            </a:r>
            <a:r>
              <a:rPr lang="en-GB" sz="3200" b="0" i="1" spc="-27" dirty="0" err="1">
                <a:solidFill>
                  <a:schemeClr val="tx2"/>
                </a:solidFill>
                <a:latin typeface="Barlow" pitchFamily="2" charset="77"/>
                <a:sym typeface="Barlow Regular"/>
              </a:rPr>
              <a:t>Infopaq</a:t>
            </a:r>
            <a:r>
              <a:rPr lang="en-GB" sz="3200" b="0" spc="-27" dirty="0">
                <a:solidFill>
                  <a:schemeClr val="tx2"/>
                </a:solidFill>
                <a:latin typeface="Barlow" pitchFamily="2" charset="77"/>
                <a:sym typeface="Barlow Regular"/>
              </a:rPr>
              <a:t>)</a:t>
            </a:r>
          </a:p>
        </p:txBody>
      </p:sp>
      <p:sp>
        <p:nvSpPr>
          <p:cNvPr id="2" name="Right Brace 1">
            <a:extLst>
              <a:ext uri="{FF2B5EF4-FFF2-40B4-BE49-F238E27FC236}">
                <a16:creationId xmlns:a16="http://schemas.microsoft.com/office/drawing/2014/main" id="{C29EE85B-FCC8-B139-B7DF-E5E6489163FF}"/>
              </a:ext>
            </a:extLst>
          </p:cNvPr>
          <p:cNvSpPr/>
          <p:nvPr/>
        </p:nvSpPr>
        <p:spPr>
          <a:xfrm>
            <a:off x="14277172" y="2949690"/>
            <a:ext cx="258418" cy="843967"/>
          </a:xfrm>
          <a:prstGeom prst="rightBrace">
            <a:avLst/>
          </a:prstGeom>
          <a:noFill/>
          <a:ln w="3175" cap="flat">
            <a:solidFill>
              <a:srgbClr val="00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lvl="0" indent="0" algn="l" defTabSz="914400" rtl="0" eaLnBrk="1" fontAlgn="auto" latinLnBrk="1" hangingPunct="0">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latin typeface="Helvetica Neue"/>
              <a:sym typeface="Helvetica Neue"/>
            </a:endParaRPr>
          </a:p>
        </p:txBody>
      </p:sp>
      <p:sp>
        <p:nvSpPr>
          <p:cNvPr id="4" name="TextBox 3">
            <a:extLst>
              <a:ext uri="{FF2B5EF4-FFF2-40B4-BE49-F238E27FC236}">
                <a16:creationId xmlns:a16="http://schemas.microsoft.com/office/drawing/2014/main" id="{51F67D54-9A54-0E6C-959A-F31990F1130B}"/>
              </a:ext>
            </a:extLst>
          </p:cNvPr>
          <p:cNvSpPr txBox="1"/>
          <p:nvPr/>
        </p:nvSpPr>
        <p:spPr>
          <a:xfrm>
            <a:off x="14770972" y="2463732"/>
            <a:ext cx="1457443" cy="1815882"/>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1" indent="0" algn="just" defTabSz="457200" rtl="0" eaLnBrk="1" fontAlgn="auto" latinLnBrk="0" hangingPunct="0">
              <a:lnSpc>
                <a:spcPct val="120000"/>
              </a:lnSpc>
              <a:spcBef>
                <a:spcPts val="0"/>
              </a:spcBef>
              <a:spcAft>
                <a:spcPts val="0"/>
              </a:spcAft>
              <a:buClrTx/>
              <a:buSzTx/>
              <a:buFontTx/>
              <a:buNone/>
              <a:tabLst/>
              <a:defRPr sz="1400" b="0" spc="-27">
                <a:latin typeface="Barlow Regular"/>
                <a:ea typeface="Barlow Regular"/>
                <a:cs typeface="Barlow Regular"/>
                <a:sym typeface="Barlow Regular"/>
              </a:defRPr>
            </a:pPr>
            <a:r>
              <a:rPr kumimoji="0" lang="en-GB" sz="2400" b="0" i="0" u="none" strike="noStrike" kern="0" cap="none" spc="-27" normalizeH="0" baseline="0" noProof="0" dirty="0">
                <a:ln>
                  <a:noFill/>
                </a:ln>
                <a:solidFill>
                  <a:srgbClr val="FF7765"/>
                </a:solidFill>
                <a:effectLst/>
                <a:uLnTx/>
                <a:uFillTx/>
                <a:latin typeface="Barlow" pitchFamily="2" charset="77"/>
                <a:sym typeface="Barlow Regular"/>
              </a:rPr>
              <a:t>Literal and non-literal copying</a:t>
            </a:r>
          </a:p>
        </p:txBody>
      </p:sp>
      <p:sp>
        <p:nvSpPr>
          <p:cNvPr id="5" name="TextBox 4">
            <a:extLst>
              <a:ext uri="{FF2B5EF4-FFF2-40B4-BE49-F238E27FC236}">
                <a16:creationId xmlns:a16="http://schemas.microsoft.com/office/drawing/2014/main" id="{A92AEF3C-2B49-4AA0-244E-F6018B11994D}"/>
              </a:ext>
            </a:extLst>
          </p:cNvPr>
          <p:cNvSpPr txBox="1"/>
          <p:nvPr/>
        </p:nvSpPr>
        <p:spPr>
          <a:xfrm>
            <a:off x="14925691" y="5573629"/>
            <a:ext cx="1457443" cy="1372683"/>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1" indent="0" algn="just" defTabSz="457200" rtl="0" eaLnBrk="1" fontAlgn="auto" latinLnBrk="0" hangingPunct="0">
              <a:lnSpc>
                <a:spcPct val="120000"/>
              </a:lnSpc>
              <a:spcBef>
                <a:spcPts val="0"/>
              </a:spcBef>
              <a:spcAft>
                <a:spcPts val="0"/>
              </a:spcAft>
              <a:buClrTx/>
              <a:buSzTx/>
              <a:buFontTx/>
              <a:buNone/>
              <a:tabLst/>
              <a:defRPr sz="1400" b="0" spc="-27">
                <a:latin typeface="Barlow Regular"/>
                <a:ea typeface="Barlow Regular"/>
                <a:cs typeface="Barlow Regular"/>
                <a:sym typeface="Barlow Regular"/>
              </a:defRPr>
            </a:pPr>
            <a:r>
              <a:rPr kumimoji="0" lang="en-GB" sz="2400" b="0" i="0" u="none" strike="noStrike" kern="0" cap="none" spc="-27" normalizeH="0" baseline="0" noProof="0" dirty="0">
                <a:ln>
                  <a:noFill/>
                </a:ln>
                <a:solidFill>
                  <a:srgbClr val="FF7765"/>
                </a:solidFill>
                <a:effectLst/>
                <a:uLnTx/>
                <a:uFillTx/>
                <a:latin typeface="Barlow" pitchFamily="2" charset="77"/>
                <a:sym typeface="Barlow Regular"/>
              </a:rPr>
              <a:t>Non-literal copying</a:t>
            </a:r>
          </a:p>
        </p:txBody>
      </p:sp>
      <p:sp>
        <p:nvSpPr>
          <p:cNvPr id="6" name="Right Brace 5">
            <a:extLst>
              <a:ext uri="{FF2B5EF4-FFF2-40B4-BE49-F238E27FC236}">
                <a16:creationId xmlns:a16="http://schemas.microsoft.com/office/drawing/2014/main" id="{8F350AEA-E6FB-6930-7D2D-00427D7F64E7}"/>
              </a:ext>
            </a:extLst>
          </p:cNvPr>
          <p:cNvSpPr/>
          <p:nvPr/>
        </p:nvSpPr>
        <p:spPr>
          <a:xfrm>
            <a:off x="14040537" y="4876800"/>
            <a:ext cx="682007" cy="2459116"/>
          </a:xfrm>
          <a:prstGeom prst="rightBrace">
            <a:avLst>
              <a:gd name="adj1" fmla="val 8333"/>
              <a:gd name="adj2" fmla="val 50775"/>
            </a:avLst>
          </a:prstGeom>
          <a:noFill/>
          <a:ln w="3175" cap="flat">
            <a:solidFill>
              <a:srgbClr val="00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lvl="0" indent="0" algn="l" defTabSz="914400" rtl="0" eaLnBrk="1" fontAlgn="auto" latinLnBrk="1" hangingPunct="0">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latin typeface="Helvetica Neue"/>
              <a:sym typeface="Helvetica Neue"/>
            </a:endParaRPr>
          </a:p>
        </p:txBody>
      </p:sp>
    </p:spTree>
    <p:extLst>
      <p:ext uri="{BB962C8B-B14F-4D97-AF65-F5344CB8AC3E}">
        <p14:creationId xmlns:p14="http://schemas.microsoft.com/office/powerpoint/2010/main" val="1623056428"/>
      </p:ext>
    </p:extLst>
  </p:cSld>
  <p:clrMapOvr>
    <a:masterClrMapping/>
  </p:clrMapOvr>
  <p:transition spd="med" advTm="222639"/>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A2E77-B077-FBE5-F17D-4D15BDD2848B}"/>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74AC3320-185B-7228-94FA-A1C26D0777BE}"/>
              </a:ext>
            </a:extLst>
          </p:cNvPr>
          <p:cNvSpPr txBox="1"/>
          <p:nvPr/>
        </p:nvSpPr>
        <p:spPr>
          <a:xfrm>
            <a:off x="1028458" y="730197"/>
            <a:ext cx="1297329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Primary infringement: literal copying</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E197D51A-12AC-E0C4-7BAC-C17F65CA35E1}"/>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F0DA03C3-725E-69FF-6734-4005B0116CC9}"/>
              </a:ext>
            </a:extLst>
          </p:cNvPr>
          <p:cNvSpPr/>
          <p:nvPr/>
        </p:nvSpPr>
        <p:spPr>
          <a:xfrm>
            <a:off x="1028459" y="1947120"/>
            <a:ext cx="15283345" cy="2981329"/>
          </a:xfrm>
          <a:prstGeom prst="rect">
            <a:avLst/>
          </a:prstGeom>
        </p:spPr>
        <p:txBody>
          <a:bodyPr wrap="square">
            <a:spAutoFit/>
          </a:bodyPr>
          <a:lstStyle/>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i.e., an exact copy (photocopy of a book or photograph, a download of a song, streaming a film from an unauthorised platform)</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Remember: there is no private copying exception in the UK!</a:t>
            </a:r>
          </a:p>
          <a:p>
            <a:pPr algn="just" defTabSz="457200">
              <a:lnSpc>
                <a:spcPct val="120000"/>
              </a:lnSpc>
              <a:defRPr sz="1400" b="0" spc="-27">
                <a:latin typeface="Barlow Regular"/>
                <a:ea typeface="Barlow Regular"/>
                <a:cs typeface="Barlow Regular"/>
                <a:sym typeface="Barlow Regular"/>
              </a:defRPr>
            </a:pPr>
            <a:endParaRPr lang="en-GB" sz="3200" dirty="0">
              <a:solidFill>
                <a:schemeClr val="tx2"/>
              </a:solidFill>
              <a:latin typeface="Barlow" pitchFamily="2" charset="77"/>
            </a:endParaRPr>
          </a:p>
          <a:p>
            <a:pPr algn="just" defTabSz="457200">
              <a:lnSpc>
                <a:spcPct val="120000"/>
              </a:lnSpc>
              <a:defRPr sz="1400" b="0" spc="-27">
                <a:latin typeface="Barlow Regular"/>
                <a:ea typeface="Barlow Regular"/>
                <a:cs typeface="Barlow Regular"/>
                <a:sym typeface="Barlow Regular"/>
              </a:defRPr>
            </a:pPr>
            <a:r>
              <a:rPr lang="en-GB" sz="3200" dirty="0">
                <a:solidFill>
                  <a:schemeClr val="tx2"/>
                </a:solidFill>
                <a:latin typeface="Barlow" pitchFamily="2" charset="77"/>
              </a:rPr>
              <a:t>Widespread, online ‘piracy’ facilitated by new peer-to-peer technologies, circa 2000</a:t>
            </a:r>
          </a:p>
        </p:txBody>
      </p:sp>
      <p:pic>
        <p:nvPicPr>
          <p:cNvPr id="8" name="Picture 2" descr="A Short History of Napster">
            <a:extLst>
              <a:ext uri="{FF2B5EF4-FFF2-40B4-BE49-F238E27FC236}">
                <a16:creationId xmlns:a16="http://schemas.microsoft.com/office/drawing/2014/main" id="{D8922E32-2BF6-4465-4301-2141935F02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8809" y="5364362"/>
            <a:ext cx="5017193" cy="334233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LimeWire - Wikipedia">
            <a:extLst>
              <a:ext uri="{FF2B5EF4-FFF2-40B4-BE49-F238E27FC236}">
                <a16:creationId xmlns:a16="http://schemas.microsoft.com/office/drawing/2014/main" id="{000C0177-138F-9D6E-23E9-6E5474E365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25729" y="5954859"/>
            <a:ext cx="2161341" cy="216134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MegaUpload data potentially lost as aging hard drives fail, say lawyers |  Complete Music Update">
            <a:extLst>
              <a:ext uri="{FF2B5EF4-FFF2-40B4-BE49-F238E27FC236}">
                <a16:creationId xmlns:a16="http://schemas.microsoft.com/office/drawing/2014/main" id="{D990B84E-1D01-D7CD-FF40-FDDC2FDB8D1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63055" y="6116714"/>
            <a:ext cx="4593801" cy="18376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4465738"/>
      </p:ext>
    </p:extLst>
  </p:cSld>
  <p:clrMapOvr>
    <a:masterClrMapping/>
  </p:clrMapOvr>
  <p:transition spd="med" advTm="222639"/>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3A096-93BE-B0AF-A820-10A3B4A9403D}"/>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E88B3350-DA5E-D7D9-0E19-B49A7B7BF3E8}"/>
              </a:ext>
            </a:extLst>
          </p:cNvPr>
          <p:cNvSpPr txBox="1"/>
          <p:nvPr/>
        </p:nvSpPr>
        <p:spPr>
          <a:xfrm>
            <a:off x="1028458" y="730197"/>
            <a:ext cx="1297329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Piracy and streaming</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B42E6385-6064-C8BD-00FB-50AC2C3C286C}"/>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216A85ED-DBE0-23D4-5EF6-F028FC090F5A}"/>
              </a:ext>
            </a:extLst>
          </p:cNvPr>
          <p:cNvSpPr/>
          <p:nvPr/>
        </p:nvSpPr>
        <p:spPr>
          <a:xfrm>
            <a:off x="1028458" y="2795204"/>
            <a:ext cx="7775876" cy="4163191"/>
          </a:xfrm>
          <a:prstGeom prst="rect">
            <a:avLst/>
          </a:prstGeom>
        </p:spPr>
        <p:txBody>
          <a:bodyPr wrap="square">
            <a:spAutoFit/>
          </a:bodyPr>
          <a:lstStyle/>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i="1" dirty="0">
                <a:solidFill>
                  <a:schemeClr val="tx2"/>
                </a:solidFill>
                <a:latin typeface="Barlow" pitchFamily="2" charset="77"/>
              </a:rPr>
              <a:t>Piracy rates were steadily declining from 2017 to 2021. In 2022, this trend reversed, and piracy rates started to increase. What do you think explains this pattern?</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lang="en-GB" sz="3200" i="1" dirty="0">
              <a:solidFill>
                <a:schemeClr val="tx2"/>
              </a:solidFill>
              <a:latin typeface="Barlow" pitchFamily="2" charset="77"/>
            </a:endParaRP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i="1" dirty="0">
                <a:solidFill>
                  <a:schemeClr val="tx2"/>
                </a:solidFill>
                <a:latin typeface="Barlow" pitchFamily="2" charset="77"/>
              </a:rPr>
              <a:t>NB: This counts as today’s ‘participation activity’</a:t>
            </a:r>
          </a:p>
        </p:txBody>
      </p:sp>
      <p:pic>
        <p:nvPicPr>
          <p:cNvPr id="4" name="Picture 2" descr="QR code">
            <a:extLst>
              <a:ext uri="{FF2B5EF4-FFF2-40B4-BE49-F238E27FC236}">
                <a16:creationId xmlns:a16="http://schemas.microsoft.com/office/drawing/2014/main" id="{40D137FB-02FF-DB2E-5F3D-E6BC8E895E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71018" y="1776272"/>
            <a:ext cx="5873036" cy="587303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3DC6CCB-915D-D910-194C-FB6A236434FB}"/>
              </a:ext>
            </a:extLst>
          </p:cNvPr>
          <p:cNvSpPr txBox="1"/>
          <p:nvPr/>
        </p:nvSpPr>
        <p:spPr>
          <a:xfrm>
            <a:off x="8845977" y="7634791"/>
            <a:ext cx="8669214" cy="461665"/>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2400" b="0" dirty="0">
                <a:solidFill>
                  <a:schemeClr val="tx2"/>
                </a:solidFill>
                <a:latin typeface="Barlow" pitchFamily="2" charset="77"/>
              </a:rPr>
              <a:t>https://</a:t>
            </a:r>
            <a:r>
              <a:rPr lang="en-GB" sz="2400" b="0" dirty="0" err="1">
                <a:solidFill>
                  <a:schemeClr val="tx2"/>
                </a:solidFill>
                <a:latin typeface="Barlow" pitchFamily="2" charset="77"/>
              </a:rPr>
              <a:t>forms.cloud.microsoft</a:t>
            </a:r>
            <a:r>
              <a:rPr lang="en-GB" sz="2400" b="0" dirty="0">
                <a:solidFill>
                  <a:schemeClr val="tx2"/>
                </a:solidFill>
                <a:latin typeface="Barlow" pitchFamily="2" charset="77"/>
              </a:rPr>
              <a:t>/e/H7BD1uLWjX</a:t>
            </a:r>
          </a:p>
        </p:txBody>
      </p:sp>
    </p:spTree>
    <p:extLst>
      <p:ext uri="{BB962C8B-B14F-4D97-AF65-F5344CB8AC3E}">
        <p14:creationId xmlns:p14="http://schemas.microsoft.com/office/powerpoint/2010/main" val="1158601798"/>
      </p:ext>
    </p:extLst>
  </p:cSld>
  <p:clrMapOvr>
    <a:masterClrMapping/>
  </p:clrMapOvr>
  <p:transition spd="med" advTm="222639"/>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12DFC-2CD1-933B-7905-15DB7FEA21D9}"/>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E69D9A24-B470-4747-E3CD-352548E303BD}"/>
              </a:ext>
            </a:extLst>
          </p:cNvPr>
          <p:cNvSpPr txBox="1"/>
          <p:nvPr/>
        </p:nvSpPr>
        <p:spPr>
          <a:xfrm>
            <a:off x="1028458" y="730197"/>
            <a:ext cx="1297329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Piracy and streaming</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59730D8C-5DAF-79B2-1B5B-E6174AE55633}"/>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pic>
        <p:nvPicPr>
          <p:cNvPr id="4" name="Picture 3" descr="A graph with numbers and lines&#10;&#10;AI-generated content may be incorrect.">
            <a:extLst>
              <a:ext uri="{FF2B5EF4-FFF2-40B4-BE49-F238E27FC236}">
                <a16:creationId xmlns:a16="http://schemas.microsoft.com/office/drawing/2014/main" id="{11E9E187-D145-0FDE-0453-CAB2B47F53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5296" y="1776272"/>
            <a:ext cx="10901919" cy="7597006"/>
          </a:xfrm>
          <a:prstGeom prst="rect">
            <a:avLst/>
          </a:prstGeom>
        </p:spPr>
      </p:pic>
      <p:sp>
        <p:nvSpPr>
          <p:cNvPr id="6" name="TextBox 5">
            <a:extLst>
              <a:ext uri="{FF2B5EF4-FFF2-40B4-BE49-F238E27FC236}">
                <a16:creationId xmlns:a16="http://schemas.microsoft.com/office/drawing/2014/main" id="{D2BF9205-35D9-67C0-0F77-0961F848EEAE}"/>
              </a:ext>
            </a:extLst>
          </p:cNvPr>
          <p:cNvSpPr txBox="1"/>
          <p:nvPr/>
        </p:nvSpPr>
        <p:spPr>
          <a:xfrm>
            <a:off x="13576239" y="4461301"/>
            <a:ext cx="3252238" cy="83099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2400" b="0" dirty="0">
                <a:solidFill>
                  <a:schemeClr val="tx2"/>
                </a:solidFill>
                <a:latin typeface="Barlow" pitchFamily="2" charset="77"/>
              </a:rPr>
              <a:t>Poort et al (2025) Global Piracy Survey</a:t>
            </a:r>
          </a:p>
        </p:txBody>
      </p:sp>
    </p:spTree>
    <p:extLst>
      <p:ext uri="{BB962C8B-B14F-4D97-AF65-F5344CB8AC3E}">
        <p14:creationId xmlns:p14="http://schemas.microsoft.com/office/powerpoint/2010/main" val="1699166109"/>
      </p:ext>
    </p:extLst>
  </p:cSld>
  <p:clrMapOvr>
    <a:masterClrMapping/>
  </p:clrMapOvr>
  <p:transition spd="med" advTm="222639"/>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B9DDA-3914-2C14-1FC9-71C4252FF5A5}"/>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54953BA8-6BCD-ABA9-46B0-539DB4BB9F4B}"/>
              </a:ext>
            </a:extLst>
          </p:cNvPr>
          <p:cNvSpPr txBox="1"/>
          <p:nvPr/>
        </p:nvSpPr>
        <p:spPr>
          <a:xfrm>
            <a:off x="1028458" y="730197"/>
            <a:ext cx="15015594"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Piracy and streaming: Secondary infringement</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FCCB345C-E032-D664-B414-94F0ECC9BB1F}"/>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D1CEE3CA-7711-7D70-EE0F-D3CD67E0C11E}"/>
              </a:ext>
            </a:extLst>
          </p:cNvPr>
          <p:cNvSpPr/>
          <p:nvPr/>
        </p:nvSpPr>
        <p:spPr>
          <a:xfrm>
            <a:off x="1028459" y="1947120"/>
            <a:ext cx="15283345" cy="5935984"/>
          </a:xfrm>
          <a:prstGeom prst="rect">
            <a:avLst/>
          </a:prstGeom>
        </p:spPr>
        <p:txBody>
          <a:bodyPr wrap="square">
            <a:spAutoFit/>
          </a:bodyPr>
          <a:lstStyle/>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rPr>
              <a:t>Where someone “knows or has reason to believe” that copies were infringing (CDPA s22-23)</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rPr>
              <a:t>… Or they were ” authorising” infringement (CDPA s16(2))</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lang="en-GB" sz="3200" dirty="0">
              <a:solidFill>
                <a:schemeClr val="tx2"/>
              </a:solidFill>
              <a:latin typeface="Barlow" pitchFamily="2" charset="77"/>
            </a:endParaRP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Important: state of mind matters for secondary infringement – the defendant </a:t>
            </a:r>
            <a:r>
              <a:rPr lang="en-GB" sz="3200" u="sng" dirty="0">
                <a:solidFill>
                  <a:schemeClr val="tx2"/>
                </a:solidFill>
                <a:latin typeface="Barlow" pitchFamily="2" charset="77"/>
              </a:rPr>
              <a:t>needs to know or reasonably be expected to know</a:t>
            </a:r>
            <a:r>
              <a:rPr lang="en-GB" sz="3200" dirty="0">
                <a:solidFill>
                  <a:schemeClr val="tx2"/>
                </a:solidFill>
                <a:latin typeface="Barlow" pitchFamily="2" charset="77"/>
              </a:rPr>
              <a:t>, that the activities were wrongful</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lang="en-GB" sz="3200" dirty="0">
              <a:solidFill>
                <a:schemeClr val="tx2"/>
              </a:solidFill>
              <a:latin typeface="Barlow" pitchFamily="2" charset="77"/>
            </a:endParaRP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i="1" dirty="0">
                <a:solidFill>
                  <a:schemeClr val="tx2"/>
                </a:solidFill>
                <a:latin typeface="Barlow" pitchFamily="2" charset="77"/>
              </a:rPr>
              <a:t>Who is liable for uploading infringing content to an online platform? The user or the platform? (or both)? Does YouTube ‘reasonably know’ that infringing content is being uploaded onto their website?</a:t>
            </a:r>
          </a:p>
        </p:txBody>
      </p:sp>
    </p:spTree>
    <p:extLst>
      <p:ext uri="{BB962C8B-B14F-4D97-AF65-F5344CB8AC3E}">
        <p14:creationId xmlns:p14="http://schemas.microsoft.com/office/powerpoint/2010/main" val="4014551883"/>
      </p:ext>
    </p:extLst>
  </p:cSld>
  <p:clrMapOvr>
    <a:masterClrMapping/>
  </p:clrMapOvr>
  <p:transition spd="med" advTm="222639"/>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AF80C-7FCA-6F84-A85E-4D0B3680C8BA}"/>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99AED314-8B8F-FD1E-D1BC-58ADE6113F6D}"/>
              </a:ext>
            </a:extLst>
          </p:cNvPr>
          <p:cNvSpPr txBox="1"/>
          <p:nvPr/>
        </p:nvSpPr>
        <p:spPr>
          <a:xfrm>
            <a:off x="1028458" y="730197"/>
            <a:ext cx="15015594"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Piracy and streaming: Secondary infringement</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5F402BD5-AF39-3925-DCF8-35255D2F7F6F}"/>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7099C91D-FE47-3F40-F38B-E88C0D84DDAF}"/>
              </a:ext>
            </a:extLst>
          </p:cNvPr>
          <p:cNvSpPr/>
          <p:nvPr/>
        </p:nvSpPr>
        <p:spPr>
          <a:xfrm>
            <a:off x="1028459" y="1947120"/>
            <a:ext cx="15283345" cy="5935984"/>
          </a:xfrm>
          <a:prstGeom prst="rect">
            <a:avLst/>
          </a:prstGeom>
        </p:spPr>
        <p:txBody>
          <a:bodyPr wrap="square">
            <a:spAutoFit/>
          </a:bodyPr>
          <a:lstStyle/>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UK operates on basis of </a:t>
            </a:r>
            <a:r>
              <a:rPr lang="en-GB" sz="3200" i="1" dirty="0">
                <a:solidFill>
                  <a:schemeClr val="tx2"/>
                </a:solidFill>
                <a:latin typeface="Barlow" pitchFamily="2" charset="77"/>
              </a:rPr>
              <a:t>ex-post</a:t>
            </a:r>
            <a:r>
              <a:rPr lang="en-GB" sz="3200" dirty="0">
                <a:solidFill>
                  <a:schemeClr val="tx2"/>
                </a:solidFill>
                <a:latin typeface="Barlow" pitchFamily="2" charset="77"/>
              </a:rPr>
              <a:t> notice and takedown</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lang="en-GB" sz="3200" dirty="0">
              <a:solidFill>
                <a:schemeClr val="tx2"/>
              </a:solidFill>
              <a:latin typeface="Barlow" pitchFamily="2" charset="77"/>
            </a:endParaRP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E-Commerce Directive (2014) (US equivalent: Digital Millennium Copyright Act - DMCA) implement the </a:t>
            </a:r>
            <a:r>
              <a:rPr lang="en-GB" sz="3200" u="sng" dirty="0">
                <a:solidFill>
                  <a:schemeClr val="tx2"/>
                </a:solidFill>
                <a:latin typeface="Barlow" pitchFamily="2" charset="77"/>
              </a:rPr>
              <a:t>notice and takedown</a:t>
            </a:r>
            <a:r>
              <a:rPr lang="en-GB" sz="3200" dirty="0">
                <a:solidFill>
                  <a:schemeClr val="tx2"/>
                </a:solidFill>
                <a:latin typeface="Barlow" pitchFamily="2" charset="77"/>
              </a:rPr>
              <a:t> system (aka, the </a:t>
            </a:r>
            <a:r>
              <a:rPr lang="en-GB" sz="3200" u="sng" dirty="0">
                <a:solidFill>
                  <a:schemeClr val="tx2"/>
                </a:solidFill>
                <a:latin typeface="Barlow" pitchFamily="2" charset="77"/>
              </a:rPr>
              <a:t>safe harbour</a:t>
            </a:r>
            <a:r>
              <a:rPr lang="en-GB" sz="3200" dirty="0">
                <a:solidFill>
                  <a:schemeClr val="tx2"/>
                </a:solidFill>
                <a:latin typeface="Barlow" pitchFamily="2" charset="77"/>
              </a:rPr>
              <a:t>)</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Article 14: platforms can escape secondary liability if: 1) they have no actual knowledge of the infringement + 2) they act expeditiously to remove content once notified of its existence</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Article 15: Prohibition of general monitoring</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lang="en-GB" sz="3200" dirty="0">
              <a:solidFill>
                <a:schemeClr val="tx2"/>
              </a:solidFill>
              <a:latin typeface="Barlow" pitchFamily="2" charset="77"/>
            </a:endParaRP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See also: Online Safety Act</a:t>
            </a:r>
          </a:p>
        </p:txBody>
      </p:sp>
    </p:spTree>
    <p:extLst>
      <p:ext uri="{BB962C8B-B14F-4D97-AF65-F5344CB8AC3E}">
        <p14:creationId xmlns:p14="http://schemas.microsoft.com/office/powerpoint/2010/main" val="4277796356"/>
      </p:ext>
    </p:extLst>
  </p:cSld>
  <p:clrMapOvr>
    <a:masterClrMapping/>
  </p:clrMapOvr>
  <p:transition spd="med" advTm="222639"/>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DB69F-D973-E901-FB56-A6F0E8C4EDF3}"/>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D1BF2471-AFDD-F183-2026-0F2C82B08730}"/>
              </a:ext>
            </a:extLst>
          </p:cNvPr>
          <p:cNvSpPr txBox="1"/>
          <p:nvPr/>
        </p:nvSpPr>
        <p:spPr>
          <a:xfrm>
            <a:off x="1028458" y="730197"/>
            <a:ext cx="1556409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Piracy and streaming: Enforcement and remedies</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D69788FC-AABB-ADF1-91DB-A427F3B85931}"/>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B13B3253-A4F7-0996-1893-739E5DEAE9B5}"/>
              </a:ext>
            </a:extLst>
          </p:cNvPr>
          <p:cNvSpPr/>
          <p:nvPr/>
        </p:nvSpPr>
        <p:spPr>
          <a:xfrm>
            <a:off x="1028460" y="1947120"/>
            <a:ext cx="11138558" cy="6904454"/>
          </a:xfrm>
          <a:prstGeom prst="rect">
            <a:avLst/>
          </a:prstGeom>
        </p:spPr>
        <p:txBody>
          <a:bodyPr wrap="square">
            <a:spAutoFit/>
          </a:bodyPr>
          <a:lstStyle/>
          <a:p>
            <a:pPr marL="457200" indent="-457200" algn="l"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Civil - e.g., damages, injunction/interdict, account of profits, deliver up</a:t>
            </a:r>
          </a:p>
          <a:p>
            <a:pPr marL="457200" indent="-457200" algn="l"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Criminal (very rare!) – in the course of business only (CDPA s107)</a:t>
            </a:r>
          </a:p>
          <a:p>
            <a:pPr marL="457200" indent="-457200" algn="l"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lang="en-GB" sz="3200" dirty="0">
              <a:solidFill>
                <a:schemeClr val="tx2"/>
              </a:solidFill>
              <a:latin typeface="Barlow" pitchFamily="2" charset="77"/>
            </a:endParaRPr>
          </a:p>
          <a:p>
            <a:pPr marL="457200" indent="-457200" algn="l"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Removing infringing content (notice and takedown)</a:t>
            </a:r>
          </a:p>
          <a:p>
            <a:pPr marL="457200" indent="-457200" algn="l"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Website blocking (‘s97 Order’)</a:t>
            </a:r>
          </a:p>
          <a:p>
            <a:pPr marL="457200" indent="-457200" algn="l"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lang="en-GB" sz="3200" dirty="0">
              <a:solidFill>
                <a:schemeClr val="tx2"/>
              </a:solidFill>
              <a:latin typeface="Barlow" pitchFamily="2" charset="77"/>
            </a:endParaRPr>
          </a:p>
          <a:p>
            <a:pPr marL="457200" indent="-457200" algn="l"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Cease and desist warning letters (less common in the UK)</a:t>
            </a:r>
          </a:p>
          <a:p>
            <a:pPr marL="457200" indent="-457200" algn="l"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lang="en-GB" sz="2800" dirty="0">
              <a:solidFill>
                <a:schemeClr val="tx2"/>
              </a:solidFill>
              <a:latin typeface="Barlow" pitchFamily="2" charset="77"/>
            </a:endParaRPr>
          </a:p>
          <a:p>
            <a:pPr marL="457200" indent="-457200" algn="l"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Remember: copyright gives rightsholders a </a:t>
            </a:r>
            <a:r>
              <a:rPr lang="en-GB" sz="2800" u="sng" dirty="0">
                <a:solidFill>
                  <a:schemeClr val="tx2"/>
                </a:solidFill>
                <a:latin typeface="Barlow" pitchFamily="2" charset="77"/>
              </a:rPr>
              <a:t>choice</a:t>
            </a:r>
            <a:r>
              <a:rPr lang="en-GB" sz="2800" dirty="0">
                <a:solidFill>
                  <a:schemeClr val="tx2"/>
                </a:solidFill>
                <a:latin typeface="Barlow" pitchFamily="2" charset="77"/>
              </a:rPr>
              <a:t>, but enforcement is </a:t>
            </a:r>
            <a:r>
              <a:rPr lang="en-GB" sz="2800" u="sng" dirty="0">
                <a:solidFill>
                  <a:schemeClr val="tx2"/>
                </a:solidFill>
                <a:latin typeface="Barlow" pitchFamily="2" charset="77"/>
              </a:rPr>
              <a:t>not mandatory</a:t>
            </a:r>
          </a:p>
        </p:txBody>
      </p:sp>
      <p:sp>
        <p:nvSpPr>
          <p:cNvPr id="4" name="Right Brace 3">
            <a:extLst>
              <a:ext uri="{FF2B5EF4-FFF2-40B4-BE49-F238E27FC236}">
                <a16:creationId xmlns:a16="http://schemas.microsoft.com/office/drawing/2014/main" id="{25DEA5BE-99AF-0A35-1C2F-D4F717BE60C4}"/>
              </a:ext>
            </a:extLst>
          </p:cNvPr>
          <p:cNvSpPr/>
          <p:nvPr/>
        </p:nvSpPr>
        <p:spPr>
          <a:xfrm>
            <a:off x="12167018" y="2088044"/>
            <a:ext cx="300474" cy="2149848"/>
          </a:xfrm>
          <a:prstGeom prst="rightBrace">
            <a:avLst/>
          </a:prstGeom>
          <a:noFill/>
          <a:ln w="3175" cap="flat">
            <a:solidFill>
              <a:srgbClr val="FF7765"/>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lvl="0" indent="0" algn="l" defTabSz="914400" rtl="0" eaLnBrk="1" fontAlgn="auto" latinLnBrk="1" hangingPunct="0">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latin typeface="Helvetica Neue"/>
              <a:sym typeface="Helvetica Neue"/>
            </a:endParaRPr>
          </a:p>
        </p:txBody>
      </p:sp>
      <p:sp>
        <p:nvSpPr>
          <p:cNvPr id="5" name="Right Brace 4">
            <a:extLst>
              <a:ext uri="{FF2B5EF4-FFF2-40B4-BE49-F238E27FC236}">
                <a16:creationId xmlns:a16="http://schemas.microsoft.com/office/drawing/2014/main" id="{37A432DB-22BA-1A25-F586-78BC54182765}"/>
              </a:ext>
            </a:extLst>
          </p:cNvPr>
          <p:cNvSpPr/>
          <p:nvPr/>
        </p:nvSpPr>
        <p:spPr>
          <a:xfrm>
            <a:off x="12167018" y="4759569"/>
            <a:ext cx="300474" cy="1499800"/>
          </a:xfrm>
          <a:prstGeom prst="rightBrace">
            <a:avLst/>
          </a:prstGeom>
          <a:noFill/>
          <a:ln w="3175" cap="flat">
            <a:solidFill>
              <a:srgbClr val="FF7765"/>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lvl="0" indent="0" algn="l" defTabSz="914400" rtl="0" eaLnBrk="1" fontAlgn="auto" latinLnBrk="1" hangingPunct="0">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latin typeface="Helvetica Neue"/>
              <a:sym typeface="Helvetica Neue"/>
            </a:endParaRPr>
          </a:p>
        </p:txBody>
      </p:sp>
      <p:sp>
        <p:nvSpPr>
          <p:cNvPr id="6" name="TextBox 5">
            <a:extLst>
              <a:ext uri="{FF2B5EF4-FFF2-40B4-BE49-F238E27FC236}">
                <a16:creationId xmlns:a16="http://schemas.microsoft.com/office/drawing/2014/main" id="{81C99DA5-7E7E-B96E-8070-11E8006CE367}"/>
              </a:ext>
            </a:extLst>
          </p:cNvPr>
          <p:cNvSpPr txBox="1"/>
          <p:nvPr/>
        </p:nvSpPr>
        <p:spPr>
          <a:xfrm>
            <a:off x="12798329" y="2476626"/>
            <a:ext cx="3513474" cy="1372683"/>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1" indent="0" algn="just" defTabSz="457200" rtl="0" eaLnBrk="1" fontAlgn="auto" latinLnBrk="0" hangingPunct="0">
              <a:lnSpc>
                <a:spcPct val="120000"/>
              </a:lnSpc>
              <a:spcBef>
                <a:spcPts val="0"/>
              </a:spcBef>
              <a:spcAft>
                <a:spcPts val="0"/>
              </a:spcAft>
              <a:buClrTx/>
              <a:buSzTx/>
              <a:buFontTx/>
              <a:buNone/>
              <a:tabLst/>
              <a:defRPr sz="1400" b="0" spc="-27">
                <a:latin typeface="Barlow Regular"/>
                <a:ea typeface="Barlow Regular"/>
                <a:cs typeface="Barlow Regular"/>
                <a:sym typeface="Barlow Regular"/>
              </a:defRPr>
            </a:pPr>
            <a:r>
              <a:rPr kumimoji="0" lang="en-GB" sz="2400" b="0" i="0" u="none" strike="noStrike" kern="0" cap="none" spc="-27" normalizeH="0" baseline="0" noProof="0" dirty="0">
                <a:ln>
                  <a:noFill/>
                </a:ln>
                <a:solidFill>
                  <a:srgbClr val="FF7765"/>
                </a:solidFill>
                <a:effectLst/>
                <a:uLnTx/>
                <a:uFillTx/>
                <a:latin typeface="Barlow" pitchFamily="2" charset="77"/>
                <a:sym typeface="Barlow Regular"/>
              </a:rPr>
              <a:t>Action against primary and/or secondary infringer</a:t>
            </a:r>
          </a:p>
        </p:txBody>
      </p:sp>
      <p:sp>
        <p:nvSpPr>
          <p:cNvPr id="7" name="TextBox 6">
            <a:extLst>
              <a:ext uri="{FF2B5EF4-FFF2-40B4-BE49-F238E27FC236}">
                <a16:creationId xmlns:a16="http://schemas.microsoft.com/office/drawing/2014/main" id="{CF579226-C591-8645-D3E3-0CDEEC7E31F9}"/>
              </a:ext>
            </a:extLst>
          </p:cNvPr>
          <p:cNvSpPr txBox="1"/>
          <p:nvPr/>
        </p:nvSpPr>
        <p:spPr>
          <a:xfrm>
            <a:off x="12811165" y="5044726"/>
            <a:ext cx="3513474" cy="929485"/>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1" indent="0" algn="just" defTabSz="457200" rtl="0" eaLnBrk="1" fontAlgn="auto" latinLnBrk="0" hangingPunct="0">
              <a:lnSpc>
                <a:spcPct val="120000"/>
              </a:lnSpc>
              <a:spcBef>
                <a:spcPts val="0"/>
              </a:spcBef>
              <a:spcAft>
                <a:spcPts val="0"/>
              </a:spcAft>
              <a:buClrTx/>
              <a:buSzTx/>
              <a:buFontTx/>
              <a:buNone/>
              <a:tabLst/>
              <a:defRPr sz="1400" b="0" spc="-27">
                <a:latin typeface="Barlow Regular"/>
                <a:ea typeface="Barlow Regular"/>
                <a:cs typeface="Barlow Regular"/>
                <a:sym typeface="Barlow Regular"/>
              </a:defRPr>
            </a:pPr>
            <a:r>
              <a:rPr kumimoji="0" lang="en-GB" sz="2400" b="0" i="0" u="none" strike="noStrike" kern="0" cap="none" spc="-27" normalizeH="0" baseline="0" noProof="0" dirty="0">
                <a:ln>
                  <a:noFill/>
                </a:ln>
                <a:solidFill>
                  <a:srgbClr val="FF7765"/>
                </a:solidFill>
                <a:effectLst/>
                <a:uLnTx/>
                <a:uFillTx/>
                <a:latin typeface="Barlow" pitchFamily="2" charset="77"/>
                <a:sym typeface="Barlow Regular"/>
              </a:rPr>
              <a:t>Action against the platform</a:t>
            </a:r>
          </a:p>
        </p:txBody>
      </p:sp>
    </p:spTree>
    <p:extLst>
      <p:ext uri="{BB962C8B-B14F-4D97-AF65-F5344CB8AC3E}">
        <p14:creationId xmlns:p14="http://schemas.microsoft.com/office/powerpoint/2010/main" val="1157889727"/>
      </p:ext>
    </p:extLst>
  </p:cSld>
  <p:clrMapOvr>
    <a:masterClrMapping/>
  </p:clrMapOvr>
  <p:transition spd="med" advTm="222639"/>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29622-2CE3-60C9-2CD3-6AEE608CF5A1}"/>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FDCD778E-E5D9-F815-D920-D25E1B7CB145}"/>
              </a:ext>
            </a:extLst>
          </p:cNvPr>
          <p:cNvSpPr txBox="1"/>
          <p:nvPr/>
        </p:nvSpPr>
        <p:spPr>
          <a:xfrm>
            <a:off x="1028458" y="730197"/>
            <a:ext cx="15782434"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Piracy and streaming: Enforcement and remedies</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08AFE7ED-3D40-2100-3536-B5B706288A9D}"/>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01212A70-A1C0-C415-DF4C-C46B46A9A049}"/>
              </a:ext>
            </a:extLst>
          </p:cNvPr>
          <p:cNvSpPr/>
          <p:nvPr/>
        </p:nvSpPr>
        <p:spPr>
          <a:xfrm>
            <a:off x="1028459" y="1947120"/>
            <a:ext cx="15283345" cy="2981329"/>
          </a:xfrm>
          <a:prstGeom prst="rect">
            <a:avLst/>
          </a:prstGeom>
        </p:spPr>
        <p:txBody>
          <a:bodyPr wrap="square">
            <a:spAutoFit/>
          </a:bodyPr>
          <a:lstStyle/>
          <a:p>
            <a:pPr marL="457200" indent="-45720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i="1" dirty="0">
                <a:solidFill>
                  <a:schemeClr val="tx2"/>
                </a:solidFill>
                <a:latin typeface="Barlow" pitchFamily="2" charset="77"/>
              </a:rPr>
              <a:t>You want to access Netflix because you want to make a video criticising the portrayal of harmful cultural stereotypes in the programme. You do not have an account with Netflix and don’t want to pay the subscription fee. You are tech-savvy, and have the means to bypass the account verification process and access this without paying anything. Are you legally allowed to do so?</a:t>
            </a:r>
          </a:p>
        </p:txBody>
      </p:sp>
      <p:sp>
        <p:nvSpPr>
          <p:cNvPr id="3" name="TextBox 2">
            <a:extLst>
              <a:ext uri="{FF2B5EF4-FFF2-40B4-BE49-F238E27FC236}">
                <a16:creationId xmlns:a16="http://schemas.microsoft.com/office/drawing/2014/main" id="{2E5DF92C-9964-515B-A60E-98E8A683F62B}"/>
              </a:ext>
            </a:extLst>
          </p:cNvPr>
          <p:cNvSpPr txBox="1"/>
          <p:nvPr/>
        </p:nvSpPr>
        <p:spPr>
          <a:xfrm>
            <a:off x="4189499" y="5174982"/>
            <a:ext cx="41102" cy="318036"/>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20320" tIns="20320" rIns="20320" bIns="20320" numCol="1" spcCol="38100" rtlCol="0" anchor="ctr">
            <a:spAutoFit/>
          </a:bodyPr>
          <a:lstStyle/>
          <a:p>
            <a:pPr marL="0" marR="0" indent="0" algn="ctr" defTabSz="587022" rtl="0" fontAlgn="auto" latinLnBrk="0" hangingPunct="0">
              <a:lnSpc>
                <a:spcPct val="100000"/>
              </a:lnSpc>
              <a:spcBef>
                <a:spcPts val="0"/>
              </a:spcBef>
              <a:spcAft>
                <a:spcPts val="0"/>
              </a:spcAft>
              <a:buClrTx/>
              <a:buSzTx/>
              <a:buFontTx/>
              <a:buNone/>
              <a:tabLst/>
            </a:pPr>
            <a:endParaRPr kumimoji="0" lang="en-GB" sz="18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Tree>
    <p:extLst>
      <p:ext uri="{BB962C8B-B14F-4D97-AF65-F5344CB8AC3E}">
        <p14:creationId xmlns:p14="http://schemas.microsoft.com/office/powerpoint/2010/main" val="2189069227"/>
      </p:ext>
    </p:extLst>
  </p:cSld>
  <p:clrMapOvr>
    <a:masterClrMapping/>
  </p:clrMapOvr>
  <p:transition spd="med" advTm="222639"/>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0EF2A-B69A-4FFC-6458-78BC6E4B4AAF}"/>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E6E23CF4-89CC-D3F9-43C3-4CEB144FAAC1}"/>
              </a:ext>
            </a:extLst>
          </p:cNvPr>
          <p:cNvSpPr txBox="1"/>
          <p:nvPr/>
        </p:nvSpPr>
        <p:spPr>
          <a:xfrm>
            <a:off x="1028458" y="730197"/>
            <a:ext cx="1297329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Primary infringement: non-literal copying</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15BEB648-3FC4-40EF-A631-03C6847AB759}"/>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AE4FC4D5-BC7E-D212-B7E9-861A32C658BA}"/>
              </a:ext>
            </a:extLst>
          </p:cNvPr>
          <p:cNvSpPr/>
          <p:nvPr/>
        </p:nvSpPr>
        <p:spPr>
          <a:xfrm>
            <a:off x="1028459" y="1947120"/>
            <a:ext cx="15283345" cy="3572260"/>
          </a:xfrm>
          <a:prstGeom prst="rect">
            <a:avLst/>
          </a:prstGeom>
        </p:spPr>
        <p:txBody>
          <a:bodyPr wrap="square">
            <a:spAutoFit/>
          </a:bodyPr>
          <a:lstStyle/>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e.g., ‘lookalikes’ and ‘soundalikes’</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lang="en-GB" sz="3200" dirty="0">
              <a:solidFill>
                <a:schemeClr val="tx2"/>
              </a:solidFill>
              <a:latin typeface="Barlow" pitchFamily="2" charset="77"/>
            </a:endParaRP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Non-literal copying requires proof of </a:t>
            </a:r>
            <a:r>
              <a:rPr lang="en-GB" sz="3200" u="sng" dirty="0">
                <a:solidFill>
                  <a:schemeClr val="tx2"/>
                </a:solidFill>
                <a:latin typeface="Barlow" pitchFamily="2" charset="77"/>
              </a:rPr>
              <a:t>access</a:t>
            </a:r>
            <a:r>
              <a:rPr lang="en-GB" sz="3200" dirty="0">
                <a:solidFill>
                  <a:schemeClr val="tx2"/>
                </a:solidFill>
                <a:latin typeface="Barlow" pitchFamily="2" charset="77"/>
              </a:rPr>
              <a:t> to the defendant’s original work + </a:t>
            </a:r>
            <a:r>
              <a:rPr lang="en-GB" sz="3200" u="sng" dirty="0">
                <a:solidFill>
                  <a:schemeClr val="tx2"/>
                </a:solidFill>
                <a:latin typeface="Barlow" pitchFamily="2" charset="77"/>
              </a:rPr>
              <a:t>substantial objective similarity</a:t>
            </a:r>
            <a:r>
              <a:rPr lang="en-GB" sz="3200" dirty="0">
                <a:solidFill>
                  <a:schemeClr val="tx2"/>
                </a:solidFill>
                <a:latin typeface="Barlow" pitchFamily="2" charset="77"/>
              </a:rPr>
              <a:t> between the two works = causal connection</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lang="en-GB" sz="3200" dirty="0">
              <a:solidFill>
                <a:schemeClr val="tx2"/>
              </a:solidFill>
              <a:latin typeface="Barlow" pitchFamily="2" charset="77"/>
            </a:endParaRP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US" sz="3200" b="0" dirty="0">
                <a:solidFill>
                  <a:schemeClr val="tx2"/>
                </a:solidFill>
                <a:latin typeface="Barlow" pitchFamily="2" charset="77"/>
              </a:rPr>
              <a:t>Remember: substantiality is a </a:t>
            </a:r>
            <a:r>
              <a:rPr lang="en-US" sz="3200" b="0" u="sng" dirty="0">
                <a:solidFill>
                  <a:schemeClr val="tx2"/>
                </a:solidFill>
                <a:latin typeface="Barlow" pitchFamily="2" charset="77"/>
              </a:rPr>
              <a:t>qualitative</a:t>
            </a:r>
            <a:r>
              <a:rPr lang="en-US" sz="3200" b="0" dirty="0">
                <a:solidFill>
                  <a:schemeClr val="tx2"/>
                </a:solidFill>
                <a:latin typeface="Barlow" pitchFamily="2" charset="77"/>
              </a:rPr>
              <a:t> assessment</a:t>
            </a:r>
          </a:p>
        </p:txBody>
      </p:sp>
    </p:spTree>
    <p:extLst>
      <p:ext uri="{BB962C8B-B14F-4D97-AF65-F5344CB8AC3E}">
        <p14:creationId xmlns:p14="http://schemas.microsoft.com/office/powerpoint/2010/main" val="3750834949"/>
      </p:ext>
    </p:extLst>
  </p:cSld>
  <p:clrMapOvr>
    <a:masterClrMapping/>
  </p:clrMapOvr>
  <p:transition spd="med" advTm="222639"/>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936FF-3D3F-D298-3F1B-756FEDB4A5DE}"/>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DD533367-C2C9-888A-93B5-E145D099B83C}"/>
              </a:ext>
            </a:extLst>
          </p:cNvPr>
          <p:cNvSpPr txBox="1"/>
          <p:nvPr/>
        </p:nvSpPr>
        <p:spPr>
          <a:xfrm>
            <a:off x="1028458" y="730197"/>
            <a:ext cx="1297329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Primary infringement: non-literal copying</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E3F67FA7-21E8-8668-EB08-1C9608CC3812}"/>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88D7C7BF-C8B3-6282-914C-2A96BF3E69C0}"/>
              </a:ext>
            </a:extLst>
          </p:cNvPr>
          <p:cNvSpPr/>
          <p:nvPr/>
        </p:nvSpPr>
        <p:spPr>
          <a:xfrm>
            <a:off x="1028458" y="3977066"/>
            <a:ext cx="7324233" cy="1799467"/>
          </a:xfrm>
          <a:prstGeom prst="rect">
            <a:avLst/>
          </a:prstGeom>
        </p:spPr>
        <p:txBody>
          <a:bodyPr wrap="square">
            <a:spAutoFit/>
          </a:bodyPr>
          <a:lstStyle/>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i="1" dirty="0">
                <a:solidFill>
                  <a:schemeClr val="tx2"/>
                </a:solidFill>
                <a:latin typeface="Barlow" pitchFamily="2" charset="77"/>
              </a:rPr>
              <a:t>What kind of evidence would prove that someone had </a:t>
            </a:r>
            <a:r>
              <a:rPr lang="en-GB" sz="3200" i="1" u="sng" dirty="0">
                <a:solidFill>
                  <a:schemeClr val="tx2"/>
                </a:solidFill>
                <a:latin typeface="Barlow" pitchFamily="2" charset="77"/>
              </a:rPr>
              <a:t>access</a:t>
            </a:r>
            <a:r>
              <a:rPr lang="en-GB" sz="3200" i="1" dirty="0">
                <a:solidFill>
                  <a:schemeClr val="tx2"/>
                </a:solidFill>
                <a:latin typeface="Barlow" pitchFamily="2" charset="77"/>
              </a:rPr>
              <a:t> to the original work?</a:t>
            </a:r>
          </a:p>
        </p:txBody>
      </p:sp>
      <p:pic>
        <p:nvPicPr>
          <p:cNvPr id="3074" name="Picture 2" descr="QR code">
            <a:extLst>
              <a:ext uri="{FF2B5EF4-FFF2-40B4-BE49-F238E27FC236}">
                <a16:creationId xmlns:a16="http://schemas.microsoft.com/office/drawing/2014/main" id="{549A683D-0417-F417-09A9-738458EA11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58401" y="2200030"/>
            <a:ext cx="6253404" cy="625340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3ECFC84-D70A-A349-13ED-F108399CA30E}"/>
              </a:ext>
            </a:extLst>
          </p:cNvPr>
          <p:cNvSpPr txBox="1"/>
          <p:nvPr/>
        </p:nvSpPr>
        <p:spPr>
          <a:xfrm>
            <a:off x="8850496" y="8507860"/>
            <a:ext cx="8669214" cy="400110"/>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2000" b="0" dirty="0">
                <a:solidFill>
                  <a:schemeClr val="tx2"/>
                </a:solidFill>
                <a:latin typeface="Barlow" pitchFamily="2" charset="77"/>
              </a:rPr>
              <a:t>https://</a:t>
            </a:r>
            <a:r>
              <a:rPr lang="en-GB" sz="2000" b="0" dirty="0" err="1">
                <a:solidFill>
                  <a:schemeClr val="tx2"/>
                </a:solidFill>
                <a:latin typeface="Barlow" pitchFamily="2" charset="77"/>
              </a:rPr>
              <a:t>forms.cloud.microsoft</a:t>
            </a:r>
            <a:r>
              <a:rPr lang="en-GB" sz="2000" b="0" dirty="0">
                <a:solidFill>
                  <a:schemeClr val="tx2"/>
                </a:solidFill>
                <a:latin typeface="Barlow" pitchFamily="2" charset="77"/>
              </a:rPr>
              <a:t>/e/</a:t>
            </a:r>
            <a:r>
              <a:rPr lang="en-GB" sz="2000" b="0" dirty="0" err="1">
                <a:solidFill>
                  <a:schemeClr val="tx2"/>
                </a:solidFill>
                <a:latin typeface="Barlow" pitchFamily="2" charset="77"/>
              </a:rPr>
              <a:t>JEEEJvTkaw</a:t>
            </a:r>
            <a:endParaRPr lang="en-GB" sz="2000" b="0" dirty="0">
              <a:solidFill>
                <a:schemeClr val="tx2"/>
              </a:solidFill>
              <a:latin typeface="Barlow" pitchFamily="2" charset="77"/>
            </a:endParaRPr>
          </a:p>
        </p:txBody>
      </p:sp>
    </p:spTree>
    <p:extLst>
      <p:ext uri="{BB962C8B-B14F-4D97-AF65-F5344CB8AC3E}">
        <p14:creationId xmlns:p14="http://schemas.microsoft.com/office/powerpoint/2010/main" val="1550458647"/>
      </p:ext>
    </p:extLst>
  </p:cSld>
  <p:clrMapOvr>
    <a:masterClrMapping/>
  </p:clrMapOvr>
  <p:transition spd="med" advTm="222639"/>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92EEB-7431-BAE3-B4D8-162B0D9734A9}"/>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5C8FB7FF-CCED-314F-A682-131C0AF1C380}"/>
              </a:ext>
            </a:extLst>
          </p:cNvPr>
          <p:cNvSpPr txBox="1"/>
          <p:nvPr/>
        </p:nvSpPr>
        <p:spPr>
          <a:xfrm>
            <a:off x="1028458" y="730197"/>
            <a:ext cx="1297329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Primary infringement: non-literal copying</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799048B6-EBFE-2601-ED74-9B4571D3B36B}"/>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51A0F51C-CD29-5E8C-172C-1DDD5AFAC97C}"/>
              </a:ext>
            </a:extLst>
          </p:cNvPr>
          <p:cNvSpPr/>
          <p:nvPr/>
        </p:nvSpPr>
        <p:spPr>
          <a:xfrm>
            <a:off x="1028459" y="1947120"/>
            <a:ext cx="15283345" cy="5935984"/>
          </a:xfrm>
          <a:prstGeom prst="rect">
            <a:avLst/>
          </a:prstGeom>
        </p:spPr>
        <p:txBody>
          <a:bodyPr wrap="square">
            <a:spAutoFit/>
          </a:bodyPr>
          <a:lstStyle/>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b="0" i="1" dirty="0">
                <a:solidFill>
                  <a:schemeClr val="tx2"/>
                </a:solidFill>
                <a:latin typeface="Barlow" pitchFamily="2" charset="77"/>
              </a:rPr>
              <a:t>How would you prove </a:t>
            </a:r>
            <a:r>
              <a:rPr lang="en-GB" sz="3200" b="0" i="1" u="sng" dirty="0">
                <a:solidFill>
                  <a:schemeClr val="tx2"/>
                </a:solidFill>
                <a:latin typeface="Barlow" pitchFamily="2" charset="77"/>
              </a:rPr>
              <a:t>substantial objective similarity</a:t>
            </a:r>
            <a:r>
              <a:rPr lang="en-GB" sz="3200" b="0" i="1" dirty="0">
                <a:solidFill>
                  <a:schemeClr val="tx2"/>
                </a:solidFill>
                <a:latin typeface="Barlow" pitchFamily="2" charset="77"/>
              </a:rPr>
              <a:t> between original and derivative works?</a:t>
            </a:r>
          </a:p>
          <a:p>
            <a:pPr algn="just" defTabSz="457200">
              <a:lnSpc>
                <a:spcPct val="120000"/>
              </a:lnSpc>
              <a:defRPr sz="1400" b="0" spc="-27">
                <a:latin typeface="Barlow Regular"/>
                <a:ea typeface="Barlow Regular"/>
                <a:cs typeface="Barlow Regular"/>
                <a:sym typeface="Barlow Regular"/>
              </a:defRPr>
            </a:pPr>
            <a:endParaRPr lang="en-GB" sz="3200" i="1" dirty="0">
              <a:solidFill>
                <a:srgbClr val="FF6753"/>
              </a:solidFill>
              <a:latin typeface="Barlow" pitchFamily="2" charset="77"/>
            </a:endParaRP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rgbClr val="FF6753"/>
                </a:solidFill>
                <a:latin typeface="Barlow" pitchFamily="2" charset="77"/>
              </a:rPr>
              <a:t>… it’s tricky and unpredictable!</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Quantitative metrics of similarity of the copyrightable expression – not general elements (</a:t>
            </a:r>
            <a:r>
              <a:rPr lang="en-GB" sz="3200" i="1" dirty="0">
                <a:solidFill>
                  <a:schemeClr val="tx2"/>
                </a:solidFill>
                <a:latin typeface="Barlow" pitchFamily="2" charset="77"/>
              </a:rPr>
              <a:t>Designers Guild v Russell</a:t>
            </a:r>
            <a:r>
              <a:rPr lang="en-GB" sz="3200" dirty="0">
                <a:solidFill>
                  <a:schemeClr val="tx2"/>
                </a:solidFill>
                <a:latin typeface="Barlow" pitchFamily="2" charset="77"/>
              </a:rPr>
              <a:t>) </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Uniqueness or complexity of the copied parts (</a:t>
            </a:r>
            <a:r>
              <a:rPr lang="en-GB" sz="3200" i="1" dirty="0">
                <a:solidFill>
                  <a:schemeClr val="tx2"/>
                </a:solidFill>
                <a:latin typeface="Barlow" pitchFamily="2" charset="77"/>
              </a:rPr>
              <a:t>Mitchel v BBC)</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Similarities in the ‘feeling and artistic character’ (</a:t>
            </a:r>
            <a:r>
              <a:rPr lang="en-GB" sz="3200" i="1" dirty="0" err="1">
                <a:solidFill>
                  <a:schemeClr val="tx2"/>
                </a:solidFill>
                <a:latin typeface="Barlow" pitchFamily="2" charset="77"/>
              </a:rPr>
              <a:t>Krisarts</a:t>
            </a:r>
            <a:r>
              <a:rPr lang="en-GB" sz="3200" i="1" dirty="0">
                <a:solidFill>
                  <a:schemeClr val="tx2"/>
                </a:solidFill>
                <a:latin typeface="Barlow" pitchFamily="2" charset="77"/>
              </a:rPr>
              <a:t> SA v </a:t>
            </a:r>
            <a:r>
              <a:rPr lang="en-GB" sz="3200" i="1" dirty="0" err="1">
                <a:solidFill>
                  <a:schemeClr val="tx2"/>
                </a:solidFill>
                <a:latin typeface="Barlow" pitchFamily="2" charset="77"/>
              </a:rPr>
              <a:t>Briarfine</a:t>
            </a:r>
            <a:r>
              <a:rPr lang="en-GB" sz="3200" i="1" dirty="0">
                <a:solidFill>
                  <a:schemeClr val="tx2"/>
                </a:solidFill>
                <a:latin typeface="Barlow" pitchFamily="2" charset="77"/>
              </a:rPr>
              <a:t>) </a:t>
            </a:r>
            <a:r>
              <a:rPr lang="en-GB" sz="3200" dirty="0">
                <a:solidFill>
                  <a:schemeClr val="tx2"/>
                </a:solidFill>
                <a:latin typeface="Barlow" pitchFamily="2" charset="77"/>
              </a:rPr>
              <a:t>(but not the ‘idea?’)</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Common errors</a:t>
            </a:r>
          </a:p>
        </p:txBody>
      </p:sp>
    </p:spTree>
    <p:extLst>
      <p:ext uri="{BB962C8B-B14F-4D97-AF65-F5344CB8AC3E}">
        <p14:creationId xmlns:p14="http://schemas.microsoft.com/office/powerpoint/2010/main" val="3499751428"/>
      </p:ext>
    </p:extLst>
  </p:cSld>
  <p:clrMapOvr>
    <a:masterClrMapping/>
  </p:clrMapOvr>
  <p:transition spd="med" advTm="222639"/>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7334C-338F-DC22-BE09-09CF76D4BDC6}"/>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76D10B1E-086B-7C40-D820-A632382DFB1C}"/>
              </a:ext>
            </a:extLst>
          </p:cNvPr>
          <p:cNvSpPr txBox="1"/>
          <p:nvPr/>
        </p:nvSpPr>
        <p:spPr>
          <a:xfrm>
            <a:off x="1028458" y="730197"/>
            <a:ext cx="1297329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Primary infringement: non-literal copying</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A9DA1349-002F-2D0E-FEBA-FC0711226558}"/>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BF7E725E-B865-9A4B-C47D-75266542601E}"/>
              </a:ext>
            </a:extLst>
          </p:cNvPr>
          <p:cNvSpPr/>
          <p:nvPr/>
        </p:nvSpPr>
        <p:spPr>
          <a:xfrm>
            <a:off x="1028459" y="1947120"/>
            <a:ext cx="15283345" cy="535531"/>
          </a:xfrm>
          <a:prstGeom prst="rect">
            <a:avLst/>
          </a:prstGeom>
        </p:spPr>
        <p:txBody>
          <a:bodyPr wrap="square">
            <a:spAutoFit/>
          </a:bodyPr>
          <a:lstStyle/>
          <a:p>
            <a:pPr lvl="0" algn="l" defTabSz="914400" hangingPunct="1">
              <a:lnSpc>
                <a:spcPct val="90000"/>
              </a:lnSpc>
              <a:spcBef>
                <a:spcPts val="1200"/>
              </a:spcBef>
              <a:spcAft>
                <a:spcPts val="200"/>
              </a:spcAft>
              <a:buClr>
                <a:srgbClr val="D34817"/>
              </a:buClr>
              <a:buSzPct val="100000"/>
              <a:defRPr/>
            </a:pPr>
            <a:r>
              <a:rPr lang="en-GB" sz="3200" b="0" kern="1200" dirty="0">
                <a:solidFill>
                  <a:schemeClr val="tx2"/>
                </a:solidFill>
                <a:latin typeface="Barlow" panose="00000500000000000000" pitchFamily="2" charset="0"/>
              </a:rPr>
              <a:t>Are similarities more like the </a:t>
            </a:r>
            <a:r>
              <a:rPr lang="en-GB" sz="3200" b="0" u="sng" kern="1200" dirty="0">
                <a:solidFill>
                  <a:schemeClr val="tx2"/>
                </a:solidFill>
                <a:latin typeface="Barlow" panose="00000500000000000000" pitchFamily="2" charset="0"/>
              </a:rPr>
              <a:t>result of copying</a:t>
            </a:r>
            <a:r>
              <a:rPr lang="en-GB" sz="3200" b="0" kern="1200" dirty="0">
                <a:solidFill>
                  <a:schemeClr val="tx2"/>
                </a:solidFill>
                <a:latin typeface="Barlow" panose="00000500000000000000" pitchFamily="2" charset="0"/>
              </a:rPr>
              <a:t> than </a:t>
            </a:r>
            <a:r>
              <a:rPr lang="en-GB" sz="3200" b="0" u="sng" kern="1200" dirty="0">
                <a:solidFill>
                  <a:schemeClr val="tx2"/>
                </a:solidFill>
                <a:latin typeface="Barlow" panose="00000500000000000000" pitchFamily="2" charset="0"/>
              </a:rPr>
              <a:t>coincidence</a:t>
            </a:r>
            <a:r>
              <a:rPr lang="en-GB" sz="3200" b="0" kern="1200" dirty="0">
                <a:solidFill>
                  <a:schemeClr val="tx2"/>
                </a:solidFill>
                <a:latin typeface="Barlow" panose="00000500000000000000" pitchFamily="2" charset="0"/>
              </a:rPr>
              <a:t>? (</a:t>
            </a:r>
            <a:r>
              <a:rPr lang="en-GB" sz="3200" b="0" i="1" kern="1200" dirty="0">
                <a:solidFill>
                  <a:schemeClr val="tx2"/>
                </a:solidFill>
                <a:latin typeface="Barlow" panose="00000500000000000000" pitchFamily="2" charset="0"/>
              </a:rPr>
              <a:t>Designer’s Guild</a:t>
            </a:r>
            <a:r>
              <a:rPr lang="en-GB" sz="3200" b="0" kern="1200" dirty="0">
                <a:solidFill>
                  <a:schemeClr val="tx2"/>
                </a:solidFill>
                <a:latin typeface="Barlow" panose="00000500000000000000" pitchFamily="2" charset="0"/>
              </a:rPr>
              <a:t>)</a:t>
            </a:r>
          </a:p>
        </p:txBody>
      </p:sp>
      <p:pic>
        <p:nvPicPr>
          <p:cNvPr id="3" name="Picture 2" descr="Designers Guild">
            <a:extLst>
              <a:ext uri="{FF2B5EF4-FFF2-40B4-BE49-F238E27FC236}">
                <a16:creationId xmlns:a16="http://schemas.microsoft.com/office/drawing/2014/main" id="{D2CC43CB-B40B-640A-2C23-64FE770296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5435" y="3689728"/>
            <a:ext cx="5696810" cy="42876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Russell Williams">
            <a:extLst>
              <a:ext uri="{FF2B5EF4-FFF2-40B4-BE49-F238E27FC236}">
                <a16:creationId xmlns:a16="http://schemas.microsoft.com/office/drawing/2014/main" id="{90EB9CC8-4CA6-6949-BE24-580BFEDC55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45486" y="3692625"/>
            <a:ext cx="5687659" cy="428470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0C07100-2A32-C9AE-8A08-759BF8A20F99}"/>
              </a:ext>
            </a:extLst>
          </p:cNvPr>
          <p:cNvSpPr txBox="1"/>
          <p:nvPr/>
        </p:nvSpPr>
        <p:spPr>
          <a:xfrm>
            <a:off x="3970951" y="3066281"/>
            <a:ext cx="9949070" cy="400110"/>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ctr" defTabSz="587022" rtl="0" eaLnBrk="1" fontAlgn="auto" latinLnBrk="0" hangingPunct="0">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lumMod val="75000"/>
                    <a:lumOff val="25000"/>
                  </a:prstClr>
                </a:solidFill>
                <a:effectLst/>
                <a:uLnTx/>
                <a:uFillTx/>
                <a:latin typeface="Barlow" panose="00000500000000000000" pitchFamily="2" charset="0"/>
                <a:ea typeface="+mn-ea"/>
                <a:cs typeface="+mn-cs"/>
                <a:sym typeface="Helvetica Neue"/>
              </a:rPr>
              <a:t>Claimant’s work‘</a:t>
            </a:r>
            <a:r>
              <a:rPr kumimoji="0" lang="en-GB" sz="2000" b="0" i="1" u="none" strike="noStrike" kern="1200" cap="none" spc="0" normalizeH="0" baseline="0" noProof="0" dirty="0">
                <a:ln>
                  <a:noFill/>
                </a:ln>
                <a:solidFill>
                  <a:prstClr val="black">
                    <a:lumMod val="75000"/>
                    <a:lumOff val="25000"/>
                  </a:prstClr>
                </a:solidFill>
                <a:effectLst/>
                <a:uLnTx/>
                <a:uFillTx/>
                <a:latin typeface="Barlow" panose="00000500000000000000" pitchFamily="2" charset="0"/>
                <a:ea typeface="+mn-ea"/>
                <a:cs typeface="+mn-cs"/>
                <a:sym typeface="Helvetica Neue"/>
              </a:rPr>
              <a:t>Ixia’</a:t>
            </a:r>
            <a:r>
              <a:rPr kumimoji="0" lang="en-GB" sz="2000" b="0" i="0" u="none" strike="noStrike" kern="1200" cap="none" spc="0" normalizeH="0" baseline="0" noProof="0" dirty="0">
                <a:ln>
                  <a:noFill/>
                </a:ln>
                <a:solidFill>
                  <a:prstClr val="black">
                    <a:lumMod val="75000"/>
                    <a:lumOff val="25000"/>
                  </a:prstClr>
                </a:solidFill>
                <a:effectLst/>
                <a:uLnTx/>
                <a:uFillTx/>
                <a:latin typeface="Barlow" panose="00000500000000000000" pitchFamily="2" charset="0"/>
                <a:ea typeface="+mn-ea"/>
                <a:cs typeface="+mn-cs"/>
                <a:sym typeface="Helvetica Neue"/>
              </a:rPr>
              <a:t>				              Defendant’s work ‘</a:t>
            </a:r>
            <a:r>
              <a:rPr kumimoji="0" lang="en-GB" sz="2000" b="0" i="1" u="none" strike="noStrike" kern="1200" cap="none" spc="0" normalizeH="0" baseline="0" noProof="0" dirty="0">
                <a:ln>
                  <a:noFill/>
                </a:ln>
                <a:solidFill>
                  <a:prstClr val="black">
                    <a:lumMod val="75000"/>
                    <a:lumOff val="25000"/>
                  </a:prstClr>
                </a:solidFill>
                <a:effectLst/>
                <a:uLnTx/>
                <a:uFillTx/>
                <a:latin typeface="Barlow" panose="00000500000000000000" pitchFamily="2" charset="0"/>
                <a:ea typeface="+mn-ea"/>
                <a:cs typeface="+mn-cs"/>
                <a:sym typeface="Helvetica Neue"/>
              </a:rPr>
              <a:t>Maguerite</a:t>
            </a:r>
            <a:r>
              <a:rPr kumimoji="0" lang="en-GB" sz="2000" b="0" i="1"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sym typeface="Helvetica Neue"/>
              </a:rPr>
              <a:t>’</a:t>
            </a:r>
            <a:endParaRPr kumimoji="0" lang="en-GB" sz="1800" b="1" i="0" u="none" strike="noStrike" kern="0" cap="none" spc="0" normalizeH="0" baseline="0" noProof="0" dirty="0">
              <a:ln>
                <a:noFill/>
              </a:ln>
              <a:solidFill>
                <a:srgbClr val="000000"/>
              </a:solidFill>
              <a:effectLst/>
              <a:uLnTx/>
              <a:uFillTx/>
              <a:latin typeface="Helvetica Neue"/>
              <a:sym typeface="Helvetica Neue"/>
            </a:endParaRPr>
          </a:p>
        </p:txBody>
      </p:sp>
    </p:spTree>
    <p:extLst>
      <p:ext uri="{BB962C8B-B14F-4D97-AF65-F5344CB8AC3E}">
        <p14:creationId xmlns:p14="http://schemas.microsoft.com/office/powerpoint/2010/main" val="2632834699"/>
      </p:ext>
    </p:extLst>
  </p:cSld>
  <p:clrMapOvr>
    <a:masterClrMapping/>
  </p:clrMapOvr>
  <p:transition spd="med" advTm="222639"/>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C972D-D743-D791-F321-512DD006A5F6}"/>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23DE1F36-6062-D9F4-30AC-E369469BAF32}"/>
              </a:ext>
            </a:extLst>
          </p:cNvPr>
          <p:cNvSpPr txBox="1"/>
          <p:nvPr/>
        </p:nvSpPr>
        <p:spPr>
          <a:xfrm>
            <a:off x="1028458" y="730197"/>
            <a:ext cx="1297329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Primary infringement: non-literal copying</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61AE02C1-CB0C-8870-7A79-0201512ED1D9}"/>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9CB8BF41-EE23-C7C0-0F5A-71869D022D73}"/>
              </a:ext>
            </a:extLst>
          </p:cNvPr>
          <p:cNvSpPr/>
          <p:nvPr/>
        </p:nvSpPr>
        <p:spPr>
          <a:xfrm>
            <a:off x="1028459" y="1947120"/>
            <a:ext cx="15283345" cy="4754122"/>
          </a:xfrm>
          <a:prstGeom prst="rect">
            <a:avLst/>
          </a:prstGeom>
        </p:spPr>
        <p:txBody>
          <a:bodyPr wrap="square">
            <a:spAutoFit/>
          </a:bodyPr>
          <a:lstStyle/>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i="1" dirty="0">
                <a:solidFill>
                  <a:schemeClr val="tx2"/>
                </a:solidFill>
                <a:latin typeface="Barlow" pitchFamily="2" charset="77"/>
              </a:rPr>
              <a:t>Sheeran v Chokri </a:t>
            </a:r>
            <a:r>
              <a:rPr lang="en-GB" sz="3200" dirty="0">
                <a:solidFill>
                  <a:schemeClr val="tx2"/>
                </a:solidFill>
                <a:latin typeface="Barlow" pitchFamily="2" charset="77"/>
              </a:rPr>
              <a:t>[2022] EWCH 827</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Eight bar chorus similarity between Ed Sheeran’s ‘Shape of You’ vs Chokri’s ‘Oh Why’</a:t>
            </a:r>
          </a:p>
          <a:p>
            <a:pPr algn="just" defTabSz="457200">
              <a:lnSpc>
                <a:spcPct val="120000"/>
              </a:lnSpc>
              <a:defRPr sz="1400" b="0" spc="-27">
                <a:latin typeface="Barlow Regular"/>
                <a:ea typeface="Barlow Regular"/>
                <a:cs typeface="Barlow Regular"/>
                <a:sym typeface="Barlow Regular"/>
              </a:defRPr>
            </a:pPr>
            <a:endParaRPr lang="en-GB" sz="3200" dirty="0">
              <a:solidFill>
                <a:schemeClr val="tx2"/>
              </a:solidFill>
              <a:latin typeface="Barlow" pitchFamily="2" charset="77"/>
            </a:endParaRP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Access: inferred by connections in the music industry, interest in popular music scene</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lang="en-GB" sz="3200" dirty="0">
              <a:solidFill>
                <a:schemeClr val="tx2"/>
              </a:solidFill>
              <a:latin typeface="Barlow" pitchFamily="2" charset="77"/>
            </a:endParaRP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Similarity:</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Lyrics: “oh why, oh why” vs “oh I, oh I”</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Music: Direction of chords are both upwards, tone and rhythmic clicking </a:t>
            </a:r>
          </a:p>
        </p:txBody>
      </p:sp>
    </p:spTree>
    <p:extLst>
      <p:ext uri="{BB962C8B-B14F-4D97-AF65-F5344CB8AC3E}">
        <p14:creationId xmlns:p14="http://schemas.microsoft.com/office/powerpoint/2010/main" val="81604881"/>
      </p:ext>
    </p:extLst>
  </p:cSld>
  <p:clrMapOvr>
    <a:masterClrMapping/>
  </p:clrMapOvr>
  <p:transition spd="med" advTm="222639"/>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705FB-E0CE-85F5-B5AD-0F851211E2DB}"/>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53F8067E-B399-D269-5DC4-64879EB1F9FC}"/>
              </a:ext>
            </a:extLst>
          </p:cNvPr>
          <p:cNvSpPr txBox="1"/>
          <p:nvPr/>
        </p:nvSpPr>
        <p:spPr>
          <a:xfrm>
            <a:off x="1028458" y="730197"/>
            <a:ext cx="1297329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Primary infringement: non-literal copying</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C914D762-E7D1-207C-B3E4-50CCC68CB186}"/>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pic>
        <p:nvPicPr>
          <p:cNvPr id="3" name="Online Media 2" descr="Radiohead's 'Creep' vs. Lana Del Rey's 'Get Free' vs. The Hollies' 'The Air That I Breathe'">
            <a:hlinkClick r:id="" action="ppaction://media"/>
            <a:extLst>
              <a:ext uri="{FF2B5EF4-FFF2-40B4-BE49-F238E27FC236}">
                <a16:creationId xmlns:a16="http://schemas.microsoft.com/office/drawing/2014/main" id="{536FD9CA-914B-B483-1961-EAAA2599363E}"/>
              </a:ext>
            </a:extLst>
          </p:cNvPr>
          <p:cNvPicPr>
            <a:picLocks noRot="1" noChangeAspect="1"/>
          </p:cNvPicPr>
          <p:nvPr>
            <a:videoFile r:link="rId1"/>
          </p:nvPr>
        </p:nvPicPr>
        <p:blipFill>
          <a:blip r:embed="rId3"/>
          <a:stretch>
            <a:fillRect/>
          </a:stretch>
        </p:blipFill>
        <p:spPr>
          <a:xfrm>
            <a:off x="3310557" y="2072289"/>
            <a:ext cx="10451398" cy="5905039"/>
          </a:xfrm>
          <a:prstGeom prst="rect">
            <a:avLst/>
          </a:prstGeom>
        </p:spPr>
      </p:pic>
      <p:sp>
        <p:nvSpPr>
          <p:cNvPr id="5" name="TextBox 4">
            <a:extLst>
              <a:ext uri="{FF2B5EF4-FFF2-40B4-BE49-F238E27FC236}">
                <a16:creationId xmlns:a16="http://schemas.microsoft.com/office/drawing/2014/main" id="{17807E17-4C57-0846-52F7-E64D5367AD09}"/>
              </a:ext>
            </a:extLst>
          </p:cNvPr>
          <p:cNvSpPr txBox="1"/>
          <p:nvPr/>
        </p:nvSpPr>
        <p:spPr>
          <a:xfrm>
            <a:off x="3444432" y="8273345"/>
            <a:ext cx="10451398" cy="584775"/>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3200" b="0" dirty="0">
                <a:solidFill>
                  <a:schemeClr val="tx2"/>
                </a:solidFill>
                <a:latin typeface="Barlow" pitchFamily="2" charset="77"/>
              </a:rPr>
              <a:t>https://</a:t>
            </a:r>
            <a:r>
              <a:rPr lang="en-GB" sz="3200" b="0" dirty="0" err="1">
                <a:solidFill>
                  <a:schemeClr val="tx2"/>
                </a:solidFill>
                <a:latin typeface="Barlow" pitchFamily="2" charset="77"/>
              </a:rPr>
              <a:t>youtu.be</a:t>
            </a:r>
            <a:r>
              <a:rPr lang="en-GB" sz="3200" b="0" dirty="0">
                <a:solidFill>
                  <a:schemeClr val="tx2"/>
                </a:solidFill>
                <a:latin typeface="Barlow" pitchFamily="2" charset="77"/>
              </a:rPr>
              <a:t>/oaXFc4Zb78s?si=</a:t>
            </a:r>
            <a:r>
              <a:rPr lang="en-GB" sz="3200" b="0" dirty="0" err="1">
                <a:solidFill>
                  <a:schemeClr val="tx2"/>
                </a:solidFill>
                <a:latin typeface="Barlow" pitchFamily="2" charset="77"/>
              </a:rPr>
              <a:t>EvJOvLpDbJz-AuRx</a:t>
            </a:r>
            <a:endParaRPr lang="en-GB" sz="3200" b="0" dirty="0">
              <a:solidFill>
                <a:schemeClr val="tx2"/>
              </a:solidFill>
              <a:latin typeface="Barlow" pitchFamily="2" charset="77"/>
            </a:endParaRPr>
          </a:p>
        </p:txBody>
      </p:sp>
    </p:spTree>
    <p:extLst>
      <p:ext uri="{BB962C8B-B14F-4D97-AF65-F5344CB8AC3E}">
        <p14:creationId xmlns:p14="http://schemas.microsoft.com/office/powerpoint/2010/main" val="3586058872"/>
      </p:ext>
    </p:extLst>
  </p:cSld>
  <p:clrMapOvr>
    <a:masterClrMapping/>
  </p:clrMapOvr>
  <p:transition spd="med" advTm="222639"/>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15DCE-AE41-66AA-29DD-660E2F004EEA}"/>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88566703-A655-49B9-A314-074C17035FFB}"/>
              </a:ext>
            </a:extLst>
          </p:cNvPr>
          <p:cNvSpPr txBox="1"/>
          <p:nvPr/>
        </p:nvSpPr>
        <p:spPr>
          <a:xfrm>
            <a:off x="1028458" y="730197"/>
            <a:ext cx="1297329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Primary infringement: non-literal copying</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80097503-F496-2543-3337-E3B39AE57954}"/>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1F78CC2D-1FD0-ACAD-7A2E-E62C0F54607E}"/>
              </a:ext>
            </a:extLst>
          </p:cNvPr>
          <p:cNvSpPr/>
          <p:nvPr/>
        </p:nvSpPr>
        <p:spPr>
          <a:xfrm>
            <a:off x="1028459" y="1947120"/>
            <a:ext cx="15283345" cy="4163191"/>
          </a:xfrm>
          <a:prstGeom prst="rect">
            <a:avLst/>
          </a:prstGeom>
        </p:spPr>
        <p:txBody>
          <a:bodyPr wrap="square">
            <a:spAutoFit/>
          </a:bodyPr>
          <a:lstStyle/>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Note: Special rules for entrepreneurial works &lt;- differences between ‘sound a-likes’ and ‘sampling’</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Sound recordings regulated under </a:t>
            </a:r>
            <a:r>
              <a:rPr lang="en-GB" sz="3200" dirty="0" err="1">
                <a:solidFill>
                  <a:schemeClr val="tx2"/>
                </a:solidFill>
                <a:latin typeface="Barlow" pitchFamily="2" charset="77"/>
              </a:rPr>
              <a:t>InfoSoc</a:t>
            </a:r>
            <a:r>
              <a:rPr lang="en-GB" sz="3200" dirty="0">
                <a:solidFill>
                  <a:schemeClr val="tx2"/>
                </a:solidFill>
                <a:latin typeface="Barlow" pitchFamily="2" charset="77"/>
              </a:rPr>
              <a:t> Article 2 – harmonisation of treatment of reproduction for ‘parts’ of sound recordings</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i="1" dirty="0">
                <a:solidFill>
                  <a:schemeClr val="tx2"/>
                </a:solidFill>
                <a:latin typeface="Barlow" pitchFamily="2" charset="77"/>
              </a:rPr>
              <a:t>CJEU Pelham GmbH v. Ralf </a:t>
            </a:r>
            <a:r>
              <a:rPr lang="en-GB" sz="3200" i="1" dirty="0" err="1">
                <a:solidFill>
                  <a:schemeClr val="tx2"/>
                </a:solidFill>
                <a:latin typeface="Barlow" pitchFamily="2" charset="77"/>
              </a:rPr>
              <a:t>Hütter</a:t>
            </a:r>
            <a:r>
              <a:rPr lang="en-GB" sz="3200" i="1" dirty="0">
                <a:solidFill>
                  <a:schemeClr val="tx2"/>
                </a:solidFill>
                <a:latin typeface="Barlow" pitchFamily="2" charset="77"/>
              </a:rPr>
              <a:t> –</a:t>
            </a:r>
            <a:r>
              <a:rPr lang="en-GB" sz="3200" dirty="0">
                <a:solidFill>
                  <a:schemeClr val="tx2"/>
                </a:solidFill>
                <a:latin typeface="Barlow" pitchFamily="2" charset="77"/>
              </a:rPr>
              <a:t> using ‘very short audio snatches’ (samples) of approximately two seconds in duration from a recording is infringement</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Usually collectively managed (e.g., PRS)</a:t>
            </a:r>
          </a:p>
        </p:txBody>
      </p:sp>
    </p:spTree>
    <p:extLst>
      <p:ext uri="{BB962C8B-B14F-4D97-AF65-F5344CB8AC3E}">
        <p14:creationId xmlns:p14="http://schemas.microsoft.com/office/powerpoint/2010/main" val="2981964788"/>
      </p:ext>
    </p:extLst>
  </p:cSld>
  <p:clrMapOvr>
    <a:masterClrMapping/>
  </p:clrMapOvr>
  <p:transition spd="med" advTm="222639"/>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288A3-9E89-F4CE-7331-71C87E77F514}"/>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C7D0E8EC-C1A5-F15F-F5D1-076D060B2BBC}"/>
              </a:ext>
            </a:extLst>
          </p:cNvPr>
          <p:cNvSpPr txBox="1"/>
          <p:nvPr/>
        </p:nvSpPr>
        <p:spPr>
          <a:xfrm>
            <a:off x="1028458" y="730197"/>
            <a:ext cx="1394484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Infringement: summary</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7261B98D-96A1-41CA-E47B-7B627541F983}"/>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9A0C28D2-D5AD-990B-DEEB-3004DD19BF68}"/>
              </a:ext>
            </a:extLst>
          </p:cNvPr>
          <p:cNvSpPr/>
          <p:nvPr/>
        </p:nvSpPr>
        <p:spPr>
          <a:xfrm>
            <a:off x="1028459" y="1947120"/>
            <a:ext cx="15283345" cy="2981329"/>
          </a:xfrm>
          <a:prstGeom prst="rect">
            <a:avLst/>
          </a:prstGeom>
        </p:spPr>
        <p:txBody>
          <a:bodyPr wrap="square">
            <a:spAutoFit/>
          </a:bodyPr>
          <a:lstStyle/>
          <a:p>
            <a:pPr marL="457200" indent="-45720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Primary infringement includes literal and non-literal copying – non-literal copying is trickier to prove</a:t>
            </a:r>
          </a:p>
          <a:p>
            <a:pPr marL="457200" indent="-45720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Secondary infringement is about authorisation/facilitation of copying</a:t>
            </a:r>
          </a:p>
          <a:p>
            <a:pPr marL="457200" indent="-45720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Enforcement and remedies are optional, and may be of varying degrees of effectiveness</a:t>
            </a:r>
          </a:p>
        </p:txBody>
      </p:sp>
      <p:sp>
        <p:nvSpPr>
          <p:cNvPr id="3" name="TextBox 2">
            <a:extLst>
              <a:ext uri="{FF2B5EF4-FFF2-40B4-BE49-F238E27FC236}">
                <a16:creationId xmlns:a16="http://schemas.microsoft.com/office/drawing/2014/main" id="{EB514A1D-738D-CF35-465B-F7AFFE8AE05E}"/>
              </a:ext>
            </a:extLst>
          </p:cNvPr>
          <p:cNvSpPr txBox="1"/>
          <p:nvPr/>
        </p:nvSpPr>
        <p:spPr>
          <a:xfrm>
            <a:off x="4189499" y="5174982"/>
            <a:ext cx="41102" cy="318036"/>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20320" tIns="20320" rIns="20320" bIns="20320" numCol="1" spcCol="38100" rtlCol="0" anchor="ctr">
            <a:spAutoFit/>
          </a:bodyPr>
          <a:lstStyle/>
          <a:p>
            <a:pPr marL="0" marR="0" indent="0" algn="ctr" defTabSz="587022" rtl="0" fontAlgn="auto" latinLnBrk="0" hangingPunct="0">
              <a:lnSpc>
                <a:spcPct val="100000"/>
              </a:lnSpc>
              <a:spcBef>
                <a:spcPts val="0"/>
              </a:spcBef>
              <a:spcAft>
                <a:spcPts val="0"/>
              </a:spcAft>
              <a:buClrTx/>
              <a:buSzTx/>
              <a:buFontTx/>
              <a:buNone/>
              <a:tabLst/>
            </a:pPr>
            <a:endParaRPr kumimoji="0" lang="en-GB" sz="18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Tree>
    <p:extLst>
      <p:ext uri="{BB962C8B-B14F-4D97-AF65-F5344CB8AC3E}">
        <p14:creationId xmlns:p14="http://schemas.microsoft.com/office/powerpoint/2010/main" val="4176375023"/>
      </p:ext>
    </p:extLst>
  </p:cSld>
  <p:clrMapOvr>
    <a:masterClrMapping/>
  </p:clrMapOvr>
  <p:transition spd="med" advTm="222639"/>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5917E-107B-AB9E-FBB0-3BFF9D243C34}"/>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78A7EA97-B560-79AA-2577-F7F4506D2F8E}"/>
              </a:ext>
            </a:extLst>
          </p:cNvPr>
          <p:cNvSpPr txBox="1"/>
          <p:nvPr/>
        </p:nvSpPr>
        <p:spPr>
          <a:xfrm>
            <a:off x="1028458" y="730197"/>
            <a:ext cx="1394484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Formative assessment</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10B9B4A9-6F89-5C18-C04F-8082FA7AA198}"/>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E6124E73-B605-5196-5C93-20E5CA9ABA94}"/>
              </a:ext>
            </a:extLst>
          </p:cNvPr>
          <p:cNvSpPr/>
          <p:nvPr/>
        </p:nvSpPr>
        <p:spPr>
          <a:xfrm>
            <a:off x="1028459" y="1947120"/>
            <a:ext cx="15283345" cy="6149376"/>
          </a:xfrm>
          <a:prstGeom prst="rect">
            <a:avLst/>
          </a:prstGeom>
        </p:spPr>
        <p:txBody>
          <a:bodyPr wrap="square">
            <a:spAutoFit/>
          </a:bodyPr>
          <a:lstStyle/>
          <a:p>
            <a:pPr marL="457200" indent="-45720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400" dirty="0">
                <a:solidFill>
                  <a:schemeClr val="tx2"/>
                </a:solidFill>
                <a:latin typeface="Barlow" pitchFamily="2" charset="77"/>
              </a:rPr>
              <a:t>Due </a:t>
            </a:r>
            <a:r>
              <a:rPr lang="en-GB" sz="2400" u="sng" dirty="0">
                <a:solidFill>
                  <a:schemeClr val="tx2"/>
                </a:solidFill>
                <a:latin typeface="Barlow" pitchFamily="2" charset="77"/>
              </a:rPr>
              <a:t>11 March 2026</a:t>
            </a:r>
            <a:r>
              <a:rPr lang="en-GB" sz="2400" dirty="0">
                <a:solidFill>
                  <a:schemeClr val="tx2"/>
                </a:solidFill>
                <a:latin typeface="Barlow" pitchFamily="2" charset="77"/>
              </a:rPr>
              <a:t> at 4pm</a:t>
            </a:r>
          </a:p>
          <a:p>
            <a:pPr marL="457200" indent="-45720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400" dirty="0">
                <a:solidFill>
                  <a:schemeClr val="tx2"/>
                </a:solidFill>
                <a:latin typeface="Barlow" pitchFamily="2" charset="77"/>
              </a:rPr>
              <a:t>This </a:t>
            </a:r>
            <a:r>
              <a:rPr lang="en-GB" sz="2400" u="sng" dirty="0">
                <a:solidFill>
                  <a:schemeClr val="tx2"/>
                </a:solidFill>
                <a:latin typeface="Barlow" pitchFamily="2" charset="77"/>
              </a:rPr>
              <a:t>does no</a:t>
            </a:r>
            <a:r>
              <a:rPr lang="en-GB" sz="2400" dirty="0">
                <a:solidFill>
                  <a:schemeClr val="tx2"/>
                </a:solidFill>
                <a:latin typeface="Barlow" pitchFamily="2" charset="77"/>
              </a:rPr>
              <a:t>t contribute to your overall grade to the course – it is voluntary and ungraded</a:t>
            </a:r>
          </a:p>
          <a:p>
            <a:pPr algn="just"/>
            <a:endParaRPr lang="en-GB" sz="2400" b="0" dirty="0">
              <a:solidFill>
                <a:schemeClr val="tx2"/>
              </a:solidFill>
              <a:latin typeface="Barlow" pitchFamily="2" charset="77"/>
            </a:endParaRPr>
          </a:p>
          <a:p>
            <a:pPr algn="just"/>
            <a:r>
              <a:rPr lang="en-GB" sz="2400" b="0" dirty="0">
                <a:solidFill>
                  <a:schemeClr val="tx2"/>
                </a:solidFill>
                <a:latin typeface="Barlow" pitchFamily="2" charset="77"/>
              </a:rPr>
              <a:t>Students will have the opportunity to submit an essay plan in response to one of the summative essay questions for this course.</a:t>
            </a:r>
          </a:p>
          <a:p>
            <a:pPr algn="just"/>
            <a:r>
              <a:rPr lang="en-GB" sz="2400" b="0" dirty="0">
                <a:solidFill>
                  <a:schemeClr val="tx2"/>
                </a:solidFill>
                <a:latin typeface="Barlow" pitchFamily="2" charset="77"/>
              </a:rPr>
              <a:t> </a:t>
            </a:r>
          </a:p>
          <a:p>
            <a:pPr algn="just"/>
            <a:r>
              <a:rPr lang="en-GB" sz="2400" b="0" dirty="0">
                <a:solidFill>
                  <a:schemeClr val="tx2"/>
                </a:solidFill>
                <a:latin typeface="Barlow" pitchFamily="2" charset="77"/>
              </a:rPr>
              <a:t>This essay plan should be no longer than </a:t>
            </a:r>
            <a:r>
              <a:rPr lang="en-GB" sz="2400" b="0" u="sng" dirty="0">
                <a:solidFill>
                  <a:schemeClr val="tx2"/>
                </a:solidFill>
                <a:latin typeface="Barlow" pitchFamily="2" charset="77"/>
              </a:rPr>
              <a:t>500 words</a:t>
            </a:r>
            <a:r>
              <a:rPr lang="en-GB" sz="2400" b="0" dirty="0">
                <a:solidFill>
                  <a:schemeClr val="tx2"/>
                </a:solidFill>
                <a:latin typeface="Barlow" pitchFamily="2" charset="77"/>
              </a:rPr>
              <a:t> and should include:</a:t>
            </a:r>
          </a:p>
          <a:p>
            <a:pPr algn="just"/>
            <a:r>
              <a:rPr lang="en-GB" sz="2400" b="0" dirty="0">
                <a:solidFill>
                  <a:schemeClr val="tx2"/>
                </a:solidFill>
                <a:latin typeface="Barlow" pitchFamily="2" charset="77"/>
              </a:rPr>
              <a:t> </a:t>
            </a:r>
          </a:p>
          <a:p>
            <a:pPr marL="342900" lvl="0" indent="-342900" algn="just">
              <a:buFont typeface="Arial" panose="020B0604020202020204" pitchFamily="34" charset="0"/>
              <a:buChar char="•"/>
            </a:pPr>
            <a:r>
              <a:rPr lang="en-GB" sz="2400" b="0" dirty="0">
                <a:solidFill>
                  <a:schemeClr val="tx2"/>
                </a:solidFill>
                <a:latin typeface="Barlow" pitchFamily="2" charset="77"/>
              </a:rPr>
              <a:t>A ‘</a:t>
            </a:r>
            <a:r>
              <a:rPr lang="en-GB" sz="2400" b="0" u="sng" dirty="0">
                <a:solidFill>
                  <a:schemeClr val="tx2"/>
                </a:solidFill>
                <a:latin typeface="Barlow" pitchFamily="2" charset="77"/>
              </a:rPr>
              <a:t>thesis statement</a:t>
            </a:r>
            <a:r>
              <a:rPr lang="en-GB" sz="2400" b="0" dirty="0">
                <a:solidFill>
                  <a:schemeClr val="tx2"/>
                </a:solidFill>
                <a:latin typeface="Barlow" pitchFamily="2" charset="77"/>
              </a:rPr>
              <a:t>’ which addresses the question you have chosen. You may wish to frame this around e.g., whether you </a:t>
            </a:r>
            <a:r>
              <a:rPr lang="en-GB" sz="2400" b="0" u="sng" dirty="0">
                <a:solidFill>
                  <a:schemeClr val="tx2"/>
                </a:solidFill>
                <a:latin typeface="Barlow" pitchFamily="2" charset="77"/>
              </a:rPr>
              <a:t>agree or disagree</a:t>
            </a:r>
            <a:r>
              <a:rPr lang="en-GB" sz="2400" b="0" dirty="0">
                <a:solidFill>
                  <a:schemeClr val="tx2"/>
                </a:solidFill>
                <a:latin typeface="Barlow" pitchFamily="2" charset="77"/>
              </a:rPr>
              <a:t> with the premise of the essay question, and why (and perhaps, how you would defend your position).</a:t>
            </a:r>
          </a:p>
          <a:p>
            <a:pPr marL="342900" lvl="0" indent="-342900" algn="just">
              <a:buFont typeface="Arial" panose="020B0604020202020204" pitchFamily="34" charset="0"/>
              <a:buChar char="•"/>
            </a:pPr>
            <a:r>
              <a:rPr lang="en-GB" sz="2400" b="0" dirty="0">
                <a:solidFill>
                  <a:schemeClr val="tx2"/>
                </a:solidFill>
                <a:latin typeface="Barlow" pitchFamily="2" charset="77"/>
              </a:rPr>
              <a:t>A plan for the </a:t>
            </a:r>
            <a:r>
              <a:rPr lang="en-GB" sz="2400" b="0" u="sng" dirty="0">
                <a:solidFill>
                  <a:schemeClr val="tx2"/>
                </a:solidFill>
                <a:latin typeface="Barlow" pitchFamily="2" charset="77"/>
              </a:rPr>
              <a:t>structure</a:t>
            </a:r>
            <a:r>
              <a:rPr lang="en-GB" sz="2400" b="0" dirty="0">
                <a:solidFill>
                  <a:schemeClr val="tx2"/>
                </a:solidFill>
                <a:latin typeface="Barlow" pitchFamily="2" charset="77"/>
              </a:rPr>
              <a:t> of the essay, with indicative section headings and details of what the section of the essay will cover.</a:t>
            </a:r>
          </a:p>
          <a:p>
            <a:pPr marL="342900" lvl="0" indent="-342900" algn="just">
              <a:buFont typeface="Arial" panose="020B0604020202020204" pitchFamily="34" charset="0"/>
              <a:buChar char="•"/>
            </a:pPr>
            <a:r>
              <a:rPr lang="en-GB" sz="2400" b="0" dirty="0">
                <a:solidFill>
                  <a:schemeClr val="tx2"/>
                </a:solidFill>
                <a:latin typeface="Barlow" pitchFamily="2" charset="77"/>
              </a:rPr>
              <a:t>A list of </a:t>
            </a:r>
            <a:r>
              <a:rPr lang="en-GB" sz="2400" b="0" u="sng" dirty="0">
                <a:solidFill>
                  <a:schemeClr val="tx2"/>
                </a:solidFill>
                <a:latin typeface="Barlow" pitchFamily="2" charset="77"/>
              </a:rPr>
              <a:t>sources</a:t>
            </a:r>
            <a:r>
              <a:rPr lang="en-GB" sz="2400" b="0" dirty="0">
                <a:solidFill>
                  <a:schemeClr val="tx2"/>
                </a:solidFill>
                <a:latin typeface="Barlow" pitchFamily="2" charset="77"/>
              </a:rPr>
              <a:t> (primary and secondary) which you would intend to use.</a:t>
            </a:r>
          </a:p>
          <a:p>
            <a:pPr marL="342900" lvl="0" indent="-342900" algn="just">
              <a:buFont typeface="Arial" panose="020B0604020202020204" pitchFamily="34" charset="0"/>
              <a:buChar char="•"/>
            </a:pPr>
            <a:r>
              <a:rPr lang="en-GB" sz="2400" b="0" dirty="0">
                <a:solidFill>
                  <a:schemeClr val="tx2"/>
                </a:solidFill>
                <a:latin typeface="Barlow" pitchFamily="2" charset="77"/>
              </a:rPr>
              <a:t>Additionally, you can </a:t>
            </a:r>
            <a:r>
              <a:rPr lang="en-GB" sz="2400" b="0" u="sng" dirty="0">
                <a:solidFill>
                  <a:schemeClr val="tx2"/>
                </a:solidFill>
                <a:latin typeface="Barlow" pitchFamily="2" charset="77"/>
              </a:rPr>
              <a:t>identify one secondary source</a:t>
            </a:r>
            <a:r>
              <a:rPr lang="en-GB" sz="2400" b="0" dirty="0">
                <a:solidFill>
                  <a:schemeClr val="tx2"/>
                </a:solidFill>
                <a:latin typeface="Barlow" pitchFamily="2" charset="77"/>
              </a:rPr>
              <a:t> (e.g., academic commentary or article) that you think is of particularly good quality and relevant for your essay. Explain briefly how you will use this in your essay.</a:t>
            </a:r>
          </a:p>
        </p:txBody>
      </p:sp>
      <p:sp>
        <p:nvSpPr>
          <p:cNvPr id="3" name="TextBox 2">
            <a:extLst>
              <a:ext uri="{FF2B5EF4-FFF2-40B4-BE49-F238E27FC236}">
                <a16:creationId xmlns:a16="http://schemas.microsoft.com/office/drawing/2014/main" id="{797DCEA5-F311-996C-AB4F-B50783AD890C}"/>
              </a:ext>
            </a:extLst>
          </p:cNvPr>
          <p:cNvSpPr txBox="1"/>
          <p:nvPr/>
        </p:nvSpPr>
        <p:spPr>
          <a:xfrm>
            <a:off x="4189499" y="5174982"/>
            <a:ext cx="41102" cy="318036"/>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20320" tIns="20320" rIns="20320" bIns="20320" numCol="1" spcCol="38100" rtlCol="0" anchor="ctr">
            <a:spAutoFit/>
          </a:bodyPr>
          <a:lstStyle/>
          <a:p>
            <a:pPr marL="0" marR="0" indent="0" algn="ctr" defTabSz="587022" rtl="0" fontAlgn="auto" latinLnBrk="0" hangingPunct="0">
              <a:lnSpc>
                <a:spcPct val="100000"/>
              </a:lnSpc>
              <a:spcBef>
                <a:spcPts val="0"/>
              </a:spcBef>
              <a:spcAft>
                <a:spcPts val="0"/>
              </a:spcAft>
              <a:buClrTx/>
              <a:buSzTx/>
              <a:buFontTx/>
              <a:buNone/>
              <a:tabLst/>
            </a:pPr>
            <a:endParaRPr kumimoji="0" lang="en-GB" sz="18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Tree>
    <p:extLst>
      <p:ext uri="{BB962C8B-B14F-4D97-AF65-F5344CB8AC3E}">
        <p14:creationId xmlns:p14="http://schemas.microsoft.com/office/powerpoint/2010/main" val="4206133561"/>
      </p:ext>
    </p:extLst>
  </p:cSld>
  <p:clrMapOvr>
    <a:masterClrMapping/>
  </p:clrMapOvr>
  <p:transition spd="med" advTm="222639"/>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E26DA-DE3E-1659-D892-DB771E6DE017}"/>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C745B67A-2283-93F3-23FC-3FC3A4D0F9F9}"/>
              </a:ext>
            </a:extLst>
          </p:cNvPr>
          <p:cNvSpPr txBox="1"/>
          <p:nvPr/>
        </p:nvSpPr>
        <p:spPr>
          <a:xfrm>
            <a:off x="1028458" y="730197"/>
            <a:ext cx="1394484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Next week</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26AD6D05-B1F3-EA34-D1A2-3348E6A159D2}"/>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E18BD40E-E24E-10EF-FB15-417DA4E2B9DE}"/>
              </a:ext>
            </a:extLst>
          </p:cNvPr>
          <p:cNvSpPr/>
          <p:nvPr/>
        </p:nvSpPr>
        <p:spPr>
          <a:xfrm>
            <a:off x="1028459" y="1947120"/>
            <a:ext cx="15283345" cy="1069011"/>
          </a:xfrm>
          <a:prstGeom prst="rect">
            <a:avLst/>
          </a:prstGeom>
        </p:spPr>
        <p:txBody>
          <a:bodyPr wrap="square">
            <a:spAutoFit/>
          </a:bodyPr>
          <a:lstStyle/>
          <a:p>
            <a:pPr marL="457200" indent="-45720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Readings/preparation for Seminar 6 (Performers’ rights)</a:t>
            </a:r>
          </a:p>
          <a:p>
            <a:pPr marL="457200" indent="-45720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Any questions/concerns get in touch for office hours (TBD): </a:t>
            </a:r>
            <a:r>
              <a:rPr lang="en-GB" sz="2800" dirty="0" err="1">
                <a:solidFill>
                  <a:schemeClr val="tx2"/>
                </a:solidFill>
                <a:latin typeface="Barlow" pitchFamily="2" charset="77"/>
              </a:rPr>
              <a:t>amy.thomas@glasgow.ac.uk</a:t>
            </a:r>
            <a:endParaRPr lang="en-GB" sz="2800" dirty="0">
              <a:solidFill>
                <a:schemeClr val="tx2"/>
              </a:solidFill>
              <a:latin typeface="Barlow" pitchFamily="2" charset="77"/>
            </a:endParaRPr>
          </a:p>
        </p:txBody>
      </p:sp>
      <p:sp>
        <p:nvSpPr>
          <p:cNvPr id="3" name="TextBox 2">
            <a:extLst>
              <a:ext uri="{FF2B5EF4-FFF2-40B4-BE49-F238E27FC236}">
                <a16:creationId xmlns:a16="http://schemas.microsoft.com/office/drawing/2014/main" id="{2C9F2E2A-0537-A7AB-3132-992546526A67}"/>
              </a:ext>
            </a:extLst>
          </p:cNvPr>
          <p:cNvSpPr txBox="1"/>
          <p:nvPr/>
        </p:nvSpPr>
        <p:spPr>
          <a:xfrm>
            <a:off x="4189499" y="5174982"/>
            <a:ext cx="41102" cy="318036"/>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20320" tIns="20320" rIns="20320" bIns="20320" numCol="1" spcCol="38100" rtlCol="0" anchor="ctr">
            <a:spAutoFit/>
          </a:bodyPr>
          <a:lstStyle/>
          <a:p>
            <a:pPr marL="0" marR="0" indent="0" algn="ctr" defTabSz="587022" rtl="0" fontAlgn="auto" latinLnBrk="0" hangingPunct="0">
              <a:lnSpc>
                <a:spcPct val="100000"/>
              </a:lnSpc>
              <a:spcBef>
                <a:spcPts val="0"/>
              </a:spcBef>
              <a:spcAft>
                <a:spcPts val="0"/>
              </a:spcAft>
              <a:buClrTx/>
              <a:buSzTx/>
              <a:buFontTx/>
              <a:buNone/>
              <a:tabLst/>
            </a:pPr>
            <a:endParaRPr kumimoji="0" lang="en-GB" sz="18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Tree>
    <p:extLst>
      <p:ext uri="{BB962C8B-B14F-4D97-AF65-F5344CB8AC3E}">
        <p14:creationId xmlns:p14="http://schemas.microsoft.com/office/powerpoint/2010/main" val="3298769954"/>
      </p:ext>
    </p:extLst>
  </p:cSld>
  <p:clrMapOvr>
    <a:masterClrMapping/>
  </p:clrMapOvr>
  <p:transition spd="med" advTm="222639"/>
</p:sld>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20320" tIns="20320" rIns="20320" bIns="2032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20320" tIns="20320" rIns="20320" bIns="2032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2504</TotalTime>
  <Words>1537</Words>
  <Application>Microsoft Macintosh PowerPoint</Application>
  <PresentationFormat>Custom</PresentationFormat>
  <Paragraphs>140</Paragraphs>
  <Slides>24</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Barlow</vt:lpstr>
      <vt:lpstr>Calibri</vt:lpstr>
      <vt:lpstr>Helvetica Neue</vt:lpstr>
      <vt:lpstr>Helvetica Neue Light</vt:lpstr>
      <vt:lpstr>Helvetica Neue Medium</vt: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MEMES AND PARASITES: ANALYSING DISCOURSE ON THE COPYRIGHT DIRECTIVE  Ula Furgal Amy Thomas Gikii 2020</dc:title>
  <dc:creator>Amy Thomas (student)</dc:creator>
  <cp:lastModifiedBy>Amy Thomas</cp:lastModifiedBy>
  <cp:revision>113</cp:revision>
  <dcterms:created xsi:type="dcterms:W3CDTF">2020-07-21T13:40:18Z</dcterms:created>
  <dcterms:modified xsi:type="dcterms:W3CDTF">2026-02-17T12:52:12Z</dcterms:modified>
</cp:coreProperties>
</file>