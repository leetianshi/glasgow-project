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66" r:id="rId5"/>
    <p:sldId id="296" r:id="rId6"/>
    <p:sldId id="319" r:id="rId7"/>
    <p:sldId id="262" r:id="rId8"/>
    <p:sldId id="269" r:id="rId9"/>
    <p:sldId id="298" r:id="rId10"/>
    <p:sldId id="297" r:id="rId11"/>
    <p:sldId id="306" r:id="rId12"/>
    <p:sldId id="301" r:id="rId13"/>
    <p:sldId id="303" r:id="rId14"/>
    <p:sldId id="308" r:id="rId15"/>
    <p:sldId id="309" r:id="rId16"/>
    <p:sldId id="310" r:id="rId17"/>
    <p:sldId id="311" r:id="rId18"/>
    <p:sldId id="302" r:id="rId19"/>
    <p:sldId id="307" r:id="rId20"/>
    <p:sldId id="293" r:id="rId21"/>
    <p:sldId id="300" r:id="rId22"/>
    <p:sldId id="312" r:id="rId23"/>
    <p:sldId id="313" r:id="rId24"/>
    <p:sldId id="314" r:id="rId25"/>
    <p:sldId id="288" r:id="rId26"/>
    <p:sldId id="271" r:id="rId27"/>
    <p:sldId id="304" r:id="rId28"/>
    <p:sldId id="305" r:id="rId29"/>
    <p:sldId id="315" r:id="rId30"/>
    <p:sldId id="316" r:id="rId31"/>
    <p:sldId id="317" r:id="rId32"/>
    <p:sldId id="286" r:id="rId33"/>
    <p:sldId id="272" r:id="rId34"/>
    <p:sldId id="295" r:id="rId35"/>
    <p:sldId id="26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5EB7"/>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7E3FB-8411-42CD-ACDC-252C98B626D7}" v="25" dt="2026-03-20T08:52:59.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650" autoAdjust="0"/>
    <p:restoredTop sz="94660"/>
  </p:normalViewPr>
  <p:slideViewPr>
    <p:cSldViewPr snapToGrid="0">
      <p:cViewPr varScale="1">
        <p:scale>
          <a:sx n="101" d="100"/>
          <a:sy n="101" d="100"/>
        </p:scale>
        <p:origin x="15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Azzutti" userId="79d9eba9-d118-4bc2-a885-faf37c140641" providerId="ADAL" clId="{CBEB4252-DF86-4ECC-8C3C-0E0F6AA70445}"/>
    <pc:docChg chg="undo custSel addSld delSld modSld">
      <pc:chgData name="Alessio Azzutti" userId="79d9eba9-d118-4bc2-a885-faf37c140641" providerId="ADAL" clId="{CBEB4252-DF86-4ECC-8C3C-0E0F6AA70445}" dt="2026-03-20T08:53:08.472" v="341" actId="1076"/>
      <pc:docMkLst>
        <pc:docMk/>
      </pc:docMkLst>
      <pc:sldChg chg="modSp mod">
        <pc:chgData name="Alessio Azzutti" userId="79d9eba9-d118-4bc2-a885-faf37c140641" providerId="ADAL" clId="{CBEB4252-DF86-4ECC-8C3C-0E0F6AA70445}" dt="2026-03-17T11:31:23.311" v="5" actId="20577"/>
        <pc:sldMkLst>
          <pc:docMk/>
          <pc:sldMk cId="2822712065" sldId="256"/>
        </pc:sldMkLst>
        <pc:spChg chg="mod">
          <ac:chgData name="Alessio Azzutti" userId="79d9eba9-d118-4bc2-a885-faf37c140641" providerId="ADAL" clId="{CBEB4252-DF86-4ECC-8C3C-0E0F6AA70445}" dt="2026-03-17T11:31:23.311" v="5" actId="20577"/>
          <ac:spMkLst>
            <pc:docMk/>
            <pc:sldMk cId="2822712065" sldId="256"/>
            <ac:spMk id="3" creationId="{DB0ECF7C-6835-3956-190A-47E85B2B4072}"/>
          </ac:spMkLst>
        </pc:spChg>
      </pc:sldChg>
      <pc:sldChg chg="modSp mod">
        <pc:chgData name="Alessio Azzutti" userId="79d9eba9-d118-4bc2-a885-faf37c140641" providerId="ADAL" clId="{CBEB4252-DF86-4ECC-8C3C-0E0F6AA70445}" dt="2026-03-20T08:26:43.518" v="58" actId="113"/>
        <pc:sldMkLst>
          <pc:docMk/>
          <pc:sldMk cId="2911960127" sldId="257"/>
        </pc:sldMkLst>
        <pc:spChg chg="mod">
          <ac:chgData name="Alessio Azzutti" userId="79d9eba9-d118-4bc2-a885-faf37c140641" providerId="ADAL" clId="{CBEB4252-DF86-4ECC-8C3C-0E0F6AA70445}" dt="2026-03-17T11:31:32.510" v="7" actId="947"/>
          <ac:spMkLst>
            <pc:docMk/>
            <pc:sldMk cId="2911960127" sldId="257"/>
            <ac:spMk id="2" creationId="{5081DDAE-1698-B1F3-1038-B9B3D96257EA}"/>
          </ac:spMkLst>
        </pc:spChg>
        <pc:spChg chg="mod">
          <ac:chgData name="Alessio Azzutti" userId="79d9eba9-d118-4bc2-a885-faf37c140641" providerId="ADAL" clId="{CBEB4252-DF86-4ECC-8C3C-0E0F6AA70445}" dt="2026-03-20T08:26:43.518" v="58" actId="113"/>
          <ac:spMkLst>
            <pc:docMk/>
            <pc:sldMk cId="2911960127" sldId="257"/>
            <ac:spMk id="3" creationId="{411CB33A-7DA6-6CC2-D232-9B3288727A77}"/>
          </ac:spMkLst>
        </pc:spChg>
      </pc:sldChg>
      <pc:sldChg chg="modSp mod">
        <pc:chgData name="Alessio Azzutti" userId="79d9eba9-d118-4bc2-a885-faf37c140641" providerId="ADAL" clId="{CBEB4252-DF86-4ECC-8C3C-0E0F6AA70445}" dt="2026-03-20T08:28:06.126" v="68" actId="114"/>
        <pc:sldMkLst>
          <pc:docMk/>
          <pc:sldMk cId="3473272439" sldId="258"/>
        </pc:sldMkLst>
        <pc:spChg chg="mod">
          <ac:chgData name="Alessio Azzutti" userId="79d9eba9-d118-4bc2-a885-faf37c140641" providerId="ADAL" clId="{CBEB4252-DF86-4ECC-8C3C-0E0F6AA70445}" dt="2026-03-20T08:28:06.126" v="68" actId="114"/>
          <ac:spMkLst>
            <pc:docMk/>
            <pc:sldMk cId="3473272439" sldId="258"/>
            <ac:spMk id="3" creationId="{5131A859-8E3B-0B6C-125E-5FB514007560}"/>
          </ac:spMkLst>
        </pc:spChg>
      </pc:sldChg>
      <pc:sldChg chg="modSp del mod">
        <pc:chgData name="Alessio Azzutti" userId="79d9eba9-d118-4bc2-a885-faf37c140641" providerId="ADAL" clId="{CBEB4252-DF86-4ECC-8C3C-0E0F6AA70445}" dt="2026-03-20T08:34:08.974" v="169" actId="47"/>
        <pc:sldMkLst>
          <pc:docMk/>
          <pc:sldMk cId="1224984418" sldId="261"/>
        </pc:sldMkLst>
      </pc:sldChg>
      <pc:sldChg chg="addSp modSp mod">
        <pc:chgData name="Alessio Azzutti" userId="79d9eba9-d118-4bc2-a885-faf37c140641" providerId="ADAL" clId="{CBEB4252-DF86-4ECC-8C3C-0E0F6AA70445}" dt="2026-03-20T08:34:25.422" v="174" actId="1076"/>
        <pc:sldMkLst>
          <pc:docMk/>
          <pc:sldMk cId="3276553568" sldId="262"/>
        </pc:sldMkLst>
        <pc:picChg chg="add mod">
          <ac:chgData name="Alessio Azzutti" userId="79d9eba9-d118-4bc2-a885-faf37c140641" providerId="ADAL" clId="{CBEB4252-DF86-4ECC-8C3C-0E0F6AA70445}" dt="2026-03-20T08:34:25.422" v="174" actId="1076"/>
          <ac:picMkLst>
            <pc:docMk/>
            <pc:sldMk cId="3276553568" sldId="262"/>
            <ac:picMk id="5" creationId="{645D8B3C-DCB3-F6BE-E7DB-14739EDCE28F}"/>
          </ac:picMkLst>
        </pc:picChg>
      </pc:sldChg>
      <pc:sldChg chg="modSp mod">
        <pc:chgData name="Alessio Azzutti" userId="79d9eba9-d118-4bc2-a885-faf37c140641" providerId="ADAL" clId="{CBEB4252-DF86-4ECC-8C3C-0E0F6AA70445}" dt="2026-03-20T08:53:08.472" v="341" actId="1076"/>
        <pc:sldMkLst>
          <pc:docMk/>
          <pc:sldMk cId="1979497590" sldId="265"/>
        </pc:sldMkLst>
        <pc:spChg chg="mod">
          <ac:chgData name="Alessio Azzutti" userId="79d9eba9-d118-4bc2-a885-faf37c140641" providerId="ADAL" clId="{CBEB4252-DF86-4ECC-8C3C-0E0F6AA70445}" dt="2026-03-20T08:53:04.171" v="340" actId="947"/>
          <ac:spMkLst>
            <pc:docMk/>
            <pc:sldMk cId="1979497590" sldId="265"/>
            <ac:spMk id="2" creationId="{64644263-E979-7F29-4C38-8BD80C62EC04}"/>
          </ac:spMkLst>
        </pc:spChg>
        <pc:spChg chg="mod">
          <ac:chgData name="Alessio Azzutti" userId="79d9eba9-d118-4bc2-a885-faf37c140641" providerId="ADAL" clId="{CBEB4252-DF86-4ECC-8C3C-0E0F6AA70445}" dt="2026-03-20T08:53:08.472" v="341" actId="1076"/>
          <ac:spMkLst>
            <pc:docMk/>
            <pc:sldMk cId="1979497590" sldId="265"/>
            <ac:spMk id="8" creationId="{90B9EA9B-021B-7A71-DA69-FAC369DD1246}"/>
          </ac:spMkLst>
        </pc:spChg>
        <pc:picChg chg="mod">
          <ac:chgData name="Alessio Azzutti" userId="79d9eba9-d118-4bc2-a885-faf37c140641" providerId="ADAL" clId="{CBEB4252-DF86-4ECC-8C3C-0E0F6AA70445}" dt="2026-03-20T08:52:59.115" v="339" actId="14826"/>
          <ac:picMkLst>
            <pc:docMk/>
            <pc:sldMk cId="1979497590" sldId="265"/>
            <ac:picMk id="6" creationId="{F3A5C0DE-3324-6A9E-D9AC-CDB6C9EF384D}"/>
          </ac:picMkLst>
        </pc:picChg>
      </pc:sldChg>
      <pc:sldChg chg="modSp mod">
        <pc:chgData name="Alessio Azzutti" userId="79d9eba9-d118-4bc2-a885-faf37c140641" providerId="ADAL" clId="{CBEB4252-DF86-4ECC-8C3C-0E0F6AA70445}" dt="2026-03-20T08:28:13.109" v="69" actId="1076"/>
        <pc:sldMkLst>
          <pc:docMk/>
          <pc:sldMk cId="3640448178" sldId="266"/>
        </pc:sldMkLst>
        <pc:spChg chg="mod">
          <ac:chgData name="Alessio Azzutti" userId="79d9eba9-d118-4bc2-a885-faf37c140641" providerId="ADAL" clId="{CBEB4252-DF86-4ECC-8C3C-0E0F6AA70445}" dt="2026-03-20T08:28:13.109" v="69" actId="1076"/>
          <ac:spMkLst>
            <pc:docMk/>
            <pc:sldMk cId="3640448178" sldId="266"/>
            <ac:spMk id="14" creationId="{F335107B-7DF5-0BFD-DAB2-2EA8E29E4645}"/>
          </ac:spMkLst>
        </pc:spChg>
      </pc:sldChg>
      <pc:sldChg chg="modSp mod">
        <pc:chgData name="Alessio Azzutti" userId="79d9eba9-d118-4bc2-a885-faf37c140641" providerId="ADAL" clId="{CBEB4252-DF86-4ECC-8C3C-0E0F6AA70445}" dt="2026-03-17T11:32:12.684" v="12" actId="1076"/>
        <pc:sldMkLst>
          <pc:docMk/>
          <pc:sldMk cId="3427896744" sldId="269"/>
        </pc:sldMkLst>
        <pc:spChg chg="mod">
          <ac:chgData name="Alessio Azzutti" userId="79d9eba9-d118-4bc2-a885-faf37c140641" providerId="ADAL" clId="{CBEB4252-DF86-4ECC-8C3C-0E0F6AA70445}" dt="2026-03-17T11:32:12.684" v="12" actId="1076"/>
          <ac:spMkLst>
            <pc:docMk/>
            <pc:sldMk cId="3427896744" sldId="269"/>
            <ac:spMk id="3" creationId="{C7909D69-EF44-26DA-7BD2-A5CD42A88C13}"/>
          </ac:spMkLst>
        </pc:spChg>
      </pc:sldChg>
      <pc:sldChg chg="modSp mod">
        <pc:chgData name="Alessio Azzutti" userId="79d9eba9-d118-4bc2-a885-faf37c140641" providerId="ADAL" clId="{CBEB4252-DF86-4ECC-8C3C-0E0F6AA70445}" dt="2026-03-20T08:50:15.005" v="306" actId="1076"/>
        <pc:sldMkLst>
          <pc:docMk/>
          <pc:sldMk cId="2358144377" sldId="271"/>
        </pc:sldMkLst>
        <pc:spChg chg="mod">
          <ac:chgData name="Alessio Azzutti" userId="79d9eba9-d118-4bc2-a885-faf37c140641" providerId="ADAL" clId="{CBEB4252-DF86-4ECC-8C3C-0E0F6AA70445}" dt="2026-03-20T08:50:15.005" v="306" actId="1076"/>
          <ac:spMkLst>
            <pc:docMk/>
            <pc:sldMk cId="2358144377" sldId="271"/>
            <ac:spMk id="3" creationId="{D073A37F-6E90-91E6-DBD1-C90713AED0D6}"/>
          </ac:spMkLst>
        </pc:spChg>
      </pc:sldChg>
      <pc:sldChg chg="modSp mod">
        <pc:chgData name="Alessio Azzutti" userId="79d9eba9-d118-4bc2-a885-faf37c140641" providerId="ADAL" clId="{CBEB4252-DF86-4ECC-8C3C-0E0F6AA70445}" dt="2026-03-20T08:52:32.521" v="328" actId="20577"/>
        <pc:sldMkLst>
          <pc:docMk/>
          <pc:sldMk cId="1504641730" sldId="272"/>
        </pc:sldMkLst>
        <pc:spChg chg="mod">
          <ac:chgData name="Alessio Azzutti" userId="79d9eba9-d118-4bc2-a885-faf37c140641" providerId="ADAL" clId="{CBEB4252-DF86-4ECC-8C3C-0E0F6AA70445}" dt="2026-03-20T08:52:32.521" v="328" actId="20577"/>
          <ac:spMkLst>
            <pc:docMk/>
            <pc:sldMk cId="1504641730" sldId="272"/>
            <ac:spMk id="3" creationId="{901E781C-7F22-D128-383B-CAEA015E4ED5}"/>
          </ac:spMkLst>
        </pc:spChg>
      </pc:sldChg>
      <pc:sldChg chg="addSp modSp mod">
        <pc:chgData name="Alessio Azzutti" userId="79d9eba9-d118-4bc2-a885-faf37c140641" providerId="ADAL" clId="{CBEB4252-DF86-4ECC-8C3C-0E0F6AA70445}" dt="2026-03-20T08:52:18.771" v="318" actId="1076"/>
        <pc:sldMkLst>
          <pc:docMk/>
          <pc:sldMk cId="1521673638" sldId="286"/>
        </pc:sldMkLst>
        <pc:picChg chg="add mod">
          <ac:chgData name="Alessio Azzutti" userId="79d9eba9-d118-4bc2-a885-faf37c140641" providerId="ADAL" clId="{CBEB4252-DF86-4ECC-8C3C-0E0F6AA70445}" dt="2026-03-20T08:52:18.771" v="318" actId="1076"/>
          <ac:picMkLst>
            <pc:docMk/>
            <pc:sldMk cId="1521673638" sldId="286"/>
            <ac:picMk id="5" creationId="{AA822A20-FACA-067B-940B-F4C5DBDFBAE7}"/>
          </ac:picMkLst>
        </pc:picChg>
      </pc:sldChg>
      <pc:sldChg chg="del">
        <pc:chgData name="Alessio Azzutti" userId="79d9eba9-d118-4bc2-a885-faf37c140641" providerId="ADAL" clId="{CBEB4252-DF86-4ECC-8C3C-0E0F6AA70445}" dt="2026-03-20T08:36:15.191" v="216" actId="47"/>
        <pc:sldMkLst>
          <pc:docMk/>
          <pc:sldMk cId="122691829" sldId="287"/>
        </pc:sldMkLst>
      </pc:sldChg>
      <pc:sldChg chg="addSp modSp mod">
        <pc:chgData name="Alessio Azzutti" userId="79d9eba9-d118-4bc2-a885-faf37c140641" providerId="ADAL" clId="{CBEB4252-DF86-4ECC-8C3C-0E0F6AA70445}" dt="2026-03-20T08:50:08.567" v="305" actId="14100"/>
        <pc:sldMkLst>
          <pc:docMk/>
          <pc:sldMk cId="3611746311" sldId="288"/>
        </pc:sldMkLst>
        <pc:picChg chg="add mod">
          <ac:chgData name="Alessio Azzutti" userId="79d9eba9-d118-4bc2-a885-faf37c140641" providerId="ADAL" clId="{CBEB4252-DF86-4ECC-8C3C-0E0F6AA70445}" dt="2026-03-20T08:50:08.567" v="305" actId="14100"/>
          <ac:picMkLst>
            <pc:docMk/>
            <pc:sldMk cId="3611746311" sldId="288"/>
            <ac:picMk id="5" creationId="{AB449E69-9375-1E1D-C3CA-386BDE9D1E1A}"/>
          </ac:picMkLst>
        </pc:picChg>
      </pc:sldChg>
      <pc:sldChg chg="modSp mod">
        <pc:chgData name="Alessio Azzutti" userId="79d9eba9-d118-4bc2-a885-faf37c140641" providerId="ADAL" clId="{CBEB4252-DF86-4ECC-8C3C-0E0F6AA70445}" dt="2026-03-17T11:34:05.138" v="31" actId="947"/>
        <pc:sldMkLst>
          <pc:docMk/>
          <pc:sldMk cId="2886627156" sldId="293"/>
        </pc:sldMkLst>
        <pc:spChg chg="mod">
          <ac:chgData name="Alessio Azzutti" userId="79d9eba9-d118-4bc2-a885-faf37c140641" providerId="ADAL" clId="{CBEB4252-DF86-4ECC-8C3C-0E0F6AA70445}" dt="2026-03-17T11:34:05.138" v="31" actId="947"/>
          <ac:spMkLst>
            <pc:docMk/>
            <pc:sldMk cId="2886627156" sldId="293"/>
            <ac:spMk id="2" creationId="{5DA043B1-FD9F-E79C-FC81-ABD7A72C1C0D}"/>
          </ac:spMkLst>
        </pc:spChg>
      </pc:sldChg>
      <pc:sldChg chg="modSp mod">
        <pc:chgData name="Alessio Azzutti" userId="79d9eba9-d118-4bc2-a885-faf37c140641" providerId="ADAL" clId="{CBEB4252-DF86-4ECC-8C3C-0E0F6AA70445}" dt="2026-03-20T08:52:39.953" v="338" actId="20577"/>
        <pc:sldMkLst>
          <pc:docMk/>
          <pc:sldMk cId="3719654048" sldId="295"/>
        </pc:sldMkLst>
        <pc:spChg chg="mod">
          <ac:chgData name="Alessio Azzutti" userId="79d9eba9-d118-4bc2-a885-faf37c140641" providerId="ADAL" clId="{CBEB4252-DF86-4ECC-8C3C-0E0F6AA70445}" dt="2026-03-20T08:52:39.953" v="338" actId="20577"/>
          <ac:spMkLst>
            <pc:docMk/>
            <pc:sldMk cId="3719654048" sldId="295"/>
            <ac:spMk id="2" creationId="{103E34BD-B182-7FB0-F2E0-3C5DD8A196EF}"/>
          </ac:spMkLst>
        </pc:spChg>
      </pc:sldChg>
      <pc:sldChg chg="modSp mod">
        <pc:chgData name="Alessio Azzutti" userId="79d9eba9-d118-4bc2-a885-faf37c140641" providerId="ADAL" clId="{CBEB4252-DF86-4ECC-8C3C-0E0F6AA70445}" dt="2026-03-20T08:32:41.192" v="160" actId="113"/>
        <pc:sldMkLst>
          <pc:docMk/>
          <pc:sldMk cId="543413743" sldId="296"/>
        </pc:sldMkLst>
        <pc:spChg chg="mod">
          <ac:chgData name="Alessio Azzutti" userId="79d9eba9-d118-4bc2-a885-faf37c140641" providerId="ADAL" clId="{CBEB4252-DF86-4ECC-8C3C-0E0F6AA70445}" dt="2026-03-17T11:31:56.383" v="10" actId="122"/>
          <ac:spMkLst>
            <pc:docMk/>
            <pc:sldMk cId="543413743" sldId="296"/>
            <ac:spMk id="2" creationId="{34A2D0C2-2118-E915-68B7-9D67C39CE7F4}"/>
          </ac:spMkLst>
        </pc:spChg>
        <pc:spChg chg="mod">
          <ac:chgData name="Alessio Azzutti" userId="79d9eba9-d118-4bc2-a885-faf37c140641" providerId="ADAL" clId="{CBEB4252-DF86-4ECC-8C3C-0E0F6AA70445}" dt="2026-03-20T08:32:41.192" v="160" actId="113"/>
          <ac:spMkLst>
            <pc:docMk/>
            <pc:sldMk cId="543413743" sldId="296"/>
            <ac:spMk id="14" creationId="{45B63C61-0C63-B9EF-A4E3-79D301E11FBC}"/>
          </ac:spMkLst>
        </pc:spChg>
      </pc:sldChg>
      <pc:sldChg chg="modSp mod">
        <pc:chgData name="Alessio Azzutti" userId="79d9eba9-d118-4bc2-a885-faf37c140641" providerId="ADAL" clId="{CBEB4252-DF86-4ECC-8C3C-0E0F6AA70445}" dt="2026-03-20T08:38:51.299" v="243"/>
        <pc:sldMkLst>
          <pc:docMk/>
          <pc:sldMk cId="800946121" sldId="297"/>
        </pc:sldMkLst>
        <pc:spChg chg="mod">
          <ac:chgData name="Alessio Azzutti" userId="79d9eba9-d118-4bc2-a885-faf37c140641" providerId="ADAL" clId="{CBEB4252-DF86-4ECC-8C3C-0E0F6AA70445}" dt="2026-03-17T11:32:48.595" v="16" actId="947"/>
          <ac:spMkLst>
            <pc:docMk/>
            <pc:sldMk cId="800946121" sldId="297"/>
            <ac:spMk id="2" creationId="{4414E5E0-C644-3870-3C1D-4A9F14FC1B87}"/>
          </ac:spMkLst>
        </pc:spChg>
        <pc:spChg chg="mod">
          <ac:chgData name="Alessio Azzutti" userId="79d9eba9-d118-4bc2-a885-faf37c140641" providerId="ADAL" clId="{CBEB4252-DF86-4ECC-8C3C-0E0F6AA70445}" dt="2026-03-20T08:38:51.299" v="243"/>
          <ac:spMkLst>
            <pc:docMk/>
            <pc:sldMk cId="800946121" sldId="297"/>
            <ac:spMk id="5" creationId="{1D3981EB-D3E4-1A82-D059-65C3D4C9DFDB}"/>
          </ac:spMkLst>
        </pc:spChg>
      </pc:sldChg>
      <pc:sldChg chg="modSp mod">
        <pc:chgData name="Alessio Azzutti" userId="79d9eba9-d118-4bc2-a885-faf37c140641" providerId="ADAL" clId="{CBEB4252-DF86-4ECC-8C3C-0E0F6AA70445}" dt="2026-03-20T08:36:06.894" v="215" actId="113"/>
        <pc:sldMkLst>
          <pc:docMk/>
          <pc:sldMk cId="2795564313" sldId="298"/>
        </pc:sldMkLst>
        <pc:spChg chg="mod">
          <ac:chgData name="Alessio Azzutti" userId="79d9eba9-d118-4bc2-a885-faf37c140641" providerId="ADAL" clId="{CBEB4252-DF86-4ECC-8C3C-0E0F6AA70445}" dt="2026-03-20T08:35:09.064" v="206" actId="1076"/>
          <ac:spMkLst>
            <pc:docMk/>
            <pc:sldMk cId="2795564313" sldId="298"/>
            <ac:spMk id="2" creationId="{D5D9C1FB-9505-B8F7-9C7A-EE99491B3FF8}"/>
          </ac:spMkLst>
        </pc:spChg>
        <pc:spChg chg="mod">
          <ac:chgData name="Alessio Azzutti" userId="79d9eba9-d118-4bc2-a885-faf37c140641" providerId="ADAL" clId="{CBEB4252-DF86-4ECC-8C3C-0E0F6AA70445}" dt="2026-03-20T08:36:06.894" v="215" actId="113"/>
          <ac:spMkLst>
            <pc:docMk/>
            <pc:sldMk cId="2795564313" sldId="298"/>
            <ac:spMk id="14" creationId="{0D965FBB-5F92-5D27-032F-B249D7EAA700}"/>
          </ac:spMkLst>
        </pc:spChg>
      </pc:sldChg>
      <pc:sldChg chg="modSp mod">
        <pc:chgData name="Alessio Azzutti" userId="79d9eba9-d118-4bc2-a885-faf37c140641" providerId="ADAL" clId="{CBEB4252-DF86-4ECC-8C3C-0E0F6AA70445}" dt="2026-03-20T08:40:07.299" v="254" actId="207"/>
        <pc:sldMkLst>
          <pc:docMk/>
          <pc:sldMk cId="1926942451" sldId="301"/>
        </pc:sldMkLst>
        <pc:spChg chg="mod">
          <ac:chgData name="Alessio Azzutti" userId="79d9eba9-d118-4bc2-a885-faf37c140641" providerId="ADAL" clId="{CBEB4252-DF86-4ECC-8C3C-0E0F6AA70445}" dt="2026-03-17T11:32:35.600" v="14" actId="122"/>
          <ac:spMkLst>
            <pc:docMk/>
            <pc:sldMk cId="1926942451" sldId="301"/>
            <ac:spMk id="2" creationId="{8DEF0E5B-9FE8-6F3C-C1A2-778FE976E3B9}"/>
          </ac:spMkLst>
        </pc:spChg>
        <pc:spChg chg="mod">
          <ac:chgData name="Alessio Azzutti" userId="79d9eba9-d118-4bc2-a885-faf37c140641" providerId="ADAL" clId="{CBEB4252-DF86-4ECC-8C3C-0E0F6AA70445}" dt="2026-03-20T08:40:07.299" v="254" actId="207"/>
          <ac:spMkLst>
            <pc:docMk/>
            <pc:sldMk cId="1926942451" sldId="301"/>
            <ac:spMk id="6" creationId="{71DE658B-5A9E-BAD2-A474-795FAD3B6D5F}"/>
          </ac:spMkLst>
        </pc:spChg>
      </pc:sldChg>
      <pc:sldChg chg="modSp mod">
        <pc:chgData name="Alessio Azzutti" userId="79d9eba9-d118-4bc2-a885-faf37c140641" providerId="ADAL" clId="{CBEB4252-DF86-4ECC-8C3C-0E0F6AA70445}" dt="2026-03-17T11:33:44.554" v="25" actId="122"/>
        <pc:sldMkLst>
          <pc:docMk/>
          <pc:sldMk cId="3803745512" sldId="302"/>
        </pc:sldMkLst>
        <pc:spChg chg="mod">
          <ac:chgData name="Alessio Azzutti" userId="79d9eba9-d118-4bc2-a885-faf37c140641" providerId="ADAL" clId="{CBEB4252-DF86-4ECC-8C3C-0E0F6AA70445}" dt="2026-03-17T11:33:44.554" v="25" actId="122"/>
          <ac:spMkLst>
            <pc:docMk/>
            <pc:sldMk cId="3803745512" sldId="302"/>
            <ac:spMk id="2" creationId="{141DE422-DBF5-8743-D5ED-A537E52FD2A6}"/>
          </ac:spMkLst>
        </pc:spChg>
      </pc:sldChg>
      <pc:sldChg chg="modSp mod">
        <pc:chgData name="Alessio Azzutti" userId="79d9eba9-d118-4bc2-a885-faf37c140641" providerId="ADAL" clId="{CBEB4252-DF86-4ECC-8C3C-0E0F6AA70445}" dt="2026-03-20T08:41:12.420" v="255" actId="122"/>
        <pc:sldMkLst>
          <pc:docMk/>
          <pc:sldMk cId="2636213521" sldId="303"/>
        </pc:sldMkLst>
        <pc:spChg chg="mod">
          <ac:chgData name="Alessio Azzutti" userId="79d9eba9-d118-4bc2-a885-faf37c140641" providerId="ADAL" clId="{CBEB4252-DF86-4ECC-8C3C-0E0F6AA70445}" dt="2026-03-20T08:41:12.420" v="255" actId="122"/>
          <ac:spMkLst>
            <pc:docMk/>
            <pc:sldMk cId="2636213521" sldId="303"/>
            <ac:spMk id="2" creationId="{B91A6D43-8E28-7AE5-7B5D-9BF547A81B68}"/>
          </ac:spMkLst>
        </pc:spChg>
      </pc:sldChg>
      <pc:sldChg chg="modSp mod">
        <pc:chgData name="Alessio Azzutti" userId="79d9eba9-d118-4bc2-a885-faf37c140641" providerId="ADAL" clId="{CBEB4252-DF86-4ECC-8C3C-0E0F6AA70445}" dt="2026-03-20T08:50:36.978" v="312" actId="1076"/>
        <pc:sldMkLst>
          <pc:docMk/>
          <pc:sldMk cId="1317802401" sldId="304"/>
        </pc:sldMkLst>
        <pc:spChg chg="mod">
          <ac:chgData name="Alessio Azzutti" userId="79d9eba9-d118-4bc2-a885-faf37c140641" providerId="ADAL" clId="{CBEB4252-DF86-4ECC-8C3C-0E0F6AA70445}" dt="2026-03-17T11:34:24.300" v="33" actId="947"/>
          <ac:spMkLst>
            <pc:docMk/>
            <pc:sldMk cId="1317802401" sldId="304"/>
            <ac:spMk id="2" creationId="{213261C9-8F0F-7474-90CB-95F15DA39AC1}"/>
          </ac:spMkLst>
        </pc:spChg>
        <pc:spChg chg="mod">
          <ac:chgData name="Alessio Azzutti" userId="79d9eba9-d118-4bc2-a885-faf37c140641" providerId="ADAL" clId="{CBEB4252-DF86-4ECC-8C3C-0E0F6AA70445}" dt="2026-03-20T08:50:36.978" v="312" actId="1076"/>
          <ac:spMkLst>
            <pc:docMk/>
            <pc:sldMk cId="1317802401" sldId="304"/>
            <ac:spMk id="3" creationId="{163B55F7-9F8B-FB0A-A068-4587E38639DC}"/>
          </ac:spMkLst>
        </pc:spChg>
      </pc:sldChg>
      <pc:sldChg chg="modSp mod">
        <pc:chgData name="Alessio Azzutti" userId="79d9eba9-d118-4bc2-a885-faf37c140641" providerId="ADAL" clId="{CBEB4252-DF86-4ECC-8C3C-0E0F6AA70445}" dt="2026-03-20T08:50:57.143" v="314" actId="1076"/>
        <pc:sldMkLst>
          <pc:docMk/>
          <pc:sldMk cId="4084540775" sldId="305"/>
        </pc:sldMkLst>
        <pc:spChg chg="mod">
          <ac:chgData name="Alessio Azzutti" userId="79d9eba9-d118-4bc2-a885-faf37c140641" providerId="ADAL" clId="{CBEB4252-DF86-4ECC-8C3C-0E0F6AA70445}" dt="2026-03-17T11:34:51.937" v="36" actId="947"/>
          <ac:spMkLst>
            <pc:docMk/>
            <pc:sldMk cId="4084540775" sldId="305"/>
            <ac:spMk id="2" creationId="{1C36541D-9026-21C6-B647-2B6AD1B9AA16}"/>
          </ac:spMkLst>
        </pc:spChg>
        <pc:spChg chg="mod">
          <ac:chgData name="Alessio Azzutti" userId="79d9eba9-d118-4bc2-a885-faf37c140641" providerId="ADAL" clId="{CBEB4252-DF86-4ECC-8C3C-0E0F6AA70445}" dt="2026-03-20T08:50:57.143" v="314" actId="1076"/>
          <ac:spMkLst>
            <pc:docMk/>
            <pc:sldMk cId="4084540775" sldId="305"/>
            <ac:spMk id="3" creationId="{35D73523-3BDA-8B40-4358-A8028CF19DC9}"/>
          </ac:spMkLst>
        </pc:spChg>
      </pc:sldChg>
      <pc:sldChg chg="modSp mod">
        <pc:chgData name="Alessio Azzutti" userId="79d9eba9-d118-4bc2-a885-faf37c140641" providerId="ADAL" clId="{CBEB4252-DF86-4ECC-8C3C-0E0F6AA70445}" dt="2026-03-20T08:39:46.582" v="253" actId="113"/>
        <pc:sldMkLst>
          <pc:docMk/>
          <pc:sldMk cId="4137527865" sldId="306"/>
        </pc:sldMkLst>
        <pc:spChg chg="mod">
          <ac:chgData name="Alessio Azzutti" userId="79d9eba9-d118-4bc2-a885-faf37c140641" providerId="ADAL" clId="{CBEB4252-DF86-4ECC-8C3C-0E0F6AA70445}" dt="2026-03-17T11:32:43.088" v="15" actId="947"/>
          <ac:spMkLst>
            <pc:docMk/>
            <pc:sldMk cId="4137527865" sldId="306"/>
            <ac:spMk id="2" creationId="{229AA921-6DE4-54F3-612D-B62805E76109}"/>
          </ac:spMkLst>
        </pc:spChg>
        <pc:spChg chg="mod">
          <ac:chgData name="Alessio Azzutti" userId="79d9eba9-d118-4bc2-a885-faf37c140641" providerId="ADAL" clId="{CBEB4252-DF86-4ECC-8C3C-0E0F6AA70445}" dt="2026-03-20T08:39:46.582" v="253" actId="113"/>
          <ac:spMkLst>
            <pc:docMk/>
            <pc:sldMk cId="4137527865" sldId="306"/>
            <ac:spMk id="5" creationId="{3AD9D45B-73FC-0AA5-6E39-41FA91291084}"/>
          </ac:spMkLst>
        </pc:spChg>
      </pc:sldChg>
      <pc:sldChg chg="modSp mod">
        <pc:chgData name="Alessio Azzutti" userId="79d9eba9-d118-4bc2-a885-faf37c140641" providerId="ADAL" clId="{CBEB4252-DF86-4ECC-8C3C-0E0F6AA70445}" dt="2026-03-17T11:34:00.168" v="30" actId="947"/>
        <pc:sldMkLst>
          <pc:docMk/>
          <pc:sldMk cId="2511018811" sldId="307"/>
        </pc:sldMkLst>
        <pc:spChg chg="mod">
          <ac:chgData name="Alessio Azzutti" userId="79d9eba9-d118-4bc2-a885-faf37c140641" providerId="ADAL" clId="{CBEB4252-DF86-4ECC-8C3C-0E0F6AA70445}" dt="2026-03-17T11:34:00.168" v="30" actId="947"/>
          <ac:spMkLst>
            <pc:docMk/>
            <pc:sldMk cId="2511018811" sldId="307"/>
            <ac:spMk id="2" creationId="{17F07097-0099-A678-E9E9-598CDDCA51EC}"/>
          </ac:spMkLst>
        </pc:spChg>
      </pc:sldChg>
      <pc:sldChg chg="modSp mod">
        <pc:chgData name="Alessio Azzutti" userId="79d9eba9-d118-4bc2-a885-faf37c140641" providerId="ADAL" clId="{CBEB4252-DF86-4ECC-8C3C-0E0F6AA70445}" dt="2026-03-20T08:43:06.745" v="271" actId="6549"/>
        <pc:sldMkLst>
          <pc:docMk/>
          <pc:sldMk cId="3881441206" sldId="308"/>
        </pc:sldMkLst>
        <pc:spChg chg="mod">
          <ac:chgData name="Alessio Azzutti" userId="79d9eba9-d118-4bc2-a885-faf37c140641" providerId="ADAL" clId="{CBEB4252-DF86-4ECC-8C3C-0E0F6AA70445}" dt="2026-03-17T11:33:11.011" v="19" actId="27636"/>
          <ac:spMkLst>
            <pc:docMk/>
            <pc:sldMk cId="3881441206" sldId="308"/>
            <ac:spMk id="2" creationId="{52BAEC59-1D15-2069-ACBF-6A211279FDD8}"/>
          </ac:spMkLst>
        </pc:spChg>
        <pc:spChg chg="mod">
          <ac:chgData name="Alessio Azzutti" userId="79d9eba9-d118-4bc2-a885-faf37c140641" providerId="ADAL" clId="{CBEB4252-DF86-4ECC-8C3C-0E0F6AA70445}" dt="2026-03-20T08:43:06.745" v="271" actId="6549"/>
          <ac:spMkLst>
            <pc:docMk/>
            <pc:sldMk cId="3881441206" sldId="308"/>
            <ac:spMk id="12" creationId="{888E63ED-A144-FF49-A568-ED0BAE2509F8}"/>
          </ac:spMkLst>
        </pc:spChg>
      </pc:sldChg>
      <pc:sldChg chg="modSp mod">
        <pc:chgData name="Alessio Azzutti" userId="79d9eba9-d118-4bc2-a885-faf37c140641" providerId="ADAL" clId="{CBEB4252-DF86-4ECC-8C3C-0E0F6AA70445}" dt="2026-03-20T08:45:25.912" v="292" actId="1076"/>
        <pc:sldMkLst>
          <pc:docMk/>
          <pc:sldMk cId="2320333062" sldId="309"/>
        </pc:sldMkLst>
        <pc:spChg chg="mod">
          <ac:chgData name="Alessio Azzutti" userId="79d9eba9-d118-4bc2-a885-faf37c140641" providerId="ADAL" clId="{CBEB4252-DF86-4ECC-8C3C-0E0F6AA70445}" dt="2026-03-17T11:33:16.880" v="20" actId="947"/>
          <ac:spMkLst>
            <pc:docMk/>
            <pc:sldMk cId="2320333062" sldId="309"/>
            <ac:spMk id="2" creationId="{91383323-ABAE-CB96-0DB1-EAD4874054B1}"/>
          </ac:spMkLst>
        </pc:spChg>
        <pc:spChg chg="mod">
          <ac:chgData name="Alessio Azzutti" userId="79d9eba9-d118-4bc2-a885-faf37c140641" providerId="ADAL" clId="{CBEB4252-DF86-4ECC-8C3C-0E0F6AA70445}" dt="2026-03-20T08:45:25.912" v="292" actId="1076"/>
          <ac:spMkLst>
            <pc:docMk/>
            <pc:sldMk cId="2320333062" sldId="309"/>
            <ac:spMk id="12" creationId="{C926BA46-59E0-D72A-B223-5E62AF92802D}"/>
          </ac:spMkLst>
        </pc:spChg>
      </pc:sldChg>
      <pc:sldChg chg="modSp mod">
        <pc:chgData name="Alessio Azzutti" userId="79d9eba9-d118-4bc2-a885-faf37c140641" providerId="ADAL" clId="{CBEB4252-DF86-4ECC-8C3C-0E0F6AA70445}" dt="2026-03-20T08:46:29.753" v="300" actId="1076"/>
        <pc:sldMkLst>
          <pc:docMk/>
          <pc:sldMk cId="1391821992" sldId="310"/>
        </pc:sldMkLst>
        <pc:spChg chg="mod">
          <ac:chgData name="Alessio Azzutti" userId="79d9eba9-d118-4bc2-a885-faf37c140641" providerId="ADAL" clId="{CBEB4252-DF86-4ECC-8C3C-0E0F6AA70445}" dt="2026-03-20T08:45:43.020" v="294" actId="122"/>
          <ac:spMkLst>
            <pc:docMk/>
            <pc:sldMk cId="1391821992" sldId="310"/>
            <ac:spMk id="2" creationId="{E9DA903E-816F-3263-48D8-0DEAB24CAECD}"/>
          </ac:spMkLst>
        </pc:spChg>
        <pc:spChg chg="mod">
          <ac:chgData name="Alessio Azzutti" userId="79d9eba9-d118-4bc2-a885-faf37c140641" providerId="ADAL" clId="{CBEB4252-DF86-4ECC-8C3C-0E0F6AA70445}" dt="2026-03-20T08:46:29.753" v="300" actId="1076"/>
          <ac:spMkLst>
            <pc:docMk/>
            <pc:sldMk cId="1391821992" sldId="310"/>
            <ac:spMk id="12" creationId="{5D18FC57-6C70-152E-DC82-02828F89844D}"/>
          </ac:spMkLst>
        </pc:spChg>
      </pc:sldChg>
      <pc:sldChg chg="modSp mod">
        <pc:chgData name="Alessio Azzutti" userId="79d9eba9-d118-4bc2-a885-faf37c140641" providerId="ADAL" clId="{CBEB4252-DF86-4ECC-8C3C-0E0F6AA70445}" dt="2026-03-17T11:33:34.270" v="23" actId="113"/>
        <pc:sldMkLst>
          <pc:docMk/>
          <pc:sldMk cId="121809431" sldId="311"/>
        </pc:sldMkLst>
        <pc:spChg chg="mod">
          <ac:chgData name="Alessio Azzutti" userId="79d9eba9-d118-4bc2-a885-faf37c140641" providerId="ADAL" clId="{CBEB4252-DF86-4ECC-8C3C-0E0F6AA70445}" dt="2026-03-17T11:33:34.270" v="23" actId="113"/>
          <ac:spMkLst>
            <pc:docMk/>
            <pc:sldMk cId="121809431" sldId="311"/>
            <ac:spMk id="2" creationId="{299E5CBA-CFDD-326F-01EE-F41682DDB03F}"/>
          </ac:spMkLst>
        </pc:spChg>
      </pc:sldChg>
      <pc:sldChg chg="modSp mod">
        <pc:chgData name="Alessio Azzutti" userId="79d9eba9-d118-4bc2-a885-faf37c140641" providerId="ADAL" clId="{CBEB4252-DF86-4ECC-8C3C-0E0F6AA70445}" dt="2026-03-17T11:34:16.633" v="32" actId="947"/>
        <pc:sldMkLst>
          <pc:docMk/>
          <pc:sldMk cId="2208054483" sldId="312"/>
        </pc:sldMkLst>
        <pc:spChg chg="mod">
          <ac:chgData name="Alessio Azzutti" userId="79d9eba9-d118-4bc2-a885-faf37c140641" providerId="ADAL" clId="{CBEB4252-DF86-4ECC-8C3C-0E0F6AA70445}" dt="2026-03-17T11:34:16.633" v="32" actId="947"/>
          <ac:spMkLst>
            <pc:docMk/>
            <pc:sldMk cId="2208054483" sldId="312"/>
            <ac:spMk id="2" creationId="{4B808960-BE53-1CAE-AD69-CE0BBBBEE030}"/>
          </ac:spMkLst>
        </pc:spChg>
      </pc:sldChg>
      <pc:sldChg chg="modSp mod">
        <pc:chgData name="Alessio Azzutti" userId="79d9eba9-d118-4bc2-a885-faf37c140641" providerId="ADAL" clId="{CBEB4252-DF86-4ECC-8C3C-0E0F6AA70445}" dt="2026-03-17T11:34:40.745" v="35" actId="947"/>
        <pc:sldMkLst>
          <pc:docMk/>
          <pc:sldMk cId="2159484708" sldId="313"/>
        </pc:sldMkLst>
        <pc:spChg chg="mod">
          <ac:chgData name="Alessio Azzutti" userId="79d9eba9-d118-4bc2-a885-faf37c140641" providerId="ADAL" clId="{CBEB4252-DF86-4ECC-8C3C-0E0F6AA70445}" dt="2026-03-17T11:34:40.745" v="35" actId="947"/>
          <ac:spMkLst>
            <pc:docMk/>
            <pc:sldMk cId="2159484708" sldId="313"/>
            <ac:spMk id="2" creationId="{F9E664C5-2403-2BD0-5194-0C92AFC40EF7}"/>
          </ac:spMkLst>
        </pc:spChg>
      </pc:sldChg>
      <pc:sldChg chg="modSp mod">
        <pc:chgData name="Alessio Azzutti" userId="79d9eba9-d118-4bc2-a885-faf37c140641" providerId="ADAL" clId="{CBEB4252-DF86-4ECC-8C3C-0E0F6AA70445}" dt="2026-03-17T11:34:31.698" v="34" actId="947"/>
        <pc:sldMkLst>
          <pc:docMk/>
          <pc:sldMk cId="943785551" sldId="314"/>
        </pc:sldMkLst>
        <pc:spChg chg="mod">
          <ac:chgData name="Alessio Azzutti" userId="79d9eba9-d118-4bc2-a885-faf37c140641" providerId="ADAL" clId="{CBEB4252-DF86-4ECC-8C3C-0E0F6AA70445}" dt="2026-03-17T11:34:31.698" v="34" actId="947"/>
          <ac:spMkLst>
            <pc:docMk/>
            <pc:sldMk cId="943785551" sldId="314"/>
            <ac:spMk id="2" creationId="{D5FF08D6-78A9-2E2E-CEAB-6D1F5DDF282F}"/>
          </ac:spMkLst>
        </pc:spChg>
      </pc:sldChg>
      <pc:sldChg chg="modSp mod">
        <pc:chgData name="Alessio Azzutti" userId="79d9eba9-d118-4bc2-a885-faf37c140641" providerId="ADAL" clId="{CBEB4252-DF86-4ECC-8C3C-0E0F6AA70445}" dt="2026-03-17T11:34:57.953" v="37" actId="947"/>
        <pc:sldMkLst>
          <pc:docMk/>
          <pc:sldMk cId="3126300148" sldId="315"/>
        </pc:sldMkLst>
        <pc:spChg chg="mod">
          <ac:chgData name="Alessio Azzutti" userId="79d9eba9-d118-4bc2-a885-faf37c140641" providerId="ADAL" clId="{CBEB4252-DF86-4ECC-8C3C-0E0F6AA70445}" dt="2026-03-17T11:34:57.953" v="37" actId="947"/>
          <ac:spMkLst>
            <pc:docMk/>
            <pc:sldMk cId="3126300148" sldId="315"/>
            <ac:spMk id="2" creationId="{6E86DC44-8C8D-BA34-6197-5E817D5998D4}"/>
          </ac:spMkLst>
        </pc:spChg>
      </pc:sldChg>
      <pc:sldChg chg="modSp mod">
        <pc:chgData name="Alessio Azzutti" userId="79d9eba9-d118-4bc2-a885-faf37c140641" providerId="ADAL" clId="{CBEB4252-DF86-4ECC-8C3C-0E0F6AA70445}" dt="2026-03-17T11:35:03.375" v="38" actId="947"/>
        <pc:sldMkLst>
          <pc:docMk/>
          <pc:sldMk cId="1073604011" sldId="316"/>
        </pc:sldMkLst>
        <pc:spChg chg="mod">
          <ac:chgData name="Alessio Azzutti" userId="79d9eba9-d118-4bc2-a885-faf37c140641" providerId="ADAL" clId="{CBEB4252-DF86-4ECC-8C3C-0E0F6AA70445}" dt="2026-03-17T11:35:03.375" v="38" actId="947"/>
          <ac:spMkLst>
            <pc:docMk/>
            <pc:sldMk cId="1073604011" sldId="316"/>
            <ac:spMk id="2" creationId="{1167514C-DF43-6E31-8FA1-2C138F01E054}"/>
          </ac:spMkLst>
        </pc:spChg>
      </pc:sldChg>
      <pc:sldChg chg="modSp mod">
        <pc:chgData name="Alessio Azzutti" userId="79d9eba9-d118-4bc2-a885-faf37c140641" providerId="ADAL" clId="{CBEB4252-DF86-4ECC-8C3C-0E0F6AA70445}" dt="2026-03-17T11:35:09.354" v="39" actId="947"/>
        <pc:sldMkLst>
          <pc:docMk/>
          <pc:sldMk cId="1891631936" sldId="317"/>
        </pc:sldMkLst>
        <pc:spChg chg="mod">
          <ac:chgData name="Alessio Azzutti" userId="79d9eba9-d118-4bc2-a885-faf37c140641" providerId="ADAL" clId="{CBEB4252-DF86-4ECC-8C3C-0E0F6AA70445}" dt="2026-03-17T11:35:09.354" v="39" actId="947"/>
          <ac:spMkLst>
            <pc:docMk/>
            <pc:sldMk cId="1891631936" sldId="317"/>
            <ac:spMk id="2" creationId="{EE910FD0-E25D-07D3-FB63-2AFAAF1447D6}"/>
          </ac:spMkLst>
        </pc:spChg>
      </pc:sldChg>
      <pc:sldChg chg="add del setBg">
        <pc:chgData name="Alessio Azzutti" userId="79d9eba9-d118-4bc2-a885-faf37c140641" providerId="ADAL" clId="{CBEB4252-DF86-4ECC-8C3C-0E0F6AA70445}" dt="2026-03-20T08:34:05.367" v="168" actId="47"/>
        <pc:sldMkLst>
          <pc:docMk/>
          <pc:sldMk cId="974900292" sldId="318"/>
        </pc:sldMkLst>
      </pc:sldChg>
      <pc:sldChg chg="addSp delSp modSp add mod">
        <pc:chgData name="Alessio Azzutti" userId="79d9eba9-d118-4bc2-a885-faf37c140641" providerId="ADAL" clId="{CBEB4252-DF86-4ECC-8C3C-0E0F6AA70445}" dt="2026-03-20T08:33:57.426" v="167" actId="14100"/>
        <pc:sldMkLst>
          <pc:docMk/>
          <pc:sldMk cId="1360495564" sldId="319"/>
        </pc:sldMkLst>
        <pc:spChg chg="mod">
          <ac:chgData name="Alessio Azzutti" userId="79d9eba9-d118-4bc2-a885-faf37c140641" providerId="ADAL" clId="{CBEB4252-DF86-4ECC-8C3C-0E0F6AA70445}" dt="2026-03-20T08:33:57.426" v="167" actId="14100"/>
          <ac:spMkLst>
            <pc:docMk/>
            <pc:sldMk cId="1360495564" sldId="319"/>
            <ac:spMk id="2" creationId="{8C675B6C-BC56-AE39-39A8-63DDED62ADB1}"/>
          </ac:spMkLst>
        </pc:spChg>
        <pc:spChg chg="del">
          <ac:chgData name="Alessio Azzutti" userId="79d9eba9-d118-4bc2-a885-faf37c140641" providerId="ADAL" clId="{CBEB4252-DF86-4ECC-8C3C-0E0F6AA70445}" dt="2026-03-20T08:33:48.232" v="163" actId="478"/>
          <ac:spMkLst>
            <pc:docMk/>
            <pc:sldMk cId="1360495564" sldId="319"/>
            <ac:spMk id="3" creationId="{B6A85AB9-9A84-75CF-CF07-93300065D999}"/>
          </ac:spMkLst>
        </pc:spChg>
        <pc:spChg chg="mod">
          <ac:chgData name="Alessio Azzutti" userId="79d9eba9-d118-4bc2-a885-faf37c140641" providerId="ADAL" clId="{CBEB4252-DF86-4ECC-8C3C-0E0F6AA70445}" dt="2026-03-20T08:33:55.168" v="166" actId="1076"/>
          <ac:spMkLst>
            <pc:docMk/>
            <pc:sldMk cId="1360495564" sldId="319"/>
            <ac:spMk id="5" creationId="{EA7C2189-7898-BF2E-2AAD-F697A0D067BE}"/>
          </ac:spMkLst>
        </pc:spChg>
        <pc:spChg chg="add del mod">
          <ac:chgData name="Alessio Azzutti" userId="79d9eba9-d118-4bc2-a885-faf37c140641" providerId="ADAL" clId="{CBEB4252-DF86-4ECC-8C3C-0E0F6AA70445}" dt="2026-03-20T08:33:51.100" v="165" actId="478"/>
          <ac:spMkLst>
            <pc:docMk/>
            <pc:sldMk cId="1360495564" sldId="319"/>
            <ac:spMk id="7" creationId="{82A8E354-EA2A-21AF-70D6-82848BF43A76}"/>
          </ac:spMkLst>
        </pc:spChg>
        <pc:spChg chg="add mod">
          <ac:chgData name="Alessio Azzutti" userId="79d9eba9-d118-4bc2-a885-faf37c140641" providerId="ADAL" clId="{CBEB4252-DF86-4ECC-8C3C-0E0F6AA70445}" dt="2026-03-20T08:33:48.509" v="164"/>
          <ac:spMkLst>
            <pc:docMk/>
            <pc:sldMk cId="1360495564" sldId="319"/>
            <ac:spMk id="8" creationId="{F23B0532-9EE8-54CA-901F-D055D9503D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70AF02-95DC-4A8B-BA8B-D804F6169116}" type="datetimeFigureOut">
              <a:rPr lang="en-GB" smtClean="0"/>
              <a:t>20/03/2026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38B03C-194A-4E41-9C8B-181EE85F864B}" type="slidenum">
              <a:rPr lang="en-GB" smtClean="0"/>
              <a:t>‹#›</a:t>
            </a:fld>
            <a:endParaRPr lang="en-GB"/>
          </a:p>
        </p:txBody>
      </p:sp>
    </p:spTree>
    <p:extLst>
      <p:ext uri="{BB962C8B-B14F-4D97-AF65-F5344CB8AC3E}">
        <p14:creationId xmlns:p14="http://schemas.microsoft.com/office/powerpoint/2010/main" val="2785393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44D7-5875-8950-C79F-92929599F9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2A3B427-33F8-826E-A876-F24B62EC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C5FA696-E133-B184-53A2-60C90D382E6C}"/>
              </a:ext>
            </a:extLst>
          </p:cNvPr>
          <p:cNvSpPr>
            <a:spLocks noGrp="1"/>
          </p:cNvSpPr>
          <p:nvPr>
            <p:ph type="dt" sz="half" idx="10"/>
          </p:nvPr>
        </p:nvSpPr>
        <p:spPr/>
        <p:txBody>
          <a:bodyPr/>
          <a:lstStyle/>
          <a:p>
            <a:fld id="{346D6D73-9310-4260-A2AA-C4316AE130C0}" type="datetime1">
              <a:rPr lang="en-GB" smtClean="0"/>
              <a:t>20/03/2026</a:t>
            </a:fld>
            <a:endParaRPr lang="en-GB"/>
          </a:p>
        </p:txBody>
      </p:sp>
      <p:sp>
        <p:nvSpPr>
          <p:cNvPr id="5" name="Footer Placeholder 4">
            <a:extLst>
              <a:ext uri="{FF2B5EF4-FFF2-40B4-BE49-F238E27FC236}">
                <a16:creationId xmlns:a16="http://schemas.microsoft.com/office/drawing/2014/main" id="{8ED680AF-A5C3-FF8E-28B8-254510BCBD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5BD1E7-664F-F6F0-3BB9-443E787F0D1F}"/>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1526761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FE63-10DF-CF0B-E75F-C1102B75165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009D01-EA82-DE49-C374-F0B0D717C2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E59594-7D56-6E7B-C493-0B33C3C48124}"/>
              </a:ext>
            </a:extLst>
          </p:cNvPr>
          <p:cNvSpPr>
            <a:spLocks noGrp="1"/>
          </p:cNvSpPr>
          <p:nvPr>
            <p:ph type="dt" sz="half" idx="10"/>
          </p:nvPr>
        </p:nvSpPr>
        <p:spPr/>
        <p:txBody>
          <a:bodyPr/>
          <a:lstStyle/>
          <a:p>
            <a:fld id="{E593DED7-91FE-4347-9EFB-7DE411649332}" type="datetime1">
              <a:rPr lang="en-GB" smtClean="0"/>
              <a:t>20/03/2026</a:t>
            </a:fld>
            <a:endParaRPr lang="en-GB"/>
          </a:p>
        </p:txBody>
      </p:sp>
      <p:sp>
        <p:nvSpPr>
          <p:cNvPr id="5" name="Footer Placeholder 4">
            <a:extLst>
              <a:ext uri="{FF2B5EF4-FFF2-40B4-BE49-F238E27FC236}">
                <a16:creationId xmlns:a16="http://schemas.microsoft.com/office/drawing/2014/main" id="{68873487-B7F5-6403-54F4-51401CD9C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2D65CC-7709-35B1-8460-35FE75C10413}"/>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2900550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72BA3-CF4B-AFF0-2B3E-636CE34CB9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CC61366-7FBD-50BA-8BFA-CBE1E7DBE2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AC0C00-FBE1-923D-ACFF-B8ED8ED50DDB}"/>
              </a:ext>
            </a:extLst>
          </p:cNvPr>
          <p:cNvSpPr>
            <a:spLocks noGrp="1"/>
          </p:cNvSpPr>
          <p:nvPr>
            <p:ph type="dt" sz="half" idx="10"/>
          </p:nvPr>
        </p:nvSpPr>
        <p:spPr/>
        <p:txBody>
          <a:bodyPr/>
          <a:lstStyle/>
          <a:p>
            <a:fld id="{3D01015B-B639-4AFA-BDDC-453371CDA115}" type="datetime1">
              <a:rPr lang="en-GB" smtClean="0"/>
              <a:t>20/03/2026</a:t>
            </a:fld>
            <a:endParaRPr lang="en-GB"/>
          </a:p>
        </p:txBody>
      </p:sp>
      <p:sp>
        <p:nvSpPr>
          <p:cNvPr id="5" name="Footer Placeholder 4">
            <a:extLst>
              <a:ext uri="{FF2B5EF4-FFF2-40B4-BE49-F238E27FC236}">
                <a16:creationId xmlns:a16="http://schemas.microsoft.com/office/drawing/2014/main" id="{1DD61D09-8838-D8BD-96DC-816801BD41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606440-D75D-B38B-45B2-C178C13ED563}"/>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3070622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73A43-AA37-F6E7-3B7D-1BA85A5ED5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3A5D827-C0DE-1F05-B3CA-3F2EC6AED6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CFD735F-BDBF-F78B-0174-B5138ABF9C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8889226-5A87-2D81-9B34-9CC5F5441095}"/>
              </a:ext>
            </a:extLst>
          </p:cNvPr>
          <p:cNvSpPr>
            <a:spLocks noGrp="1"/>
          </p:cNvSpPr>
          <p:nvPr>
            <p:ph type="dt" sz="half" idx="10"/>
          </p:nvPr>
        </p:nvSpPr>
        <p:spPr/>
        <p:txBody>
          <a:bodyPr/>
          <a:lstStyle/>
          <a:p>
            <a:fld id="{8C6AF9E0-1D76-45A9-B75F-B5140297E7AF}" type="datetime1">
              <a:rPr lang="en-GB" smtClean="0"/>
              <a:t>20/03/2026</a:t>
            </a:fld>
            <a:endParaRPr lang="en-GB"/>
          </a:p>
        </p:txBody>
      </p:sp>
      <p:sp>
        <p:nvSpPr>
          <p:cNvPr id="6" name="Footer Placeholder 5">
            <a:extLst>
              <a:ext uri="{FF2B5EF4-FFF2-40B4-BE49-F238E27FC236}">
                <a16:creationId xmlns:a16="http://schemas.microsoft.com/office/drawing/2014/main" id="{BD4C9ECA-7AA6-FBF3-EF8C-92D82DF128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9245AC-917C-D7BD-9DC9-4210E58D98FD}"/>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126080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B04A5-2F08-008C-1A47-499F6197CA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8F9C93-7605-3F01-AD28-48145A404B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F9FF72-50BA-5728-21A5-80483B39FB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FBB3254-0FA5-1B5C-4843-B8240391EB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38ACC-5E19-D43D-DE7A-1D446003FD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29431DF-D7F5-287A-0818-D15ABC9633A7}"/>
              </a:ext>
            </a:extLst>
          </p:cNvPr>
          <p:cNvSpPr>
            <a:spLocks noGrp="1"/>
          </p:cNvSpPr>
          <p:nvPr>
            <p:ph type="dt" sz="half" idx="10"/>
          </p:nvPr>
        </p:nvSpPr>
        <p:spPr/>
        <p:txBody>
          <a:bodyPr/>
          <a:lstStyle/>
          <a:p>
            <a:fld id="{FA8F9CE8-BB2C-4DDA-B6D5-97147B8D8C70}" type="datetime1">
              <a:rPr lang="en-GB" smtClean="0"/>
              <a:t>20/03/2026</a:t>
            </a:fld>
            <a:endParaRPr lang="en-GB"/>
          </a:p>
        </p:txBody>
      </p:sp>
      <p:sp>
        <p:nvSpPr>
          <p:cNvPr id="8" name="Footer Placeholder 7">
            <a:extLst>
              <a:ext uri="{FF2B5EF4-FFF2-40B4-BE49-F238E27FC236}">
                <a16:creationId xmlns:a16="http://schemas.microsoft.com/office/drawing/2014/main" id="{52B88B08-D6DB-A487-A16A-9BFE527B156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70111C0-E412-FACA-C7C1-731FB9C0823F}"/>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2174132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B7E4-DECA-B725-054C-DD468D5439E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23D2ABF-62D7-3D06-8B5B-18B93EE5E9B3}"/>
              </a:ext>
            </a:extLst>
          </p:cNvPr>
          <p:cNvSpPr>
            <a:spLocks noGrp="1"/>
          </p:cNvSpPr>
          <p:nvPr>
            <p:ph type="dt" sz="half" idx="10"/>
          </p:nvPr>
        </p:nvSpPr>
        <p:spPr/>
        <p:txBody>
          <a:bodyPr/>
          <a:lstStyle/>
          <a:p>
            <a:fld id="{99EFD15D-52E1-4F95-B4D0-23445B9C45A6}" type="datetime1">
              <a:rPr lang="en-GB" smtClean="0"/>
              <a:t>20/03/2026</a:t>
            </a:fld>
            <a:endParaRPr lang="en-GB"/>
          </a:p>
        </p:txBody>
      </p:sp>
      <p:sp>
        <p:nvSpPr>
          <p:cNvPr id="4" name="Footer Placeholder 3">
            <a:extLst>
              <a:ext uri="{FF2B5EF4-FFF2-40B4-BE49-F238E27FC236}">
                <a16:creationId xmlns:a16="http://schemas.microsoft.com/office/drawing/2014/main" id="{8D335DD9-17A9-0A8D-499B-E1C5DAF257D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82E707D-810C-C710-AA94-6B66837E2F51}"/>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145409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9B4846-30B4-A997-2669-610F2B238636}"/>
              </a:ext>
            </a:extLst>
          </p:cNvPr>
          <p:cNvSpPr>
            <a:spLocks noGrp="1"/>
          </p:cNvSpPr>
          <p:nvPr>
            <p:ph type="dt" sz="half" idx="10"/>
          </p:nvPr>
        </p:nvSpPr>
        <p:spPr/>
        <p:txBody>
          <a:bodyPr/>
          <a:lstStyle/>
          <a:p>
            <a:fld id="{4EB3C177-8FAD-4BD9-AC8F-C029B9A56852}" type="datetime1">
              <a:rPr lang="en-GB" smtClean="0"/>
              <a:t>20/03/2026</a:t>
            </a:fld>
            <a:endParaRPr lang="en-GB"/>
          </a:p>
        </p:txBody>
      </p:sp>
      <p:sp>
        <p:nvSpPr>
          <p:cNvPr id="3" name="Footer Placeholder 2">
            <a:extLst>
              <a:ext uri="{FF2B5EF4-FFF2-40B4-BE49-F238E27FC236}">
                <a16:creationId xmlns:a16="http://schemas.microsoft.com/office/drawing/2014/main" id="{2BE665EF-7722-E1DD-FD30-624EFB0241E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6FDA794-D6FE-91B8-EC83-0C75CA756635}"/>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3391287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CDE3-B0F1-F212-6730-0CA106684A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4317C85-DD46-22A0-1269-F7CF4BA50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6237629-70A8-B380-82B4-1B12B97F2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F13E7-59A7-B957-A1F6-6447B733ECC1}"/>
              </a:ext>
            </a:extLst>
          </p:cNvPr>
          <p:cNvSpPr>
            <a:spLocks noGrp="1"/>
          </p:cNvSpPr>
          <p:nvPr>
            <p:ph type="dt" sz="half" idx="10"/>
          </p:nvPr>
        </p:nvSpPr>
        <p:spPr/>
        <p:txBody>
          <a:bodyPr/>
          <a:lstStyle/>
          <a:p>
            <a:fld id="{3400F4E4-F4E1-46D5-984D-0A087254F60C}" type="datetime1">
              <a:rPr lang="en-GB" smtClean="0"/>
              <a:t>20/03/2026</a:t>
            </a:fld>
            <a:endParaRPr lang="en-GB"/>
          </a:p>
        </p:txBody>
      </p:sp>
      <p:sp>
        <p:nvSpPr>
          <p:cNvPr id="6" name="Footer Placeholder 5">
            <a:extLst>
              <a:ext uri="{FF2B5EF4-FFF2-40B4-BE49-F238E27FC236}">
                <a16:creationId xmlns:a16="http://schemas.microsoft.com/office/drawing/2014/main" id="{D397FF3C-A7B0-6A3D-9A49-7A4D268200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8F0C34-5205-1A41-F8AA-26AABD2834B4}"/>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325522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0975-6F55-3073-C4CE-53C774FABE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C1067E6-65B8-C364-2A30-2444AFC31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133A0A5-AC7F-4C9D-0226-5B7A43C564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7185A-A1D8-868E-AA43-2DCDB831BE60}"/>
              </a:ext>
            </a:extLst>
          </p:cNvPr>
          <p:cNvSpPr>
            <a:spLocks noGrp="1"/>
          </p:cNvSpPr>
          <p:nvPr>
            <p:ph type="dt" sz="half" idx="10"/>
          </p:nvPr>
        </p:nvSpPr>
        <p:spPr/>
        <p:txBody>
          <a:bodyPr/>
          <a:lstStyle/>
          <a:p>
            <a:fld id="{485AAC93-F045-43D8-9E56-FCAE9B0AAF13}" type="datetime1">
              <a:rPr lang="en-GB" smtClean="0"/>
              <a:t>20/03/2026</a:t>
            </a:fld>
            <a:endParaRPr lang="en-GB"/>
          </a:p>
        </p:txBody>
      </p:sp>
      <p:sp>
        <p:nvSpPr>
          <p:cNvPr id="6" name="Footer Placeholder 5">
            <a:extLst>
              <a:ext uri="{FF2B5EF4-FFF2-40B4-BE49-F238E27FC236}">
                <a16:creationId xmlns:a16="http://schemas.microsoft.com/office/drawing/2014/main" id="{D7E01B6C-F74E-DE22-459F-3E0C9135B76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53F69C5-10DB-C259-542C-215AB737FACF}"/>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1625087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DEDC6-99E4-B63C-5F00-6430C58BAED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19D27C-1BC5-F0CD-401A-A982C76940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732D4-06D2-49BE-08AE-87B521F6FB62}"/>
              </a:ext>
            </a:extLst>
          </p:cNvPr>
          <p:cNvSpPr>
            <a:spLocks noGrp="1"/>
          </p:cNvSpPr>
          <p:nvPr>
            <p:ph type="dt" sz="half" idx="10"/>
          </p:nvPr>
        </p:nvSpPr>
        <p:spPr/>
        <p:txBody>
          <a:bodyPr/>
          <a:lstStyle/>
          <a:p>
            <a:fld id="{0F4177D7-83BC-40C0-9CCB-A096BFE9B3C0}" type="datetime1">
              <a:rPr lang="en-GB" smtClean="0"/>
              <a:t>20/03/2026</a:t>
            </a:fld>
            <a:endParaRPr lang="en-GB"/>
          </a:p>
        </p:txBody>
      </p:sp>
      <p:sp>
        <p:nvSpPr>
          <p:cNvPr id="5" name="Footer Placeholder 4">
            <a:extLst>
              <a:ext uri="{FF2B5EF4-FFF2-40B4-BE49-F238E27FC236}">
                <a16:creationId xmlns:a16="http://schemas.microsoft.com/office/drawing/2014/main" id="{AABE2A7A-EA51-DC4A-D4C7-A8ACB652F9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195993-52C6-60AB-EA9D-40E455D5582F}"/>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294883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8C7A67-52A5-758C-64AE-B9E6E8F50E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14AEA0-3A02-CB44-0BCF-B7CA37F75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18E9D3-3EED-F7AB-F303-60771183C4E8}"/>
              </a:ext>
            </a:extLst>
          </p:cNvPr>
          <p:cNvSpPr>
            <a:spLocks noGrp="1"/>
          </p:cNvSpPr>
          <p:nvPr>
            <p:ph type="dt" sz="half" idx="10"/>
          </p:nvPr>
        </p:nvSpPr>
        <p:spPr/>
        <p:txBody>
          <a:bodyPr/>
          <a:lstStyle/>
          <a:p>
            <a:fld id="{A5AB641B-D7E7-4B8F-A179-E007B92DAC29}" type="datetime1">
              <a:rPr lang="en-GB" smtClean="0"/>
              <a:t>20/03/2026</a:t>
            </a:fld>
            <a:endParaRPr lang="en-GB"/>
          </a:p>
        </p:txBody>
      </p:sp>
      <p:sp>
        <p:nvSpPr>
          <p:cNvPr id="5" name="Footer Placeholder 4">
            <a:extLst>
              <a:ext uri="{FF2B5EF4-FFF2-40B4-BE49-F238E27FC236}">
                <a16:creationId xmlns:a16="http://schemas.microsoft.com/office/drawing/2014/main" id="{5B865829-418C-F4AF-DDB2-CE2AC33C6B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103CF2-E71C-5AA4-DF06-7895E8266F39}"/>
              </a:ext>
            </a:extLst>
          </p:cNvPr>
          <p:cNvSpPr>
            <a:spLocks noGrp="1"/>
          </p:cNvSpPr>
          <p:nvPr>
            <p:ph type="sldNum" sz="quarter" idx="12"/>
          </p:nvPr>
        </p:nvSpPr>
        <p:spPr/>
        <p:txBody>
          <a:bodyPr/>
          <a:lstStyle/>
          <a:p>
            <a:fld id="{8ABD5A5B-811B-418E-9483-61F67F998C2D}" type="slidenum">
              <a:rPr lang="en-GB" smtClean="0"/>
              <a:t>‹#›</a:t>
            </a:fld>
            <a:endParaRPr lang="en-GB"/>
          </a:p>
        </p:txBody>
      </p:sp>
    </p:spTree>
    <p:extLst>
      <p:ext uri="{BB962C8B-B14F-4D97-AF65-F5344CB8AC3E}">
        <p14:creationId xmlns:p14="http://schemas.microsoft.com/office/powerpoint/2010/main" val="305660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9DF623-614A-96C5-DE52-C0555E7DD1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111309-4A72-FA11-4303-D85A02EBA0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B5CFD6-5C51-9527-A253-EC2AEC549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8C6D05-887F-4DD6-ABBB-0A58539B5EAE}" type="datetime1">
              <a:rPr lang="en-GB" smtClean="0"/>
              <a:t>20/03/2026</a:t>
            </a:fld>
            <a:endParaRPr lang="en-GB"/>
          </a:p>
        </p:txBody>
      </p:sp>
      <p:sp>
        <p:nvSpPr>
          <p:cNvPr id="5" name="Footer Placeholder 4">
            <a:extLst>
              <a:ext uri="{FF2B5EF4-FFF2-40B4-BE49-F238E27FC236}">
                <a16:creationId xmlns:a16="http://schemas.microsoft.com/office/drawing/2014/main" id="{D4113CFC-0280-EC88-5F72-7C6A0A173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784D81D-66CE-CAE0-1FC8-72DB33EDAB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BD5A5B-811B-418E-9483-61F67F998C2D}" type="slidenum">
              <a:rPr lang="en-GB" smtClean="0"/>
              <a:t>‹#›</a:t>
            </a:fld>
            <a:endParaRPr lang="en-GB"/>
          </a:p>
        </p:txBody>
      </p:sp>
    </p:spTree>
    <p:extLst>
      <p:ext uri="{BB962C8B-B14F-4D97-AF65-F5344CB8AC3E}">
        <p14:creationId xmlns:p14="http://schemas.microsoft.com/office/powerpoint/2010/main" val="2396699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l.acm.org/doi/10.1145/3593013.3594073" TargetMode="External"/><Relationship Id="rId2" Type="http://schemas.openxmlformats.org/officeDocument/2006/relationships/hyperlink" Target="https://www.ceps.eu/ceps-publications/reconciling-the-ai-value-chain-with-the-eus-artificial-intelligence-a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ceps.eu/ceps-publications/reconciling-the-ai-value-chain-with-the-eus-artificial-intelligence-ac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l.acm.org/doi/10.1145/3593013.3594073"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o.exlibris.link/mm0D27Z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l.acm.org/doi/pdf/10.1145/3568026"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2402.0879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adalovelaceinstitute.org/resource/foundation-models-explainer/"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www.iif.com/portals/0/Files/content/Innovation/Data%20Cloud%20AI.pdf" TargetMode="Externa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hyperlink" Target="https://www.nasdaq.com/articles/diving-deep-into-the-ai-value-chain"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mckinsey.com/capabilities/quantumblack/our-insights/exploring-opportunities-in-the-generative-ai-value-chai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iot-analytics.com/winners-losers-generative-ai-value-chai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iot-analytics.com/winners-losers-generative-ai-value-chai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ceps.eu/ceps-publications/reconciling-the-ai-value-chain-with-the-eus-artificial-intelligence-act/" TargetMode="Externa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ceps.eu/ceps-publications/reconciling-the-ai-value-chain-with-the-eus-artificial-intelligence-act/"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ceps.eu/ceps-publications/reconciling-the-ai-value-chain-with-the-eus-artificial-intelligence-act/"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57CC-06FE-BAAB-ADE0-B641E1F56160}"/>
              </a:ext>
            </a:extLst>
          </p:cNvPr>
          <p:cNvSpPr>
            <a:spLocks noGrp="1"/>
          </p:cNvSpPr>
          <p:nvPr>
            <p:ph type="ctrTitle"/>
          </p:nvPr>
        </p:nvSpPr>
        <p:spPr>
          <a:xfrm>
            <a:off x="3676650" y="724125"/>
            <a:ext cx="7867650" cy="1735137"/>
          </a:xfrm>
        </p:spPr>
        <p:txBody>
          <a:bodyPr>
            <a:normAutofit fontScale="90000"/>
          </a:bodyPr>
          <a:lstStyle/>
          <a:p>
            <a:pPr algn="l"/>
            <a:r>
              <a:rPr lang="en-GB" b="1" dirty="0"/>
              <a:t>AI Governance</a:t>
            </a:r>
            <a:r>
              <a:rPr lang="en-GB" dirty="0"/>
              <a:t> and </a:t>
            </a:r>
            <a:br>
              <a:rPr lang="en-GB" dirty="0"/>
            </a:br>
            <a:r>
              <a:rPr lang="en-GB" b="1" dirty="0"/>
              <a:t>AI Value Chains</a:t>
            </a:r>
          </a:p>
        </p:txBody>
      </p:sp>
      <p:sp>
        <p:nvSpPr>
          <p:cNvPr id="3" name="Subtitle 2">
            <a:extLst>
              <a:ext uri="{FF2B5EF4-FFF2-40B4-BE49-F238E27FC236}">
                <a16:creationId xmlns:a16="http://schemas.microsoft.com/office/drawing/2014/main" id="{DB0ECF7C-6835-3956-190A-47E85B2B4072}"/>
              </a:ext>
            </a:extLst>
          </p:cNvPr>
          <p:cNvSpPr>
            <a:spLocks noGrp="1"/>
          </p:cNvSpPr>
          <p:nvPr>
            <p:ph type="subTitle" idx="1"/>
          </p:nvPr>
        </p:nvSpPr>
        <p:spPr>
          <a:xfrm>
            <a:off x="3676650" y="3602037"/>
            <a:ext cx="7867650" cy="2684460"/>
          </a:xfrm>
        </p:spPr>
        <p:txBody>
          <a:bodyPr>
            <a:normAutofit/>
          </a:bodyPr>
          <a:lstStyle/>
          <a:p>
            <a:pPr algn="l">
              <a:lnSpc>
                <a:spcPct val="100000"/>
              </a:lnSpc>
              <a:spcBef>
                <a:spcPts val="0"/>
              </a:spcBef>
            </a:pPr>
            <a:r>
              <a:rPr lang="en-GB" b="1" dirty="0"/>
              <a:t>Alessio Azzutti</a:t>
            </a:r>
          </a:p>
          <a:p>
            <a:pPr algn="l">
              <a:lnSpc>
                <a:spcPct val="100000"/>
              </a:lnSpc>
              <a:spcBef>
                <a:spcPts val="0"/>
              </a:spcBef>
            </a:pPr>
            <a:r>
              <a:rPr lang="en-GB" sz="2100" dirty="0"/>
              <a:t>Lecturer in Law &amp; Technology (FinTech)</a:t>
            </a:r>
          </a:p>
          <a:p>
            <a:pPr algn="l">
              <a:lnSpc>
                <a:spcPct val="100000"/>
              </a:lnSpc>
              <a:spcBef>
                <a:spcPts val="0"/>
              </a:spcBef>
            </a:pPr>
            <a:r>
              <a:rPr lang="en-GB" sz="2000" dirty="0"/>
              <a:t>University of Glasgow</a:t>
            </a:r>
          </a:p>
          <a:p>
            <a:pPr algn="l">
              <a:lnSpc>
                <a:spcPct val="100000"/>
              </a:lnSpc>
              <a:spcBef>
                <a:spcPts val="0"/>
              </a:spcBef>
            </a:pPr>
            <a:r>
              <a:rPr lang="en-GB" sz="2000" dirty="0"/>
              <a:t>Faculty of Law</a:t>
            </a:r>
          </a:p>
          <a:p>
            <a:pPr algn="l">
              <a:lnSpc>
                <a:spcPct val="100000"/>
              </a:lnSpc>
              <a:spcBef>
                <a:spcPts val="0"/>
              </a:spcBef>
            </a:pPr>
            <a:endParaRPr lang="en-GB" sz="2000" dirty="0"/>
          </a:p>
          <a:p>
            <a:pPr algn="l">
              <a:lnSpc>
                <a:spcPct val="100000"/>
              </a:lnSpc>
              <a:spcBef>
                <a:spcPts val="0"/>
              </a:spcBef>
            </a:pPr>
            <a:r>
              <a:rPr lang="en-GB" sz="2000" b="1" i="1" dirty="0"/>
              <a:t>LLM</a:t>
            </a:r>
            <a:r>
              <a:rPr lang="en-GB" sz="2000" b="1" dirty="0"/>
              <a:t> </a:t>
            </a:r>
            <a:r>
              <a:rPr lang="en-GB" sz="2000" b="1" i="1" dirty="0"/>
              <a:t>Artificial Intelligence &amp; Law</a:t>
            </a:r>
          </a:p>
          <a:p>
            <a:pPr algn="l">
              <a:lnSpc>
                <a:spcPct val="100000"/>
              </a:lnSpc>
              <a:spcBef>
                <a:spcPts val="0"/>
              </a:spcBef>
            </a:pPr>
            <a:r>
              <a:rPr lang="en-GB" sz="2000" dirty="0"/>
              <a:t>Seminar 9</a:t>
            </a:r>
          </a:p>
          <a:p>
            <a:pPr algn="l">
              <a:lnSpc>
                <a:spcPct val="100000"/>
              </a:lnSpc>
              <a:spcBef>
                <a:spcPts val="0"/>
              </a:spcBef>
            </a:pPr>
            <a:r>
              <a:rPr lang="en-GB" sz="2000" dirty="0"/>
              <a:t>18 March 2026</a:t>
            </a:r>
          </a:p>
        </p:txBody>
      </p:sp>
      <p:cxnSp>
        <p:nvCxnSpPr>
          <p:cNvPr id="5" name="Straight Connector 4">
            <a:extLst>
              <a:ext uri="{FF2B5EF4-FFF2-40B4-BE49-F238E27FC236}">
                <a16:creationId xmlns:a16="http://schemas.microsoft.com/office/drawing/2014/main" id="{3EC0230F-4BA9-C96E-48B0-8F5A947F1323}"/>
              </a:ext>
            </a:extLst>
          </p:cNvPr>
          <p:cNvCxnSpPr>
            <a:cxnSpLocks/>
          </p:cNvCxnSpPr>
          <p:nvPr/>
        </p:nvCxnSpPr>
        <p:spPr>
          <a:xfrm>
            <a:off x="3676650" y="704850"/>
            <a:ext cx="7258050"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6E854666-36C8-76C9-9555-34B73386AF73}"/>
              </a:ext>
            </a:extLst>
          </p:cNvPr>
          <p:cNvCxnSpPr>
            <a:cxnSpLocks/>
          </p:cNvCxnSpPr>
          <p:nvPr/>
        </p:nvCxnSpPr>
        <p:spPr>
          <a:xfrm>
            <a:off x="3676650" y="6286500"/>
            <a:ext cx="7258050" cy="0"/>
          </a:xfrm>
          <a:prstGeom prst="line">
            <a:avLst/>
          </a:prstGeom>
          <a:ln w="38100"/>
        </p:spPr>
        <p:style>
          <a:lnRef idx="2">
            <a:schemeClr val="dk1"/>
          </a:lnRef>
          <a:fillRef idx="0">
            <a:schemeClr val="dk1"/>
          </a:fillRef>
          <a:effectRef idx="1">
            <a:schemeClr val="dk1"/>
          </a:effectRef>
          <a:fontRef idx="minor">
            <a:schemeClr val="tx1"/>
          </a:fontRef>
        </p:style>
      </p:cxnSp>
      <p:pic>
        <p:nvPicPr>
          <p:cNvPr id="10" name="Picture 9">
            <a:extLst>
              <a:ext uri="{FF2B5EF4-FFF2-40B4-BE49-F238E27FC236}">
                <a16:creationId xmlns:a16="http://schemas.microsoft.com/office/drawing/2014/main" id="{65BEE8E1-6465-D3B3-1FDD-A5ADF501B8F0}"/>
              </a:ext>
              <a:ext uri="{C183D7F6-B498-43B3-948B-1728B52AA6E4}">
                <adec:decorative xmlns:adec="http://schemas.microsoft.com/office/drawing/2017/decorative" val="1"/>
              </a:ext>
            </a:extLst>
          </p:cNvPr>
          <p:cNvPicPr preferRelativeResize="0">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075" y="402363"/>
            <a:ext cx="2716225" cy="1440000"/>
          </a:xfrm>
          <a:prstGeom prst="rect">
            <a:avLst/>
          </a:prstGeom>
          <a:noFill/>
          <a:ln>
            <a:noFill/>
          </a:ln>
        </p:spPr>
      </p:pic>
    </p:spTree>
    <p:extLst>
      <p:ext uri="{BB962C8B-B14F-4D97-AF65-F5344CB8AC3E}">
        <p14:creationId xmlns:p14="http://schemas.microsoft.com/office/powerpoint/2010/main" val="2822712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DDAE-1698-B1F3-1038-B9B3D96257EA}"/>
              </a:ext>
            </a:extLst>
          </p:cNvPr>
          <p:cNvSpPr>
            <a:spLocks noGrp="1"/>
          </p:cNvSpPr>
          <p:nvPr>
            <p:ph type="title"/>
          </p:nvPr>
        </p:nvSpPr>
        <p:spPr/>
        <p:txBody>
          <a:bodyPr/>
          <a:lstStyle/>
          <a:p>
            <a:pPr algn="ctr"/>
            <a:r>
              <a:rPr lang="en-GB" cap="small" dirty="0"/>
              <a:t>Seminar Outline</a:t>
            </a:r>
          </a:p>
        </p:txBody>
      </p:sp>
      <p:sp>
        <p:nvSpPr>
          <p:cNvPr id="3" name="Content Placeholder 2">
            <a:extLst>
              <a:ext uri="{FF2B5EF4-FFF2-40B4-BE49-F238E27FC236}">
                <a16:creationId xmlns:a16="http://schemas.microsoft.com/office/drawing/2014/main" id="{411CB33A-7DA6-6CC2-D232-9B3288727A77}"/>
              </a:ext>
            </a:extLst>
          </p:cNvPr>
          <p:cNvSpPr>
            <a:spLocks noGrp="1"/>
          </p:cNvSpPr>
          <p:nvPr>
            <p:ph idx="1"/>
          </p:nvPr>
        </p:nvSpPr>
        <p:spPr>
          <a:xfrm>
            <a:off x="1200150" y="1966300"/>
            <a:ext cx="9886950" cy="3979741"/>
          </a:xfrm>
        </p:spPr>
        <p:txBody>
          <a:bodyPr vert="horz" lIns="91440" tIns="45720" rIns="91440" bIns="45720" rtlCol="0" anchor="ctr">
            <a:normAutofit/>
          </a:bodyPr>
          <a:lstStyle/>
          <a:p>
            <a:pPr marL="514350" indent="-514350">
              <a:buAutoNum type="arabicPeriod"/>
            </a:pPr>
            <a:r>
              <a:rPr lang="en-GB" b="1" dirty="0"/>
              <a:t>Recap of Previous Seminar</a:t>
            </a:r>
          </a:p>
          <a:p>
            <a:pPr marL="514350" indent="-514350">
              <a:buAutoNum type="arabicPeriod"/>
            </a:pPr>
            <a:endParaRPr lang="en-GB" dirty="0"/>
          </a:p>
          <a:p>
            <a:pPr marL="514350" indent="-514350">
              <a:buFont typeface="Arial" panose="020B0604020202020204" pitchFamily="34" charset="0"/>
              <a:buAutoNum type="arabicPeriod"/>
            </a:pPr>
            <a:r>
              <a:rPr lang="en-GB" b="1" dirty="0"/>
              <a:t>AI Value Chains: The </a:t>
            </a:r>
            <a:r>
              <a:rPr lang="en-GB" b="1" i="1" dirty="0"/>
              <a:t>Inter-Organisational </a:t>
            </a:r>
            <a:r>
              <a:rPr lang="en-GB" b="1" dirty="0"/>
              <a:t>Dimension of AI Governance</a:t>
            </a:r>
          </a:p>
          <a:p>
            <a:pPr marL="514350" indent="-514350">
              <a:buAutoNum type="arabicPeriod"/>
            </a:pPr>
            <a:endParaRPr lang="en-GB" dirty="0"/>
          </a:p>
          <a:p>
            <a:pPr marL="514350" indent="-514350">
              <a:buAutoNum type="arabicPeriod"/>
            </a:pPr>
            <a:r>
              <a:rPr lang="en-GB" b="1" dirty="0"/>
              <a:t>AI Value Chains and Emerging AI Regulations</a:t>
            </a:r>
          </a:p>
          <a:p>
            <a:pPr marL="514350" indent="-514350">
              <a:buAutoNum type="arabicPeriod"/>
            </a:pPr>
            <a:endParaRPr lang="en-GB" dirty="0"/>
          </a:p>
          <a:p>
            <a:pPr marL="514350" indent="-514350">
              <a:buAutoNum type="arabicPeriod"/>
            </a:pPr>
            <a:r>
              <a:rPr lang="en-GB" b="1" dirty="0"/>
              <a:t>In-Class Activity</a:t>
            </a:r>
          </a:p>
        </p:txBody>
      </p:sp>
      <p:sp>
        <p:nvSpPr>
          <p:cNvPr id="4" name="Slide Number Placeholder 3">
            <a:extLst>
              <a:ext uri="{FF2B5EF4-FFF2-40B4-BE49-F238E27FC236}">
                <a16:creationId xmlns:a16="http://schemas.microsoft.com/office/drawing/2014/main" id="{A32206C8-69EF-7538-54CB-E609C92F5265}"/>
              </a:ext>
            </a:extLst>
          </p:cNvPr>
          <p:cNvSpPr>
            <a:spLocks noGrp="1"/>
          </p:cNvSpPr>
          <p:nvPr>
            <p:ph type="sldNum" sz="quarter" idx="12"/>
          </p:nvPr>
        </p:nvSpPr>
        <p:spPr/>
        <p:txBody>
          <a:bodyPr/>
          <a:lstStyle/>
          <a:p>
            <a:fld id="{8ABD5A5B-811B-418E-9483-61F67F998C2D}" type="slidenum">
              <a:rPr lang="en-GB" smtClean="0"/>
              <a:t>2</a:t>
            </a:fld>
            <a:endParaRPr lang="en-GB"/>
          </a:p>
        </p:txBody>
      </p:sp>
    </p:spTree>
    <p:extLst>
      <p:ext uri="{BB962C8B-B14F-4D97-AF65-F5344CB8AC3E}">
        <p14:creationId xmlns:p14="http://schemas.microsoft.com/office/powerpoint/2010/main" val="291196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59B2C5-7408-676A-B7AF-07405404E166}"/>
            </a:ext>
          </a:extLst>
        </p:cNvPr>
        <p:cNvGrpSpPr/>
        <p:nvPr/>
      </p:nvGrpSpPr>
      <p:grpSpPr>
        <a:xfrm>
          <a:off x="0" y="0"/>
          <a:ext cx="0" cy="0"/>
          <a:chOff x="0" y="0"/>
          <a:chExt cx="0" cy="0"/>
        </a:xfrm>
      </p:grpSpPr>
      <p:sp>
        <p:nvSpPr>
          <p:cNvPr id="229" name="Rectangle 228">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Oval 22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Oval 23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32" name="Oval 231">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72569B1-089F-D7D0-B3B6-02C8A6216AC8}"/>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dirty="0">
                <a:solidFill>
                  <a:schemeClr val="bg1"/>
                </a:solidFill>
                <a:latin typeface="+mj-lt"/>
                <a:ea typeface="+mj-ea"/>
                <a:cs typeface="+mj-cs"/>
              </a:rPr>
              <a:t>Part One</a:t>
            </a:r>
          </a:p>
        </p:txBody>
      </p:sp>
      <p:sp>
        <p:nvSpPr>
          <p:cNvPr id="3" name="Content Placeholder 2">
            <a:extLst>
              <a:ext uri="{FF2B5EF4-FFF2-40B4-BE49-F238E27FC236}">
                <a16:creationId xmlns:a16="http://schemas.microsoft.com/office/drawing/2014/main" id="{5131A859-8E3B-0B6C-125E-5FB514007560}"/>
              </a:ext>
            </a:extLst>
          </p:cNvPr>
          <p:cNvSpPr>
            <a:spLocks noGrp="1"/>
          </p:cNvSpPr>
          <p:nvPr>
            <p:ph idx="1"/>
          </p:nvPr>
        </p:nvSpPr>
        <p:spPr>
          <a:xfrm>
            <a:off x="3927178" y="4409960"/>
            <a:ext cx="4508641" cy="1116414"/>
          </a:xfrm>
        </p:spPr>
        <p:txBody>
          <a:bodyPr vert="horz" lIns="91440" tIns="45720" rIns="91440" bIns="45720" rtlCol="0">
            <a:normAutofit/>
          </a:bodyPr>
          <a:lstStyle/>
          <a:p>
            <a:pPr marL="0" indent="0" algn="ctr">
              <a:spcBef>
                <a:spcPts val="600"/>
              </a:spcBef>
              <a:buNone/>
            </a:pPr>
            <a:r>
              <a:rPr lang="en-US" sz="2000" kern="1200" dirty="0">
                <a:solidFill>
                  <a:schemeClr val="bg1"/>
                </a:solidFill>
                <a:latin typeface="+mn-lt"/>
                <a:ea typeface="+mn-ea"/>
                <a:cs typeface="+mn-cs"/>
              </a:rPr>
              <a:t>Recap of </a:t>
            </a:r>
            <a:r>
              <a:rPr lang="en-US" sz="2000" b="1" kern="1200" dirty="0">
                <a:solidFill>
                  <a:schemeClr val="bg1"/>
                </a:solidFill>
                <a:latin typeface="+mn-lt"/>
                <a:ea typeface="+mn-ea"/>
                <a:cs typeface="+mn-cs"/>
              </a:rPr>
              <a:t>Seminar 8</a:t>
            </a:r>
            <a:r>
              <a:rPr lang="en-US" sz="2000" kern="1200" dirty="0">
                <a:solidFill>
                  <a:schemeClr val="bg1"/>
                </a:solidFill>
                <a:latin typeface="+mn-lt"/>
                <a:ea typeface="+mn-ea"/>
                <a:cs typeface="+mn-cs"/>
              </a:rPr>
              <a:t>: </a:t>
            </a:r>
          </a:p>
          <a:p>
            <a:pPr marL="0" indent="0" algn="ctr">
              <a:spcBef>
                <a:spcPts val="600"/>
              </a:spcBef>
              <a:buNone/>
            </a:pPr>
            <a:r>
              <a:rPr lang="en-US" sz="2000" i="1" kern="1200" dirty="0">
                <a:solidFill>
                  <a:schemeClr val="bg1"/>
                </a:solidFill>
                <a:latin typeface="+mn-lt"/>
                <a:ea typeface="+mn-ea"/>
                <a:cs typeface="+mn-cs"/>
              </a:rPr>
              <a:t>AI Governance and the AI Lifecycle</a:t>
            </a:r>
          </a:p>
        </p:txBody>
      </p:sp>
      <p:sp>
        <p:nvSpPr>
          <p:cNvPr id="233"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34"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35"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2" name="Freeform: Shape 21">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36" name="Freeform: Shape 235">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7" name="Oval 236">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8" name="Oval 237">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39"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40" name="Freeform: Shape 239">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1" name="Freeform: Shape 24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42" name="Freeform: Shape 24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3" name="Freeform: Shape 242">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44" name="Freeform: Shape 243">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4" name="Slide Number Placeholder 3">
            <a:extLst>
              <a:ext uri="{FF2B5EF4-FFF2-40B4-BE49-F238E27FC236}">
                <a16:creationId xmlns:a16="http://schemas.microsoft.com/office/drawing/2014/main" id="{78B3F14A-F090-4A7C-5280-AC4319F35C3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8ABD5A5B-811B-418E-9483-61F67F998C2D}" type="slidenum">
              <a:rPr lang="en-US">
                <a:solidFill>
                  <a:schemeClr val="bg1"/>
                </a:solidFill>
              </a:rPr>
              <a:pPr>
                <a:spcAft>
                  <a:spcPts val="600"/>
                </a:spcAft>
              </a:pPr>
              <a:t>3</a:t>
            </a:fld>
            <a:endParaRPr lang="en-US">
              <a:solidFill>
                <a:schemeClr val="bg1"/>
              </a:solidFill>
            </a:endParaRPr>
          </a:p>
        </p:txBody>
      </p:sp>
    </p:spTree>
    <p:extLst>
      <p:ext uri="{BB962C8B-B14F-4D97-AF65-F5344CB8AC3E}">
        <p14:creationId xmlns:p14="http://schemas.microsoft.com/office/powerpoint/2010/main" val="3473272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B07CB96-198C-10A3-FE44-F31FF7E3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1ED3A-5898-302C-AD9A-D135F5C7B911}"/>
              </a:ext>
            </a:extLst>
          </p:cNvPr>
          <p:cNvSpPr>
            <a:spLocks noGrp="1"/>
          </p:cNvSpPr>
          <p:nvPr>
            <p:ph type="title"/>
          </p:nvPr>
        </p:nvSpPr>
        <p:spPr>
          <a:xfrm>
            <a:off x="838200" y="320675"/>
            <a:ext cx="10515600" cy="1325563"/>
          </a:xfrm>
        </p:spPr>
        <p:txBody>
          <a:bodyPr/>
          <a:lstStyle/>
          <a:p>
            <a:r>
              <a:rPr lang="en-GB" dirty="0"/>
              <a:t>Key Questions We Got Started With</a:t>
            </a:r>
          </a:p>
        </p:txBody>
      </p:sp>
      <p:sp>
        <p:nvSpPr>
          <p:cNvPr id="4" name="Slide Number Placeholder 3">
            <a:extLst>
              <a:ext uri="{FF2B5EF4-FFF2-40B4-BE49-F238E27FC236}">
                <a16:creationId xmlns:a16="http://schemas.microsoft.com/office/drawing/2014/main" id="{C7640990-A3D9-A5A5-5A8D-053D5D039BB8}"/>
              </a:ext>
            </a:extLst>
          </p:cNvPr>
          <p:cNvSpPr>
            <a:spLocks noGrp="1"/>
          </p:cNvSpPr>
          <p:nvPr>
            <p:ph type="sldNum" sz="quarter" idx="12"/>
          </p:nvPr>
        </p:nvSpPr>
        <p:spPr/>
        <p:txBody>
          <a:bodyPr/>
          <a:lstStyle/>
          <a:p>
            <a:fld id="{8ABD5A5B-811B-418E-9483-61F67F998C2D}" type="slidenum">
              <a:rPr lang="en-GB" smtClean="0"/>
              <a:t>4</a:t>
            </a:fld>
            <a:endParaRPr lang="en-GB"/>
          </a:p>
        </p:txBody>
      </p:sp>
      <p:sp>
        <p:nvSpPr>
          <p:cNvPr id="14" name="Content Placeholder 4">
            <a:extLst>
              <a:ext uri="{FF2B5EF4-FFF2-40B4-BE49-F238E27FC236}">
                <a16:creationId xmlns:a16="http://schemas.microsoft.com/office/drawing/2014/main" id="{F335107B-7DF5-0BFD-DAB2-2EA8E29E4645}"/>
              </a:ext>
            </a:extLst>
          </p:cNvPr>
          <p:cNvSpPr>
            <a:spLocks noGrp="1"/>
          </p:cNvSpPr>
          <p:nvPr>
            <p:ph idx="1"/>
          </p:nvPr>
        </p:nvSpPr>
        <p:spPr>
          <a:xfrm>
            <a:off x="1028700" y="1643917"/>
            <a:ext cx="10515600" cy="4351338"/>
          </a:xfrm>
        </p:spPr>
        <p:txBody>
          <a:bodyPr vert="horz" lIns="91440" tIns="45720" rIns="91440" bIns="45720" rtlCol="0" anchor="ctr">
            <a:normAutofit/>
          </a:bodyPr>
          <a:lstStyle/>
          <a:p>
            <a:r>
              <a:rPr lang="en-GB" i="1" dirty="0"/>
              <a:t>What is meant by AI Governance? </a:t>
            </a:r>
          </a:p>
          <a:p>
            <a:endParaRPr lang="en-GB" i="1" dirty="0"/>
          </a:p>
          <a:p>
            <a:r>
              <a:rPr lang="en-GB" i="1" dirty="0"/>
              <a:t>Why do we need it?</a:t>
            </a:r>
          </a:p>
          <a:p>
            <a:endParaRPr lang="en-GB" i="1" dirty="0"/>
          </a:p>
          <a:p>
            <a:r>
              <a:rPr lang="en-GB" i="1" dirty="0"/>
              <a:t>And who should be in charge of it?</a:t>
            </a:r>
          </a:p>
        </p:txBody>
      </p:sp>
    </p:spTree>
    <p:extLst>
      <p:ext uri="{BB962C8B-B14F-4D97-AF65-F5344CB8AC3E}">
        <p14:creationId xmlns:p14="http://schemas.microsoft.com/office/powerpoint/2010/main" val="3640448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2C52940-EC6C-0F05-FFE6-FC0E11AFB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2D0C2-2118-E915-68B7-9D67C39CE7F4}"/>
              </a:ext>
            </a:extLst>
          </p:cNvPr>
          <p:cNvSpPr>
            <a:spLocks noGrp="1"/>
          </p:cNvSpPr>
          <p:nvPr>
            <p:ph type="title"/>
          </p:nvPr>
        </p:nvSpPr>
        <p:spPr>
          <a:xfrm>
            <a:off x="838200" y="136525"/>
            <a:ext cx="10515600" cy="1325563"/>
          </a:xfrm>
        </p:spPr>
        <p:txBody>
          <a:bodyPr/>
          <a:lstStyle/>
          <a:p>
            <a:pPr algn="ctr"/>
            <a:r>
              <a:rPr lang="en-GB" cap="small" dirty="0"/>
              <a:t>Key Topics Covered</a:t>
            </a:r>
          </a:p>
        </p:txBody>
      </p:sp>
      <p:sp>
        <p:nvSpPr>
          <p:cNvPr id="4" name="Slide Number Placeholder 3">
            <a:extLst>
              <a:ext uri="{FF2B5EF4-FFF2-40B4-BE49-F238E27FC236}">
                <a16:creationId xmlns:a16="http://schemas.microsoft.com/office/drawing/2014/main" id="{47046748-1A41-816F-14A2-DE7614FBA7D8}"/>
              </a:ext>
            </a:extLst>
          </p:cNvPr>
          <p:cNvSpPr>
            <a:spLocks noGrp="1"/>
          </p:cNvSpPr>
          <p:nvPr>
            <p:ph type="sldNum" sz="quarter" idx="12"/>
          </p:nvPr>
        </p:nvSpPr>
        <p:spPr/>
        <p:txBody>
          <a:bodyPr/>
          <a:lstStyle/>
          <a:p>
            <a:fld id="{8ABD5A5B-811B-418E-9483-61F67F998C2D}" type="slidenum">
              <a:rPr lang="en-GB" smtClean="0"/>
              <a:t>5</a:t>
            </a:fld>
            <a:endParaRPr lang="en-GB"/>
          </a:p>
        </p:txBody>
      </p:sp>
      <p:sp>
        <p:nvSpPr>
          <p:cNvPr id="14" name="Content Placeholder 4">
            <a:extLst>
              <a:ext uri="{FF2B5EF4-FFF2-40B4-BE49-F238E27FC236}">
                <a16:creationId xmlns:a16="http://schemas.microsoft.com/office/drawing/2014/main" id="{45B63C61-0C63-B9EF-A4E3-79D301E11FBC}"/>
              </a:ext>
            </a:extLst>
          </p:cNvPr>
          <p:cNvSpPr>
            <a:spLocks noGrp="1"/>
          </p:cNvSpPr>
          <p:nvPr>
            <p:ph idx="1"/>
          </p:nvPr>
        </p:nvSpPr>
        <p:spPr>
          <a:xfrm>
            <a:off x="838200" y="1282700"/>
            <a:ext cx="10515600" cy="4953000"/>
          </a:xfrm>
        </p:spPr>
        <p:txBody>
          <a:bodyPr vert="horz" lIns="91440" tIns="45720" rIns="91440" bIns="45720" rtlCol="0" anchor="ctr">
            <a:normAutofit lnSpcReduction="10000"/>
          </a:bodyPr>
          <a:lstStyle/>
          <a:p>
            <a:pPr marL="0" indent="0" algn="just">
              <a:buNone/>
            </a:pPr>
            <a:r>
              <a:rPr lang="en-GB" dirty="0"/>
              <a:t>🧩 </a:t>
            </a:r>
            <a:r>
              <a:rPr lang="en-GB" b="1" dirty="0"/>
              <a:t>Organisational AI Governance</a:t>
            </a:r>
          </a:p>
          <a:p>
            <a:pPr lvl="1" algn="just">
              <a:spcAft>
                <a:spcPts val="300"/>
              </a:spcAft>
            </a:pPr>
            <a:r>
              <a:rPr lang="en-GB" sz="2200" i="1" dirty="0"/>
              <a:t>Understanding AI governance at the </a:t>
            </a:r>
            <a:r>
              <a:rPr lang="en-GB" sz="2200" b="1" i="1" dirty="0"/>
              <a:t>organisational level</a:t>
            </a:r>
            <a:r>
              <a:rPr lang="en-GB" sz="2200" i="1" dirty="0"/>
              <a:t>, rather than at the project or application level.</a:t>
            </a:r>
          </a:p>
          <a:p>
            <a:pPr lvl="1" algn="just">
              <a:spcAft>
                <a:spcPts val="600"/>
              </a:spcAft>
            </a:pPr>
            <a:r>
              <a:rPr lang="en-GB" sz="2200" i="1" dirty="0"/>
              <a:t>Core </a:t>
            </a:r>
            <a:r>
              <a:rPr lang="en-GB" sz="2200" b="1" i="1" dirty="0"/>
              <a:t>principles and frameworks</a:t>
            </a:r>
            <a:r>
              <a:rPr lang="en-GB" sz="2200" i="1" dirty="0"/>
              <a:t>.</a:t>
            </a:r>
          </a:p>
          <a:p>
            <a:pPr marL="0" indent="0" algn="just">
              <a:buNone/>
            </a:pPr>
            <a:r>
              <a:rPr lang="en-GB" dirty="0"/>
              <a:t>🔄 </a:t>
            </a:r>
            <a:r>
              <a:rPr lang="en-GB" b="1" dirty="0"/>
              <a:t>The AI Lifecycle</a:t>
            </a:r>
          </a:p>
          <a:p>
            <a:pPr lvl="1" algn="just">
              <a:spcAft>
                <a:spcPts val="300"/>
              </a:spcAft>
            </a:pPr>
            <a:r>
              <a:rPr lang="en-GB" sz="2200" i="1" dirty="0"/>
              <a:t>The </a:t>
            </a:r>
            <a:r>
              <a:rPr lang="en-GB" sz="2200" b="1" i="1" dirty="0"/>
              <a:t>phases and sub-phases of an AI project</a:t>
            </a:r>
            <a:r>
              <a:rPr lang="en-GB" sz="2200" i="1" dirty="0"/>
              <a:t>, from conceptualisation to operation.</a:t>
            </a:r>
          </a:p>
          <a:p>
            <a:pPr lvl="1" algn="just">
              <a:spcAft>
                <a:spcPts val="600"/>
              </a:spcAft>
            </a:pPr>
            <a:r>
              <a:rPr lang="en-GB" sz="2200" i="1" dirty="0"/>
              <a:t>How </a:t>
            </a:r>
            <a:r>
              <a:rPr lang="en-GB" sz="2200" b="1" i="1" dirty="0"/>
              <a:t>governance (and regulatory) requirements </a:t>
            </a:r>
            <a:r>
              <a:rPr lang="en-GB" sz="2200" i="1" dirty="0"/>
              <a:t>are embedded across the </a:t>
            </a:r>
            <a:r>
              <a:rPr lang="en-GB" sz="2200" b="1" i="1" dirty="0"/>
              <a:t>different stages </a:t>
            </a:r>
            <a:r>
              <a:rPr lang="en-GB" sz="2200" i="1" dirty="0"/>
              <a:t>of the AI lifecycle.</a:t>
            </a:r>
          </a:p>
          <a:p>
            <a:pPr marL="0" lvl="1" indent="0" algn="just">
              <a:buNone/>
            </a:pPr>
            <a:r>
              <a:rPr lang="en-GB" dirty="0"/>
              <a:t>⚖️ </a:t>
            </a:r>
            <a:r>
              <a:rPr lang="en-GB" b="1" dirty="0"/>
              <a:t>Relevance for AI Regulation (AI Act as Case Study)</a:t>
            </a:r>
          </a:p>
          <a:p>
            <a:pPr lvl="1" algn="just">
              <a:spcAft>
                <a:spcPts val="300"/>
              </a:spcAft>
            </a:pPr>
            <a:r>
              <a:rPr lang="en-GB" sz="2200" i="1" dirty="0"/>
              <a:t>The challenge of </a:t>
            </a:r>
            <a:r>
              <a:rPr lang="en-GB" sz="2200" b="1" i="1" dirty="0"/>
              <a:t>translating legal principles into practice</a:t>
            </a:r>
            <a:r>
              <a:rPr lang="en-GB" sz="2200" i="1" dirty="0"/>
              <a:t>.</a:t>
            </a:r>
          </a:p>
          <a:p>
            <a:pPr lvl="1" algn="just">
              <a:spcAft>
                <a:spcPts val="300"/>
              </a:spcAft>
            </a:pPr>
            <a:r>
              <a:rPr lang="en-GB" sz="2200" b="1" i="1" dirty="0"/>
              <a:t>Mapping</a:t>
            </a:r>
            <a:r>
              <a:rPr lang="en-GB" sz="2200" i="1" dirty="0"/>
              <a:t> regulatory obligations </a:t>
            </a:r>
            <a:r>
              <a:rPr lang="en-GB" sz="2200" b="1" i="1" dirty="0"/>
              <a:t>across AI lifecycle stages</a:t>
            </a:r>
            <a:r>
              <a:rPr lang="en-GB" sz="2200" i="1" dirty="0"/>
              <a:t>.</a:t>
            </a:r>
          </a:p>
          <a:p>
            <a:pPr lvl="1" algn="just">
              <a:spcAft>
                <a:spcPts val="600"/>
              </a:spcAft>
            </a:pPr>
            <a:r>
              <a:rPr lang="en-GB" sz="2200" b="1" i="1" dirty="0"/>
              <a:t>Ongoing challenges </a:t>
            </a:r>
            <a:r>
              <a:rPr lang="en-GB" sz="2200" i="1" dirty="0"/>
              <a:t>and emerging regulatory frameworks.</a:t>
            </a:r>
          </a:p>
        </p:txBody>
      </p:sp>
    </p:spTree>
    <p:extLst>
      <p:ext uri="{BB962C8B-B14F-4D97-AF65-F5344CB8AC3E}">
        <p14:creationId xmlns:p14="http://schemas.microsoft.com/office/powerpoint/2010/main" val="543413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9653E08-52F3-79DD-E04B-0D548B7B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75B6C-BC56-AE39-39A8-63DDED62ADB1}"/>
              </a:ext>
            </a:extLst>
          </p:cNvPr>
          <p:cNvSpPr>
            <a:spLocks noGrp="1"/>
          </p:cNvSpPr>
          <p:nvPr>
            <p:ph type="title"/>
          </p:nvPr>
        </p:nvSpPr>
        <p:spPr>
          <a:xfrm>
            <a:off x="838200" y="0"/>
            <a:ext cx="10515600" cy="1210746"/>
          </a:xfrm>
        </p:spPr>
        <p:txBody>
          <a:bodyPr/>
          <a:lstStyle/>
          <a:p>
            <a:r>
              <a:rPr lang="en-GB" cap="small" dirty="0"/>
              <a:t>Group Activity</a:t>
            </a:r>
          </a:p>
        </p:txBody>
      </p:sp>
      <p:sp>
        <p:nvSpPr>
          <p:cNvPr id="4" name="Slide Number Placeholder 3">
            <a:extLst>
              <a:ext uri="{FF2B5EF4-FFF2-40B4-BE49-F238E27FC236}">
                <a16:creationId xmlns:a16="http://schemas.microsoft.com/office/drawing/2014/main" id="{3E608A8A-82B1-8BAA-EB03-FB80DD4964EF}"/>
              </a:ext>
            </a:extLst>
          </p:cNvPr>
          <p:cNvSpPr>
            <a:spLocks noGrp="1"/>
          </p:cNvSpPr>
          <p:nvPr>
            <p:ph type="sldNum" sz="quarter" idx="12"/>
          </p:nvPr>
        </p:nvSpPr>
        <p:spPr/>
        <p:txBody>
          <a:bodyPr/>
          <a:lstStyle/>
          <a:p>
            <a:fld id="{8ABD5A5B-811B-418E-9483-61F67F998C2D}" type="slidenum">
              <a:rPr lang="en-GB" smtClean="0"/>
              <a:t>6</a:t>
            </a:fld>
            <a:endParaRPr lang="en-GB"/>
          </a:p>
        </p:txBody>
      </p:sp>
      <p:sp>
        <p:nvSpPr>
          <p:cNvPr id="5" name="TextBox 4">
            <a:extLst>
              <a:ext uri="{FF2B5EF4-FFF2-40B4-BE49-F238E27FC236}">
                <a16:creationId xmlns:a16="http://schemas.microsoft.com/office/drawing/2014/main" id="{EA7C2189-7898-BF2E-2AAD-F697A0D067BE}"/>
              </a:ext>
            </a:extLst>
          </p:cNvPr>
          <p:cNvSpPr txBox="1"/>
          <p:nvPr/>
        </p:nvSpPr>
        <p:spPr>
          <a:xfrm>
            <a:off x="954464" y="746442"/>
            <a:ext cx="10399335" cy="369332"/>
          </a:xfrm>
          <a:prstGeom prst="rect">
            <a:avLst/>
          </a:prstGeom>
          <a:noFill/>
        </p:spPr>
        <p:txBody>
          <a:bodyPr wrap="square">
            <a:spAutoFit/>
          </a:bodyPr>
          <a:lstStyle/>
          <a:p>
            <a:r>
              <a:rPr lang="en-GB" i="1" dirty="0"/>
              <a:t>The AI Lifecycle as a Regulatory concept</a:t>
            </a:r>
            <a:endParaRPr lang="en-GB" dirty="0"/>
          </a:p>
        </p:txBody>
      </p:sp>
      <p:sp>
        <p:nvSpPr>
          <p:cNvPr id="8" name="Content Placeholder 2">
            <a:extLst>
              <a:ext uri="{FF2B5EF4-FFF2-40B4-BE49-F238E27FC236}">
                <a16:creationId xmlns:a16="http://schemas.microsoft.com/office/drawing/2014/main" id="{F23B0532-9EE8-54CA-901F-D055D9503D01}"/>
              </a:ext>
            </a:extLst>
          </p:cNvPr>
          <p:cNvSpPr txBox="1">
            <a:spLocks/>
          </p:cNvSpPr>
          <p:nvPr/>
        </p:nvSpPr>
        <p:spPr>
          <a:xfrm>
            <a:off x="743931" y="1210746"/>
            <a:ext cx="10820400" cy="537765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r>
              <a:rPr lang="en-GB" sz="3100"/>
              <a:t>Work in </a:t>
            </a:r>
            <a:r>
              <a:rPr lang="en-GB" sz="3100" b="1"/>
              <a:t>groups of 3-4 students</a:t>
            </a:r>
            <a:r>
              <a:rPr lang="en-GB" sz="3100"/>
              <a:t>. </a:t>
            </a:r>
          </a:p>
          <a:p>
            <a:pPr marL="0" indent="0">
              <a:lnSpc>
                <a:spcPct val="100000"/>
              </a:lnSpc>
              <a:spcAft>
                <a:spcPts val="900"/>
              </a:spcAft>
              <a:buFont typeface="Arial" panose="020B0604020202020204" pitchFamily="34" charset="0"/>
              <a:buNone/>
            </a:pPr>
            <a:r>
              <a:rPr lang="en-GB" sz="2600"/>
              <a:t>Consider the lifecycle of a </a:t>
            </a:r>
            <a:r>
              <a:rPr lang="en-GB" sz="2600" b="1"/>
              <a:t>large generative AI system such as ChatGPT</a:t>
            </a:r>
            <a:r>
              <a:rPr lang="en-GB" sz="2600"/>
              <a:t> (e.g., data collection, model development, deployment, and monitoring). </a:t>
            </a:r>
          </a:p>
          <a:p>
            <a:pPr marL="0" indent="0" algn="ctr">
              <a:lnSpc>
                <a:spcPct val="100000"/>
              </a:lnSpc>
              <a:buFont typeface="Arial" panose="020B0604020202020204" pitchFamily="34" charset="0"/>
              <a:buNone/>
            </a:pPr>
            <a:r>
              <a:rPr lang="en-GB" sz="3400" b="1" u="sng" cap="small"/>
              <a:t>Your Tasks</a:t>
            </a:r>
            <a:r>
              <a:rPr lang="en-GB" sz="3400" cap="small"/>
              <a:t> </a:t>
            </a:r>
          </a:p>
          <a:p>
            <a:pPr marL="0" indent="0">
              <a:lnSpc>
                <a:spcPct val="100000"/>
              </a:lnSpc>
              <a:spcAft>
                <a:spcPts val="300"/>
              </a:spcAft>
              <a:buFont typeface="Arial" panose="020B0604020202020204" pitchFamily="34" charset="0"/>
              <a:buNone/>
            </a:pPr>
            <a:r>
              <a:rPr lang="en-GB" b="1"/>
              <a:t>1. Reflect </a:t>
            </a:r>
          </a:p>
          <a:p>
            <a:pPr marL="0" indent="0">
              <a:lnSpc>
                <a:spcPct val="100000"/>
              </a:lnSpc>
              <a:spcAft>
                <a:spcPts val="900"/>
              </a:spcAft>
              <a:buFont typeface="Arial" panose="020B0604020202020204" pitchFamily="34" charset="0"/>
              <a:buNone/>
            </a:pPr>
            <a:r>
              <a:rPr lang="en-GB" sz="2600" i="1"/>
              <a:t>Why might a </a:t>
            </a:r>
            <a:r>
              <a:rPr lang="en-GB" sz="2600" b="1" i="1"/>
              <a:t>lifecycle approach </a:t>
            </a:r>
            <a:r>
              <a:rPr lang="en-GB" sz="2600" i="1"/>
              <a:t>be useful for regulating and governing such AI system? </a:t>
            </a:r>
          </a:p>
          <a:p>
            <a:pPr marL="0" indent="0">
              <a:lnSpc>
                <a:spcPct val="100000"/>
              </a:lnSpc>
              <a:spcAft>
                <a:spcPts val="300"/>
              </a:spcAft>
              <a:buFont typeface="Arial" panose="020B0604020202020204" pitchFamily="34" charset="0"/>
              <a:buNone/>
            </a:pPr>
            <a:r>
              <a:rPr lang="en-GB" b="1"/>
              <a:t>2. Apply regulatory theory</a:t>
            </a:r>
          </a:p>
          <a:p>
            <a:pPr>
              <a:lnSpc>
                <a:spcPct val="100000"/>
              </a:lnSpc>
              <a:spcAft>
                <a:spcPts val="300"/>
              </a:spcAft>
            </a:pPr>
            <a:r>
              <a:rPr lang="en-GB" sz="2600" i="1"/>
              <a:t>How does </a:t>
            </a:r>
            <a:r>
              <a:rPr lang="en-GB" sz="2600" b="1" i="1"/>
              <a:t>public regulation theory </a:t>
            </a:r>
            <a:r>
              <a:rPr lang="en-GB" sz="2600" i="1"/>
              <a:t>justify regulating the AI lifecycle? </a:t>
            </a:r>
          </a:p>
          <a:p>
            <a:pPr>
              <a:lnSpc>
                <a:spcPct val="100000"/>
              </a:lnSpc>
              <a:spcAft>
                <a:spcPts val="900"/>
              </a:spcAft>
            </a:pPr>
            <a:r>
              <a:rPr lang="en-GB" sz="2600" i="1"/>
              <a:t>How does </a:t>
            </a:r>
            <a:r>
              <a:rPr lang="en-GB" sz="2600" b="1" i="1"/>
              <a:t>private regulation theory </a:t>
            </a:r>
            <a:r>
              <a:rPr lang="en-GB" sz="2600" i="1"/>
              <a:t>explain the lifecycle’s governance role?</a:t>
            </a:r>
          </a:p>
          <a:p>
            <a:pPr marL="0" indent="0">
              <a:lnSpc>
                <a:spcPct val="100000"/>
              </a:lnSpc>
              <a:buFont typeface="Arial" panose="020B0604020202020204" pitchFamily="34" charset="0"/>
              <a:buNone/>
            </a:pPr>
            <a:r>
              <a:rPr lang="en-GB" b="1"/>
              <a:t>3. Debate</a:t>
            </a:r>
          </a:p>
          <a:p>
            <a:pPr marL="0" indent="0">
              <a:lnSpc>
                <a:spcPct val="100000"/>
              </a:lnSpc>
              <a:spcAft>
                <a:spcPts val="1200"/>
              </a:spcAft>
              <a:buFont typeface="Arial" panose="020B0604020202020204" pitchFamily="34" charset="0"/>
              <a:buNone/>
            </a:pPr>
            <a:r>
              <a:rPr lang="en-GB" sz="2600" i="1"/>
              <a:t>Should regulation of the AI lifecycle rely more on </a:t>
            </a:r>
            <a:r>
              <a:rPr lang="en-GB" sz="2600" b="1" i="1"/>
              <a:t>principles</a:t>
            </a:r>
            <a:r>
              <a:rPr lang="en-GB" sz="2600" i="1"/>
              <a:t> or on </a:t>
            </a:r>
            <a:r>
              <a:rPr lang="en-GB" sz="2600" b="1" i="1"/>
              <a:t>detailed rules</a:t>
            </a:r>
            <a:r>
              <a:rPr lang="en-GB" sz="2600" i="1"/>
              <a:t>?</a:t>
            </a:r>
          </a:p>
          <a:p>
            <a:pPr marL="0" indent="0">
              <a:lnSpc>
                <a:spcPct val="100000"/>
              </a:lnSpc>
              <a:buFont typeface="Arial" panose="020B0604020202020204" pitchFamily="34" charset="0"/>
              <a:buNone/>
            </a:pPr>
            <a:r>
              <a:rPr lang="en-GB" sz="3100"/>
              <a:t>📌 </a:t>
            </a:r>
            <a:r>
              <a:rPr lang="en-GB" sz="3100" b="1"/>
              <a:t>Prepare a </a:t>
            </a:r>
            <a:r>
              <a:rPr lang="en-GB" sz="3100" b="1">
                <a:solidFill>
                  <a:srgbClr val="FF0000"/>
                </a:solidFill>
              </a:rPr>
              <a:t>short reflection</a:t>
            </a:r>
            <a:r>
              <a:rPr lang="en-GB" sz="3100" b="1"/>
              <a:t> to </a:t>
            </a:r>
            <a:r>
              <a:rPr lang="en-GB" sz="3100" b="1">
                <a:solidFill>
                  <a:srgbClr val="0000FF"/>
                </a:solidFill>
              </a:rPr>
              <a:t>share</a:t>
            </a:r>
            <a:r>
              <a:rPr lang="en-GB" sz="3100" b="1"/>
              <a:t> with the </a:t>
            </a:r>
            <a:r>
              <a:rPr lang="en-GB" sz="3100" b="1">
                <a:solidFill>
                  <a:srgbClr val="0000FF"/>
                </a:solidFill>
              </a:rPr>
              <a:t>class</a:t>
            </a:r>
            <a:r>
              <a:rPr lang="en-GB" sz="3100" b="1"/>
              <a:t>.</a:t>
            </a:r>
            <a:endParaRPr lang="en-GB" sz="3100" b="1" dirty="0"/>
          </a:p>
        </p:txBody>
      </p:sp>
    </p:spTree>
    <p:extLst>
      <p:ext uri="{BB962C8B-B14F-4D97-AF65-F5344CB8AC3E}">
        <p14:creationId xmlns:p14="http://schemas.microsoft.com/office/powerpoint/2010/main" val="1360495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9479-61CD-8FE1-C9EC-2678D9F6D1F9}"/>
              </a:ext>
            </a:extLst>
          </p:cNvPr>
          <p:cNvSpPr>
            <a:spLocks noGrp="1"/>
          </p:cNvSpPr>
          <p:nvPr>
            <p:ph type="title"/>
          </p:nvPr>
        </p:nvSpPr>
        <p:spPr>
          <a:xfrm>
            <a:off x="3810000" y="2766218"/>
            <a:ext cx="4572000" cy="1325563"/>
          </a:xfrm>
        </p:spPr>
        <p:txBody>
          <a:bodyPr/>
          <a:lstStyle/>
          <a:p>
            <a:pPr algn="ctr"/>
            <a:r>
              <a:rPr lang="en-GB" i="1" dirty="0"/>
              <a:t>Questions?</a:t>
            </a:r>
          </a:p>
        </p:txBody>
      </p:sp>
      <p:sp>
        <p:nvSpPr>
          <p:cNvPr id="4" name="Slide Number Placeholder 3">
            <a:extLst>
              <a:ext uri="{FF2B5EF4-FFF2-40B4-BE49-F238E27FC236}">
                <a16:creationId xmlns:a16="http://schemas.microsoft.com/office/drawing/2014/main" id="{35BA57F0-C1C6-EF2F-E08D-667D4FB5ECBC}"/>
              </a:ext>
            </a:extLst>
          </p:cNvPr>
          <p:cNvSpPr>
            <a:spLocks noGrp="1"/>
          </p:cNvSpPr>
          <p:nvPr>
            <p:ph type="sldNum" sz="quarter" idx="12"/>
          </p:nvPr>
        </p:nvSpPr>
        <p:spPr/>
        <p:txBody>
          <a:bodyPr/>
          <a:lstStyle/>
          <a:p>
            <a:fld id="{8ABD5A5B-811B-418E-9483-61F67F998C2D}" type="slidenum">
              <a:rPr lang="en-GB" smtClean="0"/>
              <a:t>7</a:t>
            </a:fld>
            <a:endParaRPr lang="en-GB"/>
          </a:p>
        </p:txBody>
      </p:sp>
      <p:pic>
        <p:nvPicPr>
          <p:cNvPr id="5" name="Picture 4">
            <a:extLst>
              <a:ext uri="{FF2B5EF4-FFF2-40B4-BE49-F238E27FC236}">
                <a16:creationId xmlns:a16="http://schemas.microsoft.com/office/drawing/2014/main" id="{645D8B3C-DCB3-F6BE-E7DB-14739EDCE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81400"/>
            <a:ext cx="4914900" cy="3276600"/>
          </a:xfrm>
          <a:prstGeom prst="rect">
            <a:avLst/>
          </a:prstGeom>
        </p:spPr>
      </p:pic>
    </p:spTree>
    <p:extLst>
      <p:ext uri="{BB962C8B-B14F-4D97-AF65-F5344CB8AC3E}">
        <p14:creationId xmlns:p14="http://schemas.microsoft.com/office/powerpoint/2010/main" val="3276553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1225ED-BABD-88B6-BA06-4296AEF8BC4D}"/>
            </a:ext>
          </a:extLst>
        </p:cNvPr>
        <p:cNvGrpSpPr/>
        <p:nvPr/>
      </p:nvGrpSpPr>
      <p:grpSpPr>
        <a:xfrm>
          <a:off x="0" y="0"/>
          <a:ext cx="0" cy="0"/>
          <a:chOff x="0" y="0"/>
          <a:chExt cx="0" cy="0"/>
        </a:xfrm>
      </p:grpSpPr>
      <p:sp>
        <p:nvSpPr>
          <p:cNvPr id="229" name="Rectangle 228">
            <a:extLst>
              <a:ext uri="{FF2B5EF4-FFF2-40B4-BE49-F238E27FC236}">
                <a16:creationId xmlns:a16="http://schemas.microsoft.com/office/drawing/2014/main" id="{2BA1D782-E489-2624-7893-1FE811284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Oval 229">
            <a:extLst>
              <a:ext uri="{FF2B5EF4-FFF2-40B4-BE49-F238E27FC236}">
                <a16:creationId xmlns:a16="http://schemas.microsoft.com/office/drawing/2014/main" id="{E868C55F-46D8-94D2-8FB6-6EDC2D960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Oval 230">
            <a:extLst>
              <a:ext uri="{FF2B5EF4-FFF2-40B4-BE49-F238E27FC236}">
                <a16:creationId xmlns:a16="http://schemas.microsoft.com/office/drawing/2014/main" id="{DF6C1583-A255-1267-B073-64C70686C1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32" name="Oval 231">
            <a:extLst>
              <a:ext uri="{FF2B5EF4-FFF2-40B4-BE49-F238E27FC236}">
                <a16:creationId xmlns:a16="http://schemas.microsoft.com/office/drawing/2014/main" id="{9C60F100-628F-6A08-A2CB-007585834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5FE1CF-29DC-377F-E208-6BAEDF285E9C}"/>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dirty="0">
                <a:solidFill>
                  <a:schemeClr val="bg1"/>
                </a:solidFill>
                <a:latin typeface="+mj-lt"/>
                <a:ea typeface="+mj-ea"/>
                <a:cs typeface="+mj-cs"/>
              </a:rPr>
              <a:t>Part Two</a:t>
            </a:r>
          </a:p>
        </p:txBody>
      </p:sp>
      <p:sp>
        <p:nvSpPr>
          <p:cNvPr id="3" name="Content Placeholder 2">
            <a:extLst>
              <a:ext uri="{FF2B5EF4-FFF2-40B4-BE49-F238E27FC236}">
                <a16:creationId xmlns:a16="http://schemas.microsoft.com/office/drawing/2014/main" id="{C7909D69-EF44-26DA-7BD2-A5CD42A88C13}"/>
              </a:ext>
            </a:extLst>
          </p:cNvPr>
          <p:cNvSpPr>
            <a:spLocks noGrp="1"/>
          </p:cNvSpPr>
          <p:nvPr>
            <p:ph idx="1"/>
          </p:nvPr>
        </p:nvSpPr>
        <p:spPr>
          <a:xfrm>
            <a:off x="3929323" y="4409960"/>
            <a:ext cx="4508641" cy="1116414"/>
          </a:xfrm>
        </p:spPr>
        <p:txBody>
          <a:bodyPr vert="horz" lIns="91440" tIns="45720" rIns="91440" bIns="45720" rtlCol="0">
            <a:normAutofit/>
          </a:bodyPr>
          <a:lstStyle/>
          <a:p>
            <a:pPr marL="0" indent="0" algn="ctr">
              <a:buNone/>
            </a:pPr>
            <a:r>
              <a:rPr lang="en-US" sz="2000" kern="1200" dirty="0">
                <a:solidFill>
                  <a:schemeClr val="bg1"/>
                </a:solidFill>
                <a:latin typeface="+mn-lt"/>
                <a:ea typeface="+mn-ea"/>
                <a:cs typeface="+mn-cs"/>
              </a:rPr>
              <a:t>AI Value Chains</a:t>
            </a:r>
          </a:p>
        </p:txBody>
      </p:sp>
      <p:sp>
        <p:nvSpPr>
          <p:cNvPr id="233" name="Graphic 212">
            <a:extLst>
              <a:ext uri="{FF2B5EF4-FFF2-40B4-BE49-F238E27FC236}">
                <a16:creationId xmlns:a16="http://schemas.microsoft.com/office/drawing/2014/main" id="{6A0D61BB-77A8-EBF8-4D5D-C19707322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34" name="Graphic 212">
            <a:extLst>
              <a:ext uri="{FF2B5EF4-FFF2-40B4-BE49-F238E27FC236}">
                <a16:creationId xmlns:a16="http://schemas.microsoft.com/office/drawing/2014/main" id="{9B4996E2-E666-258A-9BE2-3163E95A0F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35" name="Graphic 190">
            <a:extLst>
              <a:ext uri="{FF2B5EF4-FFF2-40B4-BE49-F238E27FC236}">
                <a16:creationId xmlns:a16="http://schemas.microsoft.com/office/drawing/2014/main" id="{E28FB1A1-6A04-A1EF-17A4-0B57C2E6B6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2" name="Freeform: Shape 21">
              <a:extLst>
                <a:ext uri="{FF2B5EF4-FFF2-40B4-BE49-F238E27FC236}">
                  <a16:creationId xmlns:a16="http://schemas.microsoft.com/office/drawing/2014/main" id="{07F020AF-ABF3-7ADE-2895-205CE7EAB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36" name="Freeform: Shape 235">
              <a:extLst>
                <a:ext uri="{FF2B5EF4-FFF2-40B4-BE49-F238E27FC236}">
                  <a16:creationId xmlns:a16="http://schemas.microsoft.com/office/drawing/2014/main" id="{AA40E857-C834-0C7B-5883-E7D203F4B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7" name="Oval 236">
            <a:extLst>
              <a:ext uri="{FF2B5EF4-FFF2-40B4-BE49-F238E27FC236}">
                <a16:creationId xmlns:a16="http://schemas.microsoft.com/office/drawing/2014/main" id="{26475A1C-A745-7D36-517D-D93B9DEE2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8" name="Oval 237">
            <a:extLst>
              <a:ext uri="{FF2B5EF4-FFF2-40B4-BE49-F238E27FC236}">
                <a16:creationId xmlns:a16="http://schemas.microsoft.com/office/drawing/2014/main" id="{92EC22A3-01F5-D0F4-C73A-268824DDC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39" name="Graphic 4">
            <a:extLst>
              <a:ext uri="{FF2B5EF4-FFF2-40B4-BE49-F238E27FC236}">
                <a16:creationId xmlns:a16="http://schemas.microsoft.com/office/drawing/2014/main" id="{E1844A54-9B7B-9711-5808-A8DFFC1D6A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40" name="Freeform: Shape 239">
              <a:extLst>
                <a:ext uri="{FF2B5EF4-FFF2-40B4-BE49-F238E27FC236}">
                  <a16:creationId xmlns:a16="http://schemas.microsoft.com/office/drawing/2014/main" id="{B2612B86-226D-336F-C9FC-C3DBA34A8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60E68ECD-341A-CBE7-A900-216715D0B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1" name="Freeform: Shape 240">
              <a:extLst>
                <a:ext uri="{FF2B5EF4-FFF2-40B4-BE49-F238E27FC236}">
                  <a16:creationId xmlns:a16="http://schemas.microsoft.com/office/drawing/2014/main" id="{32E245C6-EE19-7D11-81A9-FE681D86C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884ED644-24D8-7DDF-40A1-66DC8AE14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42" name="Freeform: Shape 241">
              <a:extLst>
                <a:ext uri="{FF2B5EF4-FFF2-40B4-BE49-F238E27FC236}">
                  <a16:creationId xmlns:a16="http://schemas.microsoft.com/office/drawing/2014/main" id="{E4E16207-31F8-F1B4-5D16-AB0E1F8DA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876808BC-3914-0469-FF0B-03FD12BAC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3" name="Freeform: Shape 242">
              <a:extLst>
                <a:ext uri="{FF2B5EF4-FFF2-40B4-BE49-F238E27FC236}">
                  <a16:creationId xmlns:a16="http://schemas.microsoft.com/office/drawing/2014/main" id="{453B5292-5715-04DD-22FF-4F31FF304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8CBD0DE6-F8B7-59D5-C246-FAA2A7061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44" name="Freeform: Shape 243">
              <a:extLst>
                <a:ext uri="{FF2B5EF4-FFF2-40B4-BE49-F238E27FC236}">
                  <a16:creationId xmlns:a16="http://schemas.microsoft.com/office/drawing/2014/main" id="{480FE62F-D8DF-6945-0E7E-E0867AD9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D4419354-D7F3-B946-805B-BF87B0C26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9AB00CD4-7DBC-A058-A6C8-0BB2833857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B3DF4F63-CE4A-6A88-8717-812C1A8FE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F06C811C-8F05-35CA-E6B3-32E529A6A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F2A9819B-3765-3017-2113-6771873A5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0692EB71-CC70-95D6-7E96-22140B33E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463334DE-4F5A-7FE3-6FF2-5815DC6DD0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882C0352-3531-35DA-A0D7-87EF577A82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AEDC110D-2A35-0D0C-0EBF-84C95609F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A2ED156B-046D-8398-BAC1-106B19D91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A7D2E8E-C357-9CA4-D5AA-5F03CD8EF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E0B9E632-7203-FC96-098F-A56B6964A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B643469B-CCD4-2152-8ABA-9474AE4F8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729FDD6-AD10-C1B9-17F4-33D3AA391D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01E9086B-8156-29F0-CA0B-C3BB3AC6D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A4AAC8A9-E2B0-06C8-2E19-99CEB0B76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EAB70BAF-5D17-6F30-57A7-06F7A18AF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A98FCA60-84B4-A46A-3AD5-18970C65E6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F7CFFADA-BC00-41F4-AC5A-E2ACC4870A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9AD8E91-190E-9E35-1FF1-6F8DC45F4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D0F6740-480E-CA1D-B710-55444ACF5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82BAC01C-EBE1-5B63-B44E-FFBA3F10D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940C0B2-8CDF-2838-2A70-4D42781CC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3224DDE-FA2A-2BAA-B7F1-458FD473B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A2424242-8001-0784-FEE1-5EDFFE387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FC2ED65A-B344-4ED0-7BC2-4D3AFC858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4B6FE584-F104-6766-E1E4-3FD03A808A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2A39C326-F780-26D4-0DEF-8DEE49B3E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4A239885-20AA-606D-C5DA-01EFDE794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0745131B-C05B-8984-FEA5-A22054981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3C977F6B-44C2-8A4E-17C5-49DC84D71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7F4F3463-2452-E750-4031-6F4C236BD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629762A2-46A2-81F1-0853-67ED35041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C1FFF258-E311-51E3-D29B-90FDD2B4A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1E903632-E417-AADE-D062-858465F8E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CCDF9029-8440-6F64-6CAE-D1FFDD586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E5A0FE49-A30C-19B9-4CD5-410783F46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3EA774AC-B32F-8F10-F033-F6D1B90EC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3D88B4D6-4FD0-F3BD-E399-51D8DA81F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261C502-8DEB-31D7-3BC4-11BEC3A60A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E4B791BF-7E69-3793-84A1-2B17380B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C55C7C7-C948-52BA-D8BE-025E35BA0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897A5AF-FE63-55DB-2A38-C42DC8C9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FE4EFF5-CBB5-C419-A5AB-7E99F3574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0ED5D903-95D7-2BD9-A7F6-09BC23A6A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AB2EE070-8F2E-90AF-14D2-1E5ADB2DCE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7411EF6-89BD-D7C0-792C-D171047F6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D969F258-9640-A66F-AEA0-303D89A5C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B3D20AB6-298A-F7F9-8BB4-6442D2C84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1F33D252-1BC3-0482-6688-A8F1B1031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D22E3FA1-BDA8-0259-18A9-7757C6F98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AC525626-6EC9-99FB-19FC-C53E567021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0CE49C6F-F0AF-380B-1136-81CD717D8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9BA3040-3FA5-7AE2-6EE0-1C1A262773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912E0D2E-EE48-BE1D-3134-F63DFEADA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2B7CF067-E7DF-D1C9-40BB-39779FA91C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36F72971-860D-0AE3-1802-BF97D5845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93E44F14-C9DE-0965-E1DE-2203BA25C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F6EB31D3-A03D-41E1-366E-E531F7B68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329C719-D853-C931-F245-0FAC7C274F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D895C1ED-FEDF-895F-7220-C5AA22419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F4D18EE5-9711-B75C-37AE-D57A4265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1F844CFA-7CE3-D10C-1156-4316597335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F9F7C856-D046-3C36-EC51-B5AC9E89F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C3E42511-F1C7-43F5-DFFA-F2E6BE5FA8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6DDC9BD-E29D-21D0-ED18-8C790BE3F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D38F21C3-3CCB-8762-9B41-48348D736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D4495A6A-EDF5-E13C-AFC4-C4D29DB51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9954293A-3AC9-FB2A-14A3-31A3A29F1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896E2193-84CE-5428-8B61-DAC639639D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E4DFF30B-A062-2E0F-AB9A-A85AAC6EDD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B4D726B-B70E-D03A-5CC2-65BCECFAA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0D6F94D1-DF99-913D-CD31-A6D599ABE3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A05AB6AB-D59F-2DBD-01ED-B3AD78C53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BA6D2BD2-BB3C-4FE8-5DE7-D2047DCD6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7087E1DE-E580-6C63-5A13-F87BE5F4A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ADBE2FC6-BDB7-9764-9599-684F6CFB69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D8377489-C7EE-E920-BC52-707D615BD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CF9D3EAD-6716-065B-563C-42129A6DB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30736D8-F707-8A3D-BDF2-7FBEE83E2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7F411EA4-8E7B-C53A-9464-79FA2BABE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39825852-0CCC-4B3A-DD9E-B54B0D271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80442CD3-B52B-51D6-7E5B-7BD3663F8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8C1E9734-D4CC-1C9B-2401-F57A1FA40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B3C67B35-D161-F5FB-A2F9-B5184C5EC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9D3E6396-8DE2-E4FF-CF4F-F84FC6D64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A2433C99-11C6-5768-8939-B9977A401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64FE6E44-23AF-F710-27E9-889E70592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5FE63D2-5FE3-704D-8D02-15FFFEF5B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1294860F-3724-FE66-DB08-006ADBEC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B90DAA-031F-CD9B-D037-539C3BBD5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6E6973F-5891-E1A0-D4C6-03D1C7083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62213C68-8873-7AAB-42C1-2A7577EF7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EF12298-5050-753A-B9A4-BFB6DB4FCE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73B53E34-900B-CEF7-356C-51EAC7ECC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7043BE3-4131-FA22-B107-2C25EC53A2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D10560E-99A9-8E4B-0155-949A2E285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D674161-629A-91AE-EA54-CB9928E3E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786B10C-BB4D-B073-0FB4-0AE117848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000AA5E3-56E3-9F18-9E52-C383D6838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FCD32CF9-2EEB-092F-52F0-606564E7ED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8A2B3FFB-7D24-AFA2-9ED2-A858DB1E7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18824FC9-FB13-415C-50DA-68B571D16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0ABC561B-34D5-3B99-AE62-411617660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49AE0866-2614-3D40-E604-F2661C4D1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9204E0BA-C338-B44E-FFA4-3C2452EC8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44F5692C-40AF-1969-D0FF-D278437C7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BD51843B-04DC-4F92-2FC7-08DA6677E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49F92284-9FD9-6176-0801-5F57AF7EF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B42F62E0-91EC-FD6E-3B16-85DB3A49B5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95091538-88F2-E21E-0687-28AC40BE8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5288E2B1-909C-34AF-1DCB-8DB4AFA4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B64DF5E1-990D-42A1-BF35-2FE44F874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DA8135F-E425-51FB-3721-B7EE2C629B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DCFE0C3B-C7C7-A827-942A-D602E2836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D4166B4-F2EF-9ACF-24F9-DBD27560A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59D0E185-98EA-C08D-EA80-91DD9D8F6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645B4A4-321D-CEE2-A72E-740482570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AC0EC266-1487-2571-3477-C340089FA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A99A3218-EB96-7B16-DFB6-BBAE5F44D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5613F408-354A-AAC7-8452-6F03A03FE9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B50A8D9F-E6AF-5F27-E040-AE12E348A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CA061297-4651-AF74-55CE-769E3DFA9A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6A0649C4-0AF9-86CF-CFD5-95FC2799E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9F9F652F-1BD5-8C40-7730-5486D4E297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452D72A6-EB91-FECB-E4A0-7C5871CCD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B5302556-01E1-AE84-E329-74C8B6DC5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7696A60E-7395-91AD-A39E-9C2104750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81E3C01-5E29-417F-52F8-E70BD1DAB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C188C85-34B3-93B3-E967-A46AD248BE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11DD6456-2AF8-2F30-0561-0846A1F48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1EF7BF02-6098-1FE5-B3F8-B86DB228B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896DD459-2A00-44A5-1BAD-047277F296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FD5AC142-9C4F-A171-DDEE-38C5F89E4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E09B4D4-68E5-06D2-8984-052029881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AFE5B67C-F46C-1962-3850-4F9BFD8B2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54C9A0FE-A89F-33A9-A773-8169A6884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5AC7321B-55D7-CEC3-C5C4-926FA239E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0BF761B8-B5CC-3536-3B6F-371C14392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8303FD1F-C5F9-B703-A18F-6C5633696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0EC1CFA6-B53F-05E1-22A7-D04123138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8F17BB0-2E0D-A2DA-CFE2-68B04B6AC4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71299E3E-46B4-2945-CD7A-4396C42F8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B8F6A7E-9432-9553-9151-BF4ED1017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55461C61-0675-1AAD-E8E2-F17C3D634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F5B9CC3C-892E-51B4-1E9C-862B73BFA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D9B08888-3158-BF0D-8701-3E681D105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9E162DE8-6415-F69D-A663-AC71F1DC1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D04DA999-2C92-A7E2-5A32-3B80DDC4D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014A5CD5-ADF2-4C24-4134-939D0F351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5BE5A8-7658-E4C0-DB13-E3618EAD9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FCE5FC67-D21E-2088-74BC-B185DDA08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C268A1D1-FB6B-4439-6780-645A91AC2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0C8C79A8-3E5E-77DC-7266-8A82F756C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A009AE4D-2827-63BF-1FC2-18B14760CE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96262FF7-C2CA-F25E-C904-F3D66EA86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F0CE6D05-3E83-C2AE-88A2-C98D2F9A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65AE8392-7604-B86D-BF92-16FB956F1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626F5F61-B6C3-FBE7-3D4B-785A4FB25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7E453B12-6AA3-97A3-E583-8F7FA39E9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4" name="Slide Number Placeholder 3">
            <a:extLst>
              <a:ext uri="{FF2B5EF4-FFF2-40B4-BE49-F238E27FC236}">
                <a16:creationId xmlns:a16="http://schemas.microsoft.com/office/drawing/2014/main" id="{71998CBB-A1B1-5590-59C3-A7F5B2540DA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8ABD5A5B-811B-418E-9483-61F67F998C2D}" type="slidenum">
              <a:rPr lang="en-US">
                <a:solidFill>
                  <a:schemeClr val="bg1"/>
                </a:solidFill>
              </a:rPr>
              <a:pPr>
                <a:spcAft>
                  <a:spcPts val="600"/>
                </a:spcAft>
              </a:pPr>
              <a:t>8</a:t>
            </a:fld>
            <a:endParaRPr lang="en-US">
              <a:solidFill>
                <a:schemeClr val="bg1"/>
              </a:solidFill>
            </a:endParaRPr>
          </a:p>
        </p:txBody>
      </p:sp>
    </p:spTree>
    <p:extLst>
      <p:ext uri="{BB962C8B-B14F-4D97-AF65-F5344CB8AC3E}">
        <p14:creationId xmlns:p14="http://schemas.microsoft.com/office/powerpoint/2010/main" val="3427896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B2673446-FFCE-D2AA-C32A-164F582C7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9C1FB-9505-B8F7-9C7A-EE99491B3FF8}"/>
              </a:ext>
            </a:extLst>
          </p:cNvPr>
          <p:cNvSpPr>
            <a:spLocks noGrp="1"/>
          </p:cNvSpPr>
          <p:nvPr>
            <p:ph type="title"/>
          </p:nvPr>
        </p:nvSpPr>
        <p:spPr>
          <a:xfrm>
            <a:off x="838200" y="136525"/>
            <a:ext cx="10515600" cy="1325563"/>
          </a:xfrm>
        </p:spPr>
        <p:txBody>
          <a:bodyPr/>
          <a:lstStyle/>
          <a:p>
            <a:pPr algn="ctr"/>
            <a:r>
              <a:rPr lang="en-GB" cap="small" dirty="0"/>
              <a:t>Our Guiding Questions Today</a:t>
            </a:r>
          </a:p>
        </p:txBody>
      </p:sp>
      <p:sp>
        <p:nvSpPr>
          <p:cNvPr id="4" name="Slide Number Placeholder 3">
            <a:extLst>
              <a:ext uri="{FF2B5EF4-FFF2-40B4-BE49-F238E27FC236}">
                <a16:creationId xmlns:a16="http://schemas.microsoft.com/office/drawing/2014/main" id="{69F2EF08-B368-BEA7-D612-9B7AA7E1B9D7}"/>
              </a:ext>
            </a:extLst>
          </p:cNvPr>
          <p:cNvSpPr>
            <a:spLocks noGrp="1"/>
          </p:cNvSpPr>
          <p:nvPr>
            <p:ph type="sldNum" sz="quarter" idx="12"/>
          </p:nvPr>
        </p:nvSpPr>
        <p:spPr/>
        <p:txBody>
          <a:bodyPr/>
          <a:lstStyle/>
          <a:p>
            <a:fld id="{8ABD5A5B-811B-418E-9483-61F67F998C2D}" type="slidenum">
              <a:rPr lang="en-GB" smtClean="0"/>
              <a:t>9</a:t>
            </a:fld>
            <a:endParaRPr lang="en-GB"/>
          </a:p>
        </p:txBody>
      </p:sp>
      <p:sp>
        <p:nvSpPr>
          <p:cNvPr id="14" name="Content Placeholder 4">
            <a:extLst>
              <a:ext uri="{FF2B5EF4-FFF2-40B4-BE49-F238E27FC236}">
                <a16:creationId xmlns:a16="http://schemas.microsoft.com/office/drawing/2014/main" id="{0D965FBB-5F92-5D27-032F-B249D7EAA700}"/>
              </a:ext>
            </a:extLst>
          </p:cNvPr>
          <p:cNvSpPr>
            <a:spLocks noGrp="1"/>
          </p:cNvSpPr>
          <p:nvPr>
            <p:ph idx="1"/>
          </p:nvPr>
        </p:nvSpPr>
        <p:spPr>
          <a:xfrm>
            <a:off x="838200" y="1643917"/>
            <a:ext cx="10515600" cy="4351338"/>
          </a:xfrm>
        </p:spPr>
        <p:txBody>
          <a:bodyPr vert="horz" lIns="91440" tIns="45720" rIns="91440" bIns="45720" rtlCol="0" anchor="ctr">
            <a:normAutofit/>
          </a:bodyPr>
          <a:lstStyle/>
          <a:p>
            <a:pPr algn="just"/>
            <a:r>
              <a:rPr lang="en-GB" i="1" dirty="0"/>
              <a:t>Where do accountability and responsibility lie when </a:t>
            </a:r>
            <a:r>
              <a:rPr lang="en-GB" b="1" i="1" dirty="0"/>
              <a:t>multiple actors</a:t>
            </a:r>
            <a:r>
              <a:rPr lang="en-GB" i="1" dirty="0"/>
              <a:t> contribute to an AI application? </a:t>
            </a:r>
          </a:p>
          <a:p>
            <a:pPr algn="just"/>
            <a:endParaRPr lang="en-GB" i="1" dirty="0"/>
          </a:p>
          <a:p>
            <a:pPr algn="just"/>
            <a:r>
              <a:rPr lang="en-GB" i="1" dirty="0"/>
              <a:t>How do regulatory frameworks address risks arising from </a:t>
            </a:r>
            <a:r>
              <a:rPr lang="en-GB" b="1" i="1" dirty="0"/>
              <a:t>coordination</a:t>
            </a:r>
            <a:r>
              <a:rPr lang="en-GB" i="1" dirty="0"/>
              <a:t> among multiple actors? </a:t>
            </a:r>
          </a:p>
          <a:p>
            <a:pPr algn="just"/>
            <a:endParaRPr lang="en-GB" i="1" dirty="0"/>
          </a:p>
          <a:p>
            <a:pPr algn="just"/>
            <a:r>
              <a:rPr lang="en-GB" i="1" dirty="0"/>
              <a:t>What are the key challenges in governing </a:t>
            </a:r>
            <a:r>
              <a:rPr lang="en-GB" b="1" i="1" dirty="0"/>
              <a:t>complex AI value chains </a:t>
            </a:r>
            <a:r>
              <a:rPr lang="en-GB" i="1" dirty="0"/>
              <a:t>that span multiple jurisdictions with inconsistent regulatory standards?</a:t>
            </a:r>
          </a:p>
        </p:txBody>
      </p:sp>
    </p:spTree>
    <p:extLst>
      <p:ext uri="{BB962C8B-B14F-4D97-AF65-F5344CB8AC3E}">
        <p14:creationId xmlns:p14="http://schemas.microsoft.com/office/powerpoint/2010/main" val="2795564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095C794-AB7F-7488-9034-5FBA3EB0E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4E5E0-C644-3870-3C1D-4A9F14FC1B87}"/>
              </a:ext>
            </a:extLst>
          </p:cNvPr>
          <p:cNvSpPr>
            <a:spLocks noGrp="1"/>
          </p:cNvSpPr>
          <p:nvPr>
            <p:ph type="title"/>
          </p:nvPr>
        </p:nvSpPr>
        <p:spPr>
          <a:xfrm>
            <a:off x="838200" y="0"/>
            <a:ext cx="10515600" cy="1325563"/>
          </a:xfrm>
        </p:spPr>
        <p:txBody>
          <a:bodyPr/>
          <a:lstStyle/>
          <a:p>
            <a:r>
              <a:rPr lang="en-GB" cap="small" dirty="0"/>
              <a:t>The AI Value Chain and AI Governance</a:t>
            </a:r>
          </a:p>
        </p:txBody>
      </p:sp>
      <p:sp>
        <p:nvSpPr>
          <p:cNvPr id="4" name="Slide Number Placeholder 3">
            <a:extLst>
              <a:ext uri="{FF2B5EF4-FFF2-40B4-BE49-F238E27FC236}">
                <a16:creationId xmlns:a16="http://schemas.microsoft.com/office/drawing/2014/main" id="{1CC909C5-ACC5-265E-39E7-F01D8A20CEF6}"/>
              </a:ext>
            </a:extLst>
          </p:cNvPr>
          <p:cNvSpPr>
            <a:spLocks noGrp="1"/>
          </p:cNvSpPr>
          <p:nvPr>
            <p:ph type="sldNum" sz="quarter" idx="12"/>
          </p:nvPr>
        </p:nvSpPr>
        <p:spPr/>
        <p:txBody>
          <a:bodyPr/>
          <a:lstStyle/>
          <a:p>
            <a:fld id="{8ABD5A5B-811B-418E-9483-61F67F998C2D}" type="slidenum">
              <a:rPr lang="en-GB" smtClean="0"/>
              <a:t>10</a:t>
            </a:fld>
            <a:endParaRPr lang="en-GB"/>
          </a:p>
        </p:txBody>
      </p:sp>
      <p:sp>
        <p:nvSpPr>
          <p:cNvPr id="5" name="TextBox 4">
            <a:extLst>
              <a:ext uri="{FF2B5EF4-FFF2-40B4-BE49-F238E27FC236}">
                <a16:creationId xmlns:a16="http://schemas.microsoft.com/office/drawing/2014/main" id="{1D3981EB-D3E4-1A82-D059-65C3D4C9DFDB}"/>
              </a:ext>
            </a:extLst>
          </p:cNvPr>
          <p:cNvSpPr txBox="1"/>
          <p:nvPr/>
        </p:nvSpPr>
        <p:spPr>
          <a:xfrm>
            <a:off x="838200" y="1299076"/>
            <a:ext cx="10515600" cy="5258106"/>
          </a:xfrm>
          <a:prstGeom prst="rect">
            <a:avLst/>
          </a:prstGeom>
          <a:noFill/>
        </p:spPr>
        <p:txBody>
          <a:bodyPr wrap="square">
            <a:spAutoFit/>
          </a:bodyPr>
          <a:lstStyle/>
          <a:p>
            <a:pPr algn="just">
              <a:lnSpc>
                <a:spcPct val="111000"/>
              </a:lnSpc>
              <a:spcAft>
                <a:spcPts val="600"/>
              </a:spcAft>
            </a:pPr>
            <a:r>
              <a:rPr lang="en-GB" sz="2400" dirty="0"/>
              <a:t>🌐 </a:t>
            </a:r>
            <a:r>
              <a:rPr lang="en-GB" sz="2400" b="1" i="1" dirty="0"/>
              <a:t>What is the AI Value Chain?</a:t>
            </a:r>
          </a:p>
          <a:p>
            <a:pPr algn="just">
              <a:lnSpc>
                <a:spcPct val="111000"/>
              </a:lnSpc>
              <a:spcAft>
                <a:spcPts val="1200"/>
              </a:spcAft>
            </a:pPr>
            <a:r>
              <a:rPr lang="en-GB" sz="2000" dirty="0"/>
              <a:t>A </a:t>
            </a:r>
            <a:r>
              <a:rPr lang="en-GB" sz="2000" b="1" dirty="0"/>
              <a:t>network of interdependent actors</a:t>
            </a:r>
            <a:r>
              <a:rPr lang="en-GB" sz="2000" dirty="0"/>
              <a:t> extending beyond a single organisation and involved in the </a:t>
            </a:r>
            <a:r>
              <a:rPr lang="en-GB" sz="2000" b="1" dirty="0"/>
              <a:t>design</a:t>
            </a:r>
            <a:r>
              <a:rPr lang="en-GB" sz="2000" dirty="0"/>
              <a:t>, </a:t>
            </a:r>
            <a:r>
              <a:rPr lang="en-GB" sz="2000" b="1" dirty="0"/>
              <a:t>development</a:t>
            </a:r>
            <a:r>
              <a:rPr lang="en-GB" sz="2000" dirty="0"/>
              <a:t>,  </a:t>
            </a:r>
            <a:r>
              <a:rPr lang="en-GB" sz="2000" b="1" dirty="0"/>
              <a:t>deployment</a:t>
            </a:r>
            <a:r>
              <a:rPr lang="en-GB" sz="2000" dirty="0"/>
              <a:t>, and </a:t>
            </a:r>
            <a:r>
              <a:rPr lang="en-GB" sz="2000" b="1" dirty="0"/>
              <a:t>operation </a:t>
            </a:r>
            <a:r>
              <a:rPr lang="en-GB" sz="2000" dirty="0"/>
              <a:t>of AI systems.</a:t>
            </a:r>
          </a:p>
          <a:p>
            <a:pPr algn="just">
              <a:lnSpc>
                <a:spcPct val="111000"/>
              </a:lnSpc>
              <a:spcAft>
                <a:spcPts val="600"/>
              </a:spcAft>
            </a:pPr>
            <a:r>
              <a:rPr lang="en-GB" sz="2400" dirty="0"/>
              <a:t>⚖️ </a:t>
            </a:r>
            <a:r>
              <a:rPr lang="en-GB" sz="2400" b="1" i="1" dirty="0"/>
              <a:t>Why Is It Relevant for AI Governance? </a:t>
            </a:r>
            <a:endParaRPr lang="en-GB" sz="2400" i="1" dirty="0"/>
          </a:p>
          <a:p>
            <a:pPr marL="457200" indent="-457200" algn="just">
              <a:spcAft>
                <a:spcPts val="1200"/>
              </a:spcAft>
              <a:buFont typeface="Wingdings" panose="05000000000000000000" pitchFamily="2" charset="2"/>
              <a:buChar char="ü"/>
            </a:pPr>
            <a:r>
              <a:rPr lang="en-GB" sz="2000" b="1" dirty="0"/>
              <a:t>Defines Stakeholders Roles &amp; Responsibility </a:t>
            </a:r>
            <a:r>
              <a:rPr lang="en-GB" dirty="0"/>
              <a:t>– AI governance cannot focus on a single entity, such as the provider or deployer. Each actor in the AI value chain, including data providers, model developers, deployers, and end users, has distinct responsibilities. </a:t>
            </a:r>
          </a:p>
          <a:p>
            <a:pPr marL="457200" indent="-457200" algn="just">
              <a:spcAft>
                <a:spcPts val="1200"/>
              </a:spcAft>
              <a:buFont typeface="Wingdings" panose="05000000000000000000" pitchFamily="2" charset="2"/>
              <a:buChar char="ü"/>
            </a:pPr>
            <a:r>
              <a:rPr lang="en-GB" sz="2000" b="1" dirty="0"/>
              <a:t>Links Regulations to Specific Actors</a:t>
            </a:r>
            <a:r>
              <a:rPr lang="en-GB" sz="2000" dirty="0"/>
              <a:t> </a:t>
            </a:r>
            <a:r>
              <a:rPr lang="en-GB" dirty="0"/>
              <a:t>– AI-related regulations, such as the AI Act, impose different obligations at different stages of the value chain, for example on high-risk AI providers, deployers, and users.</a:t>
            </a:r>
          </a:p>
          <a:p>
            <a:pPr marL="457200" indent="-457200" algn="just">
              <a:spcAft>
                <a:spcPts val="1200"/>
              </a:spcAft>
              <a:buFont typeface="Wingdings" panose="05000000000000000000" pitchFamily="2" charset="2"/>
              <a:buChar char="ü"/>
            </a:pPr>
            <a:r>
              <a:rPr lang="en-GB" sz="2000" b="1" dirty="0"/>
              <a:t>Enhances Risk &amp; Compliance Management </a:t>
            </a:r>
            <a:r>
              <a:rPr lang="en-GB" dirty="0"/>
              <a:t>– AI risks, including bias, safety, and opacity, may arise at different stages and therefore require coordinated governance across all involved entities. </a:t>
            </a:r>
          </a:p>
          <a:p>
            <a:pPr marL="457200" indent="-457200" algn="just">
              <a:buFont typeface="Wingdings" panose="05000000000000000000" pitchFamily="2" charset="2"/>
              <a:buChar char="ü"/>
            </a:pPr>
            <a:r>
              <a:rPr lang="en-GB" sz="2000" b="1" dirty="0"/>
              <a:t>Promotes Trustworthy AI </a:t>
            </a:r>
            <a:r>
              <a:rPr lang="en-GB" dirty="0"/>
              <a:t>– A well-governed AI value chain helps ensure alignment with organisational goals, ethical principles, and regulatory requirements.</a:t>
            </a:r>
          </a:p>
        </p:txBody>
      </p:sp>
      <p:sp>
        <p:nvSpPr>
          <p:cNvPr id="3" name="TextBox 2">
            <a:extLst>
              <a:ext uri="{FF2B5EF4-FFF2-40B4-BE49-F238E27FC236}">
                <a16:creationId xmlns:a16="http://schemas.microsoft.com/office/drawing/2014/main" id="{66186393-DE61-7FF4-22E1-28345ECE5390}"/>
              </a:ext>
            </a:extLst>
          </p:cNvPr>
          <p:cNvSpPr txBox="1"/>
          <p:nvPr/>
        </p:nvSpPr>
        <p:spPr>
          <a:xfrm>
            <a:off x="993719" y="849395"/>
            <a:ext cx="9932586" cy="369332"/>
          </a:xfrm>
          <a:prstGeom prst="rect">
            <a:avLst/>
          </a:prstGeom>
          <a:noFill/>
        </p:spPr>
        <p:txBody>
          <a:bodyPr wrap="square">
            <a:spAutoFit/>
          </a:bodyPr>
          <a:lstStyle/>
          <a:p>
            <a:r>
              <a:rPr lang="en-GB" sz="1800" i="1" dirty="0"/>
              <a:t>Cf.</a:t>
            </a:r>
            <a:r>
              <a:rPr lang="en-GB" sz="1800" dirty="0"/>
              <a:t> </a:t>
            </a:r>
            <a:r>
              <a:rPr lang="en-GB" sz="1800" dirty="0">
                <a:hlinkClick r:id="rId2"/>
              </a:rPr>
              <a:t>Engler &amp; Renda (2022)</a:t>
            </a:r>
            <a:r>
              <a:rPr lang="en-GB" sz="1800" dirty="0"/>
              <a:t>; </a:t>
            </a:r>
            <a:r>
              <a:rPr lang="en-GB" sz="1800" dirty="0">
                <a:hlinkClick r:id="rId3"/>
              </a:rPr>
              <a:t>Cobbe, Veale, &amp; Singh (2023)</a:t>
            </a:r>
            <a:endParaRPr lang="en-GB" dirty="0">
              <a:highlight>
                <a:srgbClr val="FFFF00"/>
              </a:highlight>
            </a:endParaRPr>
          </a:p>
        </p:txBody>
      </p:sp>
    </p:spTree>
    <p:extLst>
      <p:ext uri="{BB962C8B-B14F-4D97-AF65-F5344CB8AC3E}">
        <p14:creationId xmlns:p14="http://schemas.microsoft.com/office/powerpoint/2010/main" val="80094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090E058-0254-8A22-6810-B5B2E73BE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AA921-6DE4-54F3-612D-B62805E76109}"/>
              </a:ext>
            </a:extLst>
          </p:cNvPr>
          <p:cNvSpPr>
            <a:spLocks noGrp="1"/>
          </p:cNvSpPr>
          <p:nvPr>
            <p:ph type="title"/>
          </p:nvPr>
        </p:nvSpPr>
        <p:spPr>
          <a:xfrm>
            <a:off x="838200" y="0"/>
            <a:ext cx="10515600" cy="1325563"/>
          </a:xfrm>
        </p:spPr>
        <p:txBody>
          <a:bodyPr/>
          <a:lstStyle/>
          <a:p>
            <a:r>
              <a:rPr lang="en-GB" cap="small" dirty="0"/>
              <a:t>AI Lifecycle vs. AI Value Chain </a:t>
            </a:r>
          </a:p>
        </p:txBody>
      </p:sp>
      <p:sp>
        <p:nvSpPr>
          <p:cNvPr id="4" name="Slide Number Placeholder 3">
            <a:extLst>
              <a:ext uri="{FF2B5EF4-FFF2-40B4-BE49-F238E27FC236}">
                <a16:creationId xmlns:a16="http://schemas.microsoft.com/office/drawing/2014/main" id="{A0D597D2-06AD-21C7-B96F-BB8DE7E1978D}"/>
              </a:ext>
            </a:extLst>
          </p:cNvPr>
          <p:cNvSpPr>
            <a:spLocks noGrp="1"/>
          </p:cNvSpPr>
          <p:nvPr>
            <p:ph type="sldNum" sz="quarter" idx="12"/>
          </p:nvPr>
        </p:nvSpPr>
        <p:spPr/>
        <p:txBody>
          <a:bodyPr/>
          <a:lstStyle/>
          <a:p>
            <a:fld id="{8ABD5A5B-811B-418E-9483-61F67F998C2D}" type="slidenum">
              <a:rPr lang="en-GB" smtClean="0"/>
              <a:t>11</a:t>
            </a:fld>
            <a:endParaRPr lang="en-GB"/>
          </a:p>
        </p:txBody>
      </p:sp>
      <p:sp>
        <p:nvSpPr>
          <p:cNvPr id="5" name="TextBox 4">
            <a:extLst>
              <a:ext uri="{FF2B5EF4-FFF2-40B4-BE49-F238E27FC236}">
                <a16:creationId xmlns:a16="http://schemas.microsoft.com/office/drawing/2014/main" id="{3AD9D45B-73FC-0AA5-6E39-41FA91291084}"/>
              </a:ext>
            </a:extLst>
          </p:cNvPr>
          <p:cNvSpPr txBox="1"/>
          <p:nvPr/>
        </p:nvSpPr>
        <p:spPr>
          <a:xfrm>
            <a:off x="838200" y="1543854"/>
            <a:ext cx="10515600" cy="4376454"/>
          </a:xfrm>
          <a:prstGeom prst="rect">
            <a:avLst/>
          </a:prstGeom>
          <a:noFill/>
        </p:spPr>
        <p:txBody>
          <a:bodyPr wrap="square">
            <a:spAutoFit/>
          </a:bodyPr>
          <a:lstStyle/>
          <a:p>
            <a:pPr algn="just">
              <a:lnSpc>
                <a:spcPct val="111000"/>
              </a:lnSpc>
            </a:pPr>
            <a:r>
              <a:rPr lang="en-GB" sz="2400" dirty="0"/>
              <a:t>🔄 </a:t>
            </a:r>
            <a:r>
              <a:rPr lang="en-GB" sz="2400" b="1" dirty="0"/>
              <a:t>AI Lifecycle </a:t>
            </a:r>
            <a:r>
              <a:rPr lang="en-GB" sz="2400" dirty="0"/>
              <a:t>– Network dynamics between organisational actors</a:t>
            </a:r>
          </a:p>
          <a:p>
            <a:pPr marL="536575" indent="-342900" algn="just">
              <a:lnSpc>
                <a:spcPct val="111000"/>
              </a:lnSpc>
              <a:spcAft>
                <a:spcPts val="1200"/>
              </a:spcAft>
              <a:buFont typeface="Arial" panose="020B0604020202020204" pitchFamily="34" charset="0"/>
              <a:buChar char="•"/>
            </a:pPr>
            <a:r>
              <a:rPr lang="en-GB" dirty="0"/>
              <a:t>The key issue is addressing technical and governance challenges at each stage while ensuring coherence and integration across the lifecycle. This is primarily an </a:t>
            </a:r>
            <a:r>
              <a:rPr lang="en-GB" b="1" dirty="0"/>
              <a:t>intra-organisational</a:t>
            </a:r>
            <a:r>
              <a:rPr lang="en-GB" dirty="0"/>
              <a:t> issue, as the focus is on how AI systems, as socio-technical systems, are developed within an organisation. </a:t>
            </a:r>
          </a:p>
          <a:p>
            <a:pPr marL="536575" indent="-342900" algn="just">
              <a:lnSpc>
                <a:spcPct val="111000"/>
              </a:lnSpc>
              <a:spcAft>
                <a:spcPts val="1200"/>
              </a:spcAft>
              <a:buFont typeface="Arial" panose="020B0604020202020204" pitchFamily="34" charset="0"/>
              <a:buChar char="•"/>
            </a:pPr>
            <a:endParaRPr lang="en-GB" dirty="0"/>
          </a:p>
          <a:p>
            <a:pPr algn="just">
              <a:lnSpc>
                <a:spcPct val="111000"/>
              </a:lnSpc>
            </a:pPr>
            <a:r>
              <a:rPr lang="en-GB" sz="2400" dirty="0"/>
              <a:t>🌐 </a:t>
            </a:r>
            <a:r>
              <a:rPr lang="en-GB" sz="2400" b="1" dirty="0"/>
              <a:t>AI Value Chain </a:t>
            </a:r>
            <a:r>
              <a:rPr lang="en-GB" sz="2400" dirty="0"/>
              <a:t>–</a:t>
            </a:r>
            <a:r>
              <a:rPr lang="en-GB" sz="2400" b="1" dirty="0"/>
              <a:t> </a:t>
            </a:r>
            <a:r>
              <a:rPr lang="en-GB" sz="2400" dirty="0"/>
              <a:t>Network dynamics between market actors </a:t>
            </a:r>
            <a:r>
              <a:rPr lang="en-GB" sz="2400" b="1" i="1" dirty="0"/>
              <a:t>  </a:t>
            </a:r>
          </a:p>
          <a:p>
            <a:pPr marL="536575" indent="-342900" algn="just">
              <a:lnSpc>
                <a:spcPct val="111000"/>
              </a:lnSpc>
              <a:buFont typeface="Arial" panose="020B0604020202020204" pitchFamily="34" charset="0"/>
              <a:buChar char="•"/>
            </a:pPr>
            <a:r>
              <a:rPr lang="en-GB" dirty="0"/>
              <a:t>The key issue is defining clear responsibilities, obligations, and compliance requirements across the multiple actors involved in the production and deployment of AI. This is necessarily an </a:t>
            </a:r>
            <a:r>
              <a:rPr lang="en-GB" b="1" dirty="0"/>
              <a:t>inter-organisational</a:t>
            </a:r>
            <a:r>
              <a:rPr lang="en-GB" dirty="0"/>
              <a:t> issue, as it requires coordination and alignment across different business entities and, in some cases, end users.</a:t>
            </a:r>
          </a:p>
          <a:p>
            <a:pPr marL="536575" indent="-342900" algn="just">
              <a:lnSpc>
                <a:spcPct val="111000"/>
              </a:lnSpc>
              <a:buFont typeface="Arial" panose="020B0604020202020204" pitchFamily="34" charset="0"/>
              <a:buChar char="•"/>
            </a:pPr>
            <a:endParaRPr lang="en-GB" dirty="0"/>
          </a:p>
          <a:p>
            <a:pPr algn="just">
              <a:lnSpc>
                <a:spcPct val="111000"/>
              </a:lnSpc>
            </a:pPr>
            <a:r>
              <a:rPr lang="en-GB" sz="2400" dirty="0"/>
              <a:t>🧩 </a:t>
            </a:r>
            <a:r>
              <a:rPr lang="en-GB" sz="2400" b="1" dirty="0"/>
              <a:t>Are the two concepts related? In what way?</a:t>
            </a:r>
            <a:endParaRPr lang="en-GB" sz="2400" b="1" i="1" dirty="0"/>
          </a:p>
        </p:txBody>
      </p:sp>
      <p:sp>
        <p:nvSpPr>
          <p:cNvPr id="3" name="TextBox 2">
            <a:extLst>
              <a:ext uri="{FF2B5EF4-FFF2-40B4-BE49-F238E27FC236}">
                <a16:creationId xmlns:a16="http://schemas.microsoft.com/office/drawing/2014/main" id="{6D7B683F-CDF9-4B0F-F3B2-354AD4CF9994}"/>
              </a:ext>
            </a:extLst>
          </p:cNvPr>
          <p:cNvSpPr txBox="1"/>
          <p:nvPr/>
        </p:nvSpPr>
        <p:spPr>
          <a:xfrm>
            <a:off x="993719" y="849395"/>
            <a:ext cx="9932586" cy="369332"/>
          </a:xfrm>
          <a:prstGeom prst="rect">
            <a:avLst/>
          </a:prstGeom>
          <a:noFill/>
        </p:spPr>
        <p:txBody>
          <a:bodyPr wrap="square">
            <a:spAutoFit/>
          </a:bodyPr>
          <a:lstStyle/>
          <a:p>
            <a:r>
              <a:rPr lang="en-GB" sz="1800" i="1" dirty="0"/>
              <a:t>Cf.</a:t>
            </a:r>
            <a:r>
              <a:rPr lang="en-GB" sz="1800" dirty="0"/>
              <a:t> </a:t>
            </a:r>
            <a:r>
              <a:rPr lang="en-GB" sz="1800" dirty="0">
                <a:hlinkClick r:id="rId2"/>
              </a:rPr>
              <a:t>Engler &amp; Renda (2022: 2)</a:t>
            </a:r>
            <a:r>
              <a:rPr lang="en-GB" sz="1800" dirty="0"/>
              <a:t> </a:t>
            </a:r>
            <a:endParaRPr lang="en-GB" dirty="0">
              <a:highlight>
                <a:srgbClr val="FFFF00"/>
              </a:highlight>
            </a:endParaRPr>
          </a:p>
        </p:txBody>
      </p:sp>
    </p:spTree>
    <p:extLst>
      <p:ext uri="{BB962C8B-B14F-4D97-AF65-F5344CB8AC3E}">
        <p14:creationId xmlns:p14="http://schemas.microsoft.com/office/powerpoint/2010/main" val="4137527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8911F38-4319-5F36-ADC4-7A60BB938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F0E5B-9FE8-6F3C-C1A2-778FE976E3B9}"/>
              </a:ext>
            </a:extLst>
          </p:cNvPr>
          <p:cNvSpPr>
            <a:spLocks noGrp="1"/>
          </p:cNvSpPr>
          <p:nvPr>
            <p:ph type="title"/>
          </p:nvPr>
        </p:nvSpPr>
        <p:spPr>
          <a:xfrm>
            <a:off x="838200" y="0"/>
            <a:ext cx="10515600" cy="1325563"/>
          </a:xfrm>
        </p:spPr>
        <p:txBody>
          <a:bodyPr/>
          <a:lstStyle/>
          <a:p>
            <a:pPr algn="ctr"/>
            <a:r>
              <a:rPr lang="en-GB" cap="small" dirty="0"/>
              <a:t>Supply Chains vs. Value Chains</a:t>
            </a:r>
          </a:p>
        </p:txBody>
      </p:sp>
      <p:sp>
        <p:nvSpPr>
          <p:cNvPr id="4" name="Slide Number Placeholder 3">
            <a:extLst>
              <a:ext uri="{FF2B5EF4-FFF2-40B4-BE49-F238E27FC236}">
                <a16:creationId xmlns:a16="http://schemas.microsoft.com/office/drawing/2014/main" id="{FDC3B672-0535-0D93-FB00-C1D7AD8C0334}"/>
              </a:ext>
            </a:extLst>
          </p:cNvPr>
          <p:cNvSpPr>
            <a:spLocks noGrp="1"/>
          </p:cNvSpPr>
          <p:nvPr>
            <p:ph type="sldNum" sz="quarter" idx="12"/>
          </p:nvPr>
        </p:nvSpPr>
        <p:spPr/>
        <p:txBody>
          <a:bodyPr/>
          <a:lstStyle/>
          <a:p>
            <a:fld id="{8ABD5A5B-811B-418E-9483-61F67F998C2D}" type="slidenum">
              <a:rPr lang="en-GB" smtClean="0"/>
              <a:t>12</a:t>
            </a:fld>
            <a:endParaRPr lang="en-GB"/>
          </a:p>
        </p:txBody>
      </p:sp>
      <p:pic>
        <p:nvPicPr>
          <p:cNvPr id="5" name="Google Shape;204;p35">
            <a:extLst>
              <a:ext uri="{FF2B5EF4-FFF2-40B4-BE49-F238E27FC236}">
                <a16:creationId xmlns:a16="http://schemas.microsoft.com/office/drawing/2014/main" id="{63378173-FBC7-A268-9A84-CCF65603E15C}"/>
              </a:ext>
            </a:extLst>
          </p:cNvPr>
          <p:cNvPicPr preferRelativeResize="0"/>
          <p:nvPr/>
        </p:nvPicPr>
        <p:blipFill>
          <a:blip r:embed="rId2">
            <a:alphaModFix/>
          </a:blip>
          <a:stretch>
            <a:fillRect/>
          </a:stretch>
        </p:blipFill>
        <p:spPr>
          <a:xfrm>
            <a:off x="245359" y="1179006"/>
            <a:ext cx="5850641" cy="5177344"/>
          </a:xfrm>
          <a:prstGeom prst="rect">
            <a:avLst/>
          </a:prstGeom>
          <a:noFill/>
          <a:ln>
            <a:noFill/>
          </a:ln>
        </p:spPr>
      </p:pic>
      <p:sp>
        <p:nvSpPr>
          <p:cNvPr id="6" name="Google Shape;203;p35">
            <a:extLst>
              <a:ext uri="{FF2B5EF4-FFF2-40B4-BE49-F238E27FC236}">
                <a16:creationId xmlns:a16="http://schemas.microsoft.com/office/drawing/2014/main" id="{71DE658B-5A9E-BAD2-A474-795FAD3B6D5F}"/>
              </a:ext>
            </a:extLst>
          </p:cNvPr>
          <p:cNvSpPr txBox="1"/>
          <p:nvPr/>
        </p:nvSpPr>
        <p:spPr>
          <a:xfrm>
            <a:off x="6096000" y="1179006"/>
            <a:ext cx="5800627" cy="5339893"/>
          </a:xfrm>
          <a:prstGeom prst="rect">
            <a:avLst/>
          </a:prstGeom>
          <a:noFill/>
          <a:ln>
            <a:noFill/>
          </a:ln>
        </p:spPr>
        <p:txBody>
          <a:bodyPr spcFirstLastPara="1" wrap="square" lIns="91425" tIns="91425" rIns="91425" bIns="91425" anchor="t" anchorCtr="0">
            <a:spAutoFit/>
          </a:bodyPr>
          <a:lstStyle/>
          <a:p>
            <a:pPr lvl="0" algn="just" rtl="0">
              <a:spcBef>
                <a:spcPts val="0"/>
              </a:spcBef>
              <a:spcAft>
                <a:spcPts val="1200"/>
              </a:spcAft>
              <a:buClr>
                <a:srgbClr val="434343"/>
              </a:buClr>
              <a:buSzPts val="1300"/>
            </a:pPr>
            <a:r>
              <a:rPr lang="en-GB" sz="2000" b="1" dirty="0">
                <a:latin typeface="+mj-lt"/>
                <a:ea typeface="Archivo"/>
                <a:cs typeface="Archivo"/>
                <a:sym typeface="Archivo"/>
              </a:rPr>
              <a:t>Value chains are more “complex” systems than supply chains.</a:t>
            </a:r>
          </a:p>
          <a:p>
            <a:pPr lvl="0" algn="just" rtl="0">
              <a:spcBef>
                <a:spcPts val="0"/>
              </a:spcBef>
              <a:spcAft>
                <a:spcPts val="300"/>
              </a:spcAft>
              <a:buClr>
                <a:srgbClr val="434343"/>
              </a:buClr>
              <a:buSzPts val="1300"/>
            </a:pPr>
            <a:r>
              <a:rPr lang="en-GB" dirty="0"/>
              <a:t>🔗 </a:t>
            </a:r>
            <a:r>
              <a:rPr lang="en-GB" b="1" dirty="0">
                <a:latin typeface="+mj-lt"/>
                <a:ea typeface="Archivo"/>
                <a:cs typeface="Archivo"/>
                <a:sym typeface="Archivo"/>
              </a:rPr>
              <a:t>Supply chains</a:t>
            </a:r>
          </a:p>
          <a:p>
            <a:pPr marL="431800" lvl="0" indent="-285750" algn="just" rtl="0">
              <a:spcBef>
                <a:spcPts val="0"/>
              </a:spcBef>
              <a:spcAft>
                <a:spcPts val="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Represent </a:t>
            </a:r>
            <a:r>
              <a:rPr lang="en-GB" b="1" dirty="0">
                <a:latin typeface="+mj-lt"/>
                <a:ea typeface="Archivo Light"/>
                <a:cs typeface="Archivo Light"/>
                <a:sym typeface="Archivo Light"/>
              </a:rPr>
              <a:t>linear</a:t>
            </a:r>
            <a:r>
              <a:rPr lang="en-GB" dirty="0">
                <a:latin typeface="+mj-lt"/>
                <a:ea typeface="Archivo Light"/>
                <a:cs typeface="Archivo Light"/>
                <a:sym typeface="Archivo Light"/>
              </a:rPr>
              <a:t>, </a:t>
            </a:r>
            <a:r>
              <a:rPr lang="en-GB" b="1" dirty="0">
                <a:latin typeface="+mj-lt"/>
                <a:ea typeface="Archivo Light"/>
                <a:cs typeface="Archivo Light"/>
                <a:sym typeface="Archivo Light"/>
              </a:rPr>
              <a:t>vertical</a:t>
            </a:r>
            <a:r>
              <a:rPr lang="en-GB" dirty="0">
                <a:latin typeface="+mj-lt"/>
                <a:ea typeface="Archivo Light"/>
                <a:cs typeface="Archivo Light"/>
                <a:sym typeface="Archivo Light"/>
              </a:rPr>
              <a:t> flows of production and consumption. </a:t>
            </a:r>
          </a:p>
          <a:p>
            <a:pPr marL="431800" lvl="0" indent="-285750" algn="just" rtl="0">
              <a:spcBef>
                <a:spcPts val="0"/>
              </a:spcBef>
              <a:spcAft>
                <a:spcPts val="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Resources, goods, and services </a:t>
            </a:r>
            <a:r>
              <a:rPr lang="en-GB" b="1" dirty="0">
                <a:latin typeface="+mj-lt"/>
                <a:ea typeface="Archivo Light"/>
                <a:cs typeface="Archivo Light"/>
                <a:sym typeface="Archivo Light"/>
              </a:rPr>
              <a:t>move downstream </a:t>
            </a:r>
            <a:r>
              <a:rPr lang="en-GB" dirty="0">
                <a:latin typeface="+mj-lt"/>
                <a:ea typeface="Archivo Light"/>
                <a:cs typeface="Archivo Light"/>
                <a:sym typeface="Archivo Light"/>
              </a:rPr>
              <a:t>from raw materials to the end user/consumer.</a:t>
            </a:r>
          </a:p>
          <a:p>
            <a:pPr marL="431800" lvl="0" indent="-285750" algn="just" rtl="0">
              <a:spcBef>
                <a:spcPts val="0"/>
              </a:spcBef>
              <a:spcAft>
                <a:spcPts val="120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Focus on </a:t>
            </a:r>
            <a:r>
              <a:rPr lang="en-GB" b="1" dirty="0">
                <a:latin typeface="+mj-lt"/>
                <a:ea typeface="Archivo Light"/>
                <a:cs typeface="Archivo Light"/>
                <a:sym typeface="Archivo Light"/>
              </a:rPr>
              <a:t>efficiency</a:t>
            </a:r>
            <a:r>
              <a:rPr lang="en-GB" dirty="0">
                <a:latin typeface="+mj-lt"/>
                <a:ea typeface="Archivo Light"/>
                <a:cs typeface="Archivo Light"/>
                <a:sym typeface="Archivo Light"/>
              </a:rPr>
              <a:t>, </a:t>
            </a:r>
            <a:r>
              <a:rPr lang="en-GB" b="1" dirty="0">
                <a:latin typeface="+mj-lt"/>
                <a:ea typeface="Archivo Light"/>
                <a:cs typeface="Archivo Light"/>
                <a:sym typeface="Archivo Light"/>
              </a:rPr>
              <a:t>logistics</a:t>
            </a:r>
            <a:r>
              <a:rPr lang="en-GB" dirty="0">
                <a:latin typeface="+mj-lt"/>
                <a:ea typeface="Archivo Light"/>
                <a:cs typeface="Archivo Light"/>
                <a:sym typeface="Archivo Light"/>
              </a:rPr>
              <a:t>, and </a:t>
            </a:r>
            <a:r>
              <a:rPr lang="en-GB" b="1" dirty="0">
                <a:latin typeface="+mj-lt"/>
                <a:ea typeface="Archivo Light"/>
                <a:cs typeface="Archivo Light"/>
                <a:sym typeface="Archivo Light"/>
              </a:rPr>
              <a:t>cost reduction </a:t>
            </a:r>
            <a:r>
              <a:rPr lang="en-GB" dirty="0">
                <a:latin typeface="+mj-lt"/>
                <a:ea typeface="Archivo Light"/>
                <a:cs typeface="Archivo Light"/>
                <a:sym typeface="Archivo Light"/>
              </a:rPr>
              <a:t>in delivering a final product.</a:t>
            </a:r>
          </a:p>
          <a:p>
            <a:pPr lvl="0" algn="just" rtl="0">
              <a:spcBef>
                <a:spcPts val="0"/>
              </a:spcBef>
              <a:spcAft>
                <a:spcPts val="300"/>
              </a:spcAft>
              <a:buClr>
                <a:srgbClr val="434343"/>
              </a:buClr>
              <a:buSzPts val="1300"/>
            </a:pPr>
            <a:r>
              <a:rPr lang="en-GB" dirty="0"/>
              <a:t>🌐 </a:t>
            </a:r>
            <a:r>
              <a:rPr lang="en-GB" b="1" dirty="0">
                <a:latin typeface="+mj-lt"/>
                <a:ea typeface="Archivo"/>
                <a:cs typeface="Archivo"/>
                <a:sym typeface="Archivo"/>
              </a:rPr>
              <a:t>Value chains </a:t>
            </a:r>
          </a:p>
          <a:p>
            <a:pPr marL="431800" lvl="0" indent="-285750" algn="just" rtl="0">
              <a:spcBef>
                <a:spcPts val="0"/>
              </a:spcBef>
              <a:spcAft>
                <a:spcPts val="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Represent </a:t>
            </a:r>
            <a:r>
              <a:rPr lang="en-GB" b="1" dirty="0">
                <a:latin typeface="+mj-lt"/>
                <a:ea typeface="Archivo Light"/>
                <a:cs typeface="Archivo Light"/>
                <a:sym typeface="Archivo Light"/>
              </a:rPr>
              <a:t>multi-directional</a:t>
            </a:r>
            <a:r>
              <a:rPr lang="en-GB" dirty="0">
                <a:latin typeface="+mj-lt"/>
                <a:ea typeface="Archivo Light"/>
                <a:cs typeface="Archivo Light"/>
                <a:sym typeface="Archivo Light"/>
              </a:rPr>
              <a:t>, </a:t>
            </a:r>
            <a:r>
              <a:rPr lang="en-GB" b="1" dirty="0">
                <a:latin typeface="+mj-lt"/>
                <a:ea typeface="Archivo Light"/>
                <a:cs typeface="Archivo Light"/>
                <a:sym typeface="Archivo Light"/>
              </a:rPr>
              <a:t>co-creative</a:t>
            </a:r>
            <a:r>
              <a:rPr lang="en-GB" dirty="0">
                <a:latin typeface="+mj-lt"/>
                <a:ea typeface="Archivo Light"/>
                <a:cs typeface="Archivo Light"/>
                <a:sym typeface="Archivo Light"/>
              </a:rPr>
              <a:t> relationships across different actors. </a:t>
            </a:r>
          </a:p>
          <a:p>
            <a:pPr marL="431800" lvl="0" indent="-285750" algn="just" rtl="0">
              <a:spcBef>
                <a:spcPts val="0"/>
              </a:spcBef>
              <a:spcAft>
                <a:spcPts val="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Resources, knowledge, and innovation are integrated </a:t>
            </a:r>
            <a:r>
              <a:rPr lang="en-GB" b="1" dirty="0">
                <a:latin typeface="+mj-lt"/>
                <a:ea typeface="Archivo Light"/>
                <a:cs typeface="Archivo Light"/>
                <a:sym typeface="Archivo Light"/>
              </a:rPr>
              <a:t>upstream</a:t>
            </a:r>
            <a:r>
              <a:rPr lang="en-GB" dirty="0">
                <a:latin typeface="+mj-lt"/>
                <a:ea typeface="Archivo Light"/>
                <a:cs typeface="Archivo Light"/>
                <a:sym typeface="Archivo Light"/>
              </a:rPr>
              <a:t>, </a:t>
            </a:r>
            <a:r>
              <a:rPr lang="en-GB" b="1" dirty="0">
                <a:latin typeface="+mj-lt"/>
                <a:ea typeface="Archivo Light"/>
                <a:cs typeface="Archivo Light"/>
                <a:sym typeface="Archivo Light"/>
              </a:rPr>
              <a:t>downstream</a:t>
            </a:r>
            <a:r>
              <a:rPr lang="en-GB" dirty="0">
                <a:latin typeface="+mj-lt"/>
                <a:ea typeface="Archivo Light"/>
                <a:cs typeface="Archivo Light"/>
                <a:sym typeface="Archivo Light"/>
              </a:rPr>
              <a:t>, and </a:t>
            </a:r>
            <a:r>
              <a:rPr lang="en-GB" b="1" dirty="0">
                <a:latin typeface="+mj-lt"/>
                <a:ea typeface="Archivo Light"/>
                <a:cs typeface="Archivo Light"/>
                <a:sym typeface="Archivo Light"/>
              </a:rPr>
              <a:t>horizontally</a:t>
            </a:r>
            <a:r>
              <a:rPr lang="en-GB" dirty="0">
                <a:latin typeface="+mj-lt"/>
                <a:ea typeface="Archivo Light"/>
                <a:cs typeface="Archivo Light"/>
                <a:sym typeface="Archivo Light"/>
              </a:rPr>
              <a:t> within a broader value network.</a:t>
            </a:r>
          </a:p>
          <a:p>
            <a:pPr marL="431800" lvl="0" indent="-285750" algn="just" rtl="0">
              <a:spcBef>
                <a:spcPts val="0"/>
              </a:spcBef>
              <a:spcAft>
                <a:spcPts val="0"/>
              </a:spcAft>
              <a:buClr>
                <a:srgbClr val="434343"/>
              </a:buClr>
              <a:buSzPts val="1300"/>
              <a:buFont typeface="Arial" panose="020B0604020202020204" pitchFamily="34" charset="0"/>
              <a:buChar char="•"/>
            </a:pPr>
            <a:r>
              <a:rPr lang="en-GB" dirty="0">
                <a:latin typeface="+mj-lt"/>
                <a:ea typeface="Archivo Light"/>
                <a:cs typeface="Archivo Light"/>
                <a:sym typeface="Archivo Light"/>
              </a:rPr>
              <a:t>Focus on </a:t>
            </a:r>
            <a:r>
              <a:rPr lang="en-GB" b="1" dirty="0">
                <a:latin typeface="+mj-lt"/>
                <a:ea typeface="Archivo Light"/>
                <a:cs typeface="Archivo Light"/>
                <a:sym typeface="Archivo Light"/>
              </a:rPr>
              <a:t>value creation</a:t>
            </a:r>
            <a:r>
              <a:rPr lang="en-GB" dirty="0">
                <a:latin typeface="+mj-lt"/>
                <a:ea typeface="Archivo Light"/>
                <a:cs typeface="Archivo Light"/>
                <a:sym typeface="Archivo Light"/>
              </a:rPr>
              <a:t>, </a:t>
            </a:r>
            <a:r>
              <a:rPr lang="en-GB" b="1" dirty="0">
                <a:latin typeface="+mj-lt"/>
                <a:ea typeface="Archivo Light"/>
                <a:cs typeface="Archivo Light"/>
                <a:sym typeface="Archivo Light"/>
              </a:rPr>
              <a:t>differentiation</a:t>
            </a:r>
            <a:r>
              <a:rPr lang="en-GB" dirty="0">
                <a:latin typeface="+mj-lt"/>
                <a:ea typeface="Archivo Light"/>
                <a:cs typeface="Archivo Light"/>
                <a:sym typeface="Archivo Light"/>
              </a:rPr>
              <a:t>, and </a:t>
            </a:r>
            <a:r>
              <a:rPr lang="en-GB" b="1" dirty="0">
                <a:latin typeface="+mj-lt"/>
                <a:ea typeface="Archivo Light"/>
                <a:cs typeface="Archivo Light"/>
                <a:sym typeface="Archivo Light"/>
              </a:rPr>
              <a:t>competitive advantage</a:t>
            </a:r>
            <a:r>
              <a:rPr lang="en-GB" dirty="0">
                <a:latin typeface="+mj-lt"/>
                <a:ea typeface="Archivo Light"/>
                <a:cs typeface="Archivo Light"/>
                <a:sym typeface="Archivo Light"/>
              </a:rPr>
              <a:t> through strategic interactions.</a:t>
            </a:r>
          </a:p>
        </p:txBody>
      </p:sp>
    </p:spTree>
    <p:extLst>
      <p:ext uri="{BB962C8B-B14F-4D97-AF65-F5344CB8AC3E}">
        <p14:creationId xmlns:p14="http://schemas.microsoft.com/office/powerpoint/2010/main" val="1926942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B3A090C-50CE-09F5-A35D-8D60796A8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A6D43-8E28-7AE5-7B5D-9BF547A81B68}"/>
              </a:ext>
            </a:extLst>
          </p:cNvPr>
          <p:cNvSpPr>
            <a:spLocks noGrp="1"/>
          </p:cNvSpPr>
          <p:nvPr>
            <p:ph type="title"/>
          </p:nvPr>
        </p:nvSpPr>
        <p:spPr>
          <a:xfrm>
            <a:off x="838200" y="136525"/>
            <a:ext cx="10515600" cy="1106237"/>
          </a:xfrm>
        </p:spPr>
        <p:txBody>
          <a:bodyPr/>
          <a:lstStyle/>
          <a:p>
            <a:pPr algn="ctr"/>
            <a:r>
              <a:rPr lang="en-GB" cap="small" dirty="0"/>
              <a:t>Examples of Value Chain Actors</a:t>
            </a:r>
          </a:p>
        </p:txBody>
      </p:sp>
      <p:sp>
        <p:nvSpPr>
          <p:cNvPr id="4" name="Slide Number Placeholder 3">
            <a:extLst>
              <a:ext uri="{FF2B5EF4-FFF2-40B4-BE49-F238E27FC236}">
                <a16:creationId xmlns:a16="http://schemas.microsoft.com/office/drawing/2014/main" id="{024B29A7-D540-2978-E485-6F69BAA18970}"/>
              </a:ext>
            </a:extLst>
          </p:cNvPr>
          <p:cNvSpPr>
            <a:spLocks noGrp="1"/>
          </p:cNvSpPr>
          <p:nvPr>
            <p:ph type="sldNum" sz="quarter" idx="12"/>
          </p:nvPr>
        </p:nvSpPr>
        <p:spPr/>
        <p:txBody>
          <a:bodyPr/>
          <a:lstStyle/>
          <a:p>
            <a:fld id="{8ABD5A5B-811B-418E-9483-61F67F998C2D}" type="slidenum">
              <a:rPr lang="en-GB" smtClean="0"/>
              <a:t>13</a:t>
            </a:fld>
            <a:endParaRPr lang="en-GB"/>
          </a:p>
        </p:txBody>
      </p:sp>
      <p:sp>
        <p:nvSpPr>
          <p:cNvPr id="12" name="TextBox 11">
            <a:extLst>
              <a:ext uri="{FF2B5EF4-FFF2-40B4-BE49-F238E27FC236}">
                <a16:creationId xmlns:a16="http://schemas.microsoft.com/office/drawing/2014/main" id="{521AF211-A9F8-B613-193C-363715CD91C4}"/>
              </a:ext>
            </a:extLst>
          </p:cNvPr>
          <p:cNvSpPr txBox="1"/>
          <p:nvPr/>
        </p:nvSpPr>
        <p:spPr>
          <a:xfrm>
            <a:off x="838200" y="1179426"/>
            <a:ext cx="10515600" cy="5253041"/>
          </a:xfrm>
          <a:prstGeom prst="rect">
            <a:avLst/>
          </a:prstGeom>
          <a:noFill/>
        </p:spPr>
        <p:txBody>
          <a:bodyPr wrap="square">
            <a:spAutoFit/>
          </a:bodyPr>
          <a:lstStyle/>
          <a:p>
            <a:pPr algn="just">
              <a:lnSpc>
                <a:spcPct val="111000"/>
              </a:lnSpc>
            </a:pPr>
            <a:r>
              <a:rPr lang="en-GB" sz="2400" dirty="0"/>
              <a:t>📊 </a:t>
            </a:r>
            <a:r>
              <a:rPr lang="en-GB" sz="2400" b="1" dirty="0"/>
              <a:t>Data &amp; Input Providers</a:t>
            </a:r>
            <a:endParaRPr lang="en-GB" sz="2400" dirty="0"/>
          </a:p>
          <a:p>
            <a:pPr marL="536575" indent="-342900" algn="just">
              <a:lnSpc>
                <a:spcPct val="111000"/>
              </a:lnSpc>
              <a:buFont typeface="Arial" panose="020B0604020202020204" pitchFamily="34" charset="0"/>
              <a:buChar char="•"/>
            </a:pPr>
            <a:r>
              <a:rPr lang="en-GB" dirty="0"/>
              <a:t>🏢 </a:t>
            </a:r>
            <a:r>
              <a:rPr lang="en-GB" b="1" i="1" dirty="0"/>
              <a:t>Training Data Centres </a:t>
            </a:r>
            <a:r>
              <a:rPr lang="en-GB" dirty="0"/>
              <a:t>– Provide infrastructure for large-scale AI model training.</a:t>
            </a:r>
          </a:p>
          <a:p>
            <a:pPr marL="536575" indent="-342900" algn="just">
              <a:lnSpc>
                <a:spcPct val="111000"/>
              </a:lnSpc>
              <a:buFont typeface="Arial" panose="020B0604020202020204" pitchFamily="34" charset="0"/>
              <a:buChar char="•"/>
            </a:pPr>
            <a:r>
              <a:rPr lang="en-GB" dirty="0"/>
              <a:t>🗂️ </a:t>
            </a:r>
            <a:r>
              <a:rPr lang="en-GB" b="1" i="1" dirty="0"/>
              <a:t>Data Brokers &amp; Sources </a:t>
            </a:r>
            <a:r>
              <a:rPr lang="en-GB" dirty="0"/>
              <a:t>– Supply raw data, often aggregated from multiple sources.</a:t>
            </a:r>
          </a:p>
          <a:p>
            <a:pPr marL="536575" indent="-342900" algn="just">
              <a:lnSpc>
                <a:spcPct val="111000"/>
              </a:lnSpc>
              <a:spcAft>
                <a:spcPts val="1200"/>
              </a:spcAft>
              <a:buFont typeface="Arial" panose="020B0604020202020204" pitchFamily="34" charset="0"/>
              <a:buChar char="•"/>
            </a:pPr>
            <a:r>
              <a:rPr lang="en-GB" dirty="0"/>
              <a:t>📝 </a:t>
            </a:r>
            <a:r>
              <a:rPr lang="en-GB" b="1" i="1" dirty="0"/>
              <a:t>Labelling / Annotation Firms </a:t>
            </a:r>
            <a:r>
              <a:rPr lang="en-GB" dirty="0"/>
              <a:t>– Process and curate datasets for supervised learning.</a:t>
            </a:r>
          </a:p>
          <a:p>
            <a:pPr algn="just">
              <a:lnSpc>
                <a:spcPct val="111000"/>
              </a:lnSpc>
            </a:pPr>
            <a:r>
              <a:rPr lang="en-GB" sz="2400" dirty="0"/>
              <a:t>🛠️ </a:t>
            </a:r>
            <a:r>
              <a:rPr lang="en-GB" sz="2400" b="1" dirty="0"/>
              <a:t>Model Development &amp; Fine-Tuning </a:t>
            </a:r>
          </a:p>
          <a:p>
            <a:pPr marL="536575" indent="-342900" algn="just">
              <a:lnSpc>
                <a:spcPct val="111000"/>
              </a:lnSpc>
              <a:buFont typeface="Arial" panose="020B0604020202020204" pitchFamily="34" charset="0"/>
              <a:buChar char="•"/>
            </a:pPr>
            <a:r>
              <a:rPr lang="en-GB" dirty="0"/>
              <a:t>🧠 </a:t>
            </a:r>
            <a:r>
              <a:rPr lang="en-GB" b="1" i="1" dirty="0"/>
              <a:t>Foundation Model Developers</a:t>
            </a:r>
            <a:r>
              <a:rPr lang="en-GB" dirty="0"/>
              <a:t> – Build and pre-train large AI models. </a:t>
            </a:r>
          </a:p>
          <a:p>
            <a:pPr marL="536575" indent="-342900" algn="just">
              <a:lnSpc>
                <a:spcPct val="111000"/>
              </a:lnSpc>
              <a:spcAft>
                <a:spcPts val="1200"/>
              </a:spcAft>
              <a:buFont typeface="Arial" panose="020B0604020202020204" pitchFamily="34" charset="0"/>
              <a:buChar char="•"/>
            </a:pPr>
            <a:r>
              <a:rPr lang="en-GB" dirty="0"/>
              <a:t>🎯 </a:t>
            </a:r>
            <a:r>
              <a:rPr lang="en-GB" b="1" i="1" dirty="0"/>
              <a:t>Fine-Tuning Providers </a:t>
            </a:r>
            <a:r>
              <a:rPr lang="en-GB" dirty="0"/>
              <a:t>– Customise and adapt models for specific use cases.</a:t>
            </a:r>
          </a:p>
          <a:p>
            <a:pPr algn="just">
              <a:lnSpc>
                <a:spcPct val="111000"/>
              </a:lnSpc>
            </a:pPr>
            <a:r>
              <a:rPr lang="en-GB" sz="2400" dirty="0"/>
              <a:t>💻 </a:t>
            </a:r>
            <a:r>
              <a:rPr lang="en-GB" sz="2400" b="1" dirty="0"/>
              <a:t>Model Hosting &amp; Deployment</a:t>
            </a:r>
          </a:p>
          <a:p>
            <a:pPr marL="536575" indent="-342900" algn="just">
              <a:lnSpc>
                <a:spcPct val="111000"/>
              </a:lnSpc>
              <a:buFont typeface="Arial" panose="020B0604020202020204" pitchFamily="34" charset="0"/>
              <a:buChar char="•"/>
            </a:pPr>
            <a:r>
              <a:rPr lang="en-GB" dirty="0"/>
              <a:t>☁️ </a:t>
            </a:r>
            <a:r>
              <a:rPr lang="en-GB" b="1" i="1" dirty="0"/>
              <a:t>Model Hosting Platforms</a:t>
            </a:r>
            <a:r>
              <a:rPr lang="en-GB" dirty="0"/>
              <a:t> – Provide cloud-based or local infrastructures for model access. </a:t>
            </a:r>
          </a:p>
          <a:p>
            <a:pPr marL="536575" indent="-342900" algn="just">
              <a:lnSpc>
                <a:spcPct val="111000"/>
              </a:lnSpc>
              <a:spcAft>
                <a:spcPts val="1200"/>
              </a:spcAft>
              <a:buFont typeface="Arial" panose="020B0604020202020204" pitchFamily="34" charset="0"/>
              <a:buChar char="•"/>
            </a:pPr>
            <a:r>
              <a:rPr lang="en-GB" dirty="0"/>
              <a:t>📱 </a:t>
            </a:r>
            <a:r>
              <a:rPr lang="en-GB" b="1" i="1" dirty="0"/>
              <a:t>Querying Data Centres or Consumer Devices </a:t>
            </a:r>
            <a:r>
              <a:rPr lang="en-GB" dirty="0"/>
              <a:t>– Enable model inference and user interactions.</a:t>
            </a:r>
          </a:p>
          <a:p>
            <a:pPr algn="just">
              <a:lnSpc>
                <a:spcPct val="111000"/>
              </a:lnSpc>
            </a:pPr>
            <a:r>
              <a:rPr lang="en-GB" sz="2400" dirty="0"/>
              <a:t>🏗️ </a:t>
            </a:r>
            <a:r>
              <a:rPr lang="en-GB" sz="2400" b="1" dirty="0"/>
              <a:t>Downstream Users &amp; Integrators</a:t>
            </a:r>
          </a:p>
          <a:p>
            <a:pPr marL="536575" indent="-342900" algn="just">
              <a:lnSpc>
                <a:spcPct val="111000"/>
              </a:lnSpc>
              <a:buFont typeface="Arial" panose="020B0604020202020204" pitchFamily="34" charset="0"/>
              <a:buChar char="•"/>
            </a:pPr>
            <a:r>
              <a:rPr lang="en-GB" dirty="0"/>
              <a:t>📲 </a:t>
            </a:r>
            <a:r>
              <a:rPr lang="en-GB" b="1" i="1" dirty="0"/>
              <a:t>AI Application Developers </a:t>
            </a:r>
            <a:r>
              <a:rPr lang="en-GB" dirty="0"/>
              <a:t>– Build AI-powered software and solutions. </a:t>
            </a:r>
          </a:p>
          <a:p>
            <a:pPr marL="536575" indent="-342900" algn="just">
              <a:lnSpc>
                <a:spcPct val="111000"/>
              </a:lnSpc>
              <a:buFont typeface="Arial" panose="020B0604020202020204" pitchFamily="34" charset="0"/>
              <a:buChar char="•"/>
            </a:pPr>
            <a:r>
              <a:rPr lang="en-GB" dirty="0"/>
              <a:t>🏛️ </a:t>
            </a:r>
            <a:r>
              <a:rPr lang="en-GB" b="1" i="1" dirty="0"/>
              <a:t>Business &amp; End-User Implementers </a:t>
            </a:r>
            <a:r>
              <a:rPr lang="en-GB" dirty="0"/>
              <a:t>– Organisations and individuals making use of AI tools.</a:t>
            </a:r>
          </a:p>
          <a:p>
            <a:pPr marL="536575" indent="-342900" algn="just">
              <a:lnSpc>
                <a:spcPct val="111000"/>
              </a:lnSpc>
              <a:spcAft>
                <a:spcPts val="1200"/>
              </a:spcAft>
              <a:buFont typeface="Arial" panose="020B0604020202020204" pitchFamily="34" charset="0"/>
              <a:buChar char="•"/>
            </a:pPr>
            <a:r>
              <a:rPr lang="en-GB" dirty="0"/>
              <a:t>⚖️ </a:t>
            </a:r>
            <a:r>
              <a:rPr lang="en-GB" b="1" i="1" dirty="0"/>
              <a:t>Regulators &amp; Auditors</a:t>
            </a:r>
            <a:r>
              <a:rPr lang="en-GB" dirty="0"/>
              <a:t> – Enforce regulatory requirements and ensure governance. </a:t>
            </a:r>
          </a:p>
        </p:txBody>
      </p:sp>
    </p:spTree>
    <p:extLst>
      <p:ext uri="{BB962C8B-B14F-4D97-AF65-F5344CB8AC3E}">
        <p14:creationId xmlns:p14="http://schemas.microsoft.com/office/powerpoint/2010/main" val="2636213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40DE568-CC1A-ABFF-333B-63499A302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EC59-1D15-2069-ACBF-6A211279FDD8}"/>
              </a:ext>
            </a:extLst>
          </p:cNvPr>
          <p:cNvSpPr>
            <a:spLocks noGrp="1"/>
          </p:cNvSpPr>
          <p:nvPr>
            <p:ph type="title"/>
          </p:nvPr>
        </p:nvSpPr>
        <p:spPr>
          <a:xfrm>
            <a:off x="838200" y="136525"/>
            <a:ext cx="10515600" cy="1106237"/>
          </a:xfrm>
        </p:spPr>
        <p:txBody>
          <a:bodyPr>
            <a:normAutofit fontScale="90000"/>
          </a:bodyPr>
          <a:lstStyle/>
          <a:p>
            <a:r>
              <a:rPr lang="en-GB" cap="small" dirty="0"/>
              <a:t>AI Governance Challenges along Value Chains</a:t>
            </a:r>
          </a:p>
        </p:txBody>
      </p:sp>
      <p:sp>
        <p:nvSpPr>
          <p:cNvPr id="4" name="Slide Number Placeholder 3">
            <a:extLst>
              <a:ext uri="{FF2B5EF4-FFF2-40B4-BE49-F238E27FC236}">
                <a16:creationId xmlns:a16="http://schemas.microsoft.com/office/drawing/2014/main" id="{C4FB477C-C0D2-90E4-B552-3BDA63BFB489}"/>
              </a:ext>
            </a:extLst>
          </p:cNvPr>
          <p:cNvSpPr>
            <a:spLocks noGrp="1"/>
          </p:cNvSpPr>
          <p:nvPr>
            <p:ph type="sldNum" sz="quarter" idx="12"/>
          </p:nvPr>
        </p:nvSpPr>
        <p:spPr/>
        <p:txBody>
          <a:bodyPr/>
          <a:lstStyle/>
          <a:p>
            <a:fld id="{8ABD5A5B-811B-418E-9483-61F67F998C2D}" type="slidenum">
              <a:rPr lang="en-GB" smtClean="0"/>
              <a:t>14</a:t>
            </a:fld>
            <a:endParaRPr lang="en-GB"/>
          </a:p>
        </p:txBody>
      </p:sp>
      <p:sp>
        <p:nvSpPr>
          <p:cNvPr id="12" name="TextBox 11">
            <a:extLst>
              <a:ext uri="{FF2B5EF4-FFF2-40B4-BE49-F238E27FC236}">
                <a16:creationId xmlns:a16="http://schemas.microsoft.com/office/drawing/2014/main" id="{888E63ED-A144-FF49-A568-ED0BAE2509F8}"/>
              </a:ext>
            </a:extLst>
          </p:cNvPr>
          <p:cNvSpPr txBox="1"/>
          <p:nvPr/>
        </p:nvSpPr>
        <p:spPr>
          <a:xfrm>
            <a:off x="624114" y="4099520"/>
            <a:ext cx="10943771" cy="2469394"/>
          </a:xfrm>
          <a:prstGeom prst="rect">
            <a:avLst/>
          </a:prstGeom>
          <a:noFill/>
        </p:spPr>
        <p:txBody>
          <a:bodyPr wrap="square">
            <a:spAutoFit/>
          </a:bodyPr>
          <a:lstStyle/>
          <a:p>
            <a:pPr marL="342900" indent="-342900" algn="just">
              <a:lnSpc>
                <a:spcPct val="111000"/>
              </a:lnSpc>
              <a:buFont typeface="Arial" panose="020B0604020202020204" pitchFamily="34" charset="0"/>
              <a:buChar char="•"/>
            </a:pPr>
            <a:r>
              <a:rPr lang="en-GB" sz="2000" dirty="0"/>
              <a:t>Production, deployment, and use are often distributed across </a:t>
            </a:r>
            <a:r>
              <a:rPr lang="en-GB" sz="2000" b="1" dirty="0"/>
              <a:t>multiple actors</a:t>
            </a:r>
            <a:r>
              <a:rPr lang="en-GB" sz="2000" dirty="0"/>
              <a:t>.</a:t>
            </a:r>
          </a:p>
          <a:p>
            <a:pPr marL="342900" indent="-342900" algn="just">
              <a:lnSpc>
                <a:spcPct val="111000"/>
              </a:lnSpc>
              <a:buFont typeface="Arial" panose="020B0604020202020204" pitchFamily="34" charset="0"/>
              <a:buChar char="•"/>
            </a:pPr>
            <a:r>
              <a:rPr lang="en-GB" sz="2000" b="1" dirty="0"/>
              <a:t>Interdependent actors</a:t>
            </a:r>
            <a:r>
              <a:rPr lang="en-GB" sz="2000" dirty="0"/>
              <a:t> must </a:t>
            </a:r>
            <a:r>
              <a:rPr lang="en-GB" sz="2000" b="1" dirty="0"/>
              <a:t>work together </a:t>
            </a:r>
            <a:r>
              <a:rPr lang="en-GB" sz="2000" dirty="0"/>
              <a:t>to enable AI functionality.</a:t>
            </a:r>
          </a:p>
          <a:p>
            <a:pPr marL="342900" indent="-342900" algn="just">
              <a:lnSpc>
                <a:spcPct val="111000"/>
              </a:lnSpc>
              <a:buFont typeface="Arial" panose="020B0604020202020204" pitchFamily="34" charset="0"/>
              <a:buChar char="•"/>
            </a:pPr>
            <a:r>
              <a:rPr lang="en-GB" sz="2000" b="1" dirty="0"/>
              <a:t>Errors</a:t>
            </a:r>
            <a:r>
              <a:rPr lang="en-GB" sz="2000" dirty="0"/>
              <a:t>,</a:t>
            </a:r>
            <a:r>
              <a:rPr lang="en-GB" sz="2000" b="1" dirty="0"/>
              <a:t> biases</a:t>
            </a:r>
            <a:r>
              <a:rPr lang="en-GB" sz="2000" dirty="0"/>
              <a:t>, and </a:t>
            </a:r>
            <a:r>
              <a:rPr lang="en-GB" sz="2000" b="1" dirty="0"/>
              <a:t>failures </a:t>
            </a:r>
            <a:r>
              <a:rPr lang="en-GB" sz="2000" dirty="0"/>
              <a:t>can propagate throughout the value chain, amplifying risks.</a:t>
            </a:r>
          </a:p>
          <a:p>
            <a:pPr marL="342900" indent="-342900" algn="just">
              <a:lnSpc>
                <a:spcPct val="111000"/>
              </a:lnSpc>
              <a:buFont typeface="Arial" panose="020B0604020202020204" pitchFamily="34" charset="0"/>
              <a:buChar char="•"/>
            </a:pPr>
            <a:r>
              <a:rPr lang="en-GB" sz="2000" dirty="0"/>
              <a:t>Value chains may be </a:t>
            </a:r>
            <a:r>
              <a:rPr lang="en-GB" sz="2000" b="1" dirty="0"/>
              <a:t>assembled as needed </a:t>
            </a:r>
            <a:r>
              <a:rPr lang="en-GB" sz="2000" dirty="0"/>
              <a:t>and can differ from one case to another.</a:t>
            </a:r>
          </a:p>
          <a:p>
            <a:pPr marL="342900" indent="-342900" algn="just">
              <a:lnSpc>
                <a:spcPct val="111000"/>
              </a:lnSpc>
              <a:buFont typeface="Arial" panose="020B0604020202020204" pitchFamily="34" charset="0"/>
              <a:buChar char="•"/>
            </a:pPr>
            <a:r>
              <a:rPr lang="en-GB" sz="2000" b="1" dirty="0"/>
              <a:t>Vertical </a:t>
            </a:r>
            <a:r>
              <a:rPr lang="en-GB" sz="2000" dirty="0"/>
              <a:t>and </a:t>
            </a:r>
            <a:r>
              <a:rPr lang="en-GB" sz="2000" b="1" dirty="0"/>
              <a:t>horizontal integration </a:t>
            </a:r>
            <a:r>
              <a:rPr lang="en-GB" sz="2000" dirty="0"/>
              <a:t>can create </a:t>
            </a:r>
            <a:r>
              <a:rPr lang="en-GB" sz="2000" b="1" dirty="0"/>
              <a:t>systematically important actors</a:t>
            </a:r>
            <a:r>
              <a:rPr lang="en-GB" sz="2000" dirty="0"/>
              <a:t>.</a:t>
            </a:r>
          </a:p>
          <a:p>
            <a:pPr marL="342900" indent="-342900" algn="just">
              <a:lnSpc>
                <a:spcPct val="111000"/>
              </a:lnSpc>
              <a:buFont typeface="Arial" panose="020B0604020202020204" pitchFamily="34" charset="0"/>
              <a:buChar char="•"/>
            </a:pPr>
            <a:r>
              <a:rPr lang="en-GB" sz="2000" dirty="0"/>
              <a:t>Future trends may drive greater market concentration, with </a:t>
            </a:r>
            <a:r>
              <a:rPr lang="en-GB" sz="2000" b="1" dirty="0"/>
              <a:t>AI as a service (</a:t>
            </a:r>
            <a:r>
              <a:rPr lang="en-GB" sz="2000" b="1" dirty="0" err="1"/>
              <a:t>AIaaS</a:t>
            </a:r>
            <a:r>
              <a:rPr lang="en-GB" sz="2000" b="1" dirty="0"/>
              <a:t>) </a:t>
            </a:r>
            <a:r>
              <a:rPr lang="en-GB" sz="2000" dirty="0"/>
              <a:t>emerging as the dominant business model. </a:t>
            </a:r>
          </a:p>
        </p:txBody>
      </p:sp>
      <p:pic>
        <p:nvPicPr>
          <p:cNvPr id="5" name="Picture 4" descr="A diagram of a diagram&#10;&#10;AI-generated content may be incorrect.">
            <a:extLst>
              <a:ext uri="{FF2B5EF4-FFF2-40B4-BE49-F238E27FC236}">
                <a16:creationId xmlns:a16="http://schemas.microsoft.com/office/drawing/2014/main" id="{310C3449-43AD-DAAB-D438-80AD0B7F8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03" y="1540607"/>
            <a:ext cx="8902218" cy="2435746"/>
          </a:xfrm>
          <a:prstGeom prst="rect">
            <a:avLst/>
          </a:prstGeom>
          <a:ln>
            <a:solidFill>
              <a:schemeClr val="tx1"/>
            </a:solidFill>
          </a:ln>
        </p:spPr>
      </p:pic>
      <p:sp>
        <p:nvSpPr>
          <p:cNvPr id="6" name="TextBox 5">
            <a:extLst>
              <a:ext uri="{FF2B5EF4-FFF2-40B4-BE49-F238E27FC236}">
                <a16:creationId xmlns:a16="http://schemas.microsoft.com/office/drawing/2014/main" id="{381AEEA6-2A9C-5F02-4196-B022CEBEEBC3}"/>
              </a:ext>
            </a:extLst>
          </p:cNvPr>
          <p:cNvSpPr txBox="1"/>
          <p:nvPr/>
        </p:nvSpPr>
        <p:spPr>
          <a:xfrm>
            <a:off x="993719" y="849395"/>
            <a:ext cx="9932586" cy="369332"/>
          </a:xfrm>
          <a:prstGeom prst="rect">
            <a:avLst/>
          </a:prstGeom>
          <a:noFill/>
        </p:spPr>
        <p:txBody>
          <a:bodyPr wrap="square">
            <a:spAutoFit/>
          </a:bodyPr>
          <a:lstStyle/>
          <a:p>
            <a:r>
              <a:rPr lang="en-GB" i="1" dirty="0"/>
              <a:t>See</a:t>
            </a:r>
            <a:r>
              <a:rPr lang="en-GB" sz="1800" dirty="0"/>
              <a:t> </a:t>
            </a:r>
            <a:r>
              <a:rPr lang="en-GB" sz="1800" dirty="0">
                <a:hlinkClick r:id="rId3"/>
              </a:rPr>
              <a:t>Cobbe, Veale, &amp; Singh (2023: 1190)</a:t>
            </a:r>
            <a:endParaRPr lang="en-GB" dirty="0">
              <a:highlight>
                <a:srgbClr val="FFFF00"/>
              </a:highlight>
            </a:endParaRPr>
          </a:p>
        </p:txBody>
      </p:sp>
    </p:spTree>
    <p:extLst>
      <p:ext uri="{BB962C8B-B14F-4D97-AF65-F5344CB8AC3E}">
        <p14:creationId xmlns:p14="http://schemas.microsoft.com/office/powerpoint/2010/main" val="3881441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B9CA10A-DB67-7202-AA28-F8B046629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83323-ABAE-CB96-0DB1-EAD4874054B1}"/>
              </a:ext>
            </a:extLst>
          </p:cNvPr>
          <p:cNvSpPr>
            <a:spLocks noGrp="1"/>
          </p:cNvSpPr>
          <p:nvPr>
            <p:ph type="title"/>
          </p:nvPr>
        </p:nvSpPr>
        <p:spPr>
          <a:xfrm>
            <a:off x="838200" y="136525"/>
            <a:ext cx="10515600" cy="1106237"/>
          </a:xfrm>
        </p:spPr>
        <p:txBody>
          <a:bodyPr>
            <a:normAutofit fontScale="90000"/>
          </a:bodyPr>
          <a:lstStyle/>
          <a:p>
            <a:r>
              <a:rPr lang="en-GB" cap="small" dirty="0"/>
              <a:t>Consequences for Illegal or “Problematic” Uses</a:t>
            </a:r>
          </a:p>
        </p:txBody>
      </p:sp>
      <p:sp>
        <p:nvSpPr>
          <p:cNvPr id="4" name="Slide Number Placeholder 3">
            <a:extLst>
              <a:ext uri="{FF2B5EF4-FFF2-40B4-BE49-F238E27FC236}">
                <a16:creationId xmlns:a16="http://schemas.microsoft.com/office/drawing/2014/main" id="{8A8D92CD-2800-77BB-AA36-98F685136663}"/>
              </a:ext>
            </a:extLst>
          </p:cNvPr>
          <p:cNvSpPr>
            <a:spLocks noGrp="1"/>
          </p:cNvSpPr>
          <p:nvPr>
            <p:ph type="sldNum" sz="quarter" idx="12"/>
          </p:nvPr>
        </p:nvSpPr>
        <p:spPr/>
        <p:txBody>
          <a:bodyPr/>
          <a:lstStyle/>
          <a:p>
            <a:fld id="{8ABD5A5B-811B-418E-9483-61F67F998C2D}" type="slidenum">
              <a:rPr lang="en-GB" smtClean="0"/>
              <a:t>15</a:t>
            </a:fld>
            <a:endParaRPr lang="en-GB"/>
          </a:p>
        </p:txBody>
      </p:sp>
      <p:sp>
        <p:nvSpPr>
          <p:cNvPr id="12" name="TextBox 11">
            <a:extLst>
              <a:ext uri="{FF2B5EF4-FFF2-40B4-BE49-F238E27FC236}">
                <a16:creationId xmlns:a16="http://schemas.microsoft.com/office/drawing/2014/main" id="{C926BA46-59E0-D72A-B223-5E62AF92802D}"/>
              </a:ext>
            </a:extLst>
          </p:cNvPr>
          <p:cNvSpPr txBox="1"/>
          <p:nvPr/>
        </p:nvSpPr>
        <p:spPr>
          <a:xfrm>
            <a:off x="838201" y="1563628"/>
            <a:ext cx="10515600" cy="4792722"/>
          </a:xfrm>
          <a:prstGeom prst="rect">
            <a:avLst/>
          </a:prstGeom>
          <a:noFill/>
        </p:spPr>
        <p:txBody>
          <a:bodyPr wrap="square">
            <a:spAutoFit/>
          </a:bodyPr>
          <a:lstStyle/>
          <a:p>
            <a:pPr algn="just">
              <a:lnSpc>
                <a:spcPct val="111000"/>
              </a:lnSpc>
            </a:pPr>
            <a:r>
              <a:rPr lang="en-GB" sz="2400" dirty="0"/>
              <a:t>⚠️ </a:t>
            </a:r>
            <a:r>
              <a:rPr lang="en-GB" sz="2400" b="1" dirty="0"/>
              <a:t>Multiple regulatory access points exist</a:t>
            </a:r>
            <a:r>
              <a:rPr lang="en-GB" sz="2400" dirty="0"/>
              <a:t>, but not all are effective, consistent across jurisdictions, or durable, especially when relied on in isolation.</a:t>
            </a:r>
          </a:p>
          <a:p>
            <a:pPr algn="just">
              <a:lnSpc>
                <a:spcPct val="111000"/>
              </a:lnSpc>
            </a:pPr>
            <a:endParaRPr lang="en-GB" sz="2400" dirty="0"/>
          </a:p>
          <a:p>
            <a:pPr algn="just">
              <a:lnSpc>
                <a:spcPct val="111000"/>
              </a:lnSpc>
            </a:pPr>
            <a:r>
              <a:rPr lang="en-GB" sz="2400" dirty="0"/>
              <a:t>⚠️ </a:t>
            </a:r>
            <a:r>
              <a:rPr lang="en-GB" sz="2400" b="1" dirty="0"/>
              <a:t>Failures and risks </a:t>
            </a:r>
            <a:r>
              <a:rPr lang="en-GB" sz="2400" dirty="0"/>
              <a:t>can arise </a:t>
            </a:r>
            <a:r>
              <a:rPr lang="en-GB" sz="2400" b="1" dirty="0"/>
              <a:t>from multiple sources </a:t>
            </a:r>
            <a:r>
              <a:rPr lang="en-GB" sz="2400" dirty="0"/>
              <a:t>along the AI value chain.</a:t>
            </a:r>
          </a:p>
          <a:p>
            <a:pPr marL="800100" lvl="1" indent="-342900" algn="just">
              <a:lnSpc>
                <a:spcPct val="111000"/>
              </a:lnSpc>
              <a:buFont typeface="Arial" panose="020B0604020202020204" pitchFamily="34" charset="0"/>
              <a:buChar char="•"/>
            </a:pPr>
            <a:r>
              <a:rPr lang="en-GB" sz="2000" dirty="0"/>
              <a:t>Tightly coupled, fast-moving, and complex AI systems are inherently prone to </a:t>
            </a:r>
            <a:r>
              <a:rPr lang="en-GB" sz="2000" b="1" dirty="0"/>
              <a:t>unexpected failures</a:t>
            </a:r>
            <a:r>
              <a:rPr lang="en-GB" sz="2000" dirty="0"/>
              <a:t>, as suggested by </a:t>
            </a:r>
            <a:r>
              <a:rPr lang="en-GB" sz="2000" b="1" dirty="0"/>
              <a:t>Perrow’s Normal Accident Theory</a:t>
            </a:r>
            <a:r>
              <a:rPr lang="en-GB" sz="2000" dirty="0"/>
              <a:t>.</a:t>
            </a:r>
          </a:p>
          <a:p>
            <a:pPr marL="800100" lvl="1" indent="-342900" algn="just">
              <a:lnSpc>
                <a:spcPct val="111000"/>
              </a:lnSpc>
              <a:buFont typeface="Arial" panose="020B0604020202020204" pitchFamily="34" charset="0"/>
              <a:buChar char="•"/>
            </a:pPr>
            <a:endParaRPr lang="en-GB" sz="2400" dirty="0"/>
          </a:p>
          <a:p>
            <a:pPr algn="just">
              <a:lnSpc>
                <a:spcPct val="111000"/>
              </a:lnSpc>
            </a:pPr>
            <a:r>
              <a:rPr lang="en-GB" sz="2400" dirty="0"/>
              <a:t>⚠️ Value chains can be structured to minimise costs and shift accountability, creating significant </a:t>
            </a:r>
            <a:r>
              <a:rPr lang="en-GB" sz="2400" b="1" dirty="0"/>
              <a:t>governance challenges</a:t>
            </a:r>
            <a:r>
              <a:rPr lang="en-GB" sz="2400" dirty="0"/>
              <a:t>.</a:t>
            </a:r>
          </a:p>
          <a:p>
            <a:pPr marL="800100" lvl="1" indent="-342900" algn="just">
              <a:lnSpc>
                <a:spcPct val="111000"/>
              </a:lnSpc>
              <a:buFont typeface="Arial" panose="020B0604020202020204" pitchFamily="34" charset="0"/>
              <a:buChar char="•"/>
            </a:pPr>
            <a:r>
              <a:rPr lang="en-GB" sz="2000" dirty="0"/>
              <a:t>Hence: </a:t>
            </a:r>
            <a:r>
              <a:rPr lang="en-GB" sz="2000" b="1" i="1" dirty="0"/>
              <a:t>Are AI value chains themselves governable or regulable?</a:t>
            </a:r>
          </a:p>
        </p:txBody>
      </p:sp>
      <p:sp>
        <p:nvSpPr>
          <p:cNvPr id="6" name="TextBox 5">
            <a:extLst>
              <a:ext uri="{FF2B5EF4-FFF2-40B4-BE49-F238E27FC236}">
                <a16:creationId xmlns:a16="http://schemas.microsoft.com/office/drawing/2014/main" id="{EB0EA447-3D99-40D8-9D3A-C31016C72AC8}"/>
              </a:ext>
            </a:extLst>
          </p:cNvPr>
          <p:cNvSpPr txBox="1"/>
          <p:nvPr/>
        </p:nvSpPr>
        <p:spPr>
          <a:xfrm>
            <a:off x="993719" y="849395"/>
            <a:ext cx="9932586" cy="369332"/>
          </a:xfrm>
          <a:prstGeom prst="rect">
            <a:avLst/>
          </a:prstGeom>
          <a:noFill/>
        </p:spPr>
        <p:txBody>
          <a:bodyPr wrap="square">
            <a:spAutoFit/>
          </a:bodyPr>
          <a:lstStyle/>
          <a:p>
            <a:r>
              <a:rPr lang="en-GB" i="1" dirty="0"/>
              <a:t>Cf.</a:t>
            </a:r>
            <a:r>
              <a:rPr lang="en-GB" sz="1800" dirty="0"/>
              <a:t> </a:t>
            </a:r>
            <a:r>
              <a:rPr lang="en-GB" sz="1800" dirty="0">
                <a:hlinkClick r:id="rId2"/>
              </a:rPr>
              <a:t>Perrow (1999)</a:t>
            </a:r>
            <a:endParaRPr lang="en-GB" dirty="0">
              <a:highlight>
                <a:srgbClr val="FFFF00"/>
              </a:highlight>
            </a:endParaRPr>
          </a:p>
        </p:txBody>
      </p:sp>
    </p:spTree>
    <p:extLst>
      <p:ext uri="{BB962C8B-B14F-4D97-AF65-F5344CB8AC3E}">
        <p14:creationId xmlns:p14="http://schemas.microsoft.com/office/powerpoint/2010/main" val="2320333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51F7A72-555A-7E2E-253F-68ACA0DA3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A903E-816F-3263-48D8-0DEAB24CAECD}"/>
              </a:ext>
            </a:extLst>
          </p:cNvPr>
          <p:cNvSpPr>
            <a:spLocks noGrp="1"/>
          </p:cNvSpPr>
          <p:nvPr>
            <p:ph type="title"/>
          </p:nvPr>
        </p:nvSpPr>
        <p:spPr>
          <a:xfrm>
            <a:off x="838200" y="0"/>
            <a:ext cx="10515600" cy="1106237"/>
          </a:xfrm>
        </p:spPr>
        <p:txBody>
          <a:bodyPr>
            <a:normAutofit/>
          </a:bodyPr>
          <a:lstStyle/>
          <a:p>
            <a:pPr algn="ctr"/>
            <a:r>
              <a:rPr lang="en-GB" cap="small" dirty="0"/>
              <a:t>Practicing with an example</a:t>
            </a:r>
          </a:p>
        </p:txBody>
      </p:sp>
      <p:sp>
        <p:nvSpPr>
          <p:cNvPr id="4" name="Slide Number Placeholder 3">
            <a:extLst>
              <a:ext uri="{FF2B5EF4-FFF2-40B4-BE49-F238E27FC236}">
                <a16:creationId xmlns:a16="http://schemas.microsoft.com/office/drawing/2014/main" id="{BD25E323-2617-3C9D-5967-9AC1EC571C10}"/>
              </a:ext>
            </a:extLst>
          </p:cNvPr>
          <p:cNvSpPr>
            <a:spLocks noGrp="1"/>
          </p:cNvSpPr>
          <p:nvPr>
            <p:ph type="sldNum" sz="quarter" idx="12"/>
          </p:nvPr>
        </p:nvSpPr>
        <p:spPr/>
        <p:txBody>
          <a:bodyPr/>
          <a:lstStyle/>
          <a:p>
            <a:fld id="{8ABD5A5B-811B-418E-9483-61F67F998C2D}" type="slidenum">
              <a:rPr lang="en-GB" smtClean="0"/>
              <a:t>16</a:t>
            </a:fld>
            <a:endParaRPr lang="en-GB"/>
          </a:p>
        </p:txBody>
      </p:sp>
      <p:sp>
        <p:nvSpPr>
          <p:cNvPr id="12" name="TextBox 11">
            <a:extLst>
              <a:ext uri="{FF2B5EF4-FFF2-40B4-BE49-F238E27FC236}">
                <a16:creationId xmlns:a16="http://schemas.microsoft.com/office/drawing/2014/main" id="{5D18FC57-6C70-152E-DC82-02828F89844D}"/>
              </a:ext>
            </a:extLst>
          </p:cNvPr>
          <p:cNvSpPr txBox="1"/>
          <p:nvPr/>
        </p:nvSpPr>
        <p:spPr>
          <a:xfrm>
            <a:off x="838201" y="1224838"/>
            <a:ext cx="10515600" cy="5012911"/>
          </a:xfrm>
          <a:prstGeom prst="rect">
            <a:avLst/>
          </a:prstGeom>
          <a:noFill/>
        </p:spPr>
        <p:txBody>
          <a:bodyPr wrap="square">
            <a:spAutoFit/>
          </a:bodyPr>
          <a:lstStyle/>
          <a:p>
            <a:pPr algn="just">
              <a:lnSpc>
                <a:spcPct val="111000"/>
              </a:lnSpc>
            </a:pPr>
            <a:r>
              <a:rPr lang="en-GB" sz="2400" dirty="0"/>
              <a:t>⚠️ </a:t>
            </a:r>
            <a:r>
              <a:rPr lang="en-GB" sz="2400" b="1" dirty="0"/>
              <a:t>Scenario: AI-Powered Hiring Tool</a:t>
            </a:r>
          </a:p>
          <a:p>
            <a:pPr algn="just">
              <a:lnSpc>
                <a:spcPct val="111000"/>
              </a:lnSpc>
            </a:pPr>
            <a:r>
              <a:rPr lang="en-GB" sz="2000" dirty="0"/>
              <a:t>A company develops an </a:t>
            </a:r>
            <a:r>
              <a:rPr lang="en-GB" sz="2000" b="1" dirty="0"/>
              <a:t>AI-based recruitment system</a:t>
            </a:r>
            <a:r>
              <a:rPr lang="en-GB" sz="2000" dirty="0"/>
              <a:t>, but its value chain involves multiple actors:</a:t>
            </a:r>
          </a:p>
          <a:p>
            <a:pPr marL="457200" indent="-457200" algn="just">
              <a:spcAft>
                <a:spcPts val="600"/>
              </a:spcAft>
              <a:buFont typeface="Wingdings" panose="05000000000000000000" pitchFamily="2" charset="2"/>
              <a:buChar char="§"/>
            </a:pPr>
            <a:r>
              <a:rPr lang="en-GB" dirty="0"/>
              <a:t>📊 </a:t>
            </a:r>
            <a:r>
              <a:rPr lang="en-GB" b="1" dirty="0"/>
              <a:t>Data Provider </a:t>
            </a:r>
            <a:r>
              <a:rPr lang="en-GB" dirty="0"/>
              <a:t>– Supplies training data, but </a:t>
            </a:r>
            <a:r>
              <a:rPr lang="en-GB" b="1" dirty="0"/>
              <a:t>data quality may be flawed</a:t>
            </a:r>
            <a:r>
              <a:rPr lang="en-GB" dirty="0"/>
              <a:t> (e.g., biased, incomplete).</a:t>
            </a:r>
          </a:p>
          <a:p>
            <a:pPr marL="457200" indent="-457200" algn="just">
              <a:spcAft>
                <a:spcPts val="600"/>
              </a:spcAft>
              <a:buFont typeface="Wingdings" panose="05000000000000000000" pitchFamily="2" charset="2"/>
              <a:buChar char="§"/>
            </a:pPr>
            <a:r>
              <a:rPr lang="en-GB" dirty="0"/>
              <a:t>🧠 </a:t>
            </a:r>
            <a:r>
              <a:rPr lang="en-GB" b="1" dirty="0"/>
              <a:t>Model Developer </a:t>
            </a:r>
            <a:r>
              <a:rPr lang="en-GB" dirty="0"/>
              <a:t>– Provides a </a:t>
            </a:r>
            <a:r>
              <a:rPr lang="en-GB" b="1" dirty="0"/>
              <a:t>pre-trained AI model </a:t>
            </a:r>
            <a:r>
              <a:rPr lang="en-GB" dirty="0"/>
              <a:t>but takes </a:t>
            </a:r>
            <a:r>
              <a:rPr lang="en-GB" b="1" dirty="0"/>
              <a:t>no responsibility </a:t>
            </a:r>
            <a:r>
              <a:rPr lang="en-GB" dirty="0"/>
              <a:t>for its use.</a:t>
            </a:r>
          </a:p>
          <a:p>
            <a:pPr marL="457200" indent="-457200" algn="just">
              <a:spcAft>
                <a:spcPts val="1800"/>
              </a:spcAft>
              <a:buFont typeface="Wingdings" panose="05000000000000000000" pitchFamily="2" charset="2"/>
              <a:buChar char="§"/>
            </a:pPr>
            <a:r>
              <a:rPr lang="en-GB" dirty="0"/>
              <a:t>☁️ </a:t>
            </a:r>
            <a:r>
              <a:rPr lang="en-GB" b="1" dirty="0"/>
              <a:t>Cloud Provider </a:t>
            </a:r>
            <a:r>
              <a:rPr lang="en-GB" dirty="0"/>
              <a:t>– Hosts and deploys the model but only provides infrastructure, not oversight.</a:t>
            </a:r>
          </a:p>
          <a:p>
            <a:pPr algn="just">
              <a:lnSpc>
                <a:spcPct val="111000"/>
              </a:lnSpc>
            </a:pPr>
            <a:r>
              <a:rPr lang="en-GB" sz="2200" dirty="0"/>
              <a:t>🔍 </a:t>
            </a:r>
            <a:r>
              <a:rPr lang="en-GB" sz="2200" b="1" u="sng" dirty="0"/>
              <a:t>The Problem</a:t>
            </a:r>
            <a:r>
              <a:rPr lang="en-GB" sz="2200" dirty="0"/>
              <a:t>: </a:t>
            </a:r>
          </a:p>
          <a:p>
            <a:pPr algn="just">
              <a:lnSpc>
                <a:spcPct val="111000"/>
              </a:lnSpc>
              <a:spcAft>
                <a:spcPts val="1800"/>
              </a:spcAft>
            </a:pPr>
            <a:r>
              <a:rPr lang="en-GB" sz="2000" dirty="0"/>
              <a:t>The AI system </a:t>
            </a:r>
            <a:r>
              <a:rPr lang="en-GB" sz="2000" b="1" dirty="0"/>
              <a:t>discriminates</a:t>
            </a:r>
            <a:r>
              <a:rPr lang="en-GB" sz="2000" dirty="0"/>
              <a:t> against certain job applicants.</a:t>
            </a:r>
          </a:p>
          <a:p>
            <a:pPr algn="just">
              <a:lnSpc>
                <a:spcPct val="111000"/>
              </a:lnSpc>
            </a:pPr>
            <a:r>
              <a:rPr lang="en-GB" sz="2200" dirty="0"/>
              <a:t> 💡  </a:t>
            </a:r>
            <a:r>
              <a:rPr lang="en-GB" sz="2200" b="1" dirty="0"/>
              <a:t>Key Questions for Discussion</a:t>
            </a:r>
          </a:p>
          <a:p>
            <a:pPr marL="342900" indent="-342900" algn="just">
              <a:lnSpc>
                <a:spcPct val="111000"/>
              </a:lnSpc>
              <a:buFont typeface="Arial" panose="020B0604020202020204" pitchFamily="34" charset="0"/>
              <a:buChar char="•"/>
            </a:pPr>
            <a:r>
              <a:rPr lang="en-GB" sz="2000" b="1" i="1" dirty="0"/>
              <a:t>Who is accountable? </a:t>
            </a:r>
            <a:r>
              <a:rPr lang="en-GB" sz="2000" i="1" dirty="0"/>
              <a:t>The employer? The model developer? The data provider?</a:t>
            </a:r>
          </a:p>
          <a:p>
            <a:pPr marL="342900" indent="-342900" algn="just">
              <a:lnSpc>
                <a:spcPct val="111000"/>
              </a:lnSpc>
              <a:buFont typeface="Arial" panose="020B0604020202020204" pitchFamily="34" charset="0"/>
              <a:buChar char="•"/>
            </a:pPr>
            <a:r>
              <a:rPr lang="en-GB" sz="2000" b="1" i="1" dirty="0"/>
              <a:t>Where may governance gaps emerge in this value chain?</a:t>
            </a:r>
          </a:p>
          <a:p>
            <a:pPr marL="342900" indent="-342900" algn="just">
              <a:lnSpc>
                <a:spcPct val="111000"/>
              </a:lnSpc>
              <a:buFont typeface="Arial" panose="020B0604020202020204" pitchFamily="34" charset="0"/>
              <a:buChar char="•"/>
            </a:pPr>
            <a:r>
              <a:rPr lang="en-GB" sz="2000" b="1" i="1" dirty="0"/>
              <a:t>How could or should AI regulation address these challenges?</a:t>
            </a:r>
          </a:p>
        </p:txBody>
      </p:sp>
    </p:spTree>
    <p:extLst>
      <p:ext uri="{BB962C8B-B14F-4D97-AF65-F5344CB8AC3E}">
        <p14:creationId xmlns:p14="http://schemas.microsoft.com/office/powerpoint/2010/main" val="139182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B90DAF1-B302-3FAF-C73C-9092735F5641}"/>
            </a:ext>
          </a:extLst>
        </p:cNvPr>
        <p:cNvGrpSpPr/>
        <p:nvPr/>
      </p:nvGrpSpPr>
      <p:grpSpPr>
        <a:xfrm>
          <a:off x="0" y="0"/>
          <a:ext cx="0" cy="0"/>
          <a:chOff x="0" y="0"/>
          <a:chExt cx="0" cy="0"/>
        </a:xfrm>
      </p:grpSpPr>
      <p:pic>
        <p:nvPicPr>
          <p:cNvPr id="6" name="Picture 5" descr="A table with text on it&#10;&#10;AI-generated content may be incorrect.">
            <a:extLst>
              <a:ext uri="{FF2B5EF4-FFF2-40B4-BE49-F238E27FC236}">
                <a16:creationId xmlns:a16="http://schemas.microsoft.com/office/drawing/2014/main" id="{970315DF-65F0-F9C3-444C-51631EE97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8938" y="0"/>
            <a:ext cx="6629401" cy="6858000"/>
          </a:xfrm>
          <a:prstGeom prst="rect">
            <a:avLst/>
          </a:prstGeom>
        </p:spPr>
      </p:pic>
      <p:sp>
        <p:nvSpPr>
          <p:cNvPr id="2" name="Title 1">
            <a:extLst>
              <a:ext uri="{FF2B5EF4-FFF2-40B4-BE49-F238E27FC236}">
                <a16:creationId xmlns:a16="http://schemas.microsoft.com/office/drawing/2014/main" id="{299E5CBA-CFDD-326F-01EE-F41682DDB03F}"/>
              </a:ext>
            </a:extLst>
          </p:cNvPr>
          <p:cNvSpPr>
            <a:spLocks noGrp="1"/>
          </p:cNvSpPr>
          <p:nvPr>
            <p:ph type="title"/>
          </p:nvPr>
        </p:nvSpPr>
        <p:spPr>
          <a:xfrm>
            <a:off x="457200" y="369332"/>
            <a:ext cx="4597400" cy="1106237"/>
          </a:xfrm>
        </p:spPr>
        <p:txBody>
          <a:bodyPr>
            <a:normAutofit fontScale="90000"/>
          </a:bodyPr>
          <a:lstStyle/>
          <a:p>
            <a:r>
              <a:rPr lang="en-GB" cap="small" dirty="0"/>
              <a:t>The </a:t>
            </a:r>
            <a:r>
              <a:rPr lang="en-GB" b="1" cap="small" dirty="0"/>
              <a:t>AI Tech-Stack </a:t>
            </a:r>
            <a:br>
              <a:rPr lang="en-GB" cap="small" dirty="0"/>
            </a:br>
            <a:r>
              <a:rPr lang="en-GB" cap="small" dirty="0"/>
              <a:t>Model</a:t>
            </a:r>
          </a:p>
        </p:txBody>
      </p:sp>
      <p:sp>
        <p:nvSpPr>
          <p:cNvPr id="4" name="Slide Number Placeholder 3">
            <a:extLst>
              <a:ext uri="{FF2B5EF4-FFF2-40B4-BE49-F238E27FC236}">
                <a16:creationId xmlns:a16="http://schemas.microsoft.com/office/drawing/2014/main" id="{6445DEBC-5DE4-8568-6D1E-C501188CE78E}"/>
              </a:ext>
            </a:extLst>
          </p:cNvPr>
          <p:cNvSpPr>
            <a:spLocks noGrp="1"/>
          </p:cNvSpPr>
          <p:nvPr>
            <p:ph type="sldNum" sz="quarter" idx="12"/>
          </p:nvPr>
        </p:nvSpPr>
        <p:spPr>
          <a:xfrm>
            <a:off x="9182100" y="6356350"/>
            <a:ext cx="2743200" cy="365125"/>
          </a:xfrm>
        </p:spPr>
        <p:txBody>
          <a:bodyPr/>
          <a:lstStyle/>
          <a:p>
            <a:fld id="{8ABD5A5B-811B-418E-9483-61F67F998C2D}" type="slidenum">
              <a:rPr lang="en-GB" smtClean="0"/>
              <a:t>17</a:t>
            </a:fld>
            <a:endParaRPr lang="en-GB" dirty="0"/>
          </a:p>
        </p:txBody>
      </p:sp>
      <p:sp>
        <p:nvSpPr>
          <p:cNvPr id="8" name="TextBox 7">
            <a:extLst>
              <a:ext uri="{FF2B5EF4-FFF2-40B4-BE49-F238E27FC236}">
                <a16:creationId xmlns:a16="http://schemas.microsoft.com/office/drawing/2014/main" id="{45FFDA6A-F06E-708A-ADFB-60CB5C2A893E}"/>
              </a:ext>
            </a:extLst>
          </p:cNvPr>
          <p:cNvSpPr txBox="1"/>
          <p:nvPr/>
        </p:nvSpPr>
        <p:spPr>
          <a:xfrm>
            <a:off x="328330" y="1379803"/>
            <a:ext cx="4321738" cy="369332"/>
          </a:xfrm>
          <a:prstGeom prst="rect">
            <a:avLst/>
          </a:prstGeom>
          <a:noFill/>
        </p:spPr>
        <p:txBody>
          <a:bodyPr wrap="square">
            <a:spAutoFit/>
          </a:bodyPr>
          <a:lstStyle/>
          <a:p>
            <a:r>
              <a:rPr lang="en-GB" sz="1800" i="1" dirty="0"/>
              <a:t>Source</a:t>
            </a:r>
            <a:r>
              <a:rPr lang="en-GB" sz="1800" dirty="0"/>
              <a:t>: </a:t>
            </a:r>
            <a:r>
              <a:rPr lang="en-GB" sz="1800" dirty="0" err="1">
                <a:hlinkClick r:id="rId3"/>
              </a:rPr>
              <a:t>Tsaih</a:t>
            </a:r>
            <a:r>
              <a:rPr lang="en-GB" sz="1800" dirty="0">
                <a:hlinkClick r:id="rId3"/>
              </a:rPr>
              <a:t>, Chang, Hsu, &amp; Yen (2023)</a:t>
            </a:r>
            <a:endParaRPr lang="en-GB" dirty="0"/>
          </a:p>
        </p:txBody>
      </p:sp>
      <p:cxnSp>
        <p:nvCxnSpPr>
          <p:cNvPr id="9" name="Straight Connector 8">
            <a:extLst>
              <a:ext uri="{FF2B5EF4-FFF2-40B4-BE49-F238E27FC236}">
                <a16:creationId xmlns:a16="http://schemas.microsoft.com/office/drawing/2014/main" id="{AD452262-8642-0D7F-286D-EDD73F053FEE}"/>
              </a:ext>
            </a:extLst>
          </p:cNvPr>
          <p:cNvCxnSpPr/>
          <p:nvPr/>
        </p:nvCxnSpPr>
        <p:spPr>
          <a:xfrm>
            <a:off x="328330" y="1930400"/>
            <a:ext cx="4078569" cy="0"/>
          </a:xfrm>
          <a:prstGeom prst="line">
            <a:avLst/>
          </a:prstGeom>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644442E1-B4C7-4EDE-2662-93E336A886EC}"/>
              </a:ext>
            </a:extLst>
          </p:cNvPr>
          <p:cNvSpPr txBox="1"/>
          <p:nvPr/>
        </p:nvSpPr>
        <p:spPr>
          <a:xfrm>
            <a:off x="238126" y="2162874"/>
            <a:ext cx="4540812" cy="4247317"/>
          </a:xfrm>
          <a:prstGeom prst="rect">
            <a:avLst/>
          </a:prstGeom>
          <a:noFill/>
        </p:spPr>
        <p:txBody>
          <a:bodyPr wrap="square">
            <a:spAutoFit/>
          </a:bodyPr>
          <a:lstStyle/>
          <a:p>
            <a:r>
              <a:rPr lang="en-GB" dirty="0"/>
              <a:t>The AI Tech-Stack Model is composed by </a:t>
            </a:r>
            <a:r>
              <a:rPr lang="en-GB" b="1" dirty="0"/>
              <a:t>seven layers</a:t>
            </a:r>
            <a:r>
              <a:rPr lang="en-GB" dirty="0"/>
              <a:t>. It is intended as a </a:t>
            </a:r>
            <a:r>
              <a:rPr lang="en-GB" b="1" dirty="0"/>
              <a:t>normative framework</a:t>
            </a:r>
            <a:r>
              <a:rPr lang="en-GB" dirty="0"/>
              <a:t> for dealing with the </a:t>
            </a:r>
            <a:r>
              <a:rPr lang="en-GB" b="1" dirty="0"/>
              <a:t>management</a:t>
            </a:r>
            <a:r>
              <a:rPr lang="en-GB" dirty="0"/>
              <a:t> and </a:t>
            </a:r>
            <a:r>
              <a:rPr lang="en-GB" b="1" dirty="0"/>
              <a:t>technology challenges </a:t>
            </a:r>
            <a:r>
              <a:rPr lang="en-GB" dirty="0"/>
              <a:t>inherent to AI adoption.</a:t>
            </a:r>
          </a:p>
          <a:p>
            <a:endParaRPr lang="en-GB" i="1" dirty="0"/>
          </a:p>
          <a:p>
            <a:r>
              <a:rPr lang="en-GB" dirty="0"/>
              <a:t>“</a:t>
            </a:r>
            <a:r>
              <a:rPr lang="en-GB" i="1" dirty="0"/>
              <a:t>The model offers a layered architecture to help executives understand which layer might best fit a specific vendor’s </a:t>
            </a:r>
            <a:r>
              <a:rPr lang="en-GB" i="1" dirty="0" err="1"/>
              <a:t>AIaaS</a:t>
            </a:r>
            <a:r>
              <a:rPr lang="en-GB" i="1" dirty="0"/>
              <a:t> offerings and (…) differentiate among multiple vendors’ offerings (…) [It] also enables executives to reduce/decompose (…) challenges to the layer perspective so that interoperability and reliability are further enhanced.</a:t>
            </a:r>
            <a:r>
              <a:rPr lang="en-GB" dirty="0"/>
              <a:t>”</a:t>
            </a:r>
            <a:r>
              <a:rPr lang="en-GB" i="1" dirty="0"/>
              <a:t>  </a:t>
            </a:r>
            <a:r>
              <a:rPr lang="en-GB" dirty="0"/>
              <a:t>(p. 71)</a:t>
            </a:r>
          </a:p>
        </p:txBody>
      </p:sp>
    </p:spTree>
    <p:extLst>
      <p:ext uri="{BB962C8B-B14F-4D97-AF65-F5344CB8AC3E}">
        <p14:creationId xmlns:p14="http://schemas.microsoft.com/office/powerpoint/2010/main" val="121809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5E0BAD2-BED5-561D-EF28-BF7AF5287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DE422-DBF5-8743-D5ED-A537E52FD2A6}"/>
              </a:ext>
            </a:extLst>
          </p:cNvPr>
          <p:cNvSpPr>
            <a:spLocks noGrp="1"/>
          </p:cNvSpPr>
          <p:nvPr>
            <p:ph type="title"/>
          </p:nvPr>
        </p:nvSpPr>
        <p:spPr>
          <a:xfrm>
            <a:off x="838200" y="0"/>
            <a:ext cx="10515600" cy="1325563"/>
          </a:xfrm>
        </p:spPr>
        <p:txBody>
          <a:bodyPr/>
          <a:lstStyle/>
          <a:p>
            <a:pPr algn="ctr"/>
            <a:r>
              <a:rPr lang="en-GB" cap="small" dirty="0"/>
              <a:t>The Compute Value Chains</a:t>
            </a:r>
          </a:p>
        </p:txBody>
      </p:sp>
      <p:sp>
        <p:nvSpPr>
          <p:cNvPr id="4" name="Slide Number Placeholder 3">
            <a:extLst>
              <a:ext uri="{FF2B5EF4-FFF2-40B4-BE49-F238E27FC236}">
                <a16:creationId xmlns:a16="http://schemas.microsoft.com/office/drawing/2014/main" id="{D29F3FFD-0AA4-4630-0691-D14F6A71421B}"/>
              </a:ext>
            </a:extLst>
          </p:cNvPr>
          <p:cNvSpPr>
            <a:spLocks noGrp="1"/>
          </p:cNvSpPr>
          <p:nvPr>
            <p:ph type="sldNum" sz="quarter" idx="12"/>
          </p:nvPr>
        </p:nvSpPr>
        <p:spPr/>
        <p:txBody>
          <a:bodyPr/>
          <a:lstStyle/>
          <a:p>
            <a:fld id="{8ABD5A5B-811B-418E-9483-61F67F998C2D}" type="slidenum">
              <a:rPr lang="en-GB" smtClean="0"/>
              <a:t>18</a:t>
            </a:fld>
            <a:endParaRPr lang="en-GB"/>
          </a:p>
        </p:txBody>
      </p:sp>
      <p:pic>
        <p:nvPicPr>
          <p:cNvPr id="3" name="Picture 2" descr="A diagram of a computer process&#10;&#10;Description automatically generated">
            <a:extLst>
              <a:ext uri="{FF2B5EF4-FFF2-40B4-BE49-F238E27FC236}">
                <a16:creationId xmlns:a16="http://schemas.microsoft.com/office/drawing/2014/main" id="{55FECCCE-57CF-7CC7-F1CC-FCDD7EBC4E21}"/>
              </a:ext>
            </a:extLst>
          </p:cNvPr>
          <p:cNvPicPr>
            <a:picLocks noChangeAspect="1"/>
          </p:cNvPicPr>
          <p:nvPr/>
        </p:nvPicPr>
        <p:blipFill>
          <a:blip r:embed="rId2"/>
          <a:stretch>
            <a:fillRect/>
          </a:stretch>
        </p:blipFill>
        <p:spPr>
          <a:xfrm>
            <a:off x="0" y="1282244"/>
            <a:ext cx="12192000" cy="4682642"/>
          </a:xfrm>
          <a:prstGeom prst="rect">
            <a:avLst/>
          </a:prstGeom>
        </p:spPr>
      </p:pic>
      <p:sp>
        <p:nvSpPr>
          <p:cNvPr id="7" name="TextBox 6">
            <a:extLst>
              <a:ext uri="{FF2B5EF4-FFF2-40B4-BE49-F238E27FC236}">
                <a16:creationId xmlns:a16="http://schemas.microsoft.com/office/drawing/2014/main" id="{721127A4-7A01-569C-C15A-D933947CC716}"/>
              </a:ext>
            </a:extLst>
          </p:cNvPr>
          <p:cNvSpPr txBox="1"/>
          <p:nvPr/>
        </p:nvSpPr>
        <p:spPr>
          <a:xfrm>
            <a:off x="730248" y="6225467"/>
            <a:ext cx="4851402" cy="369332"/>
          </a:xfrm>
          <a:prstGeom prst="rect">
            <a:avLst/>
          </a:prstGeom>
          <a:noFill/>
        </p:spPr>
        <p:txBody>
          <a:bodyPr wrap="square">
            <a:spAutoFit/>
          </a:bodyPr>
          <a:lstStyle/>
          <a:p>
            <a:r>
              <a:rPr lang="en-GB" sz="1800" i="1" dirty="0"/>
              <a:t>Source</a:t>
            </a:r>
            <a:r>
              <a:rPr lang="en-GB" sz="1800" dirty="0"/>
              <a:t>: </a:t>
            </a:r>
            <a:r>
              <a:rPr lang="en-GB" sz="1800" dirty="0">
                <a:hlinkClick r:id="rId3"/>
              </a:rPr>
              <a:t>Sastry et al. (2024: 30)</a:t>
            </a:r>
            <a:endParaRPr lang="en-GB" dirty="0"/>
          </a:p>
        </p:txBody>
      </p:sp>
    </p:spTree>
    <p:extLst>
      <p:ext uri="{BB962C8B-B14F-4D97-AF65-F5344CB8AC3E}">
        <p14:creationId xmlns:p14="http://schemas.microsoft.com/office/powerpoint/2010/main" val="3803745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BF41CB4D-29A7-1A50-30D0-7CADC26D3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07097-0099-A678-E9E9-598CDDCA51EC}"/>
              </a:ext>
            </a:extLst>
          </p:cNvPr>
          <p:cNvSpPr>
            <a:spLocks noGrp="1"/>
          </p:cNvSpPr>
          <p:nvPr>
            <p:ph type="title"/>
          </p:nvPr>
        </p:nvSpPr>
        <p:spPr>
          <a:xfrm>
            <a:off x="838200" y="0"/>
            <a:ext cx="10515600" cy="1106237"/>
          </a:xfrm>
        </p:spPr>
        <p:txBody>
          <a:bodyPr/>
          <a:lstStyle/>
          <a:p>
            <a:r>
              <a:rPr lang="en-GB" cap="small" dirty="0"/>
              <a:t>The Foundation Model Value Chain</a:t>
            </a:r>
          </a:p>
        </p:txBody>
      </p:sp>
      <p:sp>
        <p:nvSpPr>
          <p:cNvPr id="4" name="Slide Number Placeholder 3">
            <a:extLst>
              <a:ext uri="{FF2B5EF4-FFF2-40B4-BE49-F238E27FC236}">
                <a16:creationId xmlns:a16="http://schemas.microsoft.com/office/drawing/2014/main" id="{41889FE3-C467-06C8-9B62-7EF376584BD6}"/>
              </a:ext>
            </a:extLst>
          </p:cNvPr>
          <p:cNvSpPr>
            <a:spLocks noGrp="1"/>
          </p:cNvSpPr>
          <p:nvPr>
            <p:ph type="sldNum" sz="quarter" idx="12"/>
          </p:nvPr>
        </p:nvSpPr>
        <p:spPr/>
        <p:txBody>
          <a:bodyPr/>
          <a:lstStyle/>
          <a:p>
            <a:fld id="{8ABD5A5B-811B-418E-9483-61F67F998C2D}" type="slidenum">
              <a:rPr lang="en-GB" smtClean="0"/>
              <a:t>19</a:t>
            </a:fld>
            <a:endParaRPr lang="en-GB"/>
          </a:p>
        </p:txBody>
      </p:sp>
      <p:pic>
        <p:nvPicPr>
          <p:cNvPr id="5" name="Picture 4">
            <a:extLst>
              <a:ext uri="{FF2B5EF4-FFF2-40B4-BE49-F238E27FC236}">
                <a16:creationId xmlns:a16="http://schemas.microsoft.com/office/drawing/2014/main" id="{88AD446C-B652-A321-5CB7-A8AA90793489}"/>
              </a:ext>
            </a:extLst>
          </p:cNvPr>
          <p:cNvPicPr>
            <a:picLocks noChangeAspect="1"/>
          </p:cNvPicPr>
          <p:nvPr/>
        </p:nvPicPr>
        <p:blipFill>
          <a:blip r:embed="rId2"/>
          <a:srcRect/>
          <a:stretch/>
        </p:blipFill>
        <p:spPr>
          <a:xfrm>
            <a:off x="2166344" y="857250"/>
            <a:ext cx="7384877" cy="6000750"/>
          </a:xfrm>
          <a:prstGeom prst="rect">
            <a:avLst/>
          </a:prstGeom>
        </p:spPr>
      </p:pic>
      <p:sp>
        <p:nvSpPr>
          <p:cNvPr id="8" name="TextBox 7">
            <a:extLst>
              <a:ext uri="{FF2B5EF4-FFF2-40B4-BE49-F238E27FC236}">
                <a16:creationId xmlns:a16="http://schemas.microsoft.com/office/drawing/2014/main" id="{0C3C4F9A-50DD-7156-E972-7BF9AEF29C25}"/>
              </a:ext>
            </a:extLst>
          </p:cNvPr>
          <p:cNvSpPr txBox="1"/>
          <p:nvPr/>
        </p:nvSpPr>
        <p:spPr>
          <a:xfrm>
            <a:off x="6243390" y="6488668"/>
            <a:ext cx="3307832" cy="369332"/>
          </a:xfrm>
          <a:prstGeom prst="rect">
            <a:avLst/>
          </a:prstGeom>
          <a:noFill/>
        </p:spPr>
        <p:txBody>
          <a:bodyPr wrap="square">
            <a:spAutoFit/>
          </a:bodyPr>
          <a:lstStyle/>
          <a:p>
            <a:r>
              <a:rPr lang="en-GB" sz="1800" i="1" dirty="0"/>
              <a:t>Source</a:t>
            </a:r>
            <a:r>
              <a:rPr lang="en-GB" sz="1800" dirty="0"/>
              <a:t>: </a:t>
            </a:r>
            <a:r>
              <a:rPr lang="en-GB" sz="1800" dirty="0">
                <a:hlinkClick r:id="rId3"/>
              </a:rPr>
              <a:t>Dunlop &amp; Ghani (2024) </a:t>
            </a:r>
            <a:endParaRPr lang="en-GB" dirty="0"/>
          </a:p>
        </p:txBody>
      </p:sp>
    </p:spTree>
    <p:extLst>
      <p:ext uri="{BB962C8B-B14F-4D97-AF65-F5344CB8AC3E}">
        <p14:creationId xmlns:p14="http://schemas.microsoft.com/office/powerpoint/2010/main" val="2511018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D4A8EAA-C65B-8377-FF48-66893B8927FB}"/>
            </a:ext>
          </a:extLst>
        </p:cNvPr>
        <p:cNvGrpSpPr/>
        <p:nvPr/>
      </p:nvGrpSpPr>
      <p:grpSpPr>
        <a:xfrm>
          <a:off x="0" y="0"/>
          <a:ext cx="0" cy="0"/>
          <a:chOff x="0" y="0"/>
          <a:chExt cx="0" cy="0"/>
        </a:xfrm>
      </p:grpSpPr>
      <p:sp>
        <p:nvSpPr>
          <p:cNvPr id="20" name="Arrow: Right 19">
            <a:extLst>
              <a:ext uri="{FF2B5EF4-FFF2-40B4-BE49-F238E27FC236}">
                <a16:creationId xmlns:a16="http://schemas.microsoft.com/office/drawing/2014/main" id="{4A3B3153-C5E3-B376-5C78-B7281AE3AADD}"/>
              </a:ext>
            </a:extLst>
          </p:cNvPr>
          <p:cNvSpPr/>
          <p:nvPr/>
        </p:nvSpPr>
        <p:spPr>
          <a:xfrm>
            <a:off x="0" y="874207"/>
            <a:ext cx="12192000" cy="3326004"/>
          </a:xfrm>
          <a:prstGeom prst="rightArrow">
            <a:avLst>
              <a:gd name="adj1" fmla="val 56042"/>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DA043B1-FD9F-E79C-FC81-ABD7A72C1C0D}"/>
              </a:ext>
            </a:extLst>
          </p:cNvPr>
          <p:cNvSpPr>
            <a:spLocks noGrp="1"/>
          </p:cNvSpPr>
          <p:nvPr>
            <p:ph type="title"/>
          </p:nvPr>
        </p:nvSpPr>
        <p:spPr>
          <a:xfrm>
            <a:off x="838200" y="80349"/>
            <a:ext cx="10515600" cy="1325563"/>
          </a:xfrm>
        </p:spPr>
        <p:txBody>
          <a:bodyPr/>
          <a:lstStyle/>
          <a:p>
            <a:r>
              <a:rPr lang="en-GB" cap="small" dirty="0"/>
              <a:t>High-Level View of the </a:t>
            </a:r>
            <a:r>
              <a:rPr lang="en-GB" cap="small" dirty="0" err="1"/>
              <a:t>GenAI</a:t>
            </a:r>
            <a:r>
              <a:rPr lang="en-GB" cap="small" dirty="0"/>
              <a:t> Value Chain</a:t>
            </a:r>
          </a:p>
        </p:txBody>
      </p:sp>
      <p:sp>
        <p:nvSpPr>
          <p:cNvPr id="4" name="Slide Number Placeholder 3">
            <a:extLst>
              <a:ext uri="{FF2B5EF4-FFF2-40B4-BE49-F238E27FC236}">
                <a16:creationId xmlns:a16="http://schemas.microsoft.com/office/drawing/2014/main" id="{AE45093B-274E-BFE8-C26E-38BE21086E22}"/>
              </a:ext>
            </a:extLst>
          </p:cNvPr>
          <p:cNvSpPr>
            <a:spLocks noGrp="1"/>
          </p:cNvSpPr>
          <p:nvPr>
            <p:ph type="sldNum" sz="quarter" idx="12"/>
          </p:nvPr>
        </p:nvSpPr>
        <p:spPr/>
        <p:txBody>
          <a:bodyPr/>
          <a:lstStyle/>
          <a:p>
            <a:fld id="{8ABD5A5B-811B-418E-9483-61F67F998C2D}" type="slidenum">
              <a:rPr lang="en-GB" smtClean="0"/>
              <a:t>20</a:t>
            </a:fld>
            <a:endParaRPr lang="en-GB"/>
          </a:p>
        </p:txBody>
      </p:sp>
      <p:sp>
        <p:nvSpPr>
          <p:cNvPr id="21" name="TextBox 20">
            <a:extLst>
              <a:ext uri="{FF2B5EF4-FFF2-40B4-BE49-F238E27FC236}">
                <a16:creationId xmlns:a16="http://schemas.microsoft.com/office/drawing/2014/main" id="{7C4B56AC-6768-1D02-9361-35B57E86F5CF}"/>
              </a:ext>
            </a:extLst>
          </p:cNvPr>
          <p:cNvSpPr txBox="1"/>
          <p:nvPr/>
        </p:nvSpPr>
        <p:spPr>
          <a:xfrm>
            <a:off x="655488" y="6222750"/>
            <a:ext cx="6267270" cy="369332"/>
          </a:xfrm>
          <a:prstGeom prst="rect">
            <a:avLst/>
          </a:prstGeom>
          <a:noFill/>
        </p:spPr>
        <p:txBody>
          <a:bodyPr wrap="square">
            <a:spAutoFit/>
          </a:bodyPr>
          <a:lstStyle/>
          <a:p>
            <a:r>
              <a:rPr lang="en-GB" sz="1800" i="1" dirty="0"/>
              <a:t>Source</a:t>
            </a:r>
            <a:r>
              <a:rPr lang="en-GB" sz="1800" dirty="0"/>
              <a:t>: </a:t>
            </a:r>
            <a:r>
              <a:rPr lang="en-GB" sz="1800" dirty="0">
                <a:hlinkClick r:id="rId2"/>
              </a:rPr>
              <a:t>The Institute of International Finance (2024: 8) </a:t>
            </a:r>
            <a:endParaRPr lang="en-GB" dirty="0"/>
          </a:p>
        </p:txBody>
      </p:sp>
      <p:sp>
        <p:nvSpPr>
          <p:cNvPr id="22" name="Rectangle 21">
            <a:extLst>
              <a:ext uri="{FF2B5EF4-FFF2-40B4-BE49-F238E27FC236}">
                <a16:creationId xmlns:a16="http://schemas.microsoft.com/office/drawing/2014/main" id="{07058188-97AC-DEC4-362A-D097F4A60E5D}"/>
              </a:ext>
            </a:extLst>
          </p:cNvPr>
          <p:cNvSpPr/>
          <p:nvPr/>
        </p:nvSpPr>
        <p:spPr>
          <a:xfrm>
            <a:off x="888999" y="1851530"/>
            <a:ext cx="2288512" cy="1323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Develops</a:t>
            </a:r>
          </a:p>
          <a:p>
            <a:pPr algn="ctr"/>
            <a:r>
              <a:rPr lang="en-GB" dirty="0"/>
              <a:t>Foundation model</a:t>
            </a:r>
          </a:p>
        </p:txBody>
      </p:sp>
      <p:sp>
        <p:nvSpPr>
          <p:cNvPr id="23" name="Rectangle 22">
            <a:extLst>
              <a:ext uri="{FF2B5EF4-FFF2-40B4-BE49-F238E27FC236}">
                <a16:creationId xmlns:a16="http://schemas.microsoft.com/office/drawing/2014/main" id="{19DB1981-1280-CA8D-293E-AEDC279C030A}"/>
              </a:ext>
            </a:extLst>
          </p:cNvPr>
          <p:cNvSpPr/>
          <p:nvPr/>
        </p:nvSpPr>
        <p:spPr>
          <a:xfrm>
            <a:off x="3562350" y="1851529"/>
            <a:ext cx="2288512" cy="1323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t>Customise Foundation model to suit a given use case</a:t>
            </a:r>
          </a:p>
        </p:txBody>
      </p:sp>
      <p:sp>
        <p:nvSpPr>
          <p:cNvPr id="24" name="Rectangle 23">
            <a:extLst>
              <a:ext uri="{FF2B5EF4-FFF2-40B4-BE49-F238E27FC236}">
                <a16:creationId xmlns:a16="http://schemas.microsoft.com/office/drawing/2014/main" id="{1182A114-311B-FE6D-B5C8-90E6B2AE566B}"/>
              </a:ext>
            </a:extLst>
          </p:cNvPr>
          <p:cNvSpPr/>
          <p:nvPr/>
        </p:nvSpPr>
        <p:spPr>
          <a:xfrm>
            <a:off x="6235702" y="1851532"/>
            <a:ext cx="2288512" cy="1323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Further fine-tuning of the model</a:t>
            </a:r>
          </a:p>
        </p:txBody>
      </p:sp>
      <p:sp>
        <p:nvSpPr>
          <p:cNvPr id="25" name="Rectangle 24">
            <a:extLst>
              <a:ext uri="{FF2B5EF4-FFF2-40B4-BE49-F238E27FC236}">
                <a16:creationId xmlns:a16="http://schemas.microsoft.com/office/drawing/2014/main" id="{7B54690B-6B35-D54E-06D3-F0647CB52BCF}"/>
              </a:ext>
            </a:extLst>
          </p:cNvPr>
          <p:cNvSpPr/>
          <p:nvPr/>
        </p:nvSpPr>
        <p:spPr>
          <a:xfrm>
            <a:off x="8909053" y="1851529"/>
            <a:ext cx="2288512" cy="1323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Use of AI tool</a:t>
            </a:r>
          </a:p>
        </p:txBody>
      </p:sp>
      <p:pic>
        <p:nvPicPr>
          <p:cNvPr id="26" name="Graphic 25" descr="Production with solid fill">
            <a:extLst>
              <a:ext uri="{FF2B5EF4-FFF2-40B4-BE49-F238E27FC236}">
                <a16:creationId xmlns:a16="http://schemas.microsoft.com/office/drawing/2014/main" id="{C728D8DA-5CFD-825B-323D-348B85CE42A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576055" y="3644219"/>
            <a:ext cx="914400" cy="914400"/>
          </a:xfrm>
          <a:prstGeom prst="rect">
            <a:avLst/>
          </a:prstGeom>
        </p:spPr>
      </p:pic>
      <p:pic>
        <p:nvPicPr>
          <p:cNvPr id="27" name="Graphic 26" descr="Cut with solid fill">
            <a:extLst>
              <a:ext uri="{FF2B5EF4-FFF2-40B4-BE49-F238E27FC236}">
                <a16:creationId xmlns:a16="http://schemas.microsoft.com/office/drawing/2014/main" id="{B1A32EAD-A269-F866-CFCE-2DBA9D496C3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249406" y="3644219"/>
            <a:ext cx="914400" cy="914400"/>
          </a:xfrm>
          <a:prstGeom prst="rect">
            <a:avLst/>
          </a:prstGeom>
        </p:spPr>
      </p:pic>
      <p:pic>
        <p:nvPicPr>
          <p:cNvPr id="28" name="Graphic 27" descr="Tools with solid fill">
            <a:extLst>
              <a:ext uri="{FF2B5EF4-FFF2-40B4-BE49-F238E27FC236}">
                <a16:creationId xmlns:a16="http://schemas.microsoft.com/office/drawing/2014/main" id="{C53E7143-DD8B-64FA-CF22-1E8C03BE844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922758" y="3644219"/>
            <a:ext cx="914400" cy="914400"/>
          </a:xfrm>
          <a:prstGeom prst="rect">
            <a:avLst/>
          </a:prstGeom>
        </p:spPr>
      </p:pic>
      <p:pic>
        <p:nvPicPr>
          <p:cNvPr id="29" name="Graphic 28" descr="Puppet with solid fill">
            <a:extLst>
              <a:ext uri="{FF2B5EF4-FFF2-40B4-BE49-F238E27FC236}">
                <a16:creationId xmlns:a16="http://schemas.microsoft.com/office/drawing/2014/main" id="{B9DAF915-5A17-C2CC-E193-02530673D9F1}"/>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596110" y="3650241"/>
            <a:ext cx="914400" cy="914400"/>
          </a:xfrm>
          <a:prstGeom prst="rect">
            <a:avLst/>
          </a:prstGeom>
        </p:spPr>
      </p:pic>
      <p:sp>
        <p:nvSpPr>
          <p:cNvPr id="30" name="Rectangle 29">
            <a:extLst>
              <a:ext uri="{FF2B5EF4-FFF2-40B4-BE49-F238E27FC236}">
                <a16:creationId xmlns:a16="http://schemas.microsoft.com/office/drawing/2014/main" id="{AF95EC98-8B46-2A6F-7EDA-536D87E474DE}"/>
              </a:ext>
            </a:extLst>
          </p:cNvPr>
          <p:cNvSpPr/>
          <p:nvPr/>
        </p:nvSpPr>
        <p:spPr>
          <a:xfrm>
            <a:off x="1140455" y="4705481"/>
            <a:ext cx="1785600" cy="1364245"/>
          </a:xfrm>
          <a:prstGeom prst="rect">
            <a:avLst/>
          </a:prstGeom>
          <a:ln w="19050"/>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GB" b="1" dirty="0"/>
              <a:t>Hyperscale</a:t>
            </a:r>
            <a:r>
              <a:rPr lang="en-GB" dirty="0"/>
              <a:t> technology firm</a:t>
            </a:r>
          </a:p>
        </p:txBody>
      </p:sp>
      <p:sp>
        <p:nvSpPr>
          <p:cNvPr id="31" name="Rectangle 30">
            <a:extLst>
              <a:ext uri="{FF2B5EF4-FFF2-40B4-BE49-F238E27FC236}">
                <a16:creationId xmlns:a16="http://schemas.microsoft.com/office/drawing/2014/main" id="{C3486D7F-F168-FAFF-00F5-8A9CCE1E3142}"/>
              </a:ext>
            </a:extLst>
          </p:cNvPr>
          <p:cNvSpPr/>
          <p:nvPr/>
        </p:nvSpPr>
        <p:spPr>
          <a:xfrm>
            <a:off x="3814759" y="4705481"/>
            <a:ext cx="1785600" cy="1358384"/>
          </a:xfrm>
          <a:prstGeom prst="rect">
            <a:avLst/>
          </a:prstGeom>
          <a:ln w="19050">
            <a:solidFill>
              <a:schemeClr val="accent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GB" dirty="0"/>
              <a:t>Tech provider</a:t>
            </a:r>
          </a:p>
          <a:p>
            <a:pPr algn="ctr"/>
            <a:r>
              <a:rPr lang="en-GB" dirty="0"/>
              <a:t>(</a:t>
            </a:r>
            <a:r>
              <a:rPr lang="en-GB" b="1" dirty="0"/>
              <a:t>deployer one</a:t>
            </a:r>
            <a:r>
              <a:rPr lang="en-GB" dirty="0"/>
              <a:t>)</a:t>
            </a:r>
          </a:p>
        </p:txBody>
      </p:sp>
      <p:sp>
        <p:nvSpPr>
          <p:cNvPr id="32" name="Rectangle 31">
            <a:extLst>
              <a:ext uri="{FF2B5EF4-FFF2-40B4-BE49-F238E27FC236}">
                <a16:creationId xmlns:a16="http://schemas.microsoft.com/office/drawing/2014/main" id="{C36072B9-596A-A349-8C6C-76D0A64BAF1E}"/>
              </a:ext>
            </a:extLst>
          </p:cNvPr>
          <p:cNvSpPr/>
          <p:nvPr/>
        </p:nvSpPr>
        <p:spPr>
          <a:xfrm>
            <a:off x="6489064" y="4700288"/>
            <a:ext cx="1785600" cy="1358384"/>
          </a:xfrm>
          <a:prstGeom prst="rect">
            <a:avLst/>
          </a:prstGeom>
          <a:ln w="19050">
            <a:solidFill>
              <a:srgbClr val="FF0000"/>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GB" dirty="0"/>
              <a:t>Corporate User</a:t>
            </a:r>
            <a:endParaRPr lang="en-US" dirty="0"/>
          </a:p>
          <a:p>
            <a:pPr algn="ctr"/>
            <a:r>
              <a:rPr lang="en-GB" dirty="0"/>
              <a:t>(</a:t>
            </a:r>
            <a:r>
              <a:rPr lang="en-GB" b="1" dirty="0"/>
              <a:t>deployer two</a:t>
            </a:r>
            <a:r>
              <a:rPr lang="en-GB" dirty="0"/>
              <a:t>)</a:t>
            </a:r>
          </a:p>
        </p:txBody>
      </p:sp>
      <p:sp>
        <p:nvSpPr>
          <p:cNvPr id="33" name="Rectangle 32">
            <a:extLst>
              <a:ext uri="{FF2B5EF4-FFF2-40B4-BE49-F238E27FC236}">
                <a16:creationId xmlns:a16="http://schemas.microsoft.com/office/drawing/2014/main" id="{93CEF35B-265F-7C38-29E9-88DCB098A6BB}"/>
              </a:ext>
            </a:extLst>
          </p:cNvPr>
          <p:cNvSpPr/>
          <p:nvPr/>
        </p:nvSpPr>
        <p:spPr>
          <a:xfrm>
            <a:off x="9163368" y="4705481"/>
            <a:ext cx="1785600" cy="1364245"/>
          </a:xfrm>
          <a:prstGeom prst="rect">
            <a:avLst/>
          </a:prstGeom>
          <a:ln w="19050">
            <a:solidFill>
              <a:srgbClr val="D8892D"/>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GB" b="1" dirty="0"/>
              <a:t>Employees</a:t>
            </a:r>
            <a:r>
              <a:rPr lang="en-GB" dirty="0"/>
              <a:t> of deployer two</a:t>
            </a:r>
          </a:p>
        </p:txBody>
      </p:sp>
      <p:sp>
        <p:nvSpPr>
          <p:cNvPr id="3" name="TextBox 2">
            <a:extLst>
              <a:ext uri="{FF2B5EF4-FFF2-40B4-BE49-F238E27FC236}">
                <a16:creationId xmlns:a16="http://schemas.microsoft.com/office/drawing/2014/main" id="{DC999E2C-886B-AB3C-1AE8-E495179471ED}"/>
              </a:ext>
            </a:extLst>
          </p:cNvPr>
          <p:cNvSpPr txBox="1"/>
          <p:nvPr/>
        </p:nvSpPr>
        <p:spPr>
          <a:xfrm>
            <a:off x="890954" y="955430"/>
            <a:ext cx="62249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t>As Interwoven with the AI Lifecycle</a:t>
            </a:r>
            <a:endParaRPr lang="en-US" dirty="0"/>
          </a:p>
        </p:txBody>
      </p:sp>
    </p:spTree>
    <p:extLst>
      <p:ext uri="{BB962C8B-B14F-4D97-AF65-F5344CB8AC3E}">
        <p14:creationId xmlns:p14="http://schemas.microsoft.com/office/powerpoint/2010/main" val="2886627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FD830EC-B0A5-5354-857F-724090886A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296EB5-1CFB-C8B2-1252-C55E118DF6FC}"/>
              </a:ext>
            </a:extLst>
          </p:cNvPr>
          <p:cNvSpPr>
            <a:spLocks noGrp="1"/>
          </p:cNvSpPr>
          <p:nvPr>
            <p:ph type="sldNum" sz="quarter" idx="12"/>
          </p:nvPr>
        </p:nvSpPr>
        <p:spPr/>
        <p:txBody>
          <a:bodyPr/>
          <a:lstStyle/>
          <a:p>
            <a:fld id="{8ABD5A5B-811B-418E-9483-61F67F998C2D}" type="slidenum">
              <a:rPr lang="en-GB" smtClean="0"/>
              <a:t>21</a:t>
            </a:fld>
            <a:endParaRPr lang="en-GB"/>
          </a:p>
        </p:txBody>
      </p:sp>
      <p:sp>
        <p:nvSpPr>
          <p:cNvPr id="6" name="Title 5">
            <a:extLst>
              <a:ext uri="{FF2B5EF4-FFF2-40B4-BE49-F238E27FC236}">
                <a16:creationId xmlns:a16="http://schemas.microsoft.com/office/drawing/2014/main" id="{893B8A22-C364-5731-3610-6F5B84CE52E5}"/>
              </a:ext>
            </a:extLst>
          </p:cNvPr>
          <p:cNvSpPr>
            <a:spLocks noGrp="1"/>
          </p:cNvSpPr>
          <p:nvPr>
            <p:ph type="title"/>
          </p:nvPr>
        </p:nvSpPr>
        <p:spPr/>
        <p:txBody>
          <a:bodyPr/>
          <a:lstStyle/>
          <a:p>
            <a:endParaRPr lang="en-GB"/>
          </a:p>
        </p:txBody>
      </p:sp>
      <p:pic>
        <p:nvPicPr>
          <p:cNvPr id="8" name="Picture 7">
            <a:extLst>
              <a:ext uri="{FF2B5EF4-FFF2-40B4-BE49-F238E27FC236}">
                <a16:creationId xmlns:a16="http://schemas.microsoft.com/office/drawing/2014/main" id="{B4DF5FED-DC62-AA1A-F48A-A38311DA9C4A}"/>
              </a:ext>
            </a:extLst>
          </p:cNvPr>
          <p:cNvPicPr>
            <a:picLocks noChangeAspect="1"/>
          </p:cNvPicPr>
          <p:nvPr/>
        </p:nvPicPr>
        <p:blipFill>
          <a:blip r:embed="rId2"/>
          <a:srcRect/>
          <a:stretch/>
        </p:blipFill>
        <p:spPr>
          <a:xfrm>
            <a:off x="0" y="155274"/>
            <a:ext cx="12192000" cy="6229489"/>
          </a:xfrm>
          <a:prstGeom prst="rect">
            <a:avLst/>
          </a:prstGeom>
        </p:spPr>
      </p:pic>
      <p:sp>
        <p:nvSpPr>
          <p:cNvPr id="9" name="TextBox 8">
            <a:extLst>
              <a:ext uri="{FF2B5EF4-FFF2-40B4-BE49-F238E27FC236}">
                <a16:creationId xmlns:a16="http://schemas.microsoft.com/office/drawing/2014/main" id="{4DF41805-FEDA-F4F4-A1F2-95F73026811F}"/>
              </a:ext>
            </a:extLst>
          </p:cNvPr>
          <p:cNvSpPr txBox="1"/>
          <p:nvPr/>
        </p:nvSpPr>
        <p:spPr>
          <a:xfrm>
            <a:off x="1075017" y="6370474"/>
            <a:ext cx="3047532" cy="369332"/>
          </a:xfrm>
          <a:prstGeom prst="rect">
            <a:avLst/>
          </a:prstGeom>
          <a:noFill/>
        </p:spPr>
        <p:txBody>
          <a:bodyPr wrap="square">
            <a:spAutoFit/>
          </a:bodyPr>
          <a:lstStyle/>
          <a:p>
            <a:r>
              <a:rPr lang="en-GB" sz="1800" i="1" dirty="0"/>
              <a:t>Source</a:t>
            </a:r>
            <a:r>
              <a:rPr lang="en-GB" sz="1800" dirty="0"/>
              <a:t>: </a:t>
            </a:r>
            <a:r>
              <a:rPr lang="en-GB" sz="1800" dirty="0">
                <a:hlinkClick r:id="rId3"/>
              </a:rPr>
              <a:t>Nasdaq (2023)</a:t>
            </a:r>
            <a:endParaRPr lang="en-GB" dirty="0"/>
          </a:p>
        </p:txBody>
      </p:sp>
    </p:spTree>
    <p:extLst>
      <p:ext uri="{BB962C8B-B14F-4D97-AF65-F5344CB8AC3E}">
        <p14:creationId xmlns:p14="http://schemas.microsoft.com/office/powerpoint/2010/main" val="1105152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AB5B0AE-73D2-925E-AB0A-FE4D88BEC51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813144-17C7-4D92-A697-3FA2B5B067BC}"/>
              </a:ext>
            </a:extLst>
          </p:cNvPr>
          <p:cNvSpPr>
            <a:spLocks noGrp="1"/>
          </p:cNvSpPr>
          <p:nvPr>
            <p:ph type="sldNum" sz="quarter" idx="12"/>
          </p:nvPr>
        </p:nvSpPr>
        <p:spPr/>
        <p:txBody>
          <a:bodyPr/>
          <a:lstStyle/>
          <a:p>
            <a:fld id="{8ABD5A5B-811B-418E-9483-61F67F998C2D}" type="slidenum">
              <a:rPr lang="en-GB" smtClean="0"/>
              <a:t>22</a:t>
            </a:fld>
            <a:endParaRPr lang="en-GB"/>
          </a:p>
        </p:txBody>
      </p:sp>
      <p:sp>
        <p:nvSpPr>
          <p:cNvPr id="2" name="Title 1">
            <a:extLst>
              <a:ext uri="{FF2B5EF4-FFF2-40B4-BE49-F238E27FC236}">
                <a16:creationId xmlns:a16="http://schemas.microsoft.com/office/drawing/2014/main" id="{4B808960-BE53-1CAE-AD69-CE0BBBBEE030}"/>
              </a:ext>
            </a:extLst>
          </p:cNvPr>
          <p:cNvSpPr>
            <a:spLocks noGrp="1"/>
          </p:cNvSpPr>
          <p:nvPr>
            <p:ph type="title"/>
          </p:nvPr>
        </p:nvSpPr>
        <p:spPr>
          <a:xfrm>
            <a:off x="838200" y="0"/>
            <a:ext cx="10515600" cy="1325563"/>
          </a:xfrm>
        </p:spPr>
        <p:txBody>
          <a:bodyPr/>
          <a:lstStyle/>
          <a:p>
            <a:r>
              <a:rPr lang="en-GB" cap="small" dirty="0"/>
              <a:t>Generative AI Value Chain</a:t>
            </a:r>
          </a:p>
        </p:txBody>
      </p:sp>
      <p:sp>
        <p:nvSpPr>
          <p:cNvPr id="9" name="TextBox 8">
            <a:extLst>
              <a:ext uri="{FF2B5EF4-FFF2-40B4-BE49-F238E27FC236}">
                <a16:creationId xmlns:a16="http://schemas.microsoft.com/office/drawing/2014/main" id="{9927EBBD-36B3-F77D-B246-4FD75F42CB21}"/>
              </a:ext>
            </a:extLst>
          </p:cNvPr>
          <p:cNvSpPr txBox="1"/>
          <p:nvPr/>
        </p:nvSpPr>
        <p:spPr>
          <a:xfrm>
            <a:off x="1062317" y="817340"/>
            <a:ext cx="3047532" cy="369332"/>
          </a:xfrm>
          <a:prstGeom prst="rect">
            <a:avLst/>
          </a:prstGeom>
          <a:noFill/>
        </p:spPr>
        <p:txBody>
          <a:bodyPr wrap="square">
            <a:spAutoFit/>
          </a:bodyPr>
          <a:lstStyle/>
          <a:p>
            <a:r>
              <a:rPr lang="en-GB" sz="1800" i="1" dirty="0"/>
              <a:t>Source</a:t>
            </a:r>
            <a:r>
              <a:rPr lang="en-GB" sz="1800" dirty="0"/>
              <a:t>: </a:t>
            </a:r>
            <a:r>
              <a:rPr lang="en-GB" sz="1800" dirty="0">
                <a:hlinkClick r:id="rId2"/>
              </a:rPr>
              <a:t>McKinsey (2023: 3)</a:t>
            </a:r>
            <a:endParaRPr lang="en-GB" dirty="0"/>
          </a:p>
        </p:txBody>
      </p:sp>
      <p:pic>
        <p:nvPicPr>
          <p:cNvPr id="5" name="Picture 4" descr="A screenshot of a diagram&#10;&#10;AI-generated content may be incorrect.">
            <a:extLst>
              <a:ext uri="{FF2B5EF4-FFF2-40B4-BE49-F238E27FC236}">
                <a16:creationId xmlns:a16="http://schemas.microsoft.com/office/drawing/2014/main" id="{AAB5B6C7-8365-23B9-648B-C018C574D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0363" y="1285097"/>
            <a:ext cx="6611273" cy="5572903"/>
          </a:xfrm>
          <a:prstGeom prst="rect">
            <a:avLst/>
          </a:prstGeom>
        </p:spPr>
      </p:pic>
    </p:spTree>
    <p:extLst>
      <p:ext uri="{BB962C8B-B14F-4D97-AF65-F5344CB8AC3E}">
        <p14:creationId xmlns:p14="http://schemas.microsoft.com/office/powerpoint/2010/main" val="2208054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6E3B3AD-77ED-052F-9F80-58DD6759C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664C5-2403-2BD0-5194-0C92AFC40EF7}"/>
              </a:ext>
            </a:extLst>
          </p:cNvPr>
          <p:cNvSpPr>
            <a:spLocks noGrp="1"/>
          </p:cNvSpPr>
          <p:nvPr>
            <p:ph type="title"/>
          </p:nvPr>
        </p:nvSpPr>
        <p:spPr>
          <a:xfrm>
            <a:off x="838200" y="0"/>
            <a:ext cx="10515600" cy="1325563"/>
          </a:xfrm>
        </p:spPr>
        <p:txBody>
          <a:bodyPr/>
          <a:lstStyle/>
          <a:p>
            <a:r>
              <a:rPr lang="en-GB" cap="small" dirty="0" err="1"/>
              <a:t>DeepSeek</a:t>
            </a:r>
            <a:r>
              <a:rPr lang="en-GB" cap="small" dirty="0"/>
              <a:t> vs. ChatGPT </a:t>
            </a:r>
          </a:p>
        </p:txBody>
      </p:sp>
      <p:sp>
        <p:nvSpPr>
          <p:cNvPr id="4" name="Slide Number Placeholder 3">
            <a:extLst>
              <a:ext uri="{FF2B5EF4-FFF2-40B4-BE49-F238E27FC236}">
                <a16:creationId xmlns:a16="http://schemas.microsoft.com/office/drawing/2014/main" id="{7F335F7A-0882-F2B3-F1E9-07F3F5BE10EE}"/>
              </a:ext>
            </a:extLst>
          </p:cNvPr>
          <p:cNvSpPr>
            <a:spLocks noGrp="1"/>
          </p:cNvSpPr>
          <p:nvPr>
            <p:ph type="sldNum" sz="quarter" idx="12"/>
          </p:nvPr>
        </p:nvSpPr>
        <p:spPr/>
        <p:txBody>
          <a:bodyPr/>
          <a:lstStyle/>
          <a:p>
            <a:fld id="{8ABD5A5B-811B-418E-9483-61F67F998C2D}" type="slidenum">
              <a:rPr lang="en-GB" smtClean="0"/>
              <a:t>23</a:t>
            </a:fld>
            <a:endParaRPr lang="en-GB"/>
          </a:p>
        </p:txBody>
      </p:sp>
      <p:sp>
        <p:nvSpPr>
          <p:cNvPr id="11" name="TextBox 10">
            <a:extLst>
              <a:ext uri="{FF2B5EF4-FFF2-40B4-BE49-F238E27FC236}">
                <a16:creationId xmlns:a16="http://schemas.microsoft.com/office/drawing/2014/main" id="{A8F829B7-E128-B1CB-E204-009ADEF87990}"/>
              </a:ext>
            </a:extLst>
          </p:cNvPr>
          <p:cNvSpPr txBox="1"/>
          <p:nvPr/>
        </p:nvSpPr>
        <p:spPr>
          <a:xfrm>
            <a:off x="935611" y="856774"/>
            <a:ext cx="6094428" cy="369332"/>
          </a:xfrm>
          <a:prstGeom prst="rect">
            <a:avLst/>
          </a:prstGeom>
          <a:noFill/>
        </p:spPr>
        <p:txBody>
          <a:bodyPr wrap="square">
            <a:spAutoFit/>
          </a:bodyPr>
          <a:lstStyle/>
          <a:p>
            <a:r>
              <a:rPr lang="en-GB" i="1" dirty="0"/>
              <a:t>Under an AI value chain perspective</a:t>
            </a:r>
            <a:endParaRPr lang="en-GB" dirty="0"/>
          </a:p>
        </p:txBody>
      </p:sp>
      <p:sp>
        <p:nvSpPr>
          <p:cNvPr id="7" name="TextBox 6">
            <a:extLst>
              <a:ext uri="{FF2B5EF4-FFF2-40B4-BE49-F238E27FC236}">
                <a16:creationId xmlns:a16="http://schemas.microsoft.com/office/drawing/2014/main" id="{3D5649B9-166C-E83A-B9BD-1079563F94B3}"/>
              </a:ext>
            </a:extLst>
          </p:cNvPr>
          <p:cNvSpPr txBox="1"/>
          <p:nvPr/>
        </p:nvSpPr>
        <p:spPr>
          <a:xfrm>
            <a:off x="8306268" y="1074648"/>
            <a:ext cx="2456398" cy="369332"/>
          </a:xfrm>
          <a:prstGeom prst="rect">
            <a:avLst/>
          </a:prstGeom>
          <a:noFill/>
        </p:spPr>
        <p:txBody>
          <a:bodyPr wrap="square">
            <a:spAutoFit/>
          </a:bodyPr>
          <a:lstStyle/>
          <a:p>
            <a:r>
              <a:rPr lang="en-GB" sz="1800" i="1" dirty="0"/>
              <a:t>Source</a:t>
            </a:r>
            <a:r>
              <a:rPr lang="en-GB" sz="1800" dirty="0"/>
              <a:t>: </a:t>
            </a:r>
            <a:r>
              <a:rPr lang="en-GB" sz="1800" dirty="0">
                <a:hlinkClick r:id="rId2"/>
              </a:rPr>
              <a:t>Wegner (2025)</a:t>
            </a:r>
            <a:endParaRPr lang="en-GB" dirty="0"/>
          </a:p>
        </p:txBody>
      </p:sp>
      <p:pic>
        <p:nvPicPr>
          <p:cNvPr id="9" name="Picture 8" descr="A diagram of a company&#10;&#10;AI-generated content may be incorrect.">
            <a:extLst>
              <a:ext uri="{FF2B5EF4-FFF2-40B4-BE49-F238E27FC236}">
                <a16:creationId xmlns:a16="http://schemas.microsoft.com/office/drawing/2014/main" id="{6A010DD3-1063-1C1D-9295-B6D0B43F2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9333" y="1451588"/>
            <a:ext cx="9333333" cy="4904762"/>
          </a:xfrm>
          <a:prstGeom prst="rect">
            <a:avLst/>
          </a:prstGeom>
        </p:spPr>
      </p:pic>
    </p:spTree>
    <p:extLst>
      <p:ext uri="{BB962C8B-B14F-4D97-AF65-F5344CB8AC3E}">
        <p14:creationId xmlns:p14="http://schemas.microsoft.com/office/powerpoint/2010/main" val="2159484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F6E0D3B-8134-27D3-61CB-96F23B221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F08D6-78A9-2E2E-CEAB-6D1F5DDF282F}"/>
              </a:ext>
            </a:extLst>
          </p:cNvPr>
          <p:cNvSpPr>
            <a:spLocks noGrp="1"/>
          </p:cNvSpPr>
          <p:nvPr>
            <p:ph type="title"/>
          </p:nvPr>
        </p:nvSpPr>
        <p:spPr>
          <a:xfrm>
            <a:off x="838200" y="0"/>
            <a:ext cx="10515600" cy="1325563"/>
          </a:xfrm>
        </p:spPr>
        <p:txBody>
          <a:bodyPr/>
          <a:lstStyle/>
          <a:p>
            <a:r>
              <a:rPr lang="en-GB" cap="small" dirty="0" err="1"/>
              <a:t>DeepSeek</a:t>
            </a:r>
            <a:r>
              <a:rPr lang="en-GB" cap="small" dirty="0"/>
              <a:t> vs. ChatGPT </a:t>
            </a:r>
          </a:p>
        </p:txBody>
      </p:sp>
      <p:sp>
        <p:nvSpPr>
          <p:cNvPr id="4" name="Slide Number Placeholder 3">
            <a:extLst>
              <a:ext uri="{FF2B5EF4-FFF2-40B4-BE49-F238E27FC236}">
                <a16:creationId xmlns:a16="http://schemas.microsoft.com/office/drawing/2014/main" id="{56D8510A-9C47-1EAA-E2BC-3013015A56A3}"/>
              </a:ext>
            </a:extLst>
          </p:cNvPr>
          <p:cNvSpPr>
            <a:spLocks noGrp="1"/>
          </p:cNvSpPr>
          <p:nvPr>
            <p:ph type="sldNum" sz="quarter" idx="12"/>
          </p:nvPr>
        </p:nvSpPr>
        <p:spPr/>
        <p:txBody>
          <a:bodyPr/>
          <a:lstStyle/>
          <a:p>
            <a:fld id="{8ABD5A5B-811B-418E-9483-61F67F998C2D}" type="slidenum">
              <a:rPr lang="en-GB" smtClean="0"/>
              <a:t>24</a:t>
            </a:fld>
            <a:endParaRPr lang="en-GB"/>
          </a:p>
        </p:txBody>
      </p:sp>
      <p:sp>
        <p:nvSpPr>
          <p:cNvPr id="11" name="TextBox 10">
            <a:extLst>
              <a:ext uri="{FF2B5EF4-FFF2-40B4-BE49-F238E27FC236}">
                <a16:creationId xmlns:a16="http://schemas.microsoft.com/office/drawing/2014/main" id="{3C83C8E8-DFBF-DF01-33EA-E66C866C31B8}"/>
              </a:ext>
            </a:extLst>
          </p:cNvPr>
          <p:cNvSpPr txBox="1"/>
          <p:nvPr/>
        </p:nvSpPr>
        <p:spPr>
          <a:xfrm>
            <a:off x="935611" y="856774"/>
            <a:ext cx="6094428" cy="369332"/>
          </a:xfrm>
          <a:prstGeom prst="rect">
            <a:avLst/>
          </a:prstGeom>
          <a:noFill/>
        </p:spPr>
        <p:txBody>
          <a:bodyPr wrap="square">
            <a:spAutoFit/>
          </a:bodyPr>
          <a:lstStyle/>
          <a:p>
            <a:r>
              <a:rPr lang="en-GB" i="1" dirty="0"/>
              <a:t>Under an AI value chain perspective</a:t>
            </a:r>
            <a:endParaRPr lang="en-GB" dirty="0"/>
          </a:p>
        </p:txBody>
      </p:sp>
      <p:sp>
        <p:nvSpPr>
          <p:cNvPr id="7" name="TextBox 6">
            <a:extLst>
              <a:ext uri="{FF2B5EF4-FFF2-40B4-BE49-F238E27FC236}">
                <a16:creationId xmlns:a16="http://schemas.microsoft.com/office/drawing/2014/main" id="{7F4076D4-E15D-F1A4-8110-C9F3627CF892}"/>
              </a:ext>
            </a:extLst>
          </p:cNvPr>
          <p:cNvSpPr txBox="1"/>
          <p:nvPr/>
        </p:nvSpPr>
        <p:spPr>
          <a:xfrm>
            <a:off x="8306268" y="1074648"/>
            <a:ext cx="2456398" cy="369332"/>
          </a:xfrm>
          <a:prstGeom prst="rect">
            <a:avLst/>
          </a:prstGeom>
          <a:noFill/>
        </p:spPr>
        <p:txBody>
          <a:bodyPr wrap="square">
            <a:spAutoFit/>
          </a:bodyPr>
          <a:lstStyle/>
          <a:p>
            <a:r>
              <a:rPr lang="en-GB" sz="1800" i="1" dirty="0"/>
              <a:t>Source</a:t>
            </a:r>
            <a:r>
              <a:rPr lang="en-GB" sz="1800" dirty="0"/>
              <a:t>: </a:t>
            </a:r>
            <a:r>
              <a:rPr lang="en-GB" sz="1800" dirty="0">
                <a:hlinkClick r:id="rId2"/>
              </a:rPr>
              <a:t>Wegner (2025)</a:t>
            </a:r>
            <a:endParaRPr lang="en-GB" dirty="0"/>
          </a:p>
        </p:txBody>
      </p:sp>
      <p:pic>
        <p:nvPicPr>
          <p:cNvPr id="9" name="Picture 8">
            <a:extLst>
              <a:ext uri="{FF2B5EF4-FFF2-40B4-BE49-F238E27FC236}">
                <a16:creationId xmlns:a16="http://schemas.microsoft.com/office/drawing/2014/main" id="{43294C85-895A-3B91-FC96-AD18F7485E2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29333" y="1453969"/>
            <a:ext cx="9333333" cy="4899999"/>
          </a:xfrm>
          <a:prstGeom prst="rect">
            <a:avLst/>
          </a:prstGeom>
        </p:spPr>
      </p:pic>
    </p:spTree>
    <p:extLst>
      <p:ext uri="{BB962C8B-B14F-4D97-AF65-F5344CB8AC3E}">
        <p14:creationId xmlns:p14="http://schemas.microsoft.com/office/powerpoint/2010/main" val="943785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F5447E1-505B-551B-5AC2-18AB42368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182C2-F8C7-C314-306C-135168E83F10}"/>
              </a:ext>
            </a:extLst>
          </p:cNvPr>
          <p:cNvSpPr>
            <a:spLocks noGrp="1"/>
          </p:cNvSpPr>
          <p:nvPr>
            <p:ph type="title"/>
          </p:nvPr>
        </p:nvSpPr>
        <p:spPr>
          <a:xfrm>
            <a:off x="3810000" y="2766218"/>
            <a:ext cx="4572000" cy="1325563"/>
          </a:xfrm>
        </p:spPr>
        <p:txBody>
          <a:bodyPr/>
          <a:lstStyle/>
          <a:p>
            <a:pPr algn="ctr"/>
            <a:r>
              <a:rPr lang="en-GB" i="1" dirty="0"/>
              <a:t>Questions?</a:t>
            </a:r>
          </a:p>
        </p:txBody>
      </p:sp>
      <p:sp>
        <p:nvSpPr>
          <p:cNvPr id="4" name="Slide Number Placeholder 3">
            <a:extLst>
              <a:ext uri="{FF2B5EF4-FFF2-40B4-BE49-F238E27FC236}">
                <a16:creationId xmlns:a16="http://schemas.microsoft.com/office/drawing/2014/main" id="{373DF856-038D-EEEA-EBAB-8F1DD7823284}"/>
              </a:ext>
            </a:extLst>
          </p:cNvPr>
          <p:cNvSpPr>
            <a:spLocks noGrp="1"/>
          </p:cNvSpPr>
          <p:nvPr>
            <p:ph type="sldNum" sz="quarter" idx="12"/>
          </p:nvPr>
        </p:nvSpPr>
        <p:spPr/>
        <p:txBody>
          <a:bodyPr/>
          <a:lstStyle/>
          <a:p>
            <a:fld id="{8ABD5A5B-811B-418E-9483-61F67F998C2D}" type="slidenum">
              <a:rPr lang="en-GB" smtClean="0"/>
              <a:t>25</a:t>
            </a:fld>
            <a:endParaRPr lang="en-GB"/>
          </a:p>
        </p:txBody>
      </p:sp>
      <p:pic>
        <p:nvPicPr>
          <p:cNvPr id="5" name="Picture 4">
            <a:extLst>
              <a:ext uri="{FF2B5EF4-FFF2-40B4-BE49-F238E27FC236}">
                <a16:creationId xmlns:a16="http://schemas.microsoft.com/office/drawing/2014/main" id="{AB449E69-9375-1E1D-C3CA-386BDE9D1E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3705224"/>
            <a:ext cx="4729163" cy="3152775"/>
          </a:xfrm>
          <a:prstGeom prst="rect">
            <a:avLst/>
          </a:prstGeom>
        </p:spPr>
      </p:pic>
    </p:spTree>
    <p:extLst>
      <p:ext uri="{BB962C8B-B14F-4D97-AF65-F5344CB8AC3E}">
        <p14:creationId xmlns:p14="http://schemas.microsoft.com/office/powerpoint/2010/main" val="3611746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D583AB-F7F1-11B7-F9AC-84958CD58527}"/>
            </a:ext>
          </a:extLst>
        </p:cNvPr>
        <p:cNvGrpSpPr/>
        <p:nvPr/>
      </p:nvGrpSpPr>
      <p:grpSpPr>
        <a:xfrm>
          <a:off x="0" y="0"/>
          <a:ext cx="0" cy="0"/>
          <a:chOff x="0" y="0"/>
          <a:chExt cx="0" cy="0"/>
        </a:xfrm>
      </p:grpSpPr>
      <p:sp>
        <p:nvSpPr>
          <p:cNvPr id="229" name="Rectangle 228">
            <a:extLst>
              <a:ext uri="{FF2B5EF4-FFF2-40B4-BE49-F238E27FC236}">
                <a16:creationId xmlns:a16="http://schemas.microsoft.com/office/drawing/2014/main" id="{E26D8A5C-9497-43E4-9880-EF06F59D3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Oval 229">
            <a:extLst>
              <a:ext uri="{FF2B5EF4-FFF2-40B4-BE49-F238E27FC236}">
                <a16:creationId xmlns:a16="http://schemas.microsoft.com/office/drawing/2014/main" id="{A220F7CB-FC77-0FD2-10AB-5F197F69B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Oval 230">
            <a:extLst>
              <a:ext uri="{FF2B5EF4-FFF2-40B4-BE49-F238E27FC236}">
                <a16:creationId xmlns:a16="http://schemas.microsoft.com/office/drawing/2014/main" id="{0481C44C-4F26-81D5-B42A-3C59DA6F6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32" name="Oval 231">
            <a:extLst>
              <a:ext uri="{FF2B5EF4-FFF2-40B4-BE49-F238E27FC236}">
                <a16:creationId xmlns:a16="http://schemas.microsoft.com/office/drawing/2014/main" id="{7B651EE4-0667-5721-BBBC-4C3BEEBDF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44CACA-AE3B-EC7D-1371-85816B01CEA2}"/>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dirty="0">
                <a:solidFill>
                  <a:schemeClr val="bg1"/>
                </a:solidFill>
                <a:latin typeface="+mj-lt"/>
                <a:ea typeface="+mj-ea"/>
                <a:cs typeface="+mj-cs"/>
              </a:rPr>
              <a:t>Part Three</a:t>
            </a:r>
          </a:p>
        </p:txBody>
      </p:sp>
      <p:sp>
        <p:nvSpPr>
          <p:cNvPr id="3" name="Content Placeholder 2">
            <a:extLst>
              <a:ext uri="{FF2B5EF4-FFF2-40B4-BE49-F238E27FC236}">
                <a16:creationId xmlns:a16="http://schemas.microsoft.com/office/drawing/2014/main" id="{D073A37F-6E90-91E6-DBD1-C90713AED0D6}"/>
              </a:ext>
            </a:extLst>
          </p:cNvPr>
          <p:cNvSpPr>
            <a:spLocks noGrp="1"/>
          </p:cNvSpPr>
          <p:nvPr>
            <p:ph idx="1"/>
          </p:nvPr>
        </p:nvSpPr>
        <p:spPr>
          <a:xfrm>
            <a:off x="3927178" y="4409960"/>
            <a:ext cx="4508641" cy="1116414"/>
          </a:xfrm>
        </p:spPr>
        <p:txBody>
          <a:bodyPr vert="horz" lIns="91440" tIns="45720" rIns="91440" bIns="45720" rtlCol="0">
            <a:normAutofit/>
          </a:bodyPr>
          <a:lstStyle/>
          <a:p>
            <a:pPr marL="0" indent="0" algn="ctr">
              <a:buNone/>
            </a:pPr>
            <a:r>
              <a:rPr lang="en-US" sz="2000" kern="1200" dirty="0">
                <a:solidFill>
                  <a:schemeClr val="bg1"/>
                </a:solidFill>
                <a:latin typeface="+mn-lt"/>
                <a:ea typeface="+mn-ea"/>
                <a:cs typeface="+mn-cs"/>
              </a:rPr>
              <a:t>AI Value Chains and AI Regulations</a:t>
            </a:r>
          </a:p>
        </p:txBody>
      </p:sp>
      <p:sp>
        <p:nvSpPr>
          <p:cNvPr id="233" name="Graphic 212">
            <a:extLst>
              <a:ext uri="{FF2B5EF4-FFF2-40B4-BE49-F238E27FC236}">
                <a16:creationId xmlns:a16="http://schemas.microsoft.com/office/drawing/2014/main" id="{BEDD3116-BF67-89A6-2847-9673F78DA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34" name="Graphic 212">
            <a:extLst>
              <a:ext uri="{FF2B5EF4-FFF2-40B4-BE49-F238E27FC236}">
                <a16:creationId xmlns:a16="http://schemas.microsoft.com/office/drawing/2014/main" id="{B3AA943E-2685-AC22-1BDB-09DF7F8384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35" name="Graphic 190">
            <a:extLst>
              <a:ext uri="{FF2B5EF4-FFF2-40B4-BE49-F238E27FC236}">
                <a16:creationId xmlns:a16="http://schemas.microsoft.com/office/drawing/2014/main" id="{AA7B8449-4FEB-6055-E6F8-E62823EA79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2" name="Freeform: Shape 21">
              <a:extLst>
                <a:ext uri="{FF2B5EF4-FFF2-40B4-BE49-F238E27FC236}">
                  <a16:creationId xmlns:a16="http://schemas.microsoft.com/office/drawing/2014/main" id="{CA26759F-7444-DAF5-8609-46B7C7D20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36" name="Freeform: Shape 235">
              <a:extLst>
                <a:ext uri="{FF2B5EF4-FFF2-40B4-BE49-F238E27FC236}">
                  <a16:creationId xmlns:a16="http://schemas.microsoft.com/office/drawing/2014/main" id="{AC9C62D6-4F6B-CD96-13B6-257949DFB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7" name="Oval 236">
            <a:extLst>
              <a:ext uri="{FF2B5EF4-FFF2-40B4-BE49-F238E27FC236}">
                <a16:creationId xmlns:a16="http://schemas.microsoft.com/office/drawing/2014/main" id="{24B9CE31-C2DC-0AA2-FE6C-88BE00190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8" name="Oval 237">
            <a:extLst>
              <a:ext uri="{FF2B5EF4-FFF2-40B4-BE49-F238E27FC236}">
                <a16:creationId xmlns:a16="http://schemas.microsoft.com/office/drawing/2014/main" id="{4C1DCBFE-165D-D760-C84B-317581EC7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39" name="Graphic 4">
            <a:extLst>
              <a:ext uri="{FF2B5EF4-FFF2-40B4-BE49-F238E27FC236}">
                <a16:creationId xmlns:a16="http://schemas.microsoft.com/office/drawing/2014/main" id="{23599257-3D4B-5111-2141-0BFC0ED3B8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40" name="Freeform: Shape 239">
              <a:extLst>
                <a:ext uri="{FF2B5EF4-FFF2-40B4-BE49-F238E27FC236}">
                  <a16:creationId xmlns:a16="http://schemas.microsoft.com/office/drawing/2014/main" id="{A67A8F2A-0DFA-87E3-FF6B-8E303EC86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CA7E46E8-BC61-9318-4B3A-FE239A732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1" name="Freeform: Shape 240">
              <a:extLst>
                <a:ext uri="{FF2B5EF4-FFF2-40B4-BE49-F238E27FC236}">
                  <a16:creationId xmlns:a16="http://schemas.microsoft.com/office/drawing/2014/main" id="{DE337DB2-A47A-06A0-E5FC-7F2BC8FA0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B7FE4CA2-49B6-AF2A-783F-2016F5FE3D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42" name="Freeform: Shape 241">
              <a:extLst>
                <a:ext uri="{FF2B5EF4-FFF2-40B4-BE49-F238E27FC236}">
                  <a16:creationId xmlns:a16="http://schemas.microsoft.com/office/drawing/2014/main" id="{3C54D4CA-BB76-8257-0948-44E925C9E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19B55188-1D3C-6AF5-3790-6BFDD38801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3" name="Freeform: Shape 242">
              <a:extLst>
                <a:ext uri="{FF2B5EF4-FFF2-40B4-BE49-F238E27FC236}">
                  <a16:creationId xmlns:a16="http://schemas.microsoft.com/office/drawing/2014/main" id="{27A2F805-CD4A-7A01-C1D8-E1A33BECB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90B66CE5-F9DF-5200-1DD9-2C741AA3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44" name="Freeform: Shape 243">
              <a:extLst>
                <a:ext uri="{FF2B5EF4-FFF2-40B4-BE49-F238E27FC236}">
                  <a16:creationId xmlns:a16="http://schemas.microsoft.com/office/drawing/2014/main" id="{0E92B507-E7D3-4D27-ABF9-5F7A5E378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6DB10494-A045-D145-1F34-07B4D79C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5EE2DD57-BA31-89D5-45DB-CC342DCFB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1229A8FC-E7E9-739C-6BF1-05DE87C08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20BB1145-0EA7-A567-F64E-488B9A081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8667D1AD-2590-2D9A-64C7-D907EEA02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E2194A43-6CEC-C670-AB23-FDD8D672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4EFE89AC-8B36-6842-1CBB-3BE0DB85F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4467B571-38F9-1BD0-4518-99300925B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CE8DE892-7215-0C8F-E14D-625EDE761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A3875694-41B1-6E66-D10F-A1EC58C96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3DB1C893-31EC-8B15-8755-CD00A7E42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2413FEB3-B8B7-D5A3-8448-47D984D2A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3A98EB9F-A952-BB78-9529-982A803035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5EB6E5AF-3ABF-BD68-7104-446A555AA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B8AABB6-1A90-7FE0-E983-6F61A46F1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CF478EF3-756A-C2D0-43AE-8A1C2FBEB5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D44A48F4-BBFF-A805-E2C1-29DE3EE54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E4F5EBC2-CF74-AC87-2DE2-0F8D639D3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FDF2F4B5-566C-1295-30E5-A39CC356B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9DE5EEB8-41F4-0C0A-1A8B-6BE1E5FA1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8AF8627-009F-456D-8FC2-AB20060E3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BAFF2AE8-145F-C190-22A7-7F3FA6337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1C17ADAE-A9A2-EA88-0C67-068C0FD1D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81FD76A3-D3F2-D6B1-A7FA-B1F5118B9E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3EFF8574-CBEC-920C-33B6-FCCF0B1D8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A9167E7D-B720-EA05-853E-589BE2250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010E0C8D-7751-235E-4E5F-8D1FF9598D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9AB4759F-8193-4F1C-05E6-461AFEB76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E583CF2A-25FE-8A7A-6BA6-3FB63CD17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5A6ED45F-9EA1-1749-5E5A-A05FD8E0E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90E92C5B-70CF-18FE-8F16-1A60604D22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05BDEDE5-008F-AC71-94BD-8810989D7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AA798F0A-3D20-C3B1-C12D-015C49CA6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2885FC8-3CF3-14B9-E670-6F51E098BE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2AD8D017-CDAA-248B-ACA2-583235F98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235C1435-0EA5-A41E-7E75-89F199408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E8DD6078-4275-C5C1-42B3-258069CE36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29530F66-CAD0-E382-BAA1-1FB3EB014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1C4F2F3E-EA03-4EF1-C6D2-125CB374A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28AC58D1-83C6-9BB1-BCB5-3B30B0B8E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BB66AB70-503C-FAB1-69EE-435BA8943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6A970249-C8D4-5A72-5A1A-67287CE04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8963E8D-45CB-0935-9F41-E57B72903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F8DF0A7-06B5-B322-36ED-70C396A4BB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29E3DD0-44AE-8E16-19C1-D6474AD68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BB08B55A-4393-EDFF-11DE-0B09F8B353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50AB011F-D8F5-E14E-AC51-0B1914362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F063D7A-A4C5-FC26-BDA1-8479911274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B9D3312D-4530-C2FF-8ECF-B6D1D2A45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692D3A29-568C-58EF-B81A-F5C7B9EC63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258885E2-F8A4-4F39-000E-20CC4BB45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EC359E7C-D895-F0F0-A228-E33A6362E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AFED11EA-F40A-2807-B4FB-855301F2C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E77A2736-6710-BF8B-BDA7-6EF986A631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586163D4-0F2A-D282-CA4E-D0AB4181A0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876CF9DB-6574-0B44-6794-A0D1F6DD5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8744B34-A33F-64CA-F2FE-6C985CF1B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BC2779F-074D-CF1C-3A51-B37BCC26C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76972CF-048C-F77D-7C26-C01F63CA0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E23A649-20ED-A9B0-ACB1-2E1E4D22C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EE5CFCBF-224F-6189-A20D-C7F6B72743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A1F34E2D-053D-0625-6494-AA87C424C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9171D892-9335-8B42-C516-3EE3BDF22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0678924-5FD5-334C-C611-DFA758214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5787412D-3876-A179-829C-0D2AA94E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F93FA8D8-88A3-BFE1-4E61-8A86E9F02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70CB25BB-B914-129C-79A5-DDD450F8BF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EA119AEE-7919-06A3-1BB2-838BD2AFB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CA6C8EB0-C06D-FBE7-29E6-0595DFA986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CD2FB9D5-D61D-6090-A153-E1C6176A0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68B1B871-1E4E-5174-BA2B-D1F1C8052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82C8AE4-5B67-EE4D-1B56-61B804526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822CA74E-7CC7-09F4-1205-7AF4882546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04B0152F-0C72-6C1E-8C02-12BF7306F0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2AB52DED-AAC6-FD3A-A296-6774C5CE7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02D92CBB-D765-A849-E9DC-4590974E1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7AA12E8F-5F44-CA10-7787-CF53D3C25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ABB9DD10-1CB7-5A2B-E06A-A03ECB069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7400D21F-0EBE-8BAE-6E2D-CE0133E7D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8D96D3CD-0479-E8CC-2E66-9A6B60F45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2441DD1A-3CC3-28F7-B6B4-BAE669E0C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5D6F41C-140E-07B0-B1E6-D4BE6DADA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AB257932-FC5B-5870-F1CB-562892CDE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93805FA4-39C2-D0AF-1503-4ECF5207B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62AB3EA-DF84-2599-811E-A2164AACD7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5F502DE5-1BBC-39AB-DAE9-FD73B38A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6BA1279-4241-6906-9F2E-B0762E4D4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8ABC0DFA-963E-C672-75AE-467EDB0E7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85042511-16E2-EDF9-425A-DBD90B321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D1232FF-68CD-A28A-C525-CF844E867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49E3B959-EE95-B580-695C-08198ADDC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039F33E-311B-419D-6477-005D5A275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152C51D1-6C55-44D5-8930-575A7FAF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E10E9184-E11B-D349-1B34-E3516310D4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422042C-6D00-7727-E67D-0EB70A01A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C68EC9B9-CA35-395E-A4E6-9A48EFD9BA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13122E4-B626-CAB2-82F1-A99B406D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B8EA0BC7-C009-614D-FC6E-3D182410C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8085A2F-DCFE-0CBD-9D23-D73B2ECFC9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0A01112B-BB13-CDC4-BE50-67392D3E7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BB6119-6A02-A3AE-3FE6-A3FAEF41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72B97B4C-DE74-5076-8C1F-B7971AB2C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00996A77-814B-28D1-D9C1-D5349467B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BA2725EF-2933-2016-134E-74FEB70B7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6ECE01B9-4FB3-A382-7E49-8BF4C7332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A55C2968-4216-7266-290B-A08B93658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AE9DDBED-9B24-97D0-754F-F0ABDEA83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F1B5DA8A-0A91-25A9-23C4-BB18096BB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BE3864C9-9772-29E3-A08C-4D74D5C9C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E6511741-112B-79A3-2743-ED2AB19F5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7C9A389-CEB3-057F-66EB-20A28F0E04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C2E62D4-414B-74D3-B9B2-1D4B74645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FD9A0C6E-5C16-B812-74F5-F144AAEB4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FFAE0DBB-23F9-6130-B6C7-02F490D49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2DC4CA24-EF05-702D-6795-F5255DCFF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37DFD1B6-4544-E864-62FD-7D28508F0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C691F40-D9DA-C820-4ED5-0EFE90763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E5D349C8-E964-DC16-E769-F8653BB80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751E2027-5E75-4D64-A243-2A1293293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535584B6-A05D-B62C-6980-DE0558108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C1F72C57-974D-3403-FC3A-4DA33B0E3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4A40E1E0-6976-377D-C608-BB7309DF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845FEC66-5261-F6AE-F12C-67634A469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E12C3188-2CA6-3028-20C3-BA61A7CF1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998B7BCD-0A97-73EA-4393-632A5E8C3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804756C-E7BC-C5F7-33AB-558EA13B0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16973565-47F8-3E19-51E1-B0A055E81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D9FB415D-FECF-AA18-0C03-922F48B7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31861B32-C5ED-B4E2-26AD-17BA18015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CE672508-B51F-1AAD-8D6B-4925CE6F1A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2C348BC8-E825-9BD5-AAAC-A4ADD9C24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6F6B2D0B-B232-10EE-1B5A-7D2DA0AC8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5DB5204E-9779-C59E-D6B6-021AE988C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4D49694-0FAD-4ACD-110C-6AC56C8E9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9D735EA-19A8-9D5E-9B89-53210070F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184CC60A-1F07-C6D6-2012-3EC0DB570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FD909E6A-9F9B-77BC-9283-967EF4B2D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0C68306A-B152-861A-2ABC-70778283D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11B4C75A-D20C-9691-373D-94948FF46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19B32928-C98F-EB93-14AD-062F20045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AC4CF2FE-DFFB-20A0-FB19-5963D5904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067D112E-E5FE-A9C4-8799-D824A75D79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04E939C-9782-D6D0-81FC-7DBC02CCE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86B59103-05AD-1ADB-6DB6-0CD37CEAD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4DEB465B-6614-4010-D674-147627390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C08EA19-69CC-C8F9-BD1E-F36557A96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4E3C4A0A-BC75-8014-3179-2D98A929E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8E518F9F-79EC-A1E8-66E1-F865D029C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35CAC5C9-0BCA-652B-4A03-5D307306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0FD23C2D-1E42-1957-6BD0-2B123118D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47E70441-7DFC-115C-C4EE-9BF5FBC03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95022E83-3725-B1CF-1715-C0827BB42F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EAD52575-ADE6-FC59-5772-056A329C8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0B88D60F-2A25-890D-5CB5-0A3A2CD23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48F631A7-A7A9-BCEB-90DA-65FBB9EBB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3CC1B514-1F8F-AAE9-CF4E-937D0C275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269DE854-7716-9D89-C9AE-BFCCCC1D1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3F5E26D9-E9C3-4FC9-E2A2-E82DE571C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92CFFE42-A4BD-FA4B-F1FB-314FAA2E3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93A5D165-3539-F27F-5BBC-F45ED9C83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4" name="Slide Number Placeholder 3">
            <a:extLst>
              <a:ext uri="{FF2B5EF4-FFF2-40B4-BE49-F238E27FC236}">
                <a16:creationId xmlns:a16="http://schemas.microsoft.com/office/drawing/2014/main" id="{3CAC6E93-315F-2A08-A8C1-583D4F3AA3F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8ABD5A5B-811B-418E-9483-61F67F998C2D}" type="slidenum">
              <a:rPr lang="en-US">
                <a:solidFill>
                  <a:schemeClr val="bg1"/>
                </a:solidFill>
              </a:rPr>
              <a:pPr>
                <a:spcAft>
                  <a:spcPts val="600"/>
                </a:spcAft>
              </a:pPr>
              <a:t>26</a:t>
            </a:fld>
            <a:endParaRPr lang="en-US">
              <a:solidFill>
                <a:schemeClr val="bg1"/>
              </a:solidFill>
            </a:endParaRPr>
          </a:p>
        </p:txBody>
      </p:sp>
    </p:spTree>
    <p:extLst>
      <p:ext uri="{BB962C8B-B14F-4D97-AF65-F5344CB8AC3E}">
        <p14:creationId xmlns:p14="http://schemas.microsoft.com/office/powerpoint/2010/main" val="2358144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07A72CC-8D38-91BF-E238-8AB9B7769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261C9-8F0F-7474-90CB-95F15DA39AC1}"/>
              </a:ext>
            </a:extLst>
          </p:cNvPr>
          <p:cNvSpPr>
            <a:spLocks noGrp="1"/>
          </p:cNvSpPr>
          <p:nvPr>
            <p:ph type="title"/>
          </p:nvPr>
        </p:nvSpPr>
        <p:spPr>
          <a:xfrm>
            <a:off x="838200" y="18255"/>
            <a:ext cx="10515600" cy="1325563"/>
          </a:xfrm>
        </p:spPr>
        <p:txBody>
          <a:bodyPr/>
          <a:lstStyle/>
          <a:p>
            <a:r>
              <a:rPr lang="en-GB" cap="small" dirty="0"/>
              <a:t>Mapping the AI Act into AI Value Chains</a:t>
            </a:r>
          </a:p>
        </p:txBody>
      </p:sp>
      <p:sp>
        <p:nvSpPr>
          <p:cNvPr id="3" name="Content Placeholder 2">
            <a:extLst>
              <a:ext uri="{FF2B5EF4-FFF2-40B4-BE49-F238E27FC236}">
                <a16:creationId xmlns:a16="http://schemas.microsoft.com/office/drawing/2014/main" id="{163B55F7-9F8B-FB0A-A068-4587E38639DC}"/>
              </a:ext>
            </a:extLst>
          </p:cNvPr>
          <p:cNvSpPr>
            <a:spLocks noGrp="1"/>
          </p:cNvSpPr>
          <p:nvPr>
            <p:ph idx="1"/>
          </p:nvPr>
        </p:nvSpPr>
        <p:spPr>
          <a:xfrm>
            <a:off x="679118" y="1193062"/>
            <a:ext cx="10833764" cy="5163288"/>
          </a:xfrm>
        </p:spPr>
        <p:txBody>
          <a:bodyPr>
            <a:normAutofit fontScale="92500" lnSpcReduction="10000"/>
          </a:bodyPr>
          <a:lstStyle/>
          <a:p>
            <a:pPr marL="0" indent="0" algn="just">
              <a:spcAft>
                <a:spcPts val="600"/>
              </a:spcAft>
              <a:buNone/>
            </a:pPr>
            <a:r>
              <a:rPr lang="en-GB" sz="2600" dirty="0"/>
              <a:t>The </a:t>
            </a:r>
            <a:r>
              <a:rPr lang="en-GB" sz="2600" b="1" dirty="0"/>
              <a:t>AI Act </a:t>
            </a:r>
            <a:r>
              <a:rPr lang="en-GB" sz="2600" dirty="0"/>
              <a:t>mentions the term “AI value chain” </a:t>
            </a:r>
            <a:r>
              <a:rPr lang="en-GB" sz="2600" b="1" u="sng" dirty="0"/>
              <a:t>18 times</a:t>
            </a:r>
            <a:r>
              <a:rPr lang="en-GB" sz="2600" dirty="0"/>
              <a:t>:</a:t>
            </a:r>
          </a:p>
          <a:p>
            <a:pPr marL="0" indent="0" algn="just">
              <a:buNone/>
            </a:pPr>
            <a:r>
              <a:rPr lang="en-GB" sz="2400" b="1" dirty="0"/>
              <a:t>(I)  Value Chains &amp; Complexity </a:t>
            </a:r>
            <a:r>
              <a:rPr lang="en-GB" sz="2400" dirty="0"/>
              <a:t>🌐</a:t>
            </a:r>
            <a:endParaRPr lang="en-GB" sz="2400" b="1" dirty="0"/>
          </a:p>
          <a:p>
            <a:pPr marL="174625" indent="0">
              <a:buNone/>
            </a:pPr>
            <a:r>
              <a:rPr lang="en-GB" sz="2000" i="1" dirty="0"/>
              <a:t>Recital (9)</a:t>
            </a:r>
            <a:r>
              <a:rPr lang="en-GB" sz="2000" dirty="0"/>
              <a:t> – </a:t>
            </a:r>
            <a:r>
              <a:rPr lang="en-GB" sz="2000" b="1" dirty="0"/>
              <a:t>Regulatory complexity</a:t>
            </a:r>
            <a:r>
              <a:rPr lang="en-GB" sz="2000" dirty="0"/>
              <a:t> implications for AI value chains governance.</a:t>
            </a:r>
          </a:p>
          <a:p>
            <a:pPr marL="174625" indent="0">
              <a:buNone/>
            </a:pPr>
            <a:r>
              <a:rPr lang="en-GB" sz="2000" i="1" dirty="0"/>
              <a:t>Recital (83)</a:t>
            </a:r>
            <a:r>
              <a:rPr lang="en-GB" sz="2000" dirty="0"/>
              <a:t> – The </a:t>
            </a:r>
            <a:r>
              <a:rPr lang="en-GB" sz="2000" b="1" dirty="0"/>
              <a:t>multi-actor nature of AI value chains </a:t>
            </a:r>
            <a:r>
              <a:rPr lang="en-GB" sz="2000" dirty="0"/>
              <a:t>and the challenges in defining roles.</a:t>
            </a:r>
          </a:p>
          <a:p>
            <a:pPr marL="174625" indent="0">
              <a:spcAft>
                <a:spcPts val="600"/>
              </a:spcAft>
              <a:buNone/>
            </a:pPr>
            <a:r>
              <a:rPr lang="en-GB" sz="2000" i="1" dirty="0"/>
              <a:t>Art. 66(e)(vi) </a:t>
            </a:r>
            <a:r>
              <a:rPr lang="en-GB" sz="2000" dirty="0"/>
              <a:t>– </a:t>
            </a:r>
            <a:r>
              <a:rPr lang="en-GB" sz="2000" b="1" dirty="0"/>
              <a:t>Evolving AI value chain typologies</a:t>
            </a:r>
            <a:r>
              <a:rPr lang="en-GB" sz="2000" dirty="0"/>
              <a:t> and related </a:t>
            </a:r>
            <a:r>
              <a:rPr lang="en-GB" sz="2000" b="1" dirty="0"/>
              <a:t>accountability challenges</a:t>
            </a:r>
            <a:r>
              <a:rPr lang="en-GB" sz="2000" dirty="0"/>
              <a:t>.</a:t>
            </a:r>
          </a:p>
          <a:p>
            <a:pPr marL="0" indent="0" algn="just">
              <a:buNone/>
            </a:pPr>
            <a:r>
              <a:rPr lang="en-GB" sz="2400" b="1" dirty="0"/>
              <a:t>(II) Actors’ Roles Along the AI Value Chain </a:t>
            </a:r>
            <a:r>
              <a:rPr lang="en-GB" sz="2400" dirty="0"/>
              <a:t>👥</a:t>
            </a:r>
            <a:endParaRPr lang="en-GB" sz="2400" b="1" dirty="0"/>
          </a:p>
          <a:p>
            <a:pPr marL="174625" indent="0" algn="just">
              <a:buNone/>
            </a:pPr>
            <a:r>
              <a:rPr lang="en-GB" sz="2000" i="1" dirty="0"/>
              <a:t>Recital (20) </a:t>
            </a:r>
            <a:r>
              <a:rPr lang="en-GB" sz="2000" dirty="0"/>
              <a:t>– </a:t>
            </a:r>
            <a:r>
              <a:rPr lang="en-GB" sz="2000" b="1" dirty="0"/>
              <a:t>AI literacy</a:t>
            </a:r>
            <a:r>
              <a:rPr lang="en-GB" sz="2000" dirty="0"/>
              <a:t> for all actors in the value chain.</a:t>
            </a:r>
          </a:p>
          <a:p>
            <a:pPr marL="174625" indent="0" algn="just">
              <a:buNone/>
            </a:pPr>
            <a:r>
              <a:rPr lang="en-GB" sz="2000" i="1" dirty="0"/>
              <a:t>Recital (85) </a:t>
            </a:r>
            <a:r>
              <a:rPr lang="en-GB" sz="2000" dirty="0"/>
              <a:t>– </a:t>
            </a:r>
            <a:r>
              <a:rPr lang="en-GB" sz="2000" b="1" dirty="0"/>
              <a:t>GPAI providers’ responsibilities</a:t>
            </a:r>
            <a:r>
              <a:rPr lang="en-GB" sz="2000" dirty="0"/>
              <a:t> in </a:t>
            </a:r>
            <a:r>
              <a:rPr lang="en-GB" sz="2000" b="1" dirty="0"/>
              <a:t>high-risk AI </a:t>
            </a:r>
            <a:r>
              <a:rPr lang="en-GB" sz="2000" dirty="0"/>
              <a:t>applications.</a:t>
            </a:r>
          </a:p>
          <a:p>
            <a:pPr marL="174625" indent="0" algn="just">
              <a:buNone/>
            </a:pPr>
            <a:r>
              <a:rPr lang="en-GB" sz="2000" i="1" dirty="0"/>
              <a:t>Recital (88) </a:t>
            </a:r>
            <a:r>
              <a:rPr lang="en-GB" sz="2000" dirty="0"/>
              <a:t>– </a:t>
            </a:r>
            <a:r>
              <a:rPr lang="en-GB" sz="2000" b="1" dirty="0"/>
              <a:t>AI resources providers’</a:t>
            </a:r>
            <a:r>
              <a:rPr lang="en-GB" sz="2000" dirty="0"/>
              <a:t> </a:t>
            </a:r>
            <a:r>
              <a:rPr lang="en-GB" sz="2000" b="1" dirty="0"/>
              <a:t>responsibilities</a:t>
            </a:r>
            <a:r>
              <a:rPr lang="en-GB" sz="2000" dirty="0"/>
              <a:t> towards </a:t>
            </a:r>
            <a:r>
              <a:rPr lang="en-GB" sz="2000" b="1" dirty="0"/>
              <a:t>high-risk AI providers</a:t>
            </a:r>
            <a:r>
              <a:rPr lang="en-GB" sz="2000" dirty="0"/>
              <a:t>.</a:t>
            </a:r>
          </a:p>
          <a:p>
            <a:pPr marL="174625" indent="0" algn="just">
              <a:buNone/>
            </a:pPr>
            <a:r>
              <a:rPr lang="en-GB" sz="2000" i="1" dirty="0"/>
              <a:t>Recital (89) </a:t>
            </a:r>
            <a:r>
              <a:rPr lang="en-GB" sz="2000" dirty="0"/>
              <a:t>– Issue of </a:t>
            </a:r>
            <a:r>
              <a:rPr lang="en-GB" sz="2000" b="1" dirty="0"/>
              <a:t>trustworthiness</a:t>
            </a:r>
            <a:r>
              <a:rPr lang="en-GB" sz="2000" dirty="0"/>
              <a:t> of third-party </a:t>
            </a:r>
            <a:r>
              <a:rPr lang="en-GB" sz="2000" b="1" dirty="0"/>
              <a:t>open-source AI resources</a:t>
            </a:r>
            <a:r>
              <a:rPr lang="en-GB" sz="2000" dirty="0"/>
              <a:t>.</a:t>
            </a:r>
          </a:p>
          <a:p>
            <a:pPr marL="174625" indent="0" algn="just">
              <a:buNone/>
            </a:pPr>
            <a:r>
              <a:rPr lang="en-GB" sz="2000" i="1" dirty="0"/>
              <a:t>Recital (101) </a:t>
            </a:r>
            <a:r>
              <a:rPr lang="en-GB" sz="2000" dirty="0"/>
              <a:t>– Key </a:t>
            </a:r>
            <a:r>
              <a:rPr lang="en-GB" sz="2000" b="1" dirty="0"/>
              <a:t>role of GPAI models providers </a:t>
            </a:r>
            <a:r>
              <a:rPr lang="en-GB" sz="2000" dirty="0"/>
              <a:t>in AI value chain </a:t>
            </a:r>
            <a:r>
              <a:rPr lang="en-GB" sz="2000" b="1" dirty="0"/>
              <a:t>governance</a:t>
            </a:r>
            <a:r>
              <a:rPr lang="en-GB" sz="2000" dirty="0"/>
              <a:t>. </a:t>
            </a:r>
          </a:p>
          <a:p>
            <a:pPr marL="174625" indent="0" algn="just">
              <a:buNone/>
            </a:pPr>
            <a:r>
              <a:rPr lang="en-GB" sz="2000" i="1" dirty="0"/>
              <a:t>Recital (109) </a:t>
            </a:r>
            <a:r>
              <a:rPr lang="en-GB" sz="2000" dirty="0"/>
              <a:t>– </a:t>
            </a:r>
            <a:r>
              <a:rPr lang="en-GB" sz="2000" b="1" dirty="0"/>
              <a:t>Obligations for providers </a:t>
            </a:r>
            <a:r>
              <a:rPr lang="en-GB" sz="2000" dirty="0"/>
              <a:t>regarding </a:t>
            </a:r>
            <a:r>
              <a:rPr lang="en-GB" sz="2000" b="1" dirty="0"/>
              <a:t>downstream modifications</a:t>
            </a:r>
            <a:r>
              <a:rPr lang="en-GB" sz="2000" dirty="0"/>
              <a:t> to </a:t>
            </a:r>
            <a:r>
              <a:rPr lang="en-GB" sz="2000" b="1" dirty="0"/>
              <a:t>GPAI models</a:t>
            </a:r>
            <a:r>
              <a:rPr lang="en-GB" sz="2000" dirty="0"/>
              <a:t>.</a:t>
            </a:r>
          </a:p>
          <a:p>
            <a:pPr marL="174625" indent="0" algn="just">
              <a:buNone/>
            </a:pPr>
            <a:r>
              <a:rPr lang="en-GB" sz="2000" b="1" i="1" dirty="0">
                <a:solidFill>
                  <a:srgbClr val="FF0000"/>
                </a:solidFill>
              </a:rPr>
              <a:t>Art. 25 </a:t>
            </a:r>
            <a:r>
              <a:rPr lang="en-GB" sz="2000" dirty="0"/>
              <a:t>– </a:t>
            </a:r>
            <a:r>
              <a:rPr lang="en-GB" sz="2000" b="1" dirty="0"/>
              <a:t>“</a:t>
            </a:r>
            <a:r>
              <a:rPr lang="en-GB" sz="2000" b="1" u="sng" dirty="0"/>
              <a:t>Responsibilities along the AI value chain</a:t>
            </a:r>
            <a:r>
              <a:rPr lang="en-GB" sz="2000" b="1" dirty="0"/>
              <a:t>”</a:t>
            </a:r>
            <a:r>
              <a:rPr lang="en-GB" sz="2000" dirty="0"/>
              <a:t> for distributors, importers, or other third-party.</a:t>
            </a:r>
            <a:endParaRPr lang="en-GB" sz="2900" b="1" dirty="0"/>
          </a:p>
        </p:txBody>
      </p:sp>
      <p:sp>
        <p:nvSpPr>
          <p:cNvPr id="4" name="Slide Number Placeholder 3">
            <a:extLst>
              <a:ext uri="{FF2B5EF4-FFF2-40B4-BE49-F238E27FC236}">
                <a16:creationId xmlns:a16="http://schemas.microsoft.com/office/drawing/2014/main" id="{C27AAB7F-FC17-7240-4A37-E0331B89B12F}"/>
              </a:ext>
            </a:extLst>
          </p:cNvPr>
          <p:cNvSpPr>
            <a:spLocks noGrp="1"/>
          </p:cNvSpPr>
          <p:nvPr>
            <p:ph type="sldNum" sz="quarter" idx="12"/>
          </p:nvPr>
        </p:nvSpPr>
        <p:spPr/>
        <p:txBody>
          <a:bodyPr/>
          <a:lstStyle/>
          <a:p>
            <a:fld id="{8ABD5A5B-811B-418E-9483-61F67F998C2D}" type="slidenum">
              <a:rPr lang="en-GB" smtClean="0"/>
              <a:t>27</a:t>
            </a:fld>
            <a:endParaRPr lang="en-GB"/>
          </a:p>
        </p:txBody>
      </p:sp>
    </p:spTree>
    <p:extLst>
      <p:ext uri="{BB962C8B-B14F-4D97-AF65-F5344CB8AC3E}">
        <p14:creationId xmlns:p14="http://schemas.microsoft.com/office/powerpoint/2010/main" val="1317802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11FD71E-9C75-F43D-849A-6EF725F48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6541D-9026-21C6-B647-2B6AD1B9AA16}"/>
              </a:ext>
            </a:extLst>
          </p:cNvPr>
          <p:cNvSpPr>
            <a:spLocks noGrp="1"/>
          </p:cNvSpPr>
          <p:nvPr>
            <p:ph type="title"/>
          </p:nvPr>
        </p:nvSpPr>
        <p:spPr>
          <a:xfrm>
            <a:off x="838200" y="18255"/>
            <a:ext cx="10515600" cy="1325563"/>
          </a:xfrm>
        </p:spPr>
        <p:txBody>
          <a:bodyPr/>
          <a:lstStyle/>
          <a:p>
            <a:r>
              <a:rPr lang="en-GB" cap="small" dirty="0"/>
              <a:t>Mapping the AI Act into AI Value Chains (ii)</a:t>
            </a:r>
          </a:p>
        </p:txBody>
      </p:sp>
      <p:sp>
        <p:nvSpPr>
          <p:cNvPr id="3" name="Content Placeholder 2">
            <a:extLst>
              <a:ext uri="{FF2B5EF4-FFF2-40B4-BE49-F238E27FC236}">
                <a16:creationId xmlns:a16="http://schemas.microsoft.com/office/drawing/2014/main" id="{35D73523-3BDA-8B40-4358-A8028CF19DC9}"/>
              </a:ext>
            </a:extLst>
          </p:cNvPr>
          <p:cNvSpPr>
            <a:spLocks noGrp="1"/>
          </p:cNvSpPr>
          <p:nvPr>
            <p:ph idx="1"/>
          </p:nvPr>
        </p:nvSpPr>
        <p:spPr>
          <a:xfrm>
            <a:off x="752928" y="1695904"/>
            <a:ext cx="10686143" cy="4498521"/>
          </a:xfrm>
        </p:spPr>
        <p:txBody>
          <a:bodyPr>
            <a:normAutofit/>
          </a:bodyPr>
          <a:lstStyle/>
          <a:p>
            <a:pPr marL="0" indent="0" algn="just">
              <a:buNone/>
            </a:pPr>
            <a:r>
              <a:rPr lang="en-GB" sz="2400" b="1" dirty="0"/>
              <a:t>(III)  Other Governance Requirements</a:t>
            </a:r>
          </a:p>
          <a:p>
            <a:pPr marL="174625" indent="0" algn="just">
              <a:buNone/>
            </a:pPr>
            <a:r>
              <a:rPr lang="en-GB" sz="2000" i="1" dirty="0"/>
              <a:t>Recital (90) </a:t>
            </a:r>
            <a:r>
              <a:rPr lang="en-GB" sz="2000" dirty="0"/>
              <a:t>– </a:t>
            </a:r>
            <a:r>
              <a:rPr lang="en-GB" sz="2000" b="1" dirty="0"/>
              <a:t>EU Commission’s power </a:t>
            </a:r>
            <a:r>
              <a:rPr lang="en-GB" sz="2000" dirty="0"/>
              <a:t>to develop </a:t>
            </a:r>
            <a:r>
              <a:rPr lang="en-GB" sz="2000" b="1" dirty="0"/>
              <a:t>voluntary model contractual terms </a:t>
            </a:r>
            <a:r>
              <a:rPr lang="en-GB" sz="2000" dirty="0"/>
              <a:t>to support AI value chain governance.</a:t>
            </a:r>
          </a:p>
          <a:p>
            <a:pPr marL="174625" indent="0" algn="just">
              <a:buNone/>
            </a:pPr>
            <a:r>
              <a:rPr lang="en-GB" sz="2000" i="1" dirty="0"/>
              <a:t>Recital (114) </a:t>
            </a:r>
            <a:r>
              <a:rPr lang="en-GB" sz="2000" dirty="0"/>
              <a:t>– </a:t>
            </a:r>
            <a:r>
              <a:rPr lang="en-GB" sz="2000" b="1" dirty="0"/>
              <a:t>Cooperation requirements</a:t>
            </a:r>
            <a:r>
              <a:rPr lang="en-GB" sz="2000" dirty="0"/>
              <a:t> across the AI value chain for </a:t>
            </a:r>
            <a:r>
              <a:rPr lang="en-GB" sz="2000" b="1" dirty="0"/>
              <a:t>systemic risk GPAI models</a:t>
            </a:r>
            <a:r>
              <a:rPr lang="en-GB" sz="2000" dirty="0"/>
              <a:t>. </a:t>
            </a:r>
          </a:p>
          <a:p>
            <a:pPr marL="174625" indent="0" algn="just">
              <a:buNone/>
            </a:pPr>
            <a:r>
              <a:rPr lang="en-GB" sz="2000" i="1" dirty="0"/>
              <a:t>Recital (135) </a:t>
            </a:r>
            <a:r>
              <a:rPr lang="en-GB" sz="2000" dirty="0"/>
              <a:t>– </a:t>
            </a:r>
            <a:r>
              <a:rPr lang="en-GB" sz="2000" b="1" dirty="0"/>
              <a:t>Transparency requirements </a:t>
            </a:r>
            <a:r>
              <a:rPr lang="en-GB" sz="2000" dirty="0"/>
              <a:t>for </a:t>
            </a:r>
            <a:r>
              <a:rPr lang="en-GB" sz="2000" b="1" dirty="0"/>
              <a:t>AI-generated content </a:t>
            </a:r>
            <a:r>
              <a:rPr lang="en-GB" sz="2000" dirty="0"/>
              <a:t>and </a:t>
            </a:r>
            <a:r>
              <a:rPr lang="en-GB" sz="2000" b="1" dirty="0"/>
              <a:t>cooperation mechanisms</a:t>
            </a:r>
            <a:r>
              <a:rPr lang="en-GB" sz="2000" dirty="0"/>
              <a:t> among </a:t>
            </a:r>
            <a:r>
              <a:rPr lang="en-GB" sz="2000" b="1" dirty="0"/>
              <a:t>relevant actors</a:t>
            </a:r>
            <a:r>
              <a:rPr lang="en-GB" sz="2000" dirty="0"/>
              <a:t>.</a:t>
            </a:r>
          </a:p>
          <a:p>
            <a:pPr marL="174625" indent="0" algn="just">
              <a:buNone/>
            </a:pPr>
            <a:r>
              <a:rPr lang="en-GB" sz="2000" i="1" dirty="0"/>
              <a:t>Art. 3(65) </a:t>
            </a:r>
            <a:r>
              <a:rPr lang="en-GB" sz="2000" dirty="0"/>
              <a:t>– Definition of </a:t>
            </a:r>
            <a:r>
              <a:rPr lang="en-GB" sz="2000" b="1" dirty="0"/>
              <a:t>systemic risk GPAI models </a:t>
            </a:r>
            <a:r>
              <a:rPr lang="en-GB" sz="2000" dirty="0"/>
              <a:t>and their value chain aspects.</a:t>
            </a:r>
          </a:p>
          <a:p>
            <a:pPr marL="174625" indent="0" algn="just">
              <a:buNone/>
            </a:pPr>
            <a:r>
              <a:rPr lang="en-GB" sz="2000" i="1" dirty="0"/>
              <a:t>Art. 56(2)(d) </a:t>
            </a:r>
            <a:r>
              <a:rPr lang="en-GB" sz="2000" dirty="0"/>
              <a:t>– Link between AI value chains and future </a:t>
            </a:r>
            <a:r>
              <a:rPr lang="en-GB" sz="2000" b="1" dirty="0"/>
              <a:t>establishment of “codes of practice” </a:t>
            </a:r>
            <a:r>
              <a:rPr lang="en-GB" sz="2000" dirty="0"/>
              <a:t>for </a:t>
            </a:r>
            <a:r>
              <a:rPr lang="en-GB" sz="2000" b="1" dirty="0"/>
              <a:t>providers of systemic risk GPAI models</a:t>
            </a:r>
            <a:r>
              <a:rPr lang="en-GB" sz="2000" dirty="0"/>
              <a:t>.</a:t>
            </a:r>
          </a:p>
          <a:p>
            <a:pPr marL="0" indent="0" algn="just">
              <a:buNone/>
            </a:pPr>
            <a:endParaRPr lang="en-GB" sz="2000" dirty="0"/>
          </a:p>
          <a:p>
            <a:pPr marL="0" indent="0" algn="just">
              <a:buNone/>
            </a:pPr>
            <a:endParaRPr lang="en-GB" sz="2000" b="1" dirty="0"/>
          </a:p>
          <a:p>
            <a:pPr marL="0" indent="0" algn="just">
              <a:buNone/>
            </a:pPr>
            <a:endParaRPr lang="en-GB" sz="2900" b="1" dirty="0"/>
          </a:p>
        </p:txBody>
      </p:sp>
      <p:sp>
        <p:nvSpPr>
          <p:cNvPr id="4" name="Slide Number Placeholder 3">
            <a:extLst>
              <a:ext uri="{FF2B5EF4-FFF2-40B4-BE49-F238E27FC236}">
                <a16:creationId xmlns:a16="http://schemas.microsoft.com/office/drawing/2014/main" id="{E0DE6426-E4DD-C448-D4B0-BE889CC877C8}"/>
              </a:ext>
            </a:extLst>
          </p:cNvPr>
          <p:cNvSpPr>
            <a:spLocks noGrp="1"/>
          </p:cNvSpPr>
          <p:nvPr>
            <p:ph type="sldNum" sz="quarter" idx="12"/>
          </p:nvPr>
        </p:nvSpPr>
        <p:spPr/>
        <p:txBody>
          <a:bodyPr/>
          <a:lstStyle/>
          <a:p>
            <a:fld id="{8ABD5A5B-811B-418E-9483-61F67F998C2D}" type="slidenum">
              <a:rPr lang="en-GB" smtClean="0"/>
              <a:t>28</a:t>
            </a:fld>
            <a:endParaRPr lang="en-GB"/>
          </a:p>
        </p:txBody>
      </p:sp>
    </p:spTree>
    <p:extLst>
      <p:ext uri="{BB962C8B-B14F-4D97-AF65-F5344CB8AC3E}">
        <p14:creationId xmlns:p14="http://schemas.microsoft.com/office/powerpoint/2010/main" val="4084540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2624822-6764-3743-C564-C3A429FAF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6DC44-8C8D-BA34-6197-5E817D5998D4}"/>
              </a:ext>
            </a:extLst>
          </p:cNvPr>
          <p:cNvSpPr>
            <a:spLocks noGrp="1"/>
          </p:cNvSpPr>
          <p:nvPr>
            <p:ph type="title"/>
          </p:nvPr>
        </p:nvSpPr>
        <p:spPr>
          <a:xfrm>
            <a:off x="838200" y="18255"/>
            <a:ext cx="10515600" cy="1325563"/>
          </a:xfrm>
        </p:spPr>
        <p:txBody>
          <a:bodyPr/>
          <a:lstStyle/>
          <a:p>
            <a:r>
              <a:rPr lang="en-GB" cap="small" dirty="0"/>
              <a:t>A Typology of AI Value Chains</a:t>
            </a:r>
          </a:p>
        </p:txBody>
      </p:sp>
      <p:sp>
        <p:nvSpPr>
          <p:cNvPr id="4" name="Slide Number Placeholder 3">
            <a:extLst>
              <a:ext uri="{FF2B5EF4-FFF2-40B4-BE49-F238E27FC236}">
                <a16:creationId xmlns:a16="http://schemas.microsoft.com/office/drawing/2014/main" id="{68DDEF06-60E7-5177-7F37-365BB4721FAB}"/>
              </a:ext>
            </a:extLst>
          </p:cNvPr>
          <p:cNvSpPr>
            <a:spLocks noGrp="1"/>
          </p:cNvSpPr>
          <p:nvPr>
            <p:ph type="sldNum" sz="quarter" idx="12"/>
          </p:nvPr>
        </p:nvSpPr>
        <p:spPr/>
        <p:txBody>
          <a:bodyPr/>
          <a:lstStyle/>
          <a:p>
            <a:fld id="{8ABD5A5B-811B-418E-9483-61F67F998C2D}" type="slidenum">
              <a:rPr lang="en-GB" smtClean="0"/>
              <a:t>29</a:t>
            </a:fld>
            <a:endParaRPr lang="en-GB"/>
          </a:p>
        </p:txBody>
      </p:sp>
      <p:sp>
        <p:nvSpPr>
          <p:cNvPr id="5" name="TextBox 4">
            <a:extLst>
              <a:ext uri="{FF2B5EF4-FFF2-40B4-BE49-F238E27FC236}">
                <a16:creationId xmlns:a16="http://schemas.microsoft.com/office/drawing/2014/main" id="{70559974-004C-1D33-0E60-DB67ADFB55E5}"/>
              </a:ext>
            </a:extLst>
          </p:cNvPr>
          <p:cNvSpPr txBox="1"/>
          <p:nvPr/>
        </p:nvSpPr>
        <p:spPr>
          <a:xfrm>
            <a:off x="838200" y="922119"/>
            <a:ext cx="3790555" cy="369332"/>
          </a:xfrm>
          <a:prstGeom prst="rect">
            <a:avLst/>
          </a:prstGeom>
          <a:noFill/>
        </p:spPr>
        <p:txBody>
          <a:bodyPr wrap="square">
            <a:spAutoFit/>
          </a:bodyPr>
          <a:lstStyle/>
          <a:p>
            <a:r>
              <a:rPr lang="en-GB" sz="1800" i="1" dirty="0"/>
              <a:t>Source</a:t>
            </a:r>
            <a:r>
              <a:rPr lang="en-GB" sz="1800" dirty="0"/>
              <a:t>: </a:t>
            </a:r>
            <a:r>
              <a:rPr lang="en-GB" sz="1800" dirty="0">
                <a:hlinkClick r:id="rId2"/>
              </a:rPr>
              <a:t>Enger &amp; Renda (2022)</a:t>
            </a:r>
            <a:endParaRPr lang="en-GB" dirty="0"/>
          </a:p>
        </p:txBody>
      </p:sp>
      <p:sp>
        <p:nvSpPr>
          <p:cNvPr id="8" name="Rectangle 7">
            <a:extLst>
              <a:ext uri="{FF2B5EF4-FFF2-40B4-BE49-F238E27FC236}">
                <a16:creationId xmlns:a16="http://schemas.microsoft.com/office/drawing/2014/main" id="{6272250B-4238-398A-D29A-33BF34F50CD6}"/>
              </a:ext>
            </a:extLst>
          </p:cNvPr>
          <p:cNvSpPr/>
          <p:nvPr/>
        </p:nvSpPr>
        <p:spPr>
          <a:xfrm>
            <a:off x="544749" y="2685871"/>
            <a:ext cx="1600200" cy="3581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b="1" dirty="0"/>
              <a:t>Type 1</a:t>
            </a:r>
          </a:p>
        </p:txBody>
      </p:sp>
      <p:pic>
        <p:nvPicPr>
          <p:cNvPr id="9" name="Picture 8" descr="A black and white sign with a building and a gear&#10;&#10;Description automatically generated">
            <a:extLst>
              <a:ext uri="{FF2B5EF4-FFF2-40B4-BE49-F238E27FC236}">
                <a16:creationId xmlns:a16="http://schemas.microsoft.com/office/drawing/2014/main" id="{B415BCDC-87CD-41EA-7D4E-CA0E3E1E8999}"/>
              </a:ext>
            </a:extLst>
          </p:cNvPr>
          <p:cNvPicPr>
            <a:picLocks noChangeAspect="1"/>
          </p:cNvPicPr>
          <p:nvPr/>
        </p:nvPicPr>
        <p:blipFill>
          <a:blip r:embed="rId3"/>
          <a:stretch>
            <a:fillRect/>
          </a:stretch>
        </p:blipFill>
        <p:spPr>
          <a:xfrm>
            <a:off x="381699" y="3429000"/>
            <a:ext cx="1926299" cy="2052885"/>
          </a:xfrm>
          <a:prstGeom prst="rect">
            <a:avLst/>
          </a:prstGeom>
        </p:spPr>
      </p:pic>
      <p:sp>
        <p:nvSpPr>
          <p:cNvPr id="10" name="TextBox 9">
            <a:extLst>
              <a:ext uri="{FF2B5EF4-FFF2-40B4-BE49-F238E27FC236}">
                <a16:creationId xmlns:a16="http://schemas.microsoft.com/office/drawing/2014/main" id="{673DE00A-5F39-2431-1F0A-F1F4B0C12046}"/>
              </a:ext>
            </a:extLst>
          </p:cNvPr>
          <p:cNvSpPr txBox="1"/>
          <p:nvPr/>
        </p:nvSpPr>
        <p:spPr>
          <a:xfrm>
            <a:off x="544749" y="5654159"/>
            <a:ext cx="1566864" cy="646331"/>
          </a:xfrm>
          <a:prstGeom prst="rect">
            <a:avLst/>
          </a:prstGeom>
          <a:noFill/>
        </p:spPr>
        <p:txBody>
          <a:bodyPr wrap="square">
            <a:spAutoFit/>
          </a:bodyPr>
          <a:lstStyle/>
          <a:p>
            <a:pPr algn="ctr"/>
            <a:r>
              <a:rPr lang="en-GB" b="1" dirty="0"/>
              <a:t>In-house development</a:t>
            </a:r>
          </a:p>
        </p:txBody>
      </p:sp>
      <p:sp>
        <p:nvSpPr>
          <p:cNvPr id="11" name="Rectangle 10">
            <a:extLst>
              <a:ext uri="{FF2B5EF4-FFF2-40B4-BE49-F238E27FC236}">
                <a16:creationId xmlns:a16="http://schemas.microsoft.com/office/drawing/2014/main" id="{1CEC2119-7F07-E674-51D3-7CE0F39AB288}"/>
              </a:ext>
            </a:extLst>
          </p:cNvPr>
          <p:cNvSpPr/>
          <p:nvPr/>
        </p:nvSpPr>
        <p:spPr>
          <a:xfrm>
            <a:off x="2588021" y="2685871"/>
            <a:ext cx="3794381" cy="35814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Type 2</a:t>
            </a:r>
          </a:p>
        </p:txBody>
      </p:sp>
      <p:pic>
        <p:nvPicPr>
          <p:cNvPr id="12" name="Picture 11">
            <a:extLst>
              <a:ext uri="{FF2B5EF4-FFF2-40B4-BE49-F238E27FC236}">
                <a16:creationId xmlns:a16="http://schemas.microsoft.com/office/drawing/2014/main" id="{6500BB08-7DC6-E54B-9881-F3281EDA4E57}"/>
              </a:ext>
            </a:extLst>
          </p:cNvPr>
          <p:cNvPicPr>
            <a:picLocks noChangeAspect="1"/>
          </p:cNvPicPr>
          <p:nvPr/>
        </p:nvPicPr>
        <p:blipFill>
          <a:blip r:embed="rId4"/>
          <a:srcRect/>
          <a:stretch/>
        </p:blipFill>
        <p:spPr>
          <a:xfrm>
            <a:off x="2424972" y="3429885"/>
            <a:ext cx="3957431" cy="2052000"/>
          </a:xfrm>
          <a:prstGeom prst="rect">
            <a:avLst/>
          </a:prstGeom>
        </p:spPr>
      </p:pic>
      <p:sp>
        <p:nvSpPr>
          <p:cNvPr id="13" name="TextBox 12">
            <a:extLst>
              <a:ext uri="{FF2B5EF4-FFF2-40B4-BE49-F238E27FC236}">
                <a16:creationId xmlns:a16="http://schemas.microsoft.com/office/drawing/2014/main" id="{2350FEFB-62DC-8164-A5F2-29BA23D39AB9}"/>
              </a:ext>
            </a:extLst>
          </p:cNvPr>
          <p:cNvSpPr txBox="1"/>
          <p:nvPr/>
        </p:nvSpPr>
        <p:spPr>
          <a:xfrm>
            <a:off x="3718448" y="5654159"/>
            <a:ext cx="1533525" cy="646331"/>
          </a:xfrm>
          <a:prstGeom prst="rect">
            <a:avLst/>
          </a:prstGeom>
          <a:noFill/>
        </p:spPr>
        <p:txBody>
          <a:bodyPr wrap="square">
            <a:spAutoFit/>
          </a:bodyPr>
          <a:lstStyle/>
          <a:p>
            <a:pPr algn="ctr"/>
            <a:r>
              <a:rPr lang="en-GB" b="1" dirty="0"/>
              <a:t>AI system contracting</a:t>
            </a:r>
          </a:p>
        </p:txBody>
      </p:sp>
      <p:sp>
        <p:nvSpPr>
          <p:cNvPr id="14" name="Rectangle 13">
            <a:extLst>
              <a:ext uri="{FF2B5EF4-FFF2-40B4-BE49-F238E27FC236}">
                <a16:creationId xmlns:a16="http://schemas.microsoft.com/office/drawing/2014/main" id="{EA9B7D5A-375C-9575-5391-4F391CC42BF1}"/>
              </a:ext>
            </a:extLst>
          </p:cNvPr>
          <p:cNvSpPr/>
          <p:nvPr/>
        </p:nvSpPr>
        <p:spPr>
          <a:xfrm>
            <a:off x="6825473" y="2685871"/>
            <a:ext cx="5054007" cy="3581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b="1" dirty="0"/>
              <a:t>Type 3</a:t>
            </a:r>
          </a:p>
        </p:txBody>
      </p:sp>
      <p:pic>
        <p:nvPicPr>
          <p:cNvPr id="15" name="Picture 14">
            <a:extLst>
              <a:ext uri="{FF2B5EF4-FFF2-40B4-BE49-F238E27FC236}">
                <a16:creationId xmlns:a16="http://schemas.microsoft.com/office/drawing/2014/main" id="{55E90005-D4B4-9E13-4622-993291BD37E7}"/>
              </a:ext>
            </a:extLst>
          </p:cNvPr>
          <p:cNvPicPr>
            <a:picLocks noChangeAspect="1"/>
          </p:cNvPicPr>
          <p:nvPr/>
        </p:nvPicPr>
        <p:blipFill>
          <a:blip r:embed="rId5"/>
          <a:srcRect/>
          <a:stretch/>
        </p:blipFill>
        <p:spPr>
          <a:xfrm>
            <a:off x="6652195" y="3429000"/>
            <a:ext cx="5227285" cy="2052000"/>
          </a:xfrm>
          <a:prstGeom prst="rect">
            <a:avLst/>
          </a:prstGeom>
        </p:spPr>
      </p:pic>
      <p:sp>
        <p:nvSpPr>
          <p:cNvPr id="16" name="TextBox 15">
            <a:extLst>
              <a:ext uri="{FF2B5EF4-FFF2-40B4-BE49-F238E27FC236}">
                <a16:creationId xmlns:a16="http://schemas.microsoft.com/office/drawing/2014/main" id="{208AD714-9051-2B10-0441-084F6225A648}"/>
              </a:ext>
            </a:extLst>
          </p:cNvPr>
          <p:cNvSpPr txBox="1"/>
          <p:nvPr/>
        </p:nvSpPr>
        <p:spPr>
          <a:xfrm>
            <a:off x="8197050" y="5654159"/>
            <a:ext cx="2310851" cy="646331"/>
          </a:xfrm>
          <a:prstGeom prst="rect">
            <a:avLst/>
          </a:prstGeom>
          <a:noFill/>
        </p:spPr>
        <p:txBody>
          <a:bodyPr wrap="square">
            <a:spAutoFit/>
          </a:bodyPr>
          <a:lstStyle/>
          <a:p>
            <a:pPr algn="ctr"/>
            <a:r>
              <a:rPr lang="en-GB" b="1" dirty="0"/>
              <a:t>Restricted AI system access</a:t>
            </a:r>
          </a:p>
        </p:txBody>
      </p:sp>
      <p:sp>
        <p:nvSpPr>
          <p:cNvPr id="18" name="TextBox 17">
            <a:extLst>
              <a:ext uri="{FF2B5EF4-FFF2-40B4-BE49-F238E27FC236}">
                <a16:creationId xmlns:a16="http://schemas.microsoft.com/office/drawing/2014/main" id="{B45D33EE-B086-61D9-4717-2A8C80082F8C}"/>
              </a:ext>
            </a:extLst>
          </p:cNvPr>
          <p:cNvSpPr txBox="1"/>
          <p:nvPr/>
        </p:nvSpPr>
        <p:spPr>
          <a:xfrm>
            <a:off x="647700" y="1342294"/>
            <a:ext cx="10706100" cy="1107996"/>
          </a:xfrm>
          <a:prstGeom prst="rect">
            <a:avLst/>
          </a:prstGeom>
          <a:noFill/>
        </p:spPr>
        <p:txBody>
          <a:bodyPr wrap="square">
            <a:spAutoFit/>
          </a:bodyPr>
          <a:lstStyle/>
          <a:p>
            <a:pPr algn="just"/>
            <a:r>
              <a:rPr lang="en-GB" sz="2200" b="1" dirty="0">
                <a:solidFill>
                  <a:srgbClr val="FF0000"/>
                </a:solidFill>
              </a:rPr>
              <a:t>NB:</a:t>
            </a:r>
            <a:r>
              <a:rPr lang="en-GB" sz="2200" dirty="0"/>
              <a:t> A typology like the one proposed by </a:t>
            </a:r>
            <a:r>
              <a:rPr lang="en-GB" sz="2200" b="1" dirty="0"/>
              <a:t>Enger &amp; Renda (2022) </a:t>
            </a:r>
            <a:r>
              <a:rPr lang="en-GB" sz="2200" dirty="0"/>
              <a:t>can help identify which actors along the AI value chain fall under the AI Act’s requirements for “</a:t>
            </a:r>
            <a:r>
              <a:rPr lang="en-GB" sz="2200" b="1" dirty="0"/>
              <a:t>providers</a:t>
            </a:r>
            <a:r>
              <a:rPr lang="en-GB" sz="2200" dirty="0"/>
              <a:t>” and “</a:t>
            </a:r>
            <a:r>
              <a:rPr lang="en-GB" sz="2200" b="1" dirty="0"/>
              <a:t>deployers</a:t>
            </a:r>
            <a:r>
              <a:rPr lang="en-GB" sz="2200" dirty="0"/>
              <a:t>”.</a:t>
            </a:r>
          </a:p>
        </p:txBody>
      </p:sp>
    </p:spTree>
    <p:extLst>
      <p:ext uri="{BB962C8B-B14F-4D97-AF65-F5344CB8AC3E}">
        <p14:creationId xmlns:p14="http://schemas.microsoft.com/office/powerpoint/2010/main" val="3126300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A0F413F-20BE-57D3-C1E0-2EBBCB2A6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7514C-DF43-6E31-8FA1-2C138F01E054}"/>
              </a:ext>
            </a:extLst>
          </p:cNvPr>
          <p:cNvSpPr>
            <a:spLocks noGrp="1"/>
          </p:cNvSpPr>
          <p:nvPr>
            <p:ph type="title"/>
          </p:nvPr>
        </p:nvSpPr>
        <p:spPr>
          <a:xfrm>
            <a:off x="838200" y="18255"/>
            <a:ext cx="10515600" cy="1325563"/>
          </a:xfrm>
        </p:spPr>
        <p:txBody>
          <a:bodyPr/>
          <a:lstStyle/>
          <a:p>
            <a:r>
              <a:rPr lang="en-GB" cap="small" dirty="0"/>
              <a:t>A Typology of AI Value Chains (</a:t>
            </a:r>
            <a:r>
              <a:rPr lang="en-GB" cap="small" dirty="0" err="1"/>
              <a:t>i</a:t>
            </a:r>
            <a:r>
              <a:rPr lang="en-GB" cap="small" dirty="0"/>
              <a:t>)</a:t>
            </a:r>
          </a:p>
        </p:txBody>
      </p:sp>
      <p:sp>
        <p:nvSpPr>
          <p:cNvPr id="4" name="Slide Number Placeholder 3">
            <a:extLst>
              <a:ext uri="{FF2B5EF4-FFF2-40B4-BE49-F238E27FC236}">
                <a16:creationId xmlns:a16="http://schemas.microsoft.com/office/drawing/2014/main" id="{9B50F236-C6F6-666E-EA5F-988041BF25C0}"/>
              </a:ext>
            </a:extLst>
          </p:cNvPr>
          <p:cNvSpPr>
            <a:spLocks noGrp="1"/>
          </p:cNvSpPr>
          <p:nvPr>
            <p:ph type="sldNum" sz="quarter" idx="12"/>
          </p:nvPr>
        </p:nvSpPr>
        <p:spPr/>
        <p:txBody>
          <a:bodyPr/>
          <a:lstStyle/>
          <a:p>
            <a:fld id="{8ABD5A5B-811B-418E-9483-61F67F998C2D}" type="slidenum">
              <a:rPr lang="en-GB" smtClean="0"/>
              <a:t>30</a:t>
            </a:fld>
            <a:endParaRPr lang="en-GB"/>
          </a:p>
        </p:txBody>
      </p:sp>
      <p:sp>
        <p:nvSpPr>
          <p:cNvPr id="5" name="TextBox 4">
            <a:extLst>
              <a:ext uri="{FF2B5EF4-FFF2-40B4-BE49-F238E27FC236}">
                <a16:creationId xmlns:a16="http://schemas.microsoft.com/office/drawing/2014/main" id="{E34178A7-E215-566C-B2F0-AF81FA8FA368}"/>
              </a:ext>
            </a:extLst>
          </p:cNvPr>
          <p:cNvSpPr txBox="1"/>
          <p:nvPr/>
        </p:nvSpPr>
        <p:spPr>
          <a:xfrm>
            <a:off x="838200" y="972383"/>
            <a:ext cx="3790555" cy="369332"/>
          </a:xfrm>
          <a:prstGeom prst="rect">
            <a:avLst/>
          </a:prstGeom>
          <a:noFill/>
        </p:spPr>
        <p:txBody>
          <a:bodyPr wrap="square">
            <a:spAutoFit/>
          </a:bodyPr>
          <a:lstStyle/>
          <a:p>
            <a:r>
              <a:rPr lang="en-GB" sz="1800" i="1" dirty="0"/>
              <a:t>Source</a:t>
            </a:r>
            <a:r>
              <a:rPr lang="en-GB" sz="1800" dirty="0"/>
              <a:t>: </a:t>
            </a:r>
            <a:r>
              <a:rPr lang="en-GB" sz="1800" dirty="0">
                <a:hlinkClick r:id="rId2"/>
              </a:rPr>
              <a:t>Enger &amp; Renda (2022)</a:t>
            </a:r>
            <a:endParaRPr lang="en-GB" dirty="0"/>
          </a:p>
        </p:txBody>
      </p:sp>
      <p:sp>
        <p:nvSpPr>
          <p:cNvPr id="3" name="Rectangle 2">
            <a:extLst>
              <a:ext uri="{FF2B5EF4-FFF2-40B4-BE49-F238E27FC236}">
                <a16:creationId xmlns:a16="http://schemas.microsoft.com/office/drawing/2014/main" id="{9F94C692-5B0E-97C3-EBCF-52D8BE5FA173}"/>
              </a:ext>
            </a:extLst>
          </p:cNvPr>
          <p:cNvSpPr/>
          <p:nvPr/>
        </p:nvSpPr>
        <p:spPr>
          <a:xfrm>
            <a:off x="726421" y="2136596"/>
            <a:ext cx="5054007" cy="35814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Type 4</a:t>
            </a:r>
          </a:p>
        </p:txBody>
      </p:sp>
      <p:pic>
        <p:nvPicPr>
          <p:cNvPr id="6" name="Picture 5">
            <a:extLst>
              <a:ext uri="{FF2B5EF4-FFF2-40B4-BE49-F238E27FC236}">
                <a16:creationId xmlns:a16="http://schemas.microsoft.com/office/drawing/2014/main" id="{602BBDBC-F17A-FB4B-C760-502621B7F807}"/>
              </a:ext>
            </a:extLst>
          </p:cNvPr>
          <p:cNvPicPr>
            <a:picLocks noChangeAspect="1"/>
          </p:cNvPicPr>
          <p:nvPr/>
        </p:nvPicPr>
        <p:blipFill>
          <a:blip r:embed="rId3"/>
          <a:srcRect/>
          <a:stretch/>
        </p:blipFill>
        <p:spPr>
          <a:xfrm>
            <a:off x="563372" y="2879725"/>
            <a:ext cx="5291231" cy="2052000"/>
          </a:xfrm>
          <a:prstGeom prst="rect">
            <a:avLst/>
          </a:prstGeom>
        </p:spPr>
      </p:pic>
      <p:sp>
        <p:nvSpPr>
          <p:cNvPr id="7" name="TextBox 6">
            <a:extLst>
              <a:ext uri="{FF2B5EF4-FFF2-40B4-BE49-F238E27FC236}">
                <a16:creationId xmlns:a16="http://schemas.microsoft.com/office/drawing/2014/main" id="{8AE7E64E-FF12-3B0F-8AD5-0DD0DC44743F}"/>
              </a:ext>
            </a:extLst>
          </p:cNvPr>
          <p:cNvSpPr txBox="1"/>
          <p:nvPr/>
        </p:nvSpPr>
        <p:spPr>
          <a:xfrm>
            <a:off x="2442224" y="5102999"/>
            <a:ext cx="1533525" cy="646331"/>
          </a:xfrm>
          <a:prstGeom prst="rect">
            <a:avLst/>
          </a:prstGeom>
          <a:noFill/>
        </p:spPr>
        <p:txBody>
          <a:bodyPr wrap="square">
            <a:spAutoFit/>
          </a:bodyPr>
          <a:lstStyle/>
          <a:p>
            <a:pPr algn="ctr"/>
            <a:r>
              <a:rPr lang="en-GB" b="1" dirty="0"/>
              <a:t>Software with AI code</a:t>
            </a:r>
          </a:p>
        </p:txBody>
      </p:sp>
      <p:sp>
        <p:nvSpPr>
          <p:cNvPr id="17" name="Rectangle 16">
            <a:extLst>
              <a:ext uri="{FF2B5EF4-FFF2-40B4-BE49-F238E27FC236}">
                <a16:creationId xmlns:a16="http://schemas.microsoft.com/office/drawing/2014/main" id="{9E71C280-499A-D85F-5ED3-0071542D3333}"/>
              </a:ext>
            </a:extLst>
          </p:cNvPr>
          <p:cNvSpPr/>
          <p:nvPr/>
        </p:nvSpPr>
        <p:spPr>
          <a:xfrm>
            <a:off x="6428072" y="2136596"/>
            <a:ext cx="5054007" cy="3581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b="1" dirty="0"/>
              <a:t>Type 5</a:t>
            </a:r>
          </a:p>
        </p:txBody>
      </p:sp>
      <p:pic>
        <p:nvPicPr>
          <p:cNvPr id="18" name="Picture 17">
            <a:extLst>
              <a:ext uri="{FF2B5EF4-FFF2-40B4-BE49-F238E27FC236}">
                <a16:creationId xmlns:a16="http://schemas.microsoft.com/office/drawing/2014/main" id="{C422A6A5-569A-3128-C6EE-BCAB0A9A2B00}"/>
              </a:ext>
            </a:extLst>
          </p:cNvPr>
          <p:cNvPicPr>
            <a:picLocks noChangeAspect="1"/>
          </p:cNvPicPr>
          <p:nvPr/>
        </p:nvPicPr>
        <p:blipFill>
          <a:blip r:embed="rId4"/>
          <a:srcRect/>
          <a:stretch/>
        </p:blipFill>
        <p:spPr>
          <a:xfrm>
            <a:off x="6337399" y="2879725"/>
            <a:ext cx="5062075" cy="2052000"/>
          </a:xfrm>
          <a:prstGeom prst="rect">
            <a:avLst/>
          </a:prstGeom>
        </p:spPr>
      </p:pic>
      <p:sp>
        <p:nvSpPr>
          <p:cNvPr id="19" name="TextBox 18">
            <a:extLst>
              <a:ext uri="{FF2B5EF4-FFF2-40B4-BE49-F238E27FC236}">
                <a16:creationId xmlns:a16="http://schemas.microsoft.com/office/drawing/2014/main" id="{7237EA77-1368-C410-FF41-EAAF0FAF467B}"/>
              </a:ext>
            </a:extLst>
          </p:cNvPr>
          <p:cNvSpPr txBox="1"/>
          <p:nvPr/>
        </p:nvSpPr>
        <p:spPr>
          <a:xfrm>
            <a:off x="7803240" y="5102999"/>
            <a:ext cx="2303669" cy="646331"/>
          </a:xfrm>
          <a:prstGeom prst="rect">
            <a:avLst/>
          </a:prstGeom>
          <a:noFill/>
        </p:spPr>
        <p:txBody>
          <a:bodyPr wrap="square">
            <a:spAutoFit/>
          </a:bodyPr>
          <a:lstStyle/>
          <a:p>
            <a:pPr algn="ctr"/>
            <a:r>
              <a:rPr lang="en-GB" b="1" dirty="0"/>
              <a:t>Vendors of learning AI systems</a:t>
            </a:r>
          </a:p>
        </p:txBody>
      </p:sp>
    </p:spTree>
    <p:extLst>
      <p:ext uri="{BB962C8B-B14F-4D97-AF65-F5344CB8AC3E}">
        <p14:creationId xmlns:p14="http://schemas.microsoft.com/office/powerpoint/2010/main" val="1073604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45FF569-20EF-88D9-0092-A6786B507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10FD0-E25D-07D3-FB63-2AFAAF1447D6}"/>
              </a:ext>
            </a:extLst>
          </p:cNvPr>
          <p:cNvSpPr>
            <a:spLocks noGrp="1"/>
          </p:cNvSpPr>
          <p:nvPr>
            <p:ph type="title"/>
          </p:nvPr>
        </p:nvSpPr>
        <p:spPr>
          <a:xfrm>
            <a:off x="838200" y="18255"/>
            <a:ext cx="10515600" cy="1325563"/>
          </a:xfrm>
        </p:spPr>
        <p:txBody>
          <a:bodyPr/>
          <a:lstStyle/>
          <a:p>
            <a:r>
              <a:rPr lang="en-GB" cap="small" dirty="0"/>
              <a:t>A Typology of AI Value Chains (</a:t>
            </a:r>
            <a:r>
              <a:rPr lang="en-GB" cap="small" dirty="0" err="1"/>
              <a:t>i</a:t>
            </a:r>
            <a:r>
              <a:rPr lang="en-GB" cap="small" dirty="0"/>
              <a:t>)</a:t>
            </a:r>
          </a:p>
        </p:txBody>
      </p:sp>
      <p:sp>
        <p:nvSpPr>
          <p:cNvPr id="4" name="Slide Number Placeholder 3">
            <a:extLst>
              <a:ext uri="{FF2B5EF4-FFF2-40B4-BE49-F238E27FC236}">
                <a16:creationId xmlns:a16="http://schemas.microsoft.com/office/drawing/2014/main" id="{F1377279-637A-0AC6-2B73-7659E845BD7A}"/>
              </a:ext>
            </a:extLst>
          </p:cNvPr>
          <p:cNvSpPr>
            <a:spLocks noGrp="1"/>
          </p:cNvSpPr>
          <p:nvPr>
            <p:ph type="sldNum" sz="quarter" idx="12"/>
          </p:nvPr>
        </p:nvSpPr>
        <p:spPr/>
        <p:txBody>
          <a:bodyPr/>
          <a:lstStyle/>
          <a:p>
            <a:fld id="{8ABD5A5B-811B-418E-9483-61F67F998C2D}" type="slidenum">
              <a:rPr lang="en-GB" smtClean="0"/>
              <a:t>31</a:t>
            </a:fld>
            <a:endParaRPr lang="en-GB"/>
          </a:p>
        </p:txBody>
      </p:sp>
      <p:sp>
        <p:nvSpPr>
          <p:cNvPr id="5" name="TextBox 4">
            <a:extLst>
              <a:ext uri="{FF2B5EF4-FFF2-40B4-BE49-F238E27FC236}">
                <a16:creationId xmlns:a16="http://schemas.microsoft.com/office/drawing/2014/main" id="{10963FCC-CBEA-F73C-0896-D791F5248663}"/>
              </a:ext>
            </a:extLst>
          </p:cNvPr>
          <p:cNvSpPr txBox="1"/>
          <p:nvPr/>
        </p:nvSpPr>
        <p:spPr>
          <a:xfrm>
            <a:off x="838200" y="972383"/>
            <a:ext cx="3790555" cy="369332"/>
          </a:xfrm>
          <a:prstGeom prst="rect">
            <a:avLst/>
          </a:prstGeom>
          <a:noFill/>
        </p:spPr>
        <p:txBody>
          <a:bodyPr wrap="square">
            <a:spAutoFit/>
          </a:bodyPr>
          <a:lstStyle/>
          <a:p>
            <a:r>
              <a:rPr lang="en-GB" sz="1800" i="1" dirty="0"/>
              <a:t>Source</a:t>
            </a:r>
            <a:r>
              <a:rPr lang="en-GB" sz="1800" dirty="0"/>
              <a:t>: </a:t>
            </a:r>
            <a:r>
              <a:rPr lang="en-GB" sz="1800" dirty="0">
                <a:hlinkClick r:id="rId2"/>
              </a:rPr>
              <a:t>Enger &amp; Renda (2022)</a:t>
            </a:r>
            <a:endParaRPr lang="en-GB" dirty="0"/>
          </a:p>
        </p:txBody>
      </p:sp>
      <p:sp>
        <p:nvSpPr>
          <p:cNvPr id="8" name="Rectangle 7">
            <a:extLst>
              <a:ext uri="{FF2B5EF4-FFF2-40B4-BE49-F238E27FC236}">
                <a16:creationId xmlns:a16="http://schemas.microsoft.com/office/drawing/2014/main" id="{728EF02A-7AA9-C046-9EDC-84E5186DDBAC}"/>
              </a:ext>
            </a:extLst>
          </p:cNvPr>
          <p:cNvSpPr/>
          <p:nvPr/>
        </p:nvSpPr>
        <p:spPr>
          <a:xfrm>
            <a:off x="726421" y="2136596"/>
            <a:ext cx="5255279" cy="35814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Type 6</a:t>
            </a:r>
          </a:p>
        </p:txBody>
      </p:sp>
      <p:pic>
        <p:nvPicPr>
          <p:cNvPr id="9" name="Picture 8">
            <a:extLst>
              <a:ext uri="{FF2B5EF4-FFF2-40B4-BE49-F238E27FC236}">
                <a16:creationId xmlns:a16="http://schemas.microsoft.com/office/drawing/2014/main" id="{DF478F62-2BAF-73AB-6C16-0D114B6F8A6F}"/>
              </a:ext>
            </a:extLst>
          </p:cNvPr>
          <p:cNvPicPr>
            <a:picLocks noChangeAspect="1"/>
          </p:cNvPicPr>
          <p:nvPr/>
        </p:nvPicPr>
        <p:blipFill>
          <a:blip r:embed="rId3"/>
          <a:srcRect/>
          <a:stretch/>
        </p:blipFill>
        <p:spPr>
          <a:xfrm>
            <a:off x="563371" y="2879725"/>
            <a:ext cx="5542674" cy="2052000"/>
          </a:xfrm>
          <a:prstGeom prst="rect">
            <a:avLst/>
          </a:prstGeom>
        </p:spPr>
      </p:pic>
      <p:sp>
        <p:nvSpPr>
          <p:cNvPr id="10" name="TextBox 9">
            <a:extLst>
              <a:ext uri="{FF2B5EF4-FFF2-40B4-BE49-F238E27FC236}">
                <a16:creationId xmlns:a16="http://schemas.microsoft.com/office/drawing/2014/main" id="{98842D13-7B72-5D4B-D28E-ED12FDE7235B}"/>
              </a:ext>
            </a:extLst>
          </p:cNvPr>
          <p:cNvSpPr txBox="1"/>
          <p:nvPr/>
        </p:nvSpPr>
        <p:spPr>
          <a:xfrm>
            <a:off x="2442224" y="5102999"/>
            <a:ext cx="1533525" cy="646331"/>
          </a:xfrm>
          <a:prstGeom prst="rect">
            <a:avLst/>
          </a:prstGeom>
          <a:noFill/>
        </p:spPr>
        <p:txBody>
          <a:bodyPr wrap="square">
            <a:spAutoFit/>
          </a:bodyPr>
          <a:lstStyle/>
          <a:p>
            <a:pPr algn="ctr"/>
            <a:r>
              <a:rPr lang="en-GB" b="1" dirty="0"/>
              <a:t>AI system fine-tuning</a:t>
            </a:r>
          </a:p>
        </p:txBody>
      </p:sp>
      <p:sp>
        <p:nvSpPr>
          <p:cNvPr id="11" name="Rectangle 10">
            <a:extLst>
              <a:ext uri="{FF2B5EF4-FFF2-40B4-BE49-F238E27FC236}">
                <a16:creationId xmlns:a16="http://schemas.microsoft.com/office/drawing/2014/main" id="{84E04A92-412B-272B-D5FE-37B7D7FDEEDB}"/>
              </a:ext>
            </a:extLst>
          </p:cNvPr>
          <p:cNvSpPr/>
          <p:nvPr/>
        </p:nvSpPr>
        <p:spPr>
          <a:xfrm>
            <a:off x="6428072" y="1363828"/>
            <a:ext cx="5054007" cy="3581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b="1" dirty="0"/>
              <a:t>Type 7</a:t>
            </a:r>
          </a:p>
        </p:txBody>
      </p:sp>
      <p:pic>
        <p:nvPicPr>
          <p:cNvPr id="12" name="Picture 11">
            <a:extLst>
              <a:ext uri="{FF2B5EF4-FFF2-40B4-BE49-F238E27FC236}">
                <a16:creationId xmlns:a16="http://schemas.microsoft.com/office/drawing/2014/main" id="{16AE1B71-E952-8D27-CD75-9FB0CE3A2B3E}"/>
              </a:ext>
            </a:extLst>
          </p:cNvPr>
          <p:cNvPicPr>
            <a:picLocks noChangeAspect="1"/>
          </p:cNvPicPr>
          <p:nvPr/>
        </p:nvPicPr>
        <p:blipFill>
          <a:blip r:embed="rId4"/>
          <a:srcRect/>
          <a:stretch/>
        </p:blipFill>
        <p:spPr>
          <a:xfrm>
            <a:off x="6309859" y="1965027"/>
            <a:ext cx="5172219" cy="3852479"/>
          </a:xfrm>
          <a:prstGeom prst="rect">
            <a:avLst/>
          </a:prstGeom>
        </p:spPr>
      </p:pic>
      <p:sp>
        <p:nvSpPr>
          <p:cNvPr id="13" name="TextBox 12">
            <a:extLst>
              <a:ext uri="{FF2B5EF4-FFF2-40B4-BE49-F238E27FC236}">
                <a16:creationId xmlns:a16="http://schemas.microsoft.com/office/drawing/2014/main" id="{8F32D17B-73EC-6839-1874-E9CCB590E552}"/>
              </a:ext>
            </a:extLst>
          </p:cNvPr>
          <p:cNvSpPr txBox="1"/>
          <p:nvPr/>
        </p:nvSpPr>
        <p:spPr>
          <a:xfrm>
            <a:off x="8011283" y="5948468"/>
            <a:ext cx="1887583" cy="646331"/>
          </a:xfrm>
          <a:prstGeom prst="rect">
            <a:avLst/>
          </a:prstGeom>
          <a:noFill/>
        </p:spPr>
        <p:txBody>
          <a:bodyPr wrap="square">
            <a:spAutoFit/>
          </a:bodyPr>
          <a:lstStyle/>
          <a:p>
            <a:pPr algn="ctr"/>
            <a:r>
              <a:rPr lang="en-GB" b="1" dirty="0"/>
              <a:t>AI model integration</a:t>
            </a:r>
          </a:p>
        </p:txBody>
      </p:sp>
    </p:spTree>
    <p:extLst>
      <p:ext uri="{BB962C8B-B14F-4D97-AF65-F5344CB8AC3E}">
        <p14:creationId xmlns:p14="http://schemas.microsoft.com/office/powerpoint/2010/main" val="1891631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9F0ABBC-3E00-FE81-F282-19EAA10CD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74A76-32E6-99B9-4B11-58CED0A18369}"/>
              </a:ext>
            </a:extLst>
          </p:cNvPr>
          <p:cNvSpPr>
            <a:spLocks noGrp="1"/>
          </p:cNvSpPr>
          <p:nvPr>
            <p:ph type="title"/>
          </p:nvPr>
        </p:nvSpPr>
        <p:spPr>
          <a:xfrm>
            <a:off x="3810000" y="2766218"/>
            <a:ext cx="4572000" cy="1325563"/>
          </a:xfrm>
        </p:spPr>
        <p:txBody>
          <a:bodyPr/>
          <a:lstStyle/>
          <a:p>
            <a:pPr algn="ctr"/>
            <a:r>
              <a:rPr lang="en-GB" i="1" dirty="0"/>
              <a:t>Questions?</a:t>
            </a:r>
          </a:p>
        </p:txBody>
      </p:sp>
      <p:sp>
        <p:nvSpPr>
          <p:cNvPr id="4" name="Slide Number Placeholder 3">
            <a:extLst>
              <a:ext uri="{FF2B5EF4-FFF2-40B4-BE49-F238E27FC236}">
                <a16:creationId xmlns:a16="http://schemas.microsoft.com/office/drawing/2014/main" id="{CA86DC94-AB43-D953-DF6B-5F98F3D7FFF1}"/>
              </a:ext>
            </a:extLst>
          </p:cNvPr>
          <p:cNvSpPr>
            <a:spLocks noGrp="1"/>
          </p:cNvSpPr>
          <p:nvPr>
            <p:ph type="sldNum" sz="quarter" idx="12"/>
          </p:nvPr>
        </p:nvSpPr>
        <p:spPr/>
        <p:txBody>
          <a:bodyPr/>
          <a:lstStyle/>
          <a:p>
            <a:fld id="{8ABD5A5B-811B-418E-9483-61F67F998C2D}" type="slidenum">
              <a:rPr lang="en-GB" smtClean="0"/>
              <a:t>32</a:t>
            </a:fld>
            <a:endParaRPr lang="en-GB"/>
          </a:p>
        </p:txBody>
      </p:sp>
      <p:pic>
        <p:nvPicPr>
          <p:cNvPr id="5" name="Picture 4">
            <a:extLst>
              <a:ext uri="{FF2B5EF4-FFF2-40B4-BE49-F238E27FC236}">
                <a16:creationId xmlns:a16="http://schemas.microsoft.com/office/drawing/2014/main" id="{AA822A20-FACA-067B-940B-F4C5DBDFBA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31" y="2009774"/>
            <a:ext cx="7272338" cy="4848225"/>
          </a:xfrm>
          <a:prstGeom prst="rect">
            <a:avLst/>
          </a:prstGeom>
        </p:spPr>
      </p:pic>
    </p:spTree>
    <p:extLst>
      <p:ext uri="{BB962C8B-B14F-4D97-AF65-F5344CB8AC3E}">
        <p14:creationId xmlns:p14="http://schemas.microsoft.com/office/powerpoint/2010/main" val="1521673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99598C-C96F-9F74-1F63-D6AA31013381}"/>
            </a:ext>
          </a:extLst>
        </p:cNvPr>
        <p:cNvGrpSpPr/>
        <p:nvPr/>
      </p:nvGrpSpPr>
      <p:grpSpPr>
        <a:xfrm>
          <a:off x="0" y="0"/>
          <a:ext cx="0" cy="0"/>
          <a:chOff x="0" y="0"/>
          <a:chExt cx="0" cy="0"/>
        </a:xfrm>
      </p:grpSpPr>
      <p:sp>
        <p:nvSpPr>
          <p:cNvPr id="229" name="Rectangle 228">
            <a:extLst>
              <a:ext uri="{FF2B5EF4-FFF2-40B4-BE49-F238E27FC236}">
                <a16:creationId xmlns:a16="http://schemas.microsoft.com/office/drawing/2014/main" id="{AC024CFF-424C-B71F-BF99-32A67E3CD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Oval 229">
            <a:extLst>
              <a:ext uri="{FF2B5EF4-FFF2-40B4-BE49-F238E27FC236}">
                <a16:creationId xmlns:a16="http://schemas.microsoft.com/office/drawing/2014/main" id="{2DD7598B-4775-1744-7661-944401E2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Oval 230">
            <a:extLst>
              <a:ext uri="{FF2B5EF4-FFF2-40B4-BE49-F238E27FC236}">
                <a16:creationId xmlns:a16="http://schemas.microsoft.com/office/drawing/2014/main" id="{5F7B2EE7-B916-5507-D4EE-513C048CB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32" name="Oval 231">
            <a:extLst>
              <a:ext uri="{FF2B5EF4-FFF2-40B4-BE49-F238E27FC236}">
                <a16:creationId xmlns:a16="http://schemas.microsoft.com/office/drawing/2014/main" id="{E2187C7B-EAD5-E59B-3F4B-CE1C0446D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1C9B45-06AC-E290-E6EF-DDE068B4FF25}"/>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dirty="0">
                <a:solidFill>
                  <a:schemeClr val="bg1"/>
                </a:solidFill>
                <a:latin typeface="+mj-lt"/>
                <a:ea typeface="+mj-ea"/>
                <a:cs typeface="+mj-cs"/>
              </a:rPr>
              <a:t>Part Four</a:t>
            </a:r>
          </a:p>
        </p:txBody>
      </p:sp>
      <p:sp>
        <p:nvSpPr>
          <p:cNvPr id="3" name="Content Placeholder 2">
            <a:extLst>
              <a:ext uri="{FF2B5EF4-FFF2-40B4-BE49-F238E27FC236}">
                <a16:creationId xmlns:a16="http://schemas.microsoft.com/office/drawing/2014/main" id="{901E781C-7F22-D128-383B-CAEA015E4ED5}"/>
              </a:ext>
            </a:extLst>
          </p:cNvPr>
          <p:cNvSpPr>
            <a:spLocks noGrp="1"/>
          </p:cNvSpPr>
          <p:nvPr>
            <p:ph idx="1"/>
          </p:nvPr>
        </p:nvSpPr>
        <p:spPr>
          <a:xfrm>
            <a:off x="3927178" y="4409960"/>
            <a:ext cx="4508641" cy="1116414"/>
          </a:xfrm>
        </p:spPr>
        <p:txBody>
          <a:bodyPr vert="horz" lIns="91440" tIns="45720" rIns="91440" bIns="45720" rtlCol="0">
            <a:normAutofit/>
          </a:bodyPr>
          <a:lstStyle/>
          <a:p>
            <a:pPr marL="0" indent="0" algn="ctr">
              <a:buNone/>
            </a:pPr>
            <a:r>
              <a:rPr lang="en-US" sz="2000" kern="1200" dirty="0">
                <a:solidFill>
                  <a:schemeClr val="bg1"/>
                </a:solidFill>
                <a:latin typeface="+mn-lt"/>
                <a:ea typeface="+mn-ea"/>
                <a:cs typeface="+mn-cs"/>
              </a:rPr>
              <a:t>In-Class Activity</a:t>
            </a:r>
          </a:p>
        </p:txBody>
      </p:sp>
      <p:sp>
        <p:nvSpPr>
          <p:cNvPr id="233" name="Graphic 212">
            <a:extLst>
              <a:ext uri="{FF2B5EF4-FFF2-40B4-BE49-F238E27FC236}">
                <a16:creationId xmlns:a16="http://schemas.microsoft.com/office/drawing/2014/main" id="{484630EA-2566-6068-BE35-2ABFB1553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34" name="Graphic 212">
            <a:extLst>
              <a:ext uri="{FF2B5EF4-FFF2-40B4-BE49-F238E27FC236}">
                <a16:creationId xmlns:a16="http://schemas.microsoft.com/office/drawing/2014/main" id="{A73C718B-FAFE-C94A-E415-AFB5D8FA2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35" name="Graphic 190">
            <a:extLst>
              <a:ext uri="{FF2B5EF4-FFF2-40B4-BE49-F238E27FC236}">
                <a16:creationId xmlns:a16="http://schemas.microsoft.com/office/drawing/2014/main" id="{AB7C1D75-85A1-EAB7-6914-0DC887B05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2" name="Freeform: Shape 21">
              <a:extLst>
                <a:ext uri="{FF2B5EF4-FFF2-40B4-BE49-F238E27FC236}">
                  <a16:creationId xmlns:a16="http://schemas.microsoft.com/office/drawing/2014/main" id="{C99CD336-59F0-F32F-B301-11EFF8D2B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36" name="Freeform: Shape 235">
              <a:extLst>
                <a:ext uri="{FF2B5EF4-FFF2-40B4-BE49-F238E27FC236}">
                  <a16:creationId xmlns:a16="http://schemas.microsoft.com/office/drawing/2014/main" id="{A3A3C72B-0140-A1C7-5B66-DB9DF89F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7" name="Oval 236">
            <a:extLst>
              <a:ext uri="{FF2B5EF4-FFF2-40B4-BE49-F238E27FC236}">
                <a16:creationId xmlns:a16="http://schemas.microsoft.com/office/drawing/2014/main" id="{F1BFDD60-B4B3-DDD7-41C0-169EDF6A4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8" name="Oval 237">
            <a:extLst>
              <a:ext uri="{FF2B5EF4-FFF2-40B4-BE49-F238E27FC236}">
                <a16:creationId xmlns:a16="http://schemas.microsoft.com/office/drawing/2014/main" id="{ACC2C6BB-16FF-DE73-D98F-82E38B00A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39" name="Graphic 4">
            <a:extLst>
              <a:ext uri="{FF2B5EF4-FFF2-40B4-BE49-F238E27FC236}">
                <a16:creationId xmlns:a16="http://schemas.microsoft.com/office/drawing/2014/main" id="{AC718CFB-D249-45B6-B93E-2C7FCA5A18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40" name="Freeform: Shape 239">
              <a:extLst>
                <a:ext uri="{FF2B5EF4-FFF2-40B4-BE49-F238E27FC236}">
                  <a16:creationId xmlns:a16="http://schemas.microsoft.com/office/drawing/2014/main" id="{E34F17FD-E332-4A42-7239-7C42CF741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0333464D-F843-98E0-CA01-19076329B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1" name="Freeform: Shape 240">
              <a:extLst>
                <a:ext uri="{FF2B5EF4-FFF2-40B4-BE49-F238E27FC236}">
                  <a16:creationId xmlns:a16="http://schemas.microsoft.com/office/drawing/2014/main" id="{F7034807-98ED-3735-894A-57FF0062AF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9ABBC9DB-0805-3CEC-9CDD-3D1A6144D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42" name="Freeform: Shape 241">
              <a:extLst>
                <a:ext uri="{FF2B5EF4-FFF2-40B4-BE49-F238E27FC236}">
                  <a16:creationId xmlns:a16="http://schemas.microsoft.com/office/drawing/2014/main" id="{2070BD7A-818E-101E-8C27-3799D40AA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FB9FF76-9618-3E81-1BF6-5C86D52F2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43" name="Freeform: Shape 242">
              <a:extLst>
                <a:ext uri="{FF2B5EF4-FFF2-40B4-BE49-F238E27FC236}">
                  <a16:creationId xmlns:a16="http://schemas.microsoft.com/office/drawing/2014/main" id="{B04F7097-BABE-205B-5562-A6583B831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891019A-65DF-89CA-96E1-A3E2D9D5AA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44" name="Freeform: Shape 243">
              <a:extLst>
                <a:ext uri="{FF2B5EF4-FFF2-40B4-BE49-F238E27FC236}">
                  <a16:creationId xmlns:a16="http://schemas.microsoft.com/office/drawing/2014/main" id="{587C397A-3978-5DBA-E89F-2C56A6017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1029F131-2FE4-9017-0530-E00B6B7AE7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A3400B15-07C1-7430-5119-6C4BBF648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1D884BDD-9859-03C1-1743-E2B5D6FAD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6BDC311F-621E-1678-E7DB-DF1F67DC1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04F6F802-4038-3CA2-B0B9-5EF7ABA08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F58AFDF7-3170-DB70-49F6-DB6B85334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5C5E3BC2-9A58-C22C-A29E-960B67005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CF6954B5-73C9-B442-9687-593D0FE8A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1A07CCE-8F31-56E0-DC79-36C701B5C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0BD6C44-1E57-ADE3-FE08-69552511B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95A1628-BBAD-BD32-A5B6-524E08C23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87E49D0C-FFEA-C1F5-D66C-91EB913AB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FD06890D-28D7-8458-FCF8-3F7D687FC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A4125953-EB35-2926-EA66-0B2B7CF6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8ED4C82D-715E-C2BF-2331-99B51B687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4139999-5CF5-2494-041D-77494FE802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447163CE-8DEF-FD22-70F3-40DF5427B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CA473553-7139-45A8-2563-DB675753D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8CFA4D5F-2335-7633-10DE-41DEE728D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0A3C97F-9A61-8AA7-F29D-98B8D0704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F0E1BF87-6E51-6683-21BD-F2A700671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2EEFFD0A-E17B-EDA0-DF63-1FCD35C24C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491D23BF-EA1C-EDAB-F75D-342047113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B7A726E6-A59A-86A0-91C7-8B611FA3E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BDFF94B3-16B4-C312-F4A7-878D607A7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01E3A94-5CC5-E33E-A3A7-DBE519AAD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DBED6B6C-B519-784E-EF63-D8BC834F8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B0693EBB-F38F-560A-E068-3BBAB0B9E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8B6C653-5B8F-F0E9-120D-6BBE8168AE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222C3ADB-5F54-1BD1-BDC5-52CC25C60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68BB597B-4BC3-4515-A8CA-4BCF73567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66B6E406-FCAE-49F4-1FAA-B40D26A5A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1454D645-53CF-1426-538F-927939CBF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1F1599FF-0BD1-1461-B0EE-432DB18F1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671684A6-BE9F-5DB1-F3CF-22B35558C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1E33913D-6491-56E8-0801-4F12FDBC4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C895EE1F-F64C-2CED-8EF4-46158DF06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713B37DB-6196-16E8-A030-82F0819D5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CF16B073-36A0-AE18-842A-770FD4E76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A1639BE1-20CB-2883-E05D-1981960D5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9418696D-CCF3-AB46-CCB0-01158E34F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0A3EA2-CEAF-BCDD-EF48-6B2BC66CD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FAEB5942-8F46-0BA1-259E-773DF4C8E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3D94B1A-A697-ECEC-7B6F-E324143ACD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E5211A08-FDD5-6D57-9D15-896254E77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0B27EB94-C64A-E189-EEC6-6E616870F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16DCEDBE-1BFD-E85C-84BE-89757225D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9DC2D1BD-9B48-A036-8187-5F1E11680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95B49494-9D1E-90FB-04E0-9826DD92C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9E3514D8-A96A-E648-2C63-704329804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E873789A-28F2-49A3-50CE-50172AFD5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6896A18C-C959-C294-201B-D087BFCDB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08E73247-10B0-0E5C-69DE-5FA4DD417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DBCC5B04-3A9D-23E7-56B9-E54E598C0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A05DDDA9-2A7B-BA21-166D-B16A8C964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EE76651-EEC5-1C25-9A5F-AF3F7901F8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AE6FCBF4-B9F0-C866-9653-612EA5DBA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996478B8-D80F-CB33-94E9-F5100D527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2342B96F-2109-AFE1-7137-8E027E885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480FE01D-6964-5B52-6010-F3E80376C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E4DBB1C4-6820-682E-E9D4-3CF92CABD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DD59A7C5-9C43-F2F8-79ED-4E5C1BB6C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06F3BE42-A149-C706-33E7-3A44F86F2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0306403-0463-F110-27F2-67E82C5670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A259EC2-EA8B-1805-675C-D712851F1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0B2B1E77-DA2A-075B-DA96-5D4417F75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E17D5AB-FD7E-0733-95F7-66C13675B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AF03B8E-4159-E98F-1739-8168DBCAB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9911642B-5BBA-1FF1-CD12-27613A6FC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0CB9E899-868C-2EB4-C450-3123ED939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7FC3C156-EC62-45C6-BC4F-F993FE74D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C25ABF22-2F14-28E3-53F7-8C8D2E297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B648B3C5-69E3-AC8F-B417-51135817E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466215E1-4235-8DE2-06B4-6B8239094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E98AB15-5BA0-D9A1-8CEF-25DB30A9A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31D04DA2-DA65-5732-394F-C88512E03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A26FFB0-61EB-0302-E13A-7546C5C43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E4DF3291-8AA6-0F22-3CC1-03BEE2C8B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793C8D32-2279-47EC-02D2-C235FB280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7EBD9E6B-93A4-F94A-E9E6-5D8092C17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464273FD-69EE-409D-46FD-A0DE951BC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702E57E1-3A8E-0FA4-DD21-28B3BB0E1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78CC7D3D-A393-FB50-94AB-EFF49210D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EE419B22-3384-22C8-4ECA-4FB8599E4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3B9866A9-D545-D78F-7D83-103A3AEE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E48D880-80B0-3EE6-97B4-4ED72AC51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699F278A-17AD-14BA-BA4F-41F14C6DA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F462010C-2355-8C28-506E-499A5B5DE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DD52DF98-1B70-9AF2-353F-6D0CFBE41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77591F51-CC9F-63CA-4E64-3A3A1E91F6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02C4273E-7C5B-0E71-F8C2-65588FE55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458130F5-88CB-64D3-C933-98E735948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A70B32F4-94CD-C25E-569D-E4109AA91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A41C8F4E-9AD1-FA63-D34E-023D8A65D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EF8AAE51-0520-54E6-3087-8968120BF8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FB3801E0-2200-FB79-6C3B-E79111ED5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6BA65387-1E3A-FEC4-1870-CD6AE5AF8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CC4D28FD-5336-9A10-B76B-3348DCC34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E107C96-13AA-2787-22CF-C36F97BC8A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483E7855-74BF-F783-FFF6-0BA975B6C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F0E8404F-F174-4194-F300-ADA3F503E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663C543E-8CB3-5BE9-2796-280D4DEA5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7776CA7D-9A85-5193-5B47-F216AB2AD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D250CFC-9C91-204E-A156-A15AF12DC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5A15022-E945-6202-C84B-95E40D9D9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045D60B6-B954-332F-822D-F747FFBC0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0ACE921C-97D1-C1F5-3E16-4209587F73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691B359-3055-7F1D-4028-038C497C31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24A12859-C382-76F9-36DC-73888598D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617BEFEB-FE63-F562-5141-927155174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536FC5C-0785-3401-3D1A-158A5C169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77BF9CB0-AE83-9548-E459-C2B2AFEAA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081634C-B0FA-46F6-499D-C5AED831F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D49415EF-8C16-DFD4-AA92-B1B94BD86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9A500FAD-85E5-A5B7-1C28-43D2B3D6D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8DF0259-0A7E-358E-0FC5-762E059185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CF3E39E6-F167-99C5-2EB3-190F0C064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644EE8EE-D739-0119-FA61-817F19C91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09E2A420-03D7-1671-3FCC-205DE1CD7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1240FAE4-70B1-E85C-88CA-026150EF46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7C88454E-075E-123A-D1FA-0F5467160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73CEED2B-E4B5-2584-D019-0F471531C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AB79957B-C9F7-34EE-FDA7-037E9710C6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2D637143-D8BC-5E12-832B-562427B29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028DF69D-8F75-1516-2B70-9282F44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2C2334E-9BEA-D8FF-2DCC-9C0F4C590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41FDE7C1-0CD6-28E4-55C4-8CFF2EFC7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ACD0953F-E80D-520E-A53C-BBB17422F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7881AAD-6213-07DE-FF8F-9C503D6E4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9445EAE-A455-7D2C-0A51-38F6E533A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BFF98B4A-E91E-B44A-01B6-6E9EAB5C8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58D8178F-C475-056D-9E4C-E9C00A8AD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0317958A-E469-9257-A8F2-B15819363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80D7905D-D582-4B42-9B6A-466194218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C16289CC-BC81-9E53-2FA6-A878542E6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6347C8CC-4D7B-2B2E-4618-BB96AC6FB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7B7813D2-24A0-B2D4-AD95-E6380DD5DB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05AA08B8-9E8E-75AB-8FB1-9EEDFBC15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59C94941-9E93-6542-D01F-0341E0BFE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5D67F669-41D2-3F34-F40E-F74C1F056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6D301AEB-5229-2C66-F4C5-8764B258CE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ABC2D9BC-ACAF-F053-F9EF-CAA73F08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35B2EC5-10F1-A727-D2CD-86315EDD5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12D59DC-7D8F-359B-E845-8DE9BE89D0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DE717417-1864-FCD0-7456-B477AC015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856F3D50-0BC5-0B51-8D15-855FA659AE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3B180AC-09D1-C33A-9CB4-A0C3C35AE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194150CD-728A-1749-55DA-CB7955B38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D853B072-E6FD-AB2B-3205-A751272AE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9CAF8F47-3C55-8C3C-7045-C46CDA6E4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26E27EE6-B6D9-C5AD-9AB1-6B2875B73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0443256D-6FB1-87AA-479A-BE3950CCA5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EAF9EB14-905F-29C6-0D4E-63FCF5462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7E58451-1CB2-FF94-C1B9-DD0090962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1F25F0D-785A-1A7B-AFAB-D2E898533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6351E67B-67B4-A101-C729-ED7F82FE9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8CB13465-5B4B-588D-3148-7AA91FDED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06DF37D7-094F-2284-8F3B-E6A0A9608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639EC7A7-F281-BDB7-A596-1B58CD7B3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3F038EC-8604-965F-DE66-5C46BABD8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4" name="Slide Number Placeholder 3">
            <a:extLst>
              <a:ext uri="{FF2B5EF4-FFF2-40B4-BE49-F238E27FC236}">
                <a16:creationId xmlns:a16="http://schemas.microsoft.com/office/drawing/2014/main" id="{88C81741-8396-702B-9E60-07704CF8E8B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8ABD5A5B-811B-418E-9483-61F67F998C2D}" type="slidenum">
              <a:rPr lang="en-US">
                <a:solidFill>
                  <a:schemeClr val="bg1"/>
                </a:solidFill>
              </a:rPr>
              <a:pPr>
                <a:spcAft>
                  <a:spcPts val="600"/>
                </a:spcAft>
              </a:pPr>
              <a:t>33</a:t>
            </a:fld>
            <a:endParaRPr lang="en-US">
              <a:solidFill>
                <a:schemeClr val="bg1"/>
              </a:solidFill>
            </a:endParaRPr>
          </a:p>
        </p:txBody>
      </p:sp>
    </p:spTree>
    <p:extLst>
      <p:ext uri="{BB962C8B-B14F-4D97-AF65-F5344CB8AC3E}">
        <p14:creationId xmlns:p14="http://schemas.microsoft.com/office/powerpoint/2010/main" val="1504641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7204662-73AE-56DA-FFD0-F597B40D4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E34BD-B182-7FB0-F2E0-3C5DD8A196EF}"/>
              </a:ext>
            </a:extLst>
          </p:cNvPr>
          <p:cNvSpPr>
            <a:spLocks noGrp="1"/>
          </p:cNvSpPr>
          <p:nvPr>
            <p:ph type="title"/>
          </p:nvPr>
        </p:nvSpPr>
        <p:spPr>
          <a:xfrm>
            <a:off x="838200" y="18255"/>
            <a:ext cx="10515600" cy="1325563"/>
          </a:xfrm>
        </p:spPr>
        <p:txBody>
          <a:bodyPr/>
          <a:lstStyle/>
          <a:p>
            <a:r>
              <a:rPr lang="en-GB" cap="small" dirty="0"/>
              <a:t>In-Class Activity</a:t>
            </a:r>
          </a:p>
        </p:txBody>
      </p:sp>
      <p:sp>
        <p:nvSpPr>
          <p:cNvPr id="3" name="Content Placeholder 2">
            <a:extLst>
              <a:ext uri="{FF2B5EF4-FFF2-40B4-BE49-F238E27FC236}">
                <a16:creationId xmlns:a16="http://schemas.microsoft.com/office/drawing/2014/main" id="{196EE7A6-2A71-66B2-B603-B96ECC1C932C}"/>
              </a:ext>
            </a:extLst>
          </p:cNvPr>
          <p:cNvSpPr>
            <a:spLocks noGrp="1"/>
          </p:cNvSpPr>
          <p:nvPr>
            <p:ph idx="1"/>
          </p:nvPr>
        </p:nvSpPr>
        <p:spPr>
          <a:xfrm>
            <a:off x="663195" y="1487837"/>
            <a:ext cx="10981872" cy="4689126"/>
          </a:xfrm>
        </p:spPr>
        <p:txBody>
          <a:bodyPr>
            <a:normAutofit/>
          </a:bodyPr>
          <a:lstStyle/>
          <a:p>
            <a:pPr marL="0" indent="0" algn="just">
              <a:spcAft>
                <a:spcPts val="600"/>
              </a:spcAft>
              <a:buNone/>
            </a:pPr>
            <a:r>
              <a:rPr lang="it-IT" dirty="0"/>
              <a:t>🔍 </a:t>
            </a:r>
            <a:r>
              <a:rPr lang="it-IT" b="1" dirty="0"/>
              <a:t>Scenario: GenAI &amp; Deepfake Risks </a:t>
            </a:r>
            <a:r>
              <a:rPr lang="en-GB" dirty="0"/>
              <a:t>🎭</a:t>
            </a:r>
            <a:endParaRPr lang="it-IT" b="1" dirty="0"/>
          </a:p>
          <a:p>
            <a:pPr marL="0" indent="0" algn="just">
              <a:spcAft>
                <a:spcPts val="1200"/>
              </a:spcAft>
              <a:buNone/>
            </a:pPr>
            <a:r>
              <a:rPr lang="en-GB" sz="2000" dirty="0"/>
              <a:t>A </a:t>
            </a:r>
            <a:r>
              <a:rPr lang="en-GB" sz="2000" b="1" dirty="0"/>
              <a:t>Generative AI provider</a:t>
            </a:r>
            <a:r>
              <a:rPr lang="en-GB" sz="2000" dirty="0"/>
              <a:t> releases a model capable of creating </a:t>
            </a:r>
            <a:r>
              <a:rPr lang="en-GB" sz="2000" b="1" dirty="0"/>
              <a:t>highly realistic deepfakes</a:t>
            </a:r>
            <a:r>
              <a:rPr lang="en-GB" sz="2000" dirty="0"/>
              <a:t>, accessible to anyone online. The model is later used for </a:t>
            </a:r>
            <a:r>
              <a:rPr lang="en-GB" sz="2000" b="1" dirty="0"/>
              <a:t>fraud</a:t>
            </a:r>
            <a:r>
              <a:rPr lang="en-GB" sz="2000" dirty="0"/>
              <a:t>, </a:t>
            </a:r>
            <a:r>
              <a:rPr lang="en-GB" sz="2000" b="1" dirty="0"/>
              <a:t>misinformation</a:t>
            </a:r>
            <a:r>
              <a:rPr lang="en-GB" sz="2000" dirty="0"/>
              <a:t>, and </a:t>
            </a:r>
            <a:r>
              <a:rPr lang="en-GB" sz="2000" b="1" dirty="0"/>
              <a:t>identity theft</a:t>
            </a:r>
            <a:r>
              <a:rPr lang="en-GB" sz="2000" dirty="0"/>
              <a:t>. </a:t>
            </a:r>
          </a:p>
          <a:p>
            <a:pPr marL="0" indent="0" algn="just">
              <a:spcAft>
                <a:spcPts val="600"/>
              </a:spcAft>
              <a:buNone/>
            </a:pPr>
            <a:r>
              <a:rPr lang="en-GB" b="1" dirty="0"/>
              <a:t>💡   Task: Who is Responsible?</a:t>
            </a:r>
            <a:endParaRPr lang="en-GB" dirty="0"/>
          </a:p>
          <a:p>
            <a:pPr algn="just">
              <a:spcAft>
                <a:spcPts val="300"/>
              </a:spcAft>
            </a:pPr>
            <a:r>
              <a:rPr lang="en-GB" sz="2000" b="1" dirty="0" err="1"/>
              <a:t>GenAI</a:t>
            </a:r>
            <a:r>
              <a:rPr lang="en-GB" sz="2000" b="1" dirty="0"/>
              <a:t> Provider</a:t>
            </a:r>
            <a:r>
              <a:rPr lang="en-GB" sz="2000" dirty="0"/>
              <a:t>: Should it be accountable for misuse of its model? If so, how?</a:t>
            </a:r>
          </a:p>
          <a:p>
            <a:pPr algn="just">
              <a:spcAft>
                <a:spcPts val="300"/>
              </a:spcAft>
            </a:pPr>
            <a:r>
              <a:rPr lang="en-GB" sz="2000" b="1" dirty="0"/>
              <a:t>End Users</a:t>
            </a:r>
            <a:r>
              <a:rPr lang="en-GB" sz="2000" dirty="0"/>
              <a:t>: Should users bear full responsibility for how they apply the technology? Why or why not?</a:t>
            </a:r>
          </a:p>
          <a:p>
            <a:pPr algn="just">
              <a:spcAft>
                <a:spcPts val="1800"/>
              </a:spcAft>
            </a:pPr>
            <a:r>
              <a:rPr lang="en-GB" sz="2000" b="1" dirty="0"/>
              <a:t>AI Governance and Alignment</a:t>
            </a:r>
            <a:r>
              <a:rPr lang="en-GB" sz="2000" dirty="0"/>
              <a:t>: How can different stakeholders in the AI value chain align their interests and governance efforts to mitigate risks? You can limit your answer to discussing the roles of the two actors above mentioned.</a:t>
            </a:r>
          </a:p>
          <a:p>
            <a:pPr marL="0" indent="0" algn="just">
              <a:spcBef>
                <a:spcPts val="0"/>
              </a:spcBef>
              <a:buNone/>
            </a:pPr>
            <a:r>
              <a:rPr lang="en-GB" dirty="0"/>
              <a:t>📌 </a:t>
            </a:r>
            <a:r>
              <a:rPr lang="en-GB" b="1" dirty="0"/>
              <a:t>Please prepare a short reflection to share with the class!</a:t>
            </a:r>
          </a:p>
        </p:txBody>
      </p:sp>
      <p:sp>
        <p:nvSpPr>
          <p:cNvPr id="4" name="Slide Number Placeholder 3">
            <a:extLst>
              <a:ext uri="{FF2B5EF4-FFF2-40B4-BE49-F238E27FC236}">
                <a16:creationId xmlns:a16="http://schemas.microsoft.com/office/drawing/2014/main" id="{FC2852CA-AADC-1B2E-AA27-097805EFE7DE}"/>
              </a:ext>
            </a:extLst>
          </p:cNvPr>
          <p:cNvSpPr>
            <a:spLocks noGrp="1"/>
          </p:cNvSpPr>
          <p:nvPr>
            <p:ph type="sldNum" sz="quarter" idx="12"/>
          </p:nvPr>
        </p:nvSpPr>
        <p:spPr/>
        <p:txBody>
          <a:bodyPr/>
          <a:lstStyle/>
          <a:p>
            <a:fld id="{8ABD5A5B-811B-418E-9483-61F67F998C2D}" type="slidenum">
              <a:rPr lang="en-GB" smtClean="0"/>
              <a:t>34</a:t>
            </a:fld>
            <a:endParaRPr lang="en-GB"/>
          </a:p>
        </p:txBody>
      </p:sp>
      <p:sp>
        <p:nvSpPr>
          <p:cNvPr id="5" name="TextBox 4">
            <a:extLst>
              <a:ext uri="{FF2B5EF4-FFF2-40B4-BE49-F238E27FC236}">
                <a16:creationId xmlns:a16="http://schemas.microsoft.com/office/drawing/2014/main" id="{D3DC3389-DEE2-9B34-3183-B4AB3EF55009}"/>
              </a:ext>
            </a:extLst>
          </p:cNvPr>
          <p:cNvSpPr txBox="1"/>
          <p:nvPr/>
        </p:nvSpPr>
        <p:spPr>
          <a:xfrm>
            <a:off x="954464" y="879514"/>
            <a:ext cx="10399335" cy="369332"/>
          </a:xfrm>
          <a:prstGeom prst="rect">
            <a:avLst/>
          </a:prstGeom>
          <a:noFill/>
        </p:spPr>
        <p:txBody>
          <a:bodyPr wrap="square">
            <a:spAutoFit/>
          </a:bodyPr>
          <a:lstStyle/>
          <a:p>
            <a:r>
              <a:rPr lang="en-GB" i="1" dirty="0"/>
              <a:t>The AI Value Chain as a Regulatory Concept</a:t>
            </a:r>
            <a:endParaRPr lang="en-GB" dirty="0"/>
          </a:p>
        </p:txBody>
      </p:sp>
    </p:spTree>
    <p:extLst>
      <p:ext uri="{BB962C8B-B14F-4D97-AF65-F5344CB8AC3E}">
        <p14:creationId xmlns:p14="http://schemas.microsoft.com/office/powerpoint/2010/main" val="3719654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1801777-E13F-6A4A-CE01-61505872E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44263-E979-7F29-4C38-8BD80C62EC04}"/>
              </a:ext>
            </a:extLst>
          </p:cNvPr>
          <p:cNvSpPr>
            <a:spLocks noGrp="1"/>
          </p:cNvSpPr>
          <p:nvPr>
            <p:ph type="title"/>
          </p:nvPr>
        </p:nvSpPr>
        <p:spPr>
          <a:xfrm>
            <a:off x="838200" y="214710"/>
            <a:ext cx="10515600" cy="1178662"/>
          </a:xfrm>
        </p:spPr>
        <p:txBody>
          <a:bodyPr/>
          <a:lstStyle/>
          <a:p>
            <a:r>
              <a:rPr lang="en-GB" cap="small" dirty="0"/>
              <a:t>Thank You!</a:t>
            </a:r>
          </a:p>
        </p:txBody>
      </p:sp>
      <p:pic>
        <p:nvPicPr>
          <p:cNvPr id="6" name="Content Placeholder 5">
            <a:extLst>
              <a:ext uri="{FF2B5EF4-FFF2-40B4-BE49-F238E27FC236}">
                <a16:creationId xmlns:a16="http://schemas.microsoft.com/office/drawing/2014/main" id="{F3A5C0DE-3324-6A9E-D9AC-CDB6C9EF38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988951" y="655867"/>
            <a:ext cx="4923402" cy="49234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Slide Number Placeholder 3">
            <a:extLst>
              <a:ext uri="{FF2B5EF4-FFF2-40B4-BE49-F238E27FC236}">
                <a16:creationId xmlns:a16="http://schemas.microsoft.com/office/drawing/2014/main" id="{9072B3EE-060B-F4D1-C1C3-8B89BBEBF554}"/>
              </a:ext>
            </a:extLst>
          </p:cNvPr>
          <p:cNvSpPr>
            <a:spLocks noGrp="1"/>
          </p:cNvSpPr>
          <p:nvPr>
            <p:ph type="sldNum" sz="quarter" idx="12"/>
          </p:nvPr>
        </p:nvSpPr>
        <p:spPr/>
        <p:txBody>
          <a:bodyPr/>
          <a:lstStyle/>
          <a:p>
            <a:fld id="{8ABD5A5B-811B-418E-9483-61F67F998C2D}" type="slidenum">
              <a:rPr lang="en-GB" smtClean="0"/>
              <a:t>35</a:t>
            </a:fld>
            <a:endParaRPr lang="en-GB"/>
          </a:p>
        </p:txBody>
      </p:sp>
      <p:sp>
        <p:nvSpPr>
          <p:cNvPr id="8" name="TextBox 7">
            <a:extLst>
              <a:ext uri="{FF2B5EF4-FFF2-40B4-BE49-F238E27FC236}">
                <a16:creationId xmlns:a16="http://schemas.microsoft.com/office/drawing/2014/main" id="{90B9EA9B-021B-7A71-DA69-FAC369DD1246}"/>
              </a:ext>
            </a:extLst>
          </p:cNvPr>
          <p:cNvSpPr txBox="1"/>
          <p:nvPr/>
        </p:nvSpPr>
        <p:spPr>
          <a:xfrm>
            <a:off x="711200" y="5823744"/>
            <a:ext cx="3211225" cy="646331"/>
          </a:xfrm>
          <a:prstGeom prst="rect">
            <a:avLst/>
          </a:prstGeom>
          <a:noFill/>
        </p:spPr>
        <p:txBody>
          <a:bodyPr wrap="square">
            <a:spAutoFit/>
          </a:bodyPr>
          <a:lstStyle/>
          <a:p>
            <a:r>
              <a:rPr lang="en-GB" dirty="0"/>
              <a:t>You can reach out at: </a:t>
            </a:r>
            <a:r>
              <a:rPr lang="en-GB" i="1" dirty="0"/>
              <a:t>Alessio.Azzutti@glasgow.ac.uk </a:t>
            </a:r>
            <a:endParaRPr lang="en-GB" dirty="0"/>
          </a:p>
        </p:txBody>
      </p:sp>
    </p:spTree>
    <p:extLst>
      <p:ext uri="{BB962C8B-B14F-4D97-AF65-F5344CB8AC3E}">
        <p14:creationId xmlns:p14="http://schemas.microsoft.com/office/powerpoint/2010/main" val="1979497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1438</TotalTime>
  <Words>2270</Words>
  <Application>Microsoft Office PowerPoint</Application>
  <PresentationFormat>Widescreen</PresentationFormat>
  <Paragraphs>257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Wingdings</vt:lpstr>
      <vt:lpstr>Office Theme</vt:lpstr>
      <vt:lpstr>AI Governance and  AI Value Chains</vt:lpstr>
      <vt:lpstr>Seminar Outline</vt:lpstr>
      <vt:lpstr>Part One</vt:lpstr>
      <vt:lpstr>Key Questions We Got Started With</vt:lpstr>
      <vt:lpstr>Key Topics Covered</vt:lpstr>
      <vt:lpstr>Group Activity</vt:lpstr>
      <vt:lpstr>Questions?</vt:lpstr>
      <vt:lpstr>Part Two</vt:lpstr>
      <vt:lpstr>Our Guiding Questions Today</vt:lpstr>
      <vt:lpstr>The AI Value Chain and AI Governance</vt:lpstr>
      <vt:lpstr>AI Lifecycle vs. AI Value Chain </vt:lpstr>
      <vt:lpstr>Supply Chains vs. Value Chains</vt:lpstr>
      <vt:lpstr>Examples of Value Chain Actors</vt:lpstr>
      <vt:lpstr>AI Governance Challenges along Value Chains</vt:lpstr>
      <vt:lpstr>Consequences for Illegal or “Problematic” Uses</vt:lpstr>
      <vt:lpstr>Practicing with an example</vt:lpstr>
      <vt:lpstr>The AI Tech-Stack  Model</vt:lpstr>
      <vt:lpstr>The Compute Value Chains</vt:lpstr>
      <vt:lpstr>The Foundation Model Value Chain</vt:lpstr>
      <vt:lpstr>High-Level View of the GenAI Value Chain</vt:lpstr>
      <vt:lpstr>PowerPoint Presentation</vt:lpstr>
      <vt:lpstr>Generative AI Value Chain</vt:lpstr>
      <vt:lpstr>DeepSeek vs. ChatGPT </vt:lpstr>
      <vt:lpstr>DeepSeek vs. ChatGPT </vt:lpstr>
      <vt:lpstr>Questions?</vt:lpstr>
      <vt:lpstr>Part Three</vt:lpstr>
      <vt:lpstr>Mapping the AI Act into AI Value Chains</vt:lpstr>
      <vt:lpstr>Mapping the AI Act into AI Value Chains (ii)</vt:lpstr>
      <vt:lpstr>A Typology of AI Value Chains</vt:lpstr>
      <vt:lpstr>A Typology of AI Value Chains (i)</vt:lpstr>
      <vt:lpstr>A Typology of AI Value Chains (i)</vt:lpstr>
      <vt:lpstr>Questions?</vt:lpstr>
      <vt:lpstr>Part Four</vt:lpstr>
      <vt:lpstr>In-Class Activity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Azzutti</dc:creator>
  <cp:lastModifiedBy>Alessio Azzutti</cp:lastModifiedBy>
  <cp:revision>160</cp:revision>
  <dcterms:created xsi:type="dcterms:W3CDTF">2025-02-17T16:22:13Z</dcterms:created>
  <dcterms:modified xsi:type="dcterms:W3CDTF">2026-03-20T08:53:09Z</dcterms:modified>
</cp:coreProperties>
</file>