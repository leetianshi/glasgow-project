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74" r:id="rId3"/>
    <p:sldId id="422" r:id="rId4"/>
    <p:sldId id="423" r:id="rId5"/>
    <p:sldId id="424" r:id="rId6"/>
    <p:sldId id="427" r:id="rId7"/>
    <p:sldId id="428" r:id="rId8"/>
    <p:sldId id="445" r:id="rId9"/>
    <p:sldId id="397" r:id="rId10"/>
    <p:sldId id="456" r:id="rId11"/>
    <p:sldId id="398" r:id="rId12"/>
    <p:sldId id="399" r:id="rId13"/>
    <p:sldId id="371" r:id="rId14"/>
    <p:sldId id="401" r:id="rId15"/>
    <p:sldId id="402" r:id="rId16"/>
    <p:sldId id="400" r:id="rId17"/>
    <p:sldId id="404" r:id="rId18"/>
    <p:sldId id="439" r:id="rId19"/>
    <p:sldId id="457" r:id="rId20"/>
    <p:sldId id="441" r:id="rId21"/>
    <p:sldId id="323" r:id="rId22"/>
    <p:sldId id="453" r:id="rId23"/>
    <p:sldId id="421" r:id="rId24"/>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765"/>
    <a:srgbClr val="EC62A7"/>
    <a:srgbClr val="D17D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0433" autoAdjust="0"/>
    <p:restoredTop sz="94564"/>
  </p:normalViewPr>
  <p:slideViewPr>
    <p:cSldViewPr snapToGrid="0" snapToObjects="1">
      <p:cViewPr varScale="1">
        <p:scale>
          <a:sx n="50" d="100"/>
          <a:sy n="50" d="100"/>
        </p:scale>
        <p:origin x="184" y="128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olo e sottotitolo">
    <p:spTree>
      <p:nvGrpSpPr>
        <p:cNvPr id="1" name=""/>
        <p:cNvGrpSpPr/>
        <p:nvPr/>
      </p:nvGrpSpPr>
      <p:grpSpPr>
        <a:xfrm>
          <a:off x="0" y="0"/>
          <a:ext cx="0" cy="0"/>
          <a:chOff x="0" y="0"/>
          <a:chExt cx="0" cy="0"/>
        </a:xfrm>
      </p:grpSpPr>
      <p:sp>
        <p:nvSpPr>
          <p:cNvPr id="11" name="Titolo Testo"/>
          <p:cNvSpPr txBox="1">
            <a:spLocks noGrp="1"/>
          </p:cNvSpPr>
          <p:nvPr>
            <p:ph type="title"/>
          </p:nvPr>
        </p:nvSpPr>
        <p:spPr>
          <a:prstGeom prst="rect">
            <a:avLst/>
          </a:prstGeom>
        </p:spPr>
        <p:txBody>
          <a:bodyPr/>
          <a:lstStyle/>
          <a:p>
            <a:r>
              <a:t>Titolo Testo</a:t>
            </a:r>
          </a:p>
        </p:txBody>
      </p:sp>
      <p:sp>
        <p:nvSpPr>
          <p:cNvPr id="12" name="Corpo livello uno…"/>
          <p:cNvSpPr txBox="1">
            <a:spLocks noGrp="1"/>
          </p:cNvSpPr>
          <p:nvPr>
            <p:ph type="body" sz="quarter"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unti elenco">
    <p:spTree>
      <p:nvGrpSpPr>
        <p:cNvPr id="1" name=""/>
        <p:cNvGrpSpPr/>
        <p:nvPr/>
      </p:nvGrpSpPr>
      <p:grpSpPr>
        <a:xfrm>
          <a:off x="0" y="0"/>
          <a:ext cx="0" cy="0"/>
          <a:chOff x="0" y="0"/>
          <a:chExt cx="0" cy="0"/>
        </a:xfrm>
      </p:grpSpPr>
      <p:sp>
        <p:nvSpPr>
          <p:cNvPr id="75" name="Corpo livello uno…"/>
          <p:cNvSpPr txBox="1">
            <a:spLocks noGrp="1"/>
          </p:cNvSpPr>
          <p:nvPr>
            <p:ph type="body" sz="half" idx="1"/>
          </p:nvPr>
        </p:nvSpPr>
        <p:spPr>
          <a:xfrm>
            <a:off x="3068413" y="2844799"/>
            <a:ext cx="11203438" cy="4064002"/>
          </a:xfrm>
          <a:prstGeom prst="rect">
            <a:avLst/>
          </a:prstGeom>
        </p:spPr>
        <p:txBody>
          <a:bodyPr anchor="ctr"/>
          <a:lstStyle>
            <a:lvl1pPr marL="564472" indent="-564472" algn="l">
              <a:spcBef>
                <a:spcPts val="5467"/>
              </a:spcBef>
              <a:buSzPct val="125000"/>
              <a:buChar char="•"/>
              <a:defRPr sz="4267"/>
            </a:lvl1pPr>
            <a:lvl2pPr marL="1411181" indent="-564472" algn="l">
              <a:spcBef>
                <a:spcPts val="5467"/>
              </a:spcBef>
              <a:buSzPct val="125000"/>
              <a:buChar char="•"/>
              <a:defRPr sz="4267"/>
            </a:lvl2pPr>
            <a:lvl3pPr marL="2257890" indent="-564472" algn="l">
              <a:spcBef>
                <a:spcPts val="5467"/>
              </a:spcBef>
              <a:buSzPct val="125000"/>
              <a:buChar char="•"/>
              <a:defRPr sz="4267"/>
            </a:lvl3pPr>
            <a:lvl4pPr marL="3104599" indent="-564472" algn="l">
              <a:spcBef>
                <a:spcPts val="5467"/>
              </a:spcBef>
              <a:buSzPct val="125000"/>
              <a:buChar char="•"/>
              <a:defRPr sz="4267"/>
            </a:lvl4pPr>
            <a:lvl5pPr marL="3951308" indent="-564472" algn="l">
              <a:spcBef>
                <a:spcPts val="5467"/>
              </a:spcBef>
              <a:buSzPct val="125000"/>
              <a:buChar char="•"/>
              <a:defRPr sz="4267"/>
            </a:lvl5pPr>
          </a:lstStyle>
          <a:p>
            <a:r>
              <a:t>Corpo livello uno</a:t>
            </a:r>
          </a:p>
          <a:p>
            <a:pPr lvl="1"/>
            <a:r>
              <a:t>Corpo livello due</a:t>
            </a:r>
          </a:p>
          <a:p>
            <a:pPr lvl="2"/>
            <a:r>
              <a:t>Corpo livello tre</a:t>
            </a:r>
          </a:p>
          <a:p>
            <a:pPr lvl="3"/>
            <a:r>
              <a:t>Corpo livello quattro</a:t>
            </a:r>
          </a:p>
          <a:p>
            <a:pPr lvl="4"/>
            <a:r>
              <a:t>Corpo livello cinque</a:t>
            </a:r>
          </a:p>
        </p:txBody>
      </p:sp>
      <p:sp>
        <p:nvSpPr>
          <p:cNvPr id="7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Foto - 3 per pagina">
    <p:spTree>
      <p:nvGrpSpPr>
        <p:cNvPr id="1" name=""/>
        <p:cNvGrpSpPr/>
        <p:nvPr/>
      </p:nvGrpSpPr>
      <p:grpSpPr>
        <a:xfrm>
          <a:off x="0" y="0"/>
          <a:ext cx="0" cy="0"/>
          <a:chOff x="0" y="0"/>
          <a:chExt cx="0" cy="0"/>
        </a:xfrm>
      </p:grpSpPr>
      <p:sp>
        <p:nvSpPr>
          <p:cNvPr id="83" name="Immagine"/>
          <p:cNvSpPr>
            <a:spLocks noGrp="1"/>
          </p:cNvSpPr>
          <p:nvPr>
            <p:ph type="pic" sz="quarter" idx="13"/>
          </p:nvPr>
        </p:nvSpPr>
        <p:spPr>
          <a:xfrm>
            <a:off x="10531170" y="4947921"/>
            <a:ext cx="4478366" cy="2240281"/>
          </a:xfrm>
          <a:prstGeom prst="rect">
            <a:avLst/>
          </a:prstGeom>
        </p:spPr>
        <p:txBody>
          <a:bodyPr lIns="91439" tIns="45719" rIns="91439" bIns="45719">
            <a:noAutofit/>
          </a:bodyPr>
          <a:lstStyle/>
          <a:p>
            <a:endParaRPr/>
          </a:p>
        </p:txBody>
      </p:sp>
      <p:sp>
        <p:nvSpPr>
          <p:cNvPr id="84" name="Immagine"/>
          <p:cNvSpPr>
            <a:spLocks noGrp="1"/>
          </p:cNvSpPr>
          <p:nvPr>
            <p:ph type="pic" sz="quarter" idx="14"/>
          </p:nvPr>
        </p:nvSpPr>
        <p:spPr>
          <a:xfrm>
            <a:off x="10322876" y="2585720"/>
            <a:ext cx="4443444" cy="2221655"/>
          </a:xfrm>
          <a:prstGeom prst="rect">
            <a:avLst/>
          </a:prstGeom>
        </p:spPr>
        <p:txBody>
          <a:bodyPr lIns="91439" tIns="45719" rIns="91439" bIns="45719">
            <a:noAutofit/>
          </a:bodyPr>
          <a:lstStyle/>
          <a:p>
            <a:endParaRPr/>
          </a:p>
        </p:txBody>
      </p:sp>
      <p:sp>
        <p:nvSpPr>
          <p:cNvPr id="85" name="Immagine"/>
          <p:cNvSpPr>
            <a:spLocks noGrp="1"/>
          </p:cNvSpPr>
          <p:nvPr>
            <p:ph type="pic" sz="half" idx="15"/>
          </p:nvPr>
        </p:nvSpPr>
        <p:spPr>
          <a:xfrm>
            <a:off x="2004967" y="2585719"/>
            <a:ext cx="9174763" cy="4587242"/>
          </a:xfrm>
          <a:prstGeom prst="rect">
            <a:avLst/>
          </a:prstGeom>
        </p:spPr>
        <p:txBody>
          <a:bodyPr lIns="91439" tIns="45719" rIns="91439" bIns="45719">
            <a:noAutofit/>
          </a:bodyPr>
          <a:lstStyle/>
          <a:p>
            <a:endParaRPr/>
          </a:p>
        </p:txBody>
      </p:sp>
      <p:sp>
        <p:nvSpPr>
          <p:cNvPr id="8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itazione">
    <p:spTree>
      <p:nvGrpSpPr>
        <p:cNvPr id="1" name=""/>
        <p:cNvGrpSpPr/>
        <p:nvPr/>
      </p:nvGrpSpPr>
      <p:grpSpPr>
        <a:xfrm>
          <a:off x="0" y="0"/>
          <a:ext cx="0" cy="0"/>
          <a:chOff x="0" y="0"/>
          <a:chExt cx="0" cy="0"/>
        </a:xfrm>
      </p:grpSpPr>
      <p:sp>
        <p:nvSpPr>
          <p:cNvPr id="93" name="–Giovanni Mela"/>
          <p:cNvSpPr txBox="1">
            <a:spLocks noGrp="1"/>
          </p:cNvSpPr>
          <p:nvPr>
            <p:ph type="body" sz="quarter" idx="13"/>
          </p:nvPr>
        </p:nvSpPr>
        <p:spPr>
          <a:xfrm>
            <a:off x="3440957" y="5715001"/>
            <a:ext cx="10465122" cy="451470"/>
          </a:xfrm>
          <a:prstGeom prst="rect">
            <a:avLst/>
          </a:prstGeom>
        </p:spPr>
        <p:txBody>
          <a:bodyPr>
            <a:spAutoFit/>
          </a:bodyPr>
          <a:lstStyle>
            <a:lvl1pPr>
              <a:defRPr sz="2667" i="1"/>
            </a:lvl1pPr>
          </a:lstStyle>
          <a:p>
            <a:r>
              <a:t>–Giovanni Mela</a:t>
            </a:r>
          </a:p>
        </p:txBody>
      </p:sp>
      <p:sp>
        <p:nvSpPr>
          <p:cNvPr id="94" name="“Inserisci qui una citazione”."/>
          <p:cNvSpPr txBox="1">
            <a:spLocks noGrp="1"/>
          </p:cNvSpPr>
          <p:nvPr>
            <p:ph type="body" sz="quarter" idx="14"/>
          </p:nvPr>
        </p:nvSpPr>
        <p:spPr>
          <a:xfrm>
            <a:off x="3440957" y="4380634"/>
            <a:ext cx="10465122" cy="697692"/>
          </a:xfrm>
          <a:prstGeom prst="rect">
            <a:avLst/>
          </a:prstGeom>
        </p:spPr>
        <p:txBody>
          <a:bodyPr anchor="ctr">
            <a:spAutoFit/>
          </a:bodyPr>
          <a:lstStyle>
            <a:lvl1pPr>
              <a:defRPr sz="4267">
                <a:latin typeface="+mn-lt"/>
                <a:ea typeface="+mn-ea"/>
                <a:cs typeface="+mn-cs"/>
                <a:sym typeface="Helvetica Neue Medium"/>
              </a:defRPr>
            </a:lvl1pPr>
          </a:lstStyle>
          <a:p>
            <a:r>
              <a:t>“Inserisci qui una citazione”. </a:t>
            </a:r>
          </a:p>
        </p:txBody>
      </p:sp>
      <p:sp>
        <p:nvSpPr>
          <p:cNvPr id="95"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magine"/>
          <p:cNvSpPr>
            <a:spLocks noGrp="1"/>
          </p:cNvSpPr>
          <p:nvPr>
            <p:ph type="pic" idx="13"/>
          </p:nvPr>
        </p:nvSpPr>
        <p:spPr>
          <a:xfrm>
            <a:off x="2167532" y="2133600"/>
            <a:ext cx="13005200" cy="6505789"/>
          </a:xfrm>
          <a:prstGeom prst="rect">
            <a:avLst/>
          </a:prstGeom>
        </p:spPr>
        <p:txBody>
          <a:bodyPr lIns="91439" tIns="45719" rIns="91439" bIns="45719">
            <a:noAutofit/>
          </a:bodyPr>
          <a:lstStyle/>
          <a:p>
            <a:endParaRPr/>
          </a:p>
        </p:txBody>
      </p:sp>
      <p:sp>
        <p:nvSpPr>
          <p:cNvPr id="10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Vuoto">
    <p:spTree>
      <p:nvGrpSpPr>
        <p:cNvPr id="1" name=""/>
        <p:cNvGrpSpPr/>
        <p:nvPr/>
      </p:nvGrpSpPr>
      <p:grpSpPr>
        <a:xfrm>
          <a:off x="0" y="0"/>
          <a:ext cx="0" cy="0"/>
          <a:chOff x="0" y="0"/>
          <a:chExt cx="0" cy="0"/>
        </a:xfrm>
      </p:grpSpPr>
      <p:sp>
        <p:nvSpPr>
          <p:cNvPr id="110"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3115827" y="3053080"/>
            <a:ext cx="11108609" cy="185928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chor="b">
            <a:normAutofit/>
          </a:bodyPr>
          <a:lstStyle/>
          <a:p>
            <a:r>
              <a:t>Titolo Testo</a:t>
            </a:r>
          </a:p>
        </p:txBody>
      </p:sp>
      <p:sp>
        <p:nvSpPr>
          <p:cNvPr id="3" name="Corpo livello uno…"/>
          <p:cNvSpPr txBox="1">
            <a:spLocks noGrp="1"/>
          </p:cNvSpPr>
          <p:nvPr>
            <p:ph type="body" idx="1"/>
          </p:nvPr>
        </p:nvSpPr>
        <p:spPr>
          <a:xfrm>
            <a:off x="3115827" y="4963160"/>
            <a:ext cx="11108609" cy="6350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type="sldNum" sz="quarter" idx="2"/>
          </p:nvPr>
        </p:nvSpPr>
        <p:spPr>
          <a:xfrm>
            <a:off x="8517184" y="7366001"/>
            <a:ext cx="299121" cy="328360"/>
          </a:xfrm>
          <a:prstGeom prst="rect">
            <a:avLst/>
          </a:prstGeom>
          <a:ln w="3175">
            <a:miter lim="400000"/>
          </a:ln>
        </p:spPr>
        <p:txBody>
          <a:bodyPr wrap="none" lIns="20320" tIns="20320" rIns="20320" bIns="20320">
            <a:spAutoFit/>
          </a:bodyPr>
          <a:lstStyle>
            <a:lvl1pPr>
              <a:defRPr sz="1867"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59" r:id="rId5"/>
    <p:sldLayoutId id="2147483660" r:id="rId6"/>
  </p:sldLayoutIdLst>
  <p:transition spd="med"/>
  <p:txStyles>
    <p:titleStyle>
      <a:lvl1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1pPr>
      <a:lvl2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2pPr>
      <a:lvl3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3pPr>
      <a:lvl4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4pPr>
      <a:lvl5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5pPr>
      <a:lvl6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6pPr>
      <a:lvl7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7pPr>
      <a:lvl8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8pPr>
      <a:lvl9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9pPr>
    </p:titleStyle>
    <p:bodyStyle>
      <a:lvl1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1pPr>
      <a:lvl2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2pPr>
      <a:lvl3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3pPr>
      <a:lvl4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4pPr>
      <a:lvl5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5pPr>
      <a:lvl6pPr marL="0" marR="0" indent="474157"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6pPr>
      <a:lvl7pPr marL="0" marR="0" indent="948314"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7pPr>
      <a:lvl8pPr marL="0" marR="0" indent="1422471"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8pPr>
      <a:lvl9pPr marL="0" marR="0" indent="1896628"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1pPr>
      <a:lvl2pPr marL="0" marR="0" indent="304815"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2pPr>
      <a:lvl3pPr marL="0" marR="0" indent="60963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3pPr>
      <a:lvl4pPr marL="0" marR="0" indent="91444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4pPr>
      <a:lvl5pPr marL="0" marR="0" indent="121926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5pPr>
      <a:lvl6pPr marL="0" marR="0" indent="152407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6pPr>
      <a:lvl7pPr marL="0" marR="0" indent="182889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7pPr>
      <a:lvl8pPr marL="0" marR="0" indent="2133707"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8pPr>
      <a:lvl9pPr marL="0" marR="0" indent="2438522"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allhiphop.com/news/exclusive-spotify-accused-of-modern-payola-in-second-explosive-class-action-this-week/"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xml"/><Relationship Id="rId1" Type="http://schemas.openxmlformats.org/officeDocument/2006/relationships/video" Target="https://www.youtube.com/embed/6hd8fseOdls?feature=oembe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video" Target="https://www.youtube.com/embed/tPiWnZY-nvk?feature=oembed" TargetMode="External"/><Relationship Id="rId7" Type="http://schemas.openxmlformats.org/officeDocument/2006/relationships/image" Target="../media/image8.jpeg"/><Relationship Id="rId2" Type="http://schemas.openxmlformats.org/officeDocument/2006/relationships/video" Target="https://www.youtube.com/embed/H0uTb1SFCvs?feature=oembed" TargetMode="External"/><Relationship Id="rId1" Type="http://schemas.openxmlformats.org/officeDocument/2006/relationships/video" Target="https://www.youtube.com/embed/IUBUe7ue2BY?feature=oembed" TargetMode="Externa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POWER POINT_2.pdf" descr="POWER POINT_2.pdf"/>
          <p:cNvPicPr>
            <a:picLocks noChangeAspect="1"/>
          </p:cNvPicPr>
          <p:nvPr/>
        </p:nvPicPr>
        <p:blipFill>
          <a:blip r:embed="rId2"/>
          <a:stretch>
            <a:fillRect/>
          </a:stretch>
        </p:blipFill>
        <p:spPr>
          <a:xfrm>
            <a:off x="0" y="-3251597"/>
            <a:ext cx="17345677" cy="13005197"/>
          </a:xfrm>
          <a:prstGeom prst="rect">
            <a:avLst/>
          </a:prstGeom>
          <a:ln w="12700">
            <a:miter lim="400000"/>
          </a:ln>
        </p:spPr>
      </p:pic>
      <p:sp>
        <p:nvSpPr>
          <p:cNvPr id="121" name="PROJECT NAME…"/>
          <p:cNvSpPr txBox="1"/>
          <p:nvPr/>
        </p:nvSpPr>
        <p:spPr>
          <a:xfrm>
            <a:off x="620857" y="8162268"/>
            <a:ext cx="4958379" cy="8128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chor="b">
            <a:normAutofit/>
          </a:bodyPr>
          <a:lstStyle/>
          <a:p>
            <a:pPr algn="l" defTabSz="782735">
              <a:defRPr sz="2400">
                <a:solidFill>
                  <a:srgbClr val="FFFFFF"/>
                </a:solidFill>
                <a:latin typeface="Barlow Bold"/>
                <a:ea typeface="Barlow Bold"/>
                <a:cs typeface="Barlow Bold"/>
                <a:sym typeface="Barlow Bold"/>
              </a:defRPr>
            </a:pPr>
            <a:r>
              <a:rPr lang="en-GB" sz="3467" dirty="0"/>
              <a:t>25 February 2026</a:t>
            </a:r>
            <a:endParaRPr lang="en-GB" sz="3200" dirty="0"/>
          </a:p>
        </p:txBody>
      </p:sp>
      <p:sp>
        <p:nvSpPr>
          <p:cNvPr id="122" name="Shape 21"/>
          <p:cNvSpPr txBox="1"/>
          <p:nvPr/>
        </p:nvSpPr>
        <p:spPr>
          <a:xfrm>
            <a:off x="620857" y="2256177"/>
            <a:ext cx="15442981" cy="1355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7735" tIns="67735" rIns="67735" bIns="67735">
            <a:spAutoFit/>
          </a:bodyPr>
          <a:lstStyle/>
          <a:p>
            <a:pPr algn="l" defTabSz="778972">
              <a:lnSpc>
                <a:spcPct val="90000"/>
              </a:lnSpc>
              <a:defRPr sz="8300">
                <a:solidFill>
                  <a:srgbClr val="F47A63"/>
                </a:solidFill>
                <a:latin typeface="Barlow-Medium"/>
                <a:ea typeface="Barlow-Medium"/>
                <a:cs typeface="Barlow-Medium"/>
                <a:sym typeface="Barlow-Medium"/>
              </a:defRPr>
            </a:pPr>
            <a:r>
              <a:rPr lang="en-GB" sz="8800" dirty="0"/>
              <a:t>Performers’ rights</a:t>
            </a:r>
          </a:p>
        </p:txBody>
      </p:sp>
      <p:sp>
        <p:nvSpPr>
          <p:cNvPr id="123" name="Shape 21"/>
          <p:cNvSpPr txBox="1"/>
          <p:nvPr/>
        </p:nvSpPr>
        <p:spPr>
          <a:xfrm>
            <a:off x="620857" y="5066864"/>
            <a:ext cx="6000578" cy="858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7735" tIns="67735" rIns="67735" bIns="67735">
            <a:spAutoFit/>
          </a:bodyPr>
          <a:lstStyle>
            <a:lvl1pPr algn="l" defTabSz="584200">
              <a:lnSpc>
                <a:spcPct val="80000"/>
              </a:lnSpc>
              <a:defRPr sz="2200">
                <a:solidFill>
                  <a:srgbClr val="575453"/>
                </a:solidFill>
                <a:latin typeface="Source Sans Pro"/>
                <a:ea typeface="Source Sans Pro"/>
                <a:cs typeface="Source Sans Pro"/>
                <a:sym typeface="Source Sans Pro"/>
              </a:defRPr>
            </a:lvl1pPr>
          </a:lstStyle>
          <a:p>
            <a:r>
              <a:rPr lang="en-GB" sz="2933" b="0" dirty="0">
                <a:latin typeface="Barlow" pitchFamily="2" charset="77"/>
              </a:rPr>
              <a:t>Copyright in the Digital Environment</a:t>
            </a:r>
          </a:p>
          <a:p>
            <a:r>
              <a:rPr lang="en-GB" sz="2933" b="0" dirty="0">
                <a:latin typeface="Barlow" pitchFamily="2" charset="77"/>
              </a:rPr>
              <a:t>Amy Thomas</a:t>
            </a:r>
            <a:endParaRPr sz="2933" b="0" dirty="0">
              <a:latin typeface="Barlow" pitchFamily="2" charset="77"/>
            </a:endParaRPr>
          </a:p>
        </p:txBody>
      </p:sp>
      <p:pic>
        <p:nvPicPr>
          <p:cNvPr id="128" name="CREATe_logo.pdf" descr="CREATe_logo.pdf"/>
          <p:cNvPicPr>
            <a:picLocks noChangeAspect="1"/>
          </p:cNvPicPr>
          <p:nvPr/>
        </p:nvPicPr>
        <p:blipFill>
          <a:blip r:embed="rId3"/>
          <a:stretch>
            <a:fillRect/>
          </a:stretch>
        </p:blipFill>
        <p:spPr>
          <a:xfrm>
            <a:off x="14800771" y="8771894"/>
            <a:ext cx="2458227" cy="837875"/>
          </a:xfrm>
          <a:prstGeom prst="rect">
            <a:avLst/>
          </a:prstGeom>
          <a:ln w="12700">
            <a:miter lim="400000"/>
          </a:ln>
        </p:spPr>
      </p:pic>
      <p:pic>
        <p:nvPicPr>
          <p:cNvPr id="3" name="Picture 2" descr="Logo&#10;&#10;Description automatically generated with medium confidence">
            <a:extLst>
              <a:ext uri="{FF2B5EF4-FFF2-40B4-BE49-F238E27FC236}">
                <a16:creationId xmlns:a16="http://schemas.microsoft.com/office/drawing/2014/main" id="{C3063262-4A96-2F70-7806-EDB3098D32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94759" y="8796944"/>
            <a:ext cx="2624747" cy="812825"/>
          </a:xfrm>
          <a:prstGeom prst="rect">
            <a:avLst/>
          </a:prstGeom>
        </p:spPr>
      </p:pic>
    </p:spTree>
    <p:extLst>
      <p:ext uri="{BB962C8B-B14F-4D97-AF65-F5344CB8AC3E}">
        <p14:creationId xmlns:p14="http://schemas.microsoft.com/office/powerpoint/2010/main" val="1671474396"/>
      </p:ext>
    </p:extLst>
  </p:cSld>
  <p:clrMapOvr>
    <a:masterClrMapping/>
  </p:clrMapOvr>
  <p:transition spd="med" advTm="27815"/>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7"/>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Format: 25 February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28459" y="1947120"/>
            <a:ext cx="14862995" cy="2062103"/>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Performers’ rights: subsistence, ownership, and economic and moral rights</a:t>
            </a:r>
          </a:p>
          <a:p>
            <a:pPr marL="457200" indent="-457200" algn="just">
              <a:buFont typeface="Arial" panose="020B0604020202020204" pitchFamily="34" charset="0"/>
              <a:buChar char="•"/>
            </a:pPr>
            <a:r>
              <a:rPr lang="en-GB" sz="3200" b="0" dirty="0">
                <a:solidFill>
                  <a:schemeClr val="tx2"/>
                </a:solidFill>
                <a:latin typeface="Barlow" pitchFamily="2" charset="77"/>
              </a:rPr>
              <a:t>Lookalikes, soundalikes and deepfakes</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Will try to reserve ~ 10 mins for any convenor questions at the end of class</a:t>
            </a:r>
          </a:p>
        </p:txBody>
      </p:sp>
    </p:spTree>
    <p:extLst>
      <p:ext uri="{BB962C8B-B14F-4D97-AF65-F5344CB8AC3E}">
        <p14:creationId xmlns:p14="http://schemas.microsoft.com/office/powerpoint/2010/main" val="347818077"/>
      </p:ext>
    </p:extLst>
  </p:cSld>
  <p:clrMapOvr>
    <a:masterClrMapping/>
  </p:clrMapOvr>
  <p:transition spd="med" advTm="22263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20B3C-BCA0-D7FF-E4D6-D5931638078F}"/>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E75025C-9113-1FC5-75B2-853F6CD0DA2C}"/>
              </a:ext>
            </a:extLst>
          </p:cNvPr>
          <p:cNvSpPr txBox="1"/>
          <p:nvPr/>
        </p:nvSpPr>
        <p:spPr>
          <a:xfrm>
            <a:off x="1028459"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Performers’ rights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39DC0B7-BDBD-5CC3-FCDC-915E5D04183F}"/>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F2F3C380-3360-EE2C-4A46-E7BB91B21443}"/>
              </a:ext>
            </a:extLst>
          </p:cNvPr>
          <p:cNvSpPr/>
          <p:nvPr/>
        </p:nvSpPr>
        <p:spPr>
          <a:xfrm>
            <a:off x="1028459" y="1947120"/>
            <a:ext cx="14862995" cy="6494085"/>
          </a:xfrm>
          <a:prstGeom prst="rect">
            <a:avLst/>
          </a:prstGeom>
        </p:spPr>
        <p:txBody>
          <a:bodyPr wrap="square">
            <a:spAutoFit/>
          </a:bodyPr>
          <a:lstStyle/>
          <a:p>
            <a:pPr algn="just"/>
            <a:r>
              <a:rPr lang="en-GB" sz="3200" b="0" dirty="0">
                <a:solidFill>
                  <a:schemeClr val="tx2"/>
                </a:solidFill>
                <a:latin typeface="Barlow" pitchFamily="2" charset="77"/>
              </a:rPr>
              <a:t>Often conceptualised as a ‘</a:t>
            </a:r>
            <a:r>
              <a:rPr lang="en-GB" sz="3200" dirty="0">
                <a:solidFill>
                  <a:schemeClr val="tx2"/>
                </a:solidFill>
                <a:latin typeface="Barlow" pitchFamily="2" charset="77"/>
              </a:rPr>
              <a:t>neighbouring</a:t>
            </a:r>
            <a:r>
              <a:rPr lang="en-GB" sz="3200" b="0" dirty="0">
                <a:solidFill>
                  <a:schemeClr val="tx2"/>
                </a:solidFill>
                <a:latin typeface="Barlow" pitchFamily="2" charset="77"/>
              </a:rPr>
              <a:t>’ or ‘</a:t>
            </a:r>
            <a:r>
              <a:rPr lang="en-GB" sz="3200" dirty="0">
                <a:solidFill>
                  <a:schemeClr val="tx2"/>
                </a:solidFill>
                <a:latin typeface="Barlow" pitchFamily="2" charset="77"/>
              </a:rPr>
              <a:t>related</a:t>
            </a:r>
            <a:r>
              <a:rPr lang="en-GB" sz="3200" b="0" dirty="0">
                <a:solidFill>
                  <a:schemeClr val="tx2"/>
                </a:solidFill>
                <a:latin typeface="Barlow" pitchFamily="2" charset="77"/>
              </a:rPr>
              <a:t>’ right (to copyright), because of reliance on underlying work (but we will see this is not always the case)</a:t>
            </a:r>
          </a:p>
          <a:p>
            <a:pPr algn="just"/>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Performances need to meet the following criteria to be protected under the CDPA (Chapter II):</a:t>
            </a:r>
          </a:p>
          <a:p>
            <a:pPr algn="just"/>
            <a:endParaRPr lang="en-GB" sz="3200" dirty="0">
              <a:solidFill>
                <a:schemeClr val="tx2"/>
              </a:solidFill>
              <a:latin typeface="Barlow" pitchFamily="2" charset="77"/>
            </a:endParaRPr>
          </a:p>
          <a:p>
            <a:pPr algn="just"/>
            <a:r>
              <a:rPr lang="en-GB" sz="3200" dirty="0">
                <a:solidFill>
                  <a:schemeClr val="tx2"/>
                </a:solidFill>
                <a:latin typeface="Barlow" pitchFamily="2" charset="77"/>
              </a:rPr>
              <a:t>(1)</a:t>
            </a:r>
            <a:r>
              <a:rPr lang="en-GB" sz="3200" b="0" dirty="0">
                <a:solidFill>
                  <a:schemeClr val="tx2"/>
                </a:solidFill>
                <a:latin typeface="Barlow" pitchFamily="2" charset="77"/>
              </a:rPr>
              <a:t> It is a ‘</a:t>
            </a:r>
            <a:r>
              <a:rPr lang="en-GB" sz="3200" dirty="0">
                <a:solidFill>
                  <a:schemeClr val="tx2"/>
                </a:solidFill>
                <a:latin typeface="Barlow" pitchFamily="2" charset="77"/>
              </a:rPr>
              <a:t>qualifying performance</a:t>
            </a:r>
            <a:r>
              <a:rPr lang="en-GB" sz="3200" b="0" dirty="0">
                <a:solidFill>
                  <a:schemeClr val="tx2"/>
                </a:solidFill>
                <a:latin typeface="Barlow" pitchFamily="2" charset="77"/>
              </a:rPr>
              <a:t>’, and;</a:t>
            </a:r>
            <a:endParaRPr lang="en-GB" sz="3200" dirty="0">
              <a:solidFill>
                <a:schemeClr val="tx2"/>
              </a:solidFill>
              <a:latin typeface="Barlow" pitchFamily="2" charset="77"/>
            </a:endParaRPr>
          </a:p>
          <a:p>
            <a:pPr algn="just"/>
            <a:r>
              <a:rPr lang="en-GB" sz="3200" dirty="0">
                <a:solidFill>
                  <a:schemeClr val="tx2"/>
                </a:solidFill>
                <a:latin typeface="Barlow" pitchFamily="2" charset="77"/>
              </a:rPr>
              <a:t>(2)</a:t>
            </a:r>
            <a:r>
              <a:rPr lang="en-GB" sz="3200" b="0" dirty="0">
                <a:solidFill>
                  <a:schemeClr val="tx2"/>
                </a:solidFill>
                <a:latin typeface="Barlow" pitchFamily="2" charset="77"/>
              </a:rPr>
              <a:t> It is made by a qualifying individual(s) in a qualified country.</a:t>
            </a:r>
          </a:p>
          <a:p>
            <a:pPr algn="just"/>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If they meet this criteria, they will receive </a:t>
            </a:r>
            <a:r>
              <a:rPr lang="en-GB" sz="3200" dirty="0">
                <a:solidFill>
                  <a:schemeClr val="tx2"/>
                </a:solidFill>
                <a:latin typeface="Barlow" pitchFamily="2" charset="77"/>
              </a:rPr>
              <a:t>automatic protection</a:t>
            </a:r>
          </a:p>
          <a:p>
            <a:pPr algn="just"/>
            <a:endParaRPr lang="en-GB" sz="3200" dirty="0">
              <a:solidFill>
                <a:schemeClr val="tx2"/>
              </a:solidFill>
              <a:latin typeface="Barlow" pitchFamily="2" charset="77"/>
            </a:endParaRPr>
          </a:p>
          <a:p>
            <a:pPr algn="just"/>
            <a:r>
              <a:rPr lang="en-GB" sz="3200" b="0" dirty="0">
                <a:solidFill>
                  <a:schemeClr val="tx2"/>
                </a:solidFill>
                <a:latin typeface="Barlow" pitchFamily="2" charset="77"/>
              </a:rPr>
              <a:t>Some </a:t>
            </a:r>
            <a:r>
              <a:rPr lang="en-GB" sz="3200" dirty="0">
                <a:solidFill>
                  <a:schemeClr val="tx2"/>
                </a:solidFill>
                <a:latin typeface="Barlow" pitchFamily="2" charset="77"/>
              </a:rPr>
              <a:t>Collective Management Organisations</a:t>
            </a:r>
            <a:r>
              <a:rPr lang="en-GB" sz="3200" b="0" dirty="0">
                <a:solidFill>
                  <a:schemeClr val="tx2"/>
                </a:solidFill>
                <a:latin typeface="Barlow" pitchFamily="2" charset="77"/>
              </a:rPr>
              <a:t> (CMOs) – like PRS – may require registration (a ‘bonus’, but not mandatory) – n.b., no concept of ‘joint’ performer-ship</a:t>
            </a:r>
          </a:p>
        </p:txBody>
      </p:sp>
    </p:spTree>
    <p:extLst>
      <p:ext uri="{BB962C8B-B14F-4D97-AF65-F5344CB8AC3E}">
        <p14:creationId xmlns:p14="http://schemas.microsoft.com/office/powerpoint/2010/main" val="3999919072"/>
      </p:ext>
    </p:extLst>
  </p:cSld>
  <p:clrMapOvr>
    <a:masterClrMapping/>
  </p:clrMapOvr>
  <p:transition spd="med" advTm="222639"/>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1ECAF-2B17-3C77-4AA5-8983B624E447}"/>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E4CF0169-3F74-3CFF-3781-2F6B3C50DEAD}"/>
              </a:ext>
            </a:extLst>
          </p:cNvPr>
          <p:cNvSpPr txBox="1"/>
          <p:nvPr/>
        </p:nvSpPr>
        <p:spPr>
          <a:xfrm>
            <a:off x="1028459" y="730197"/>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Performers’ rights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56E5BF9-FDCC-9827-2F71-2541A8180147}"/>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79B7CBD5-A0E4-1D6A-B25D-4D083B3B544C}"/>
              </a:ext>
            </a:extLst>
          </p:cNvPr>
          <p:cNvSpPr/>
          <p:nvPr/>
        </p:nvSpPr>
        <p:spPr>
          <a:xfrm>
            <a:off x="1028459" y="1947120"/>
            <a:ext cx="14862995" cy="3046988"/>
          </a:xfrm>
          <a:prstGeom prst="rect">
            <a:avLst/>
          </a:prstGeom>
        </p:spPr>
        <p:txBody>
          <a:bodyPr wrap="square">
            <a:spAutoFit/>
          </a:bodyPr>
          <a:lstStyle/>
          <a:p>
            <a:pPr algn="just"/>
            <a:r>
              <a:rPr lang="en-GB" sz="3200" b="0" dirty="0">
                <a:solidFill>
                  <a:schemeClr val="tx2"/>
                </a:solidFill>
                <a:latin typeface="Barlow" pitchFamily="2" charset="77"/>
              </a:rPr>
              <a:t>What is a qualifying performance? </a:t>
            </a:r>
          </a:p>
          <a:p>
            <a:pPr algn="just"/>
            <a:endParaRPr lang="en-GB" sz="3200" b="0" dirty="0">
              <a:solidFill>
                <a:schemeClr val="tx2"/>
              </a:solidFill>
              <a:latin typeface="Barlow" pitchFamily="2" charset="77"/>
            </a:endParaRPr>
          </a:p>
          <a:p>
            <a:pPr algn="just"/>
            <a:r>
              <a:rPr lang="en-GB" sz="3200" dirty="0">
                <a:solidFill>
                  <a:schemeClr val="tx2"/>
                </a:solidFill>
                <a:latin typeface="Barlow" pitchFamily="2" charset="77"/>
              </a:rPr>
              <a:t>(1)</a:t>
            </a:r>
            <a:r>
              <a:rPr lang="en-GB" sz="3200" b="0" dirty="0">
                <a:solidFill>
                  <a:schemeClr val="tx2"/>
                </a:solidFill>
                <a:latin typeface="Barlow" pitchFamily="2" charset="77"/>
              </a:rPr>
              <a:t> the qualifying performance must fit into one of the </a:t>
            </a:r>
            <a:r>
              <a:rPr lang="en-GB" sz="3200" dirty="0">
                <a:solidFill>
                  <a:schemeClr val="tx2"/>
                </a:solidFill>
                <a:latin typeface="Barlow" pitchFamily="2" charset="77"/>
              </a:rPr>
              <a:t>four categories </a:t>
            </a:r>
            <a:r>
              <a:rPr lang="en-GB" sz="3200" b="0" dirty="0">
                <a:solidFill>
                  <a:schemeClr val="tx2"/>
                </a:solidFill>
                <a:latin typeface="Barlow" pitchFamily="2" charset="77"/>
              </a:rPr>
              <a:t>in CDPA s180(2), </a:t>
            </a:r>
            <a:r>
              <a:rPr lang="en-GB" sz="3200" b="0" u="sng" dirty="0">
                <a:solidFill>
                  <a:schemeClr val="tx2"/>
                </a:solidFill>
                <a:latin typeface="Barlow" pitchFamily="2" charset="77"/>
              </a:rPr>
              <a:t>and</a:t>
            </a:r>
            <a:r>
              <a:rPr lang="en-GB" sz="3200" b="0" dirty="0">
                <a:solidFill>
                  <a:schemeClr val="tx2"/>
                </a:solidFill>
                <a:latin typeface="Barlow" pitchFamily="2" charset="77"/>
              </a:rPr>
              <a:t>;</a:t>
            </a:r>
            <a:endParaRPr lang="en-GB" sz="3200" dirty="0">
              <a:solidFill>
                <a:schemeClr val="tx2"/>
              </a:solidFill>
              <a:latin typeface="Barlow" pitchFamily="2" charset="77"/>
            </a:endParaRPr>
          </a:p>
          <a:p>
            <a:pPr algn="just"/>
            <a:r>
              <a:rPr lang="en-GB" sz="3200" dirty="0">
                <a:solidFill>
                  <a:schemeClr val="tx2"/>
                </a:solidFill>
                <a:latin typeface="Barlow" pitchFamily="2" charset="77"/>
              </a:rPr>
              <a:t>(2) </a:t>
            </a:r>
            <a:r>
              <a:rPr lang="en-GB" sz="3200" b="0" dirty="0">
                <a:solidFill>
                  <a:schemeClr val="tx2"/>
                </a:solidFill>
                <a:latin typeface="Barlow" pitchFamily="2" charset="77"/>
              </a:rPr>
              <a:t>it is a </a:t>
            </a:r>
            <a:r>
              <a:rPr lang="en-GB" sz="3200" dirty="0">
                <a:solidFill>
                  <a:schemeClr val="tx2"/>
                </a:solidFill>
                <a:latin typeface="Barlow" pitchFamily="2" charset="77"/>
              </a:rPr>
              <a:t>live</a:t>
            </a:r>
            <a:r>
              <a:rPr lang="en-GB" sz="3200" b="0" dirty="0">
                <a:solidFill>
                  <a:schemeClr val="tx2"/>
                </a:solidFill>
                <a:latin typeface="Barlow" pitchFamily="2" charset="77"/>
              </a:rPr>
              <a:t> performance, </a:t>
            </a:r>
            <a:r>
              <a:rPr lang="en-GB" sz="3200" b="0" u="sng" dirty="0">
                <a:solidFill>
                  <a:schemeClr val="tx2"/>
                </a:solidFill>
                <a:latin typeface="Barlow" pitchFamily="2" charset="77"/>
              </a:rPr>
              <a:t>or</a:t>
            </a:r>
            <a:r>
              <a:rPr lang="en-GB" sz="3200" b="0" dirty="0">
                <a:solidFill>
                  <a:schemeClr val="tx2"/>
                </a:solidFill>
                <a:latin typeface="Barlow" pitchFamily="2" charset="77"/>
              </a:rPr>
              <a:t>;</a:t>
            </a:r>
            <a:endParaRPr lang="en-GB" sz="3200" dirty="0">
              <a:solidFill>
                <a:schemeClr val="tx2"/>
              </a:solidFill>
              <a:latin typeface="Barlow" pitchFamily="2" charset="77"/>
            </a:endParaRPr>
          </a:p>
          <a:p>
            <a:pPr algn="just"/>
            <a:r>
              <a:rPr lang="en-GB" sz="3200" dirty="0">
                <a:solidFill>
                  <a:schemeClr val="tx2"/>
                </a:solidFill>
                <a:latin typeface="Barlow" pitchFamily="2" charset="77"/>
              </a:rPr>
              <a:t>(3)</a:t>
            </a:r>
            <a:r>
              <a:rPr lang="en-GB" sz="3200" b="0" dirty="0">
                <a:solidFill>
                  <a:schemeClr val="tx2"/>
                </a:solidFill>
                <a:latin typeface="Barlow" pitchFamily="2" charset="77"/>
              </a:rPr>
              <a:t> it is a </a:t>
            </a:r>
            <a:r>
              <a:rPr lang="en-GB" sz="3200" dirty="0">
                <a:solidFill>
                  <a:schemeClr val="tx2"/>
                </a:solidFill>
                <a:latin typeface="Barlow" pitchFamily="2" charset="77"/>
              </a:rPr>
              <a:t>recording</a:t>
            </a:r>
            <a:r>
              <a:rPr lang="en-GB" sz="3200" b="0" dirty="0">
                <a:solidFill>
                  <a:schemeClr val="tx2"/>
                </a:solidFill>
                <a:latin typeface="Barlow" pitchFamily="2" charset="77"/>
              </a:rPr>
              <a:t> of a performance.</a:t>
            </a:r>
          </a:p>
        </p:txBody>
      </p:sp>
    </p:spTree>
    <p:extLst>
      <p:ext uri="{BB962C8B-B14F-4D97-AF65-F5344CB8AC3E}">
        <p14:creationId xmlns:p14="http://schemas.microsoft.com/office/powerpoint/2010/main" val="3242038294"/>
      </p:ext>
    </p:extLst>
  </p:cSld>
  <p:clrMapOvr>
    <a:masterClrMapping/>
  </p:clrMapOvr>
  <p:transition spd="med" advTm="22263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71CCF-7129-BFFE-09FA-E42DB3FC56F0}"/>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8328A079-A035-EFAF-3F0C-69BF23384A7E}"/>
              </a:ext>
            </a:extLst>
          </p:cNvPr>
          <p:cNvSpPr txBox="1"/>
          <p:nvPr/>
        </p:nvSpPr>
        <p:spPr>
          <a:xfrm>
            <a:off x="1028458" y="730197"/>
            <a:ext cx="14862995"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Performers’ rights: the four categories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F982046-C7C5-98E1-223B-66BC01B0409D}"/>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7AD6FCB8-13B9-1B31-9090-929821886EA8}"/>
              </a:ext>
            </a:extLst>
          </p:cNvPr>
          <p:cNvSpPr/>
          <p:nvPr/>
        </p:nvSpPr>
        <p:spPr>
          <a:xfrm>
            <a:off x="1028459" y="1947120"/>
            <a:ext cx="14862995" cy="584775"/>
          </a:xfrm>
          <a:prstGeom prst="rect">
            <a:avLst/>
          </a:prstGeom>
        </p:spPr>
        <p:txBody>
          <a:bodyPr wrap="square">
            <a:spAutoFit/>
          </a:bodyPr>
          <a:lstStyle/>
          <a:p>
            <a:pPr algn="just"/>
            <a:r>
              <a:rPr lang="en-GB" sz="3200" b="0" dirty="0">
                <a:solidFill>
                  <a:schemeClr val="tx2"/>
                </a:solidFill>
                <a:latin typeface="Barlow" pitchFamily="2" charset="77"/>
              </a:rPr>
              <a:t>CDPA s180(2)</a:t>
            </a:r>
          </a:p>
        </p:txBody>
      </p:sp>
      <p:graphicFrame>
        <p:nvGraphicFramePr>
          <p:cNvPr id="2" name="Table 1">
            <a:extLst>
              <a:ext uri="{FF2B5EF4-FFF2-40B4-BE49-F238E27FC236}">
                <a16:creationId xmlns:a16="http://schemas.microsoft.com/office/drawing/2014/main" id="{CA6936B5-16A5-069A-5057-7A928424FAE4}"/>
              </a:ext>
            </a:extLst>
          </p:cNvPr>
          <p:cNvGraphicFramePr>
            <a:graphicFrameLocks noGrp="1"/>
          </p:cNvGraphicFramePr>
          <p:nvPr>
            <p:extLst>
              <p:ext uri="{D42A27DB-BD31-4B8C-83A1-F6EECF244321}">
                <p14:modId xmlns:p14="http://schemas.microsoft.com/office/powerpoint/2010/main" val="527913000"/>
              </p:ext>
            </p:extLst>
          </p:nvPr>
        </p:nvGraphicFramePr>
        <p:xfrm>
          <a:off x="1028459" y="2828010"/>
          <a:ext cx="15015594" cy="6004771"/>
        </p:xfrm>
        <a:graphic>
          <a:graphicData uri="http://schemas.openxmlformats.org/drawingml/2006/table">
            <a:tbl>
              <a:tblPr/>
              <a:tblGrid>
                <a:gridCol w="5005198">
                  <a:extLst>
                    <a:ext uri="{9D8B030D-6E8A-4147-A177-3AD203B41FA5}">
                      <a16:colId xmlns:a16="http://schemas.microsoft.com/office/drawing/2014/main" val="3116208023"/>
                    </a:ext>
                  </a:extLst>
                </a:gridCol>
                <a:gridCol w="5005198">
                  <a:extLst>
                    <a:ext uri="{9D8B030D-6E8A-4147-A177-3AD203B41FA5}">
                      <a16:colId xmlns:a16="http://schemas.microsoft.com/office/drawing/2014/main" val="1219581386"/>
                    </a:ext>
                  </a:extLst>
                </a:gridCol>
                <a:gridCol w="5005198">
                  <a:extLst>
                    <a:ext uri="{9D8B030D-6E8A-4147-A177-3AD203B41FA5}">
                      <a16:colId xmlns:a16="http://schemas.microsoft.com/office/drawing/2014/main" val="1493362303"/>
                    </a:ext>
                  </a:extLst>
                </a:gridCol>
              </a:tblGrid>
              <a:tr h="901195">
                <a:tc>
                  <a:txBody>
                    <a:bodyPr/>
                    <a:lstStyle/>
                    <a:p>
                      <a:pPr rtl="0" fontAlgn="t">
                        <a:buNone/>
                      </a:pPr>
                      <a:r>
                        <a:rPr lang="en-GB" sz="2800" b="1" i="0" u="none" strike="noStrike">
                          <a:solidFill>
                            <a:schemeClr val="tx2"/>
                          </a:solidFill>
                          <a:effectLst/>
                          <a:latin typeface="Barlow" pitchFamily="2" charset="77"/>
                        </a:rPr>
                        <a:t>Performance category</a:t>
                      </a:r>
                      <a:endParaRPr lang="en-GB" sz="2800">
                        <a:solidFill>
                          <a:schemeClr val="tx2"/>
                        </a:solidFill>
                        <a:effectLst/>
                        <a:latin typeface="Barlow" pitchFamily="2" charset="77"/>
                      </a:endParaRP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GB" sz="2800" b="1" i="0" u="none" strike="noStrike" dirty="0">
                          <a:solidFill>
                            <a:schemeClr val="tx2"/>
                          </a:solidFill>
                          <a:effectLst/>
                          <a:latin typeface="Barlow" pitchFamily="2" charset="77"/>
                        </a:rPr>
                        <a:t>Definition of underlying work (explicit or implied)*</a:t>
                      </a:r>
                      <a:endParaRPr lang="en-GB" sz="2800" dirty="0">
                        <a:solidFill>
                          <a:schemeClr val="tx2"/>
                        </a:solidFill>
                        <a:effectLst/>
                        <a:latin typeface="Barlow" pitchFamily="2" charset="77"/>
                      </a:endParaRP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GB" sz="2800" b="1" dirty="0">
                          <a:solidFill>
                            <a:schemeClr val="tx2"/>
                          </a:solidFill>
                          <a:effectLst/>
                          <a:latin typeface="Barlow" pitchFamily="2" charset="77"/>
                        </a:rPr>
                        <a:t>Examples</a:t>
                      </a: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4300690"/>
                  </a:ext>
                </a:extLst>
              </a:tr>
              <a:tr h="901195">
                <a:tc>
                  <a:txBody>
                    <a:bodyPr/>
                    <a:lstStyle/>
                    <a:p>
                      <a:pPr rtl="0" fontAlgn="t">
                        <a:buNone/>
                      </a:pPr>
                      <a:r>
                        <a:rPr lang="en-GB" sz="2800" b="0" i="0" u="none" strike="noStrike">
                          <a:solidFill>
                            <a:schemeClr val="tx2"/>
                          </a:solidFill>
                          <a:effectLst/>
                          <a:latin typeface="Barlow" pitchFamily="2" charset="77"/>
                        </a:rPr>
                        <a:t>Dramatic performance</a:t>
                      </a:r>
                      <a:endParaRPr lang="en-GB" sz="2800">
                        <a:solidFill>
                          <a:schemeClr val="tx2"/>
                        </a:solidFill>
                        <a:effectLst/>
                        <a:latin typeface="Barlow" pitchFamily="2" charset="77"/>
                      </a:endParaRP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GB" sz="2800" b="0" i="0" u="none" strike="noStrike" dirty="0">
                          <a:solidFill>
                            <a:schemeClr val="tx2"/>
                          </a:solidFill>
                          <a:effectLst/>
                          <a:latin typeface="Barlow" pitchFamily="2" charset="77"/>
                        </a:rPr>
                        <a:t>… includes a work of dance or mime.</a:t>
                      </a:r>
                      <a:endParaRPr lang="en-GB" sz="2800" dirty="0">
                        <a:solidFill>
                          <a:schemeClr val="tx2"/>
                        </a:solidFill>
                        <a:effectLst/>
                        <a:latin typeface="Barlow" pitchFamily="2" charset="77"/>
                      </a:endParaRP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GB" sz="2800" b="0" i="0" u="none" strike="noStrike" dirty="0">
                          <a:solidFill>
                            <a:schemeClr val="tx2"/>
                          </a:solidFill>
                          <a:effectLst/>
                          <a:latin typeface="Barlow" pitchFamily="2" charset="77"/>
                        </a:rPr>
                        <a:t>[in addition to dance and mime] Theatre</a:t>
                      </a:r>
                      <a:endParaRPr lang="en-GB" sz="2800" dirty="0">
                        <a:solidFill>
                          <a:schemeClr val="tx2"/>
                        </a:solidFill>
                        <a:effectLst/>
                        <a:latin typeface="Barlow" pitchFamily="2" charset="77"/>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7944736"/>
                  </a:ext>
                </a:extLst>
              </a:tr>
              <a:tr h="1554811">
                <a:tc>
                  <a:txBody>
                    <a:bodyPr/>
                    <a:lstStyle/>
                    <a:p>
                      <a:pPr rtl="0" fontAlgn="t">
                        <a:buNone/>
                      </a:pPr>
                      <a:r>
                        <a:rPr lang="en-GB" sz="2800" b="0" i="0" u="none" strike="noStrike" dirty="0">
                          <a:solidFill>
                            <a:schemeClr val="tx2"/>
                          </a:solidFill>
                          <a:effectLst/>
                          <a:latin typeface="Barlow" pitchFamily="2" charset="77"/>
                        </a:rPr>
                        <a:t>Musical performance</a:t>
                      </a:r>
                      <a:endParaRPr lang="en-GB" sz="2800" dirty="0">
                        <a:solidFill>
                          <a:schemeClr val="tx2"/>
                        </a:solidFill>
                        <a:effectLst/>
                        <a:latin typeface="Barlow" pitchFamily="2" charset="77"/>
                      </a:endParaRP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GB" sz="2800" b="0" i="0" u="none" strike="noStrike">
                          <a:solidFill>
                            <a:schemeClr val="tx2"/>
                          </a:solidFill>
                          <a:effectLst/>
                          <a:latin typeface="Barlow" pitchFamily="2" charset="77"/>
                        </a:rPr>
                        <a:t>… consists of music, exclusive of any words or action intended to be sung, spoken or performed with the music.</a:t>
                      </a:r>
                      <a:endParaRPr lang="en-GB" sz="2800">
                        <a:solidFill>
                          <a:schemeClr val="tx2"/>
                        </a:solidFill>
                        <a:effectLst/>
                        <a:latin typeface="Barlow" pitchFamily="2" charset="77"/>
                      </a:endParaRP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GB" sz="2800" b="0" i="0" u="none" strike="noStrike" dirty="0">
                          <a:solidFill>
                            <a:schemeClr val="tx2"/>
                          </a:solidFill>
                          <a:effectLst/>
                          <a:latin typeface="Barlow" pitchFamily="2" charset="77"/>
                        </a:rPr>
                        <a:t>Playing an instrument to create melody, rhythm, baseline</a:t>
                      </a:r>
                      <a:endParaRPr lang="en-GB" sz="2800" dirty="0">
                        <a:solidFill>
                          <a:schemeClr val="tx2"/>
                        </a:solidFill>
                        <a:effectLst/>
                        <a:latin typeface="Barlow" pitchFamily="2" charset="77"/>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8710662"/>
                  </a:ext>
                </a:extLst>
              </a:tr>
              <a:tr h="901195">
                <a:tc>
                  <a:txBody>
                    <a:bodyPr/>
                    <a:lstStyle/>
                    <a:p>
                      <a:pPr rtl="0" fontAlgn="t">
                        <a:buNone/>
                      </a:pPr>
                      <a:r>
                        <a:rPr lang="en-GB" sz="2800" b="0" i="0" u="none" strike="noStrike">
                          <a:solidFill>
                            <a:schemeClr val="tx2"/>
                          </a:solidFill>
                          <a:effectLst/>
                          <a:latin typeface="Barlow" pitchFamily="2" charset="77"/>
                        </a:rPr>
                        <a:t>Reading or recitation of literary work</a:t>
                      </a:r>
                      <a:endParaRPr lang="en-GB" sz="2800">
                        <a:solidFill>
                          <a:schemeClr val="tx2"/>
                        </a:solidFill>
                        <a:effectLst/>
                        <a:latin typeface="Barlow" pitchFamily="2" charset="77"/>
                      </a:endParaRP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GB" sz="2800" b="0" i="0" u="none" strike="noStrike">
                          <a:solidFill>
                            <a:schemeClr val="tx2"/>
                          </a:solidFill>
                          <a:effectLst/>
                          <a:latin typeface="Barlow" pitchFamily="2" charset="77"/>
                        </a:rPr>
                        <a:t>… is written, spoken or sung.</a:t>
                      </a:r>
                      <a:endParaRPr lang="en-GB" sz="2800">
                        <a:solidFill>
                          <a:schemeClr val="tx2"/>
                        </a:solidFill>
                        <a:effectLst/>
                        <a:latin typeface="Barlow" pitchFamily="2" charset="77"/>
                      </a:endParaRP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GB" sz="2800" b="0" i="0" u="none" strike="noStrike">
                          <a:solidFill>
                            <a:schemeClr val="tx2"/>
                          </a:solidFill>
                          <a:effectLst/>
                          <a:latin typeface="Barlow" pitchFamily="2" charset="77"/>
                        </a:rPr>
                        <a:t>Scripted film and TV acting, voice acting</a:t>
                      </a:r>
                      <a:endParaRPr lang="en-GB" sz="2800">
                        <a:solidFill>
                          <a:schemeClr val="tx2"/>
                        </a:solidFill>
                        <a:effectLst/>
                        <a:latin typeface="Barlow" pitchFamily="2" charset="77"/>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9447958"/>
                  </a:ext>
                </a:extLst>
              </a:tr>
              <a:tr h="1228004">
                <a:tc>
                  <a:txBody>
                    <a:bodyPr/>
                    <a:lstStyle/>
                    <a:p>
                      <a:pPr rtl="0" fontAlgn="t">
                        <a:buNone/>
                      </a:pPr>
                      <a:r>
                        <a:rPr lang="en-GB" sz="2800" b="0" i="0" u="none" strike="noStrike">
                          <a:solidFill>
                            <a:schemeClr val="tx2"/>
                          </a:solidFill>
                          <a:effectLst/>
                          <a:latin typeface="Barlow" pitchFamily="2" charset="77"/>
                        </a:rPr>
                        <a:t>Variety acts or any similar presentation</a:t>
                      </a:r>
                      <a:endParaRPr lang="en-GB" sz="2800">
                        <a:solidFill>
                          <a:schemeClr val="tx2"/>
                        </a:solidFill>
                        <a:effectLst/>
                        <a:latin typeface="Barlow" pitchFamily="2" charset="77"/>
                      </a:endParaRP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GB" sz="2800" b="0" i="0" u="none" strike="noStrike" dirty="0">
                          <a:solidFill>
                            <a:schemeClr val="tx2"/>
                          </a:solidFill>
                          <a:effectLst/>
                          <a:latin typeface="Barlow" pitchFamily="2" charset="77"/>
                        </a:rPr>
                        <a:t>-</a:t>
                      </a:r>
                      <a:endParaRPr lang="en-GB" sz="2800" dirty="0">
                        <a:solidFill>
                          <a:schemeClr val="tx2"/>
                        </a:solidFill>
                        <a:effectLst/>
                        <a:latin typeface="Barlow" pitchFamily="2" charset="77"/>
                      </a:endParaRPr>
                    </a:p>
                  </a:txBody>
                  <a:tcPr marL="14328" marR="14328" marT="14328" marB="143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GB" sz="2800" b="0" i="0" u="none" strike="noStrike" dirty="0">
                          <a:solidFill>
                            <a:schemeClr val="tx2"/>
                          </a:solidFill>
                          <a:effectLst/>
                          <a:latin typeface="Barlow" pitchFamily="2" charset="77"/>
                        </a:rPr>
                        <a:t>Any other act for entertainment purposes, such as magicians, clowns, jugglers, acrobats</a:t>
                      </a:r>
                      <a:endParaRPr lang="en-GB" sz="2800" dirty="0">
                        <a:solidFill>
                          <a:schemeClr val="tx2"/>
                        </a:solidFill>
                        <a:effectLst/>
                        <a:latin typeface="Barlow" pitchFamily="2" charset="77"/>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9941131"/>
                  </a:ext>
                </a:extLst>
              </a:tr>
            </a:tbl>
          </a:graphicData>
        </a:graphic>
      </p:graphicFrame>
    </p:spTree>
    <p:extLst>
      <p:ext uri="{BB962C8B-B14F-4D97-AF65-F5344CB8AC3E}">
        <p14:creationId xmlns:p14="http://schemas.microsoft.com/office/powerpoint/2010/main" val="968678929"/>
      </p:ext>
    </p:extLst>
  </p:cSld>
  <p:clrMapOvr>
    <a:masterClrMapping/>
  </p:clrMapOvr>
  <p:transition spd="med" advTm="222639"/>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2B6C8-B137-D304-9BF8-3AA5795CB40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5A03F6C-0FAC-9865-E312-7069891F968E}"/>
              </a:ext>
            </a:extLst>
          </p:cNvPr>
          <p:cNvSpPr txBox="1"/>
          <p:nvPr/>
        </p:nvSpPr>
        <p:spPr>
          <a:xfrm>
            <a:off x="1028458" y="730197"/>
            <a:ext cx="13304229"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Performers’ rights: live performances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824550D-2113-A3DF-F2C6-398E271A57D0}"/>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D9C2E778-B779-53C8-E44E-399BCB5361AA}"/>
              </a:ext>
            </a:extLst>
          </p:cNvPr>
          <p:cNvSpPr/>
          <p:nvPr/>
        </p:nvSpPr>
        <p:spPr>
          <a:xfrm>
            <a:off x="1028459" y="1947120"/>
            <a:ext cx="14862995" cy="3046988"/>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Normative aim: to protect against unauthorised recording of </a:t>
            </a:r>
            <a:r>
              <a:rPr lang="en-GB" sz="3200" dirty="0">
                <a:solidFill>
                  <a:schemeClr val="tx2"/>
                </a:solidFill>
                <a:latin typeface="Barlow" pitchFamily="2" charset="77"/>
              </a:rPr>
              <a:t>real time, in-person performances </a:t>
            </a:r>
            <a:r>
              <a:rPr lang="en-GB" sz="3200" b="0" dirty="0">
                <a:solidFill>
                  <a:schemeClr val="tx2"/>
                </a:solidFill>
                <a:latin typeface="Barlow" pitchFamily="2" charset="77"/>
              </a:rPr>
              <a:t>– e.g., recording a gig, stand-up show,</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Doesn’t need to be performed in front of a ‘live’ audience (</a:t>
            </a:r>
            <a:r>
              <a:rPr lang="en-GB" sz="3200" b="0" i="1" dirty="0" err="1">
                <a:solidFill>
                  <a:schemeClr val="tx2"/>
                </a:solidFill>
                <a:latin typeface="Barlow" pitchFamily="2" charset="77"/>
              </a:rPr>
              <a:t>Bamgboye</a:t>
            </a:r>
            <a:r>
              <a:rPr lang="en-GB" sz="3200" b="0" i="1" dirty="0">
                <a:solidFill>
                  <a:schemeClr val="tx2"/>
                </a:solidFill>
                <a:latin typeface="Barlow" pitchFamily="2" charset="77"/>
              </a:rPr>
              <a:t> v Reed</a:t>
            </a:r>
            <a:r>
              <a:rPr lang="en-GB" sz="3200" b="0" dirty="0">
                <a:solidFill>
                  <a:schemeClr val="tx2"/>
                </a:solidFill>
                <a:latin typeface="Barlow" pitchFamily="2" charset="77"/>
              </a:rPr>
              <a:t>) e.g. releasing an unauthorised ‘deleted scene’ filmed on set (</a:t>
            </a:r>
            <a:r>
              <a:rPr lang="en-GB" sz="3200" b="0" i="1" dirty="0">
                <a:solidFill>
                  <a:schemeClr val="tx2"/>
                </a:solidFill>
                <a:latin typeface="Barlow" pitchFamily="2" charset="77"/>
              </a:rPr>
              <a:t>Shelley Films v Rex Features)</a:t>
            </a:r>
            <a:endParaRPr lang="en-GB" sz="3200" b="0" dirty="0">
              <a:solidFill>
                <a:schemeClr val="tx2"/>
              </a:solidFill>
              <a:latin typeface="Barlow" pitchFamily="2" charset="77"/>
            </a:endParaRPr>
          </a:p>
        </p:txBody>
      </p:sp>
    </p:spTree>
    <p:extLst>
      <p:ext uri="{BB962C8B-B14F-4D97-AF65-F5344CB8AC3E}">
        <p14:creationId xmlns:p14="http://schemas.microsoft.com/office/powerpoint/2010/main" val="2749409249"/>
      </p:ext>
    </p:extLst>
  </p:cSld>
  <p:clrMapOvr>
    <a:masterClrMapping/>
  </p:clrMapOvr>
  <p:transition spd="med" advTm="222639"/>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BBFF-8105-A51C-1D20-8513992C90EA}"/>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6BCD2909-1600-8230-41AA-A2779419DE63}"/>
              </a:ext>
            </a:extLst>
          </p:cNvPr>
          <p:cNvSpPr txBox="1"/>
          <p:nvPr/>
        </p:nvSpPr>
        <p:spPr>
          <a:xfrm>
            <a:off x="1028458" y="730197"/>
            <a:ext cx="14282425"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Performers’ rights: recorded performances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7B603FB-4A0D-283E-C733-94864F51050D}"/>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D34FD168-BF7C-359B-3CDE-AA29B5263A48}"/>
              </a:ext>
            </a:extLst>
          </p:cNvPr>
          <p:cNvSpPr/>
          <p:nvPr/>
        </p:nvSpPr>
        <p:spPr>
          <a:xfrm>
            <a:off x="1028459" y="1947120"/>
            <a:ext cx="14862995" cy="3046988"/>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Recorded performances are performances which are fixed in a </a:t>
            </a:r>
            <a:r>
              <a:rPr lang="en-GB" sz="3200" dirty="0">
                <a:solidFill>
                  <a:schemeClr val="tx2"/>
                </a:solidFill>
                <a:latin typeface="Barlow" pitchFamily="2" charset="77"/>
              </a:rPr>
              <a:t>film and/or sound recording</a:t>
            </a:r>
            <a:endParaRPr lang="en-GB" sz="3200" b="0" dirty="0">
              <a:solidFill>
                <a:schemeClr val="tx2"/>
              </a:solidFill>
              <a:latin typeface="Barlow" pitchFamily="2" charset="77"/>
            </a:endParaRPr>
          </a:p>
          <a:p>
            <a:pPr algn="just"/>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Those films and sound recordings may be made directly from the live performance, the broadcast of a performance, or made (directly or indirectly) from another recording of the performance</a:t>
            </a:r>
          </a:p>
        </p:txBody>
      </p:sp>
    </p:spTree>
    <p:extLst>
      <p:ext uri="{BB962C8B-B14F-4D97-AF65-F5344CB8AC3E}">
        <p14:creationId xmlns:p14="http://schemas.microsoft.com/office/powerpoint/2010/main" val="524081989"/>
      </p:ext>
    </p:extLst>
  </p:cSld>
  <p:clrMapOvr>
    <a:masterClrMapping/>
  </p:clrMapOvr>
  <p:transition spd="med" advTm="22263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A10BD-1720-8B7B-0E7D-75D489D76E4E}"/>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0A32ADF7-0BB6-AC50-E7F1-8A506FFEA788}"/>
              </a:ext>
            </a:extLst>
          </p:cNvPr>
          <p:cNvSpPr txBox="1"/>
          <p:nvPr/>
        </p:nvSpPr>
        <p:spPr>
          <a:xfrm>
            <a:off x="1028458" y="730197"/>
            <a:ext cx="14282425"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Performers’ rights: subsistence</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2543C37-63E2-0C7A-C24A-6F4F02F9FD83}"/>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C45FE447-A95F-C37E-1FF4-2BFC0FE9BF50}"/>
              </a:ext>
            </a:extLst>
          </p:cNvPr>
          <p:cNvSpPr/>
          <p:nvPr/>
        </p:nvSpPr>
        <p:spPr>
          <a:xfrm>
            <a:off x="1028458" y="2883601"/>
            <a:ext cx="8791945" cy="4031873"/>
          </a:xfrm>
          <a:prstGeom prst="rect">
            <a:avLst/>
          </a:prstGeom>
        </p:spPr>
        <p:txBody>
          <a:bodyPr wrap="square">
            <a:spAutoFit/>
          </a:bodyPr>
          <a:lstStyle/>
          <a:p>
            <a:pPr algn="just"/>
            <a:endParaRPr lang="en-GB" sz="3200" b="0" dirty="0">
              <a:solidFill>
                <a:schemeClr val="tx2"/>
              </a:solidFill>
              <a:latin typeface="Barlow" pitchFamily="2" charset="77"/>
            </a:endParaRPr>
          </a:p>
          <a:p>
            <a:pPr algn="just"/>
            <a:r>
              <a:rPr lang="en-GB" sz="3200" dirty="0">
                <a:solidFill>
                  <a:schemeClr val="tx2"/>
                </a:solidFill>
                <a:latin typeface="Barlow" pitchFamily="2" charset="77"/>
              </a:rPr>
              <a:t>(1)</a:t>
            </a:r>
            <a:r>
              <a:rPr lang="en-GB" sz="3200" b="0" dirty="0">
                <a:solidFill>
                  <a:schemeClr val="tx2"/>
                </a:solidFill>
                <a:latin typeface="Barlow" pitchFamily="2" charset="77"/>
              </a:rPr>
              <a:t> the qualifying performance must fit into one of the four categories in CDPA s180(2), </a:t>
            </a:r>
            <a:r>
              <a:rPr lang="en-GB" sz="3200" b="0" u="sng" dirty="0">
                <a:solidFill>
                  <a:schemeClr val="tx2"/>
                </a:solidFill>
                <a:latin typeface="Barlow" pitchFamily="2" charset="77"/>
              </a:rPr>
              <a:t>and</a:t>
            </a:r>
            <a:r>
              <a:rPr lang="en-GB" sz="3200" b="0" dirty="0">
                <a:solidFill>
                  <a:schemeClr val="tx2"/>
                </a:solidFill>
                <a:latin typeface="Barlow" pitchFamily="2" charset="77"/>
              </a:rPr>
              <a:t>;</a:t>
            </a:r>
            <a:endParaRPr lang="en-GB" sz="3200" dirty="0">
              <a:solidFill>
                <a:schemeClr val="tx2"/>
              </a:solidFill>
              <a:latin typeface="Barlow" pitchFamily="2" charset="77"/>
            </a:endParaRPr>
          </a:p>
          <a:p>
            <a:pPr algn="just"/>
            <a:r>
              <a:rPr lang="en-GB" sz="3200" dirty="0">
                <a:solidFill>
                  <a:schemeClr val="tx2"/>
                </a:solidFill>
                <a:latin typeface="Barlow" pitchFamily="2" charset="77"/>
              </a:rPr>
              <a:t>(2) </a:t>
            </a:r>
            <a:r>
              <a:rPr lang="en-GB" sz="3200" b="0" dirty="0">
                <a:solidFill>
                  <a:schemeClr val="tx2"/>
                </a:solidFill>
                <a:latin typeface="Barlow" pitchFamily="2" charset="77"/>
              </a:rPr>
              <a:t>it is a live performance, </a:t>
            </a:r>
            <a:r>
              <a:rPr lang="en-GB" sz="3200" b="0" u="sng" dirty="0">
                <a:solidFill>
                  <a:schemeClr val="tx2"/>
                </a:solidFill>
                <a:latin typeface="Barlow" pitchFamily="2" charset="77"/>
              </a:rPr>
              <a:t>or</a:t>
            </a:r>
            <a:r>
              <a:rPr lang="en-GB" sz="3200" b="0" dirty="0">
                <a:solidFill>
                  <a:schemeClr val="tx2"/>
                </a:solidFill>
                <a:latin typeface="Barlow" pitchFamily="2" charset="77"/>
              </a:rPr>
              <a:t>;</a:t>
            </a:r>
            <a:endParaRPr lang="en-GB" sz="3200" dirty="0">
              <a:solidFill>
                <a:schemeClr val="tx2"/>
              </a:solidFill>
              <a:latin typeface="Barlow" pitchFamily="2" charset="77"/>
            </a:endParaRPr>
          </a:p>
          <a:p>
            <a:pPr algn="just"/>
            <a:r>
              <a:rPr lang="en-GB" sz="3200" dirty="0">
                <a:solidFill>
                  <a:schemeClr val="tx2"/>
                </a:solidFill>
                <a:latin typeface="Barlow" pitchFamily="2" charset="77"/>
              </a:rPr>
              <a:t>(3)</a:t>
            </a:r>
            <a:r>
              <a:rPr lang="en-GB" sz="3200" b="0" dirty="0">
                <a:solidFill>
                  <a:schemeClr val="tx2"/>
                </a:solidFill>
                <a:latin typeface="Barlow" pitchFamily="2" charset="77"/>
              </a:rPr>
              <a:t> it is a recording of a performance.</a:t>
            </a:r>
          </a:p>
          <a:p>
            <a:pPr algn="just"/>
            <a:endParaRPr lang="en-GB" sz="3200" b="0" dirty="0">
              <a:solidFill>
                <a:schemeClr val="tx2"/>
              </a:solidFill>
              <a:latin typeface="Barlow" pitchFamily="2" charset="77"/>
            </a:endParaRPr>
          </a:p>
          <a:p>
            <a:pPr algn="just"/>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https://</a:t>
            </a:r>
            <a:r>
              <a:rPr lang="en-GB" sz="3200" b="0" dirty="0" err="1">
                <a:solidFill>
                  <a:schemeClr val="tx2"/>
                </a:solidFill>
                <a:latin typeface="Barlow" pitchFamily="2" charset="77"/>
              </a:rPr>
              <a:t>forms.office.com</a:t>
            </a:r>
            <a:r>
              <a:rPr lang="en-GB" sz="3200" b="0" dirty="0">
                <a:solidFill>
                  <a:schemeClr val="tx2"/>
                </a:solidFill>
                <a:latin typeface="Barlow" pitchFamily="2" charset="77"/>
              </a:rPr>
              <a:t>/e/1XHpm1C5yJ</a:t>
            </a:r>
          </a:p>
        </p:txBody>
      </p:sp>
      <p:pic>
        <p:nvPicPr>
          <p:cNvPr id="2051" name="Picture 3" descr="QR code">
            <a:extLst>
              <a:ext uri="{FF2B5EF4-FFF2-40B4-BE49-F238E27FC236}">
                <a16:creationId xmlns:a16="http://schemas.microsoft.com/office/drawing/2014/main" id="{D7CA1091-50BA-BEBA-E2C6-171E54F11C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9753" y="2277831"/>
            <a:ext cx="6143155" cy="6143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309402"/>
      </p:ext>
    </p:extLst>
  </p:cSld>
  <p:clrMapOvr>
    <a:masterClrMapping/>
  </p:clrMapOvr>
  <p:transition spd="med" advTm="222639"/>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6B5EE-3AC4-5076-ACAB-2A7E246BA86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C33BD61-A2A8-90DC-0DDB-452EBFB93C42}"/>
              </a:ext>
            </a:extLst>
          </p:cNvPr>
          <p:cNvSpPr txBox="1"/>
          <p:nvPr/>
        </p:nvSpPr>
        <p:spPr>
          <a:xfrm>
            <a:off x="1028458" y="730197"/>
            <a:ext cx="1250912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Rights granted</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9CCF4F9-5CEA-1657-B029-06F21B5DF482}"/>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B12683C6-C46A-A368-25F7-B47AD6599736}"/>
              </a:ext>
            </a:extLst>
          </p:cNvPr>
          <p:cNvSpPr/>
          <p:nvPr/>
        </p:nvSpPr>
        <p:spPr>
          <a:xfrm>
            <a:off x="1028459" y="1947120"/>
            <a:ext cx="14862995" cy="58477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Rights given to performers are patchy and depend on the type of performance</a:t>
            </a:r>
          </a:p>
        </p:txBody>
      </p:sp>
      <p:graphicFrame>
        <p:nvGraphicFramePr>
          <p:cNvPr id="2" name="Table 1">
            <a:extLst>
              <a:ext uri="{FF2B5EF4-FFF2-40B4-BE49-F238E27FC236}">
                <a16:creationId xmlns:a16="http://schemas.microsoft.com/office/drawing/2014/main" id="{9611D668-6107-185B-6A5A-50B3D8D44C13}"/>
              </a:ext>
            </a:extLst>
          </p:cNvPr>
          <p:cNvGraphicFramePr>
            <a:graphicFrameLocks noGrp="1"/>
          </p:cNvGraphicFramePr>
          <p:nvPr>
            <p:extLst>
              <p:ext uri="{D42A27DB-BD31-4B8C-83A1-F6EECF244321}">
                <p14:modId xmlns:p14="http://schemas.microsoft.com/office/powerpoint/2010/main" val="606243322"/>
              </p:ext>
            </p:extLst>
          </p:nvPr>
        </p:nvGraphicFramePr>
        <p:xfrm>
          <a:off x="1028458" y="2903628"/>
          <a:ext cx="15283345" cy="5926967"/>
        </p:xfrm>
        <a:graphic>
          <a:graphicData uri="http://schemas.openxmlformats.org/drawingml/2006/table">
            <a:tbl>
              <a:tblPr firstRow="1" bandRow="1">
                <a:tableStyleId>{5940675A-B579-460E-94D1-54222C63F5DA}</a:tableStyleId>
              </a:tblPr>
              <a:tblGrid>
                <a:gridCol w="3056669">
                  <a:extLst>
                    <a:ext uri="{9D8B030D-6E8A-4147-A177-3AD203B41FA5}">
                      <a16:colId xmlns:a16="http://schemas.microsoft.com/office/drawing/2014/main" val="798654136"/>
                    </a:ext>
                  </a:extLst>
                </a:gridCol>
                <a:gridCol w="3056669">
                  <a:extLst>
                    <a:ext uri="{9D8B030D-6E8A-4147-A177-3AD203B41FA5}">
                      <a16:colId xmlns:a16="http://schemas.microsoft.com/office/drawing/2014/main" val="2686689222"/>
                    </a:ext>
                  </a:extLst>
                </a:gridCol>
                <a:gridCol w="3056669">
                  <a:extLst>
                    <a:ext uri="{9D8B030D-6E8A-4147-A177-3AD203B41FA5}">
                      <a16:colId xmlns:a16="http://schemas.microsoft.com/office/drawing/2014/main" val="3022717165"/>
                    </a:ext>
                  </a:extLst>
                </a:gridCol>
                <a:gridCol w="3056669">
                  <a:extLst>
                    <a:ext uri="{9D8B030D-6E8A-4147-A177-3AD203B41FA5}">
                      <a16:colId xmlns:a16="http://schemas.microsoft.com/office/drawing/2014/main" val="1206150256"/>
                    </a:ext>
                  </a:extLst>
                </a:gridCol>
                <a:gridCol w="3056669">
                  <a:extLst>
                    <a:ext uri="{9D8B030D-6E8A-4147-A177-3AD203B41FA5}">
                      <a16:colId xmlns:a16="http://schemas.microsoft.com/office/drawing/2014/main" val="1199223057"/>
                    </a:ext>
                  </a:extLst>
                </a:gridCol>
              </a:tblGrid>
              <a:tr h="900884">
                <a:tc>
                  <a:txBody>
                    <a:bodyPr/>
                    <a:lstStyle/>
                    <a:p>
                      <a:endParaRPr lang="en-GB" sz="2800" b="1" dirty="0">
                        <a:solidFill>
                          <a:schemeClr val="tx2"/>
                        </a:solidFill>
                        <a:latin typeface="Barlow" pitchFamily="2" charset="77"/>
                      </a:endParaRPr>
                    </a:p>
                  </a:txBody>
                  <a:tcPr/>
                </a:tc>
                <a:tc>
                  <a:txBody>
                    <a:bodyPr/>
                    <a:lstStyle/>
                    <a:p>
                      <a:r>
                        <a:rPr lang="en-GB" sz="2800" b="1" dirty="0">
                          <a:solidFill>
                            <a:schemeClr val="tx2"/>
                          </a:solidFill>
                          <a:latin typeface="Barlow" pitchFamily="2" charset="77"/>
                        </a:rPr>
                        <a:t>Contractable?</a:t>
                      </a:r>
                    </a:p>
                  </a:txBody>
                  <a:tcPr/>
                </a:tc>
                <a:tc>
                  <a:txBody>
                    <a:bodyPr/>
                    <a:lstStyle/>
                    <a:p>
                      <a:r>
                        <a:rPr lang="en-GB" sz="2800" b="1" dirty="0">
                          <a:solidFill>
                            <a:schemeClr val="tx2"/>
                          </a:solidFill>
                          <a:latin typeface="Barlow" pitchFamily="2" charset="77"/>
                        </a:rPr>
                        <a:t>Live performers</a:t>
                      </a:r>
                    </a:p>
                  </a:txBody>
                  <a:tcPr/>
                </a:tc>
                <a:tc>
                  <a:txBody>
                    <a:bodyPr/>
                    <a:lstStyle/>
                    <a:p>
                      <a:r>
                        <a:rPr lang="en-GB" sz="2800" b="1" dirty="0">
                          <a:solidFill>
                            <a:schemeClr val="tx2"/>
                          </a:solidFill>
                          <a:latin typeface="Barlow" pitchFamily="2" charset="77"/>
                        </a:rPr>
                        <a:t>Performers on sound recordings</a:t>
                      </a:r>
                    </a:p>
                  </a:txBody>
                  <a:tcPr/>
                </a:tc>
                <a:tc>
                  <a:txBody>
                    <a:bodyPr/>
                    <a:lstStyle/>
                    <a:p>
                      <a:r>
                        <a:rPr lang="en-GB" sz="2800" b="1" dirty="0">
                          <a:solidFill>
                            <a:schemeClr val="tx2"/>
                          </a:solidFill>
                          <a:latin typeface="Barlow" pitchFamily="2" charset="77"/>
                        </a:rPr>
                        <a:t>Audiovisual performers</a:t>
                      </a:r>
                    </a:p>
                  </a:txBody>
                  <a:tcPr/>
                </a:tc>
                <a:extLst>
                  <a:ext uri="{0D108BD9-81ED-4DB2-BD59-A6C34878D82A}">
                    <a16:rowId xmlns:a16="http://schemas.microsoft.com/office/drawing/2014/main" val="652212238"/>
                  </a:ext>
                </a:extLst>
              </a:tr>
              <a:tr h="2935139">
                <a:tc>
                  <a:txBody>
                    <a:bodyPr/>
                    <a:lstStyle/>
                    <a:p>
                      <a:r>
                        <a:rPr lang="en-GB" sz="2800" dirty="0">
                          <a:solidFill>
                            <a:schemeClr val="tx2"/>
                          </a:solidFill>
                          <a:latin typeface="Barlow" pitchFamily="2" charset="77"/>
                        </a:rPr>
                        <a:t>Economic rights</a:t>
                      </a:r>
                    </a:p>
                  </a:txBody>
                  <a:tcPr/>
                </a:tc>
                <a:tc>
                  <a:txBody>
                    <a:bodyPr/>
                    <a:lstStyle/>
                    <a:p>
                      <a:r>
                        <a:rPr lang="en-GB" sz="2800" dirty="0">
                          <a:solidFill>
                            <a:schemeClr val="tx2"/>
                          </a:solidFill>
                          <a:latin typeface="Barlow" pitchFamily="2" charset="77"/>
                        </a:rPr>
                        <a:t>Assignable/licensable</a:t>
                      </a:r>
                    </a:p>
                  </a:txBody>
                  <a:tcPr/>
                </a:tc>
                <a:tc>
                  <a:txBody>
                    <a:bodyPr/>
                    <a:lstStyle/>
                    <a:p>
                      <a:r>
                        <a:rPr lang="en-GB" sz="2800" dirty="0">
                          <a:solidFill>
                            <a:schemeClr val="tx2"/>
                          </a:solidFill>
                          <a:latin typeface="Barlow" pitchFamily="2" charset="77"/>
                        </a:rPr>
                        <a:t>Recording, copying and broadcasting</a:t>
                      </a:r>
                    </a:p>
                  </a:txBody>
                  <a:tcPr/>
                </a:tc>
                <a:tc>
                  <a:txBody>
                    <a:bodyPr/>
                    <a:lstStyle/>
                    <a:p>
                      <a:pPr marL="0" marR="0" lvl="0" indent="0" algn="ctr" defTabSz="782735" eaLnBrk="1" fontAlgn="auto" latinLnBrk="0" hangingPunct="1">
                        <a:lnSpc>
                          <a:spcPct val="100000"/>
                        </a:lnSpc>
                        <a:spcBef>
                          <a:spcPts val="0"/>
                        </a:spcBef>
                        <a:spcAft>
                          <a:spcPts val="0"/>
                        </a:spcAft>
                        <a:buClrTx/>
                        <a:buSzTx/>
                        <a:buFontTx/>
                        <a:buNone/>
                        <a:tabLst/>
                        <a:defRPr/>
                      </a:pPr>
                      <a:r>
                        <a:rPr lang="en-GB" sz="2800" dirty="0">
                          <a:solidFill>
                            <a:schemeClr val="tx2"/>
                          </a:solidFill>
                          <a:latin typeface="Barlow" pitchFamily="2" charset="77"/>
                        </a:rPr>
                        <a:t>Recording, copying and broadcasting</a:t>
                      </a:r>
                    </a:p>
                    <a:p>
                      <a:pPr marL="0" marR="0" lvl="0" indent="0" algn="ctr" defTabSz="782735" eaLnBrk="1" fontAlgn="auto" latinLnBrk="0" hangingPunct="1">
                        <a:lnSpc>
                          <a:spcPct val="100000"/>
                        </a:lnSpc>
                        <a:spcBef>
                          <a:spcPts val="0"/>
                        </a:spcBef>
                        <a:spcAft>
                          <a:spcPts val="0"/>
                        </a:spcAft>
                        <a:buClrTx/>
                        <a:buSzTx/>
                        <a:buFontTx/>
                        <a:buNone/>
                        <a:tabLst/>
                        <a:defRPr/>
                      </a:pPr>
                      <a:r>
                        <a:rPr lang="en-GB" sz="2800" dirty="0">
                          <a:solidFill>
                            <a:schemeClr val="tx2"/>
                          </a:solidFill>
                          <a:latin typeface="Barlow" pitchFamily="2" charset="77"/>
                        </a:rPr>
                        <a:t>+ Making available to the public and public performance</a:t>
                      </a:r>
                    </a:p>
                  </a:txBody>
                  <a:tcPr/>
                </a:tc>
                <a:tc>
                  <a:txBody>
                    <a:bodyPr/>
                    <a:lstStyle/>
                    <a:p>
                      <a:r>
                        <a:rPr lang="en-GB" sz="2800" dirty="0">
                          <a:solidFill>
                            <a:schemeClr val="tx2"/>
                          </a:solidFill>
                          <a:latin typeface="Barlow" pitchFamily="2" charset="77"/>
                        </a:rPr>
                        <a:t>Recording and copying</a:t>
                      </a:r>
                    </a:p>
                  </a:txBody>
                  <a:tcPr/>
                </a:tc>
                <a:extLst>
                  <a:ext uri="{0D108BD9-81ED-4DB2-BD59-A6C34878D82A}">
                    <a16:rowId xmlns:a16="http://schemas.microsoft.com/office/drawing/2014/main" val="767709111"/>
                  </a:ext>
                </a:extLst>
              </a:tr>
              <a:tr h="577714">
                <a:tc>
                  <a:txBody>
                    <a:bodyPr/>
                    <a:lstStyle/>
                    <a:p>
                      <a:r>
                        <a:rPr lang="en-GB" sz="2800" dirty="0">
                          <a:solidFill>
                            <a:schemeClr val="tx2"/>
                          </a:solidFill>
                          <a:latin typeface="Barlow" pitchFamily="2" charset="77"/>
                        </a:rPr>
                        <a:t>Moral rights</a:t>
                      </a:r>
                    </a:p>
                  </a:txBody>
                  <a:tcPr/>
                </a:tc>
                <a:tc>
                  <a:txBody>
                    <a:bodyPr/>
                    <a:lstStyle/>
                    <a:p>
                      <a:r>
                        <a:rPr lang="en-GB" sz="2800" dirty="0">
                          <a:solidFill>
                            <a:schemeClr val="tx2"/>
                          </a:solidFill>
                          <a:latin typeface="Barlow" pitchFamily="2" charset="77"/>
                        </a:rPr>
                        <a:t>Waivable</a:t>
                      </a:r>
                    </a:p>
                  </a:txBody>
                  <a:tcPr/>
                </a:tc>
                <a:tc>
                  <a:txBody>
                    <a:bodyPr/>
                    <a:lstStyle/>
                    <a:p>
                      <a:r>
                        <a:rPr lang="en-GB" sz="2800" dirty="0">
                          <a:solidFill>
                            <a:schemeClr val="tx2"/>
                          </a:solidFill>
                          <a:latin typeface="Barlow" pitchFamily="2" charset="77"/>
                        </a:rPr>
                        <a:t>Yes</a:t>
                      </a:r>
                    </a:p>
                  </a:txBody>
                  <a:tcPr/>
                </a:tc>
                <a:tc>
                  <a:txBody>
                    <a:bodyPr/>
                    <a:lstStyle/>
                    <a:p>
                      <a:r>
                        <a:rPr lang="en-GB" sz="2800" dirty="0">
                          <a:solidFill>
                            <a:schemeClr val="tx2"/>
                          </a:solidFill>
                          <a:latin typeface="Barlow" pitchFamily="2" charset="77"/>
                        </a:rPr>
                        <a:t>Yes</a:t>
                      </a:r>
                    </a:p>
                  </a:txBody>
                  <a:tcPr/>
                </a:tc>
                <a:tc>
                  <a:txBody>
                    <a:bodyPr/>
                    <a:lstStyle/>
                    <a:p>
                      <a:r>
                        <a:rPr lang="en-GB" sz="2800" dirty="0">
                          <a:solidFill>
                            <a:schemeClr val="tx2"/>
                          </a:solidFill>
                          <a:latin typeface="Barlow" pitchFamily="2" charset="77"/>
                        </a:rPr>
                        <a:t>-</a:t>
                      </a:r>
                    </a:p>
                  </a:txBody>
                  <a:tcPr/>
                </a:tc>
                <a:extLst>
                  <a:ext uri="{0D108BD9-81ED-4DB2-BD59-A6C34878D82A}">
                    <a16:rowId xmlns:a16="http://schemas.microsoft.com/office/drawing/2014/main" val="1605625995"/>
                  </a:ext>
                </a:extLst>
              </a:tr>
              <a:tr h="1325893">
                <a:tc>
                  <a:txBody>
                    <a:bodyPr/>
                    <a:lstStyle/>
                    <a:p>
                      <a:r>
                        <a:rPr lang="en-GB" sz="2800" dirty="0">
                          <a:solidFill>
                            <a:schemeClr val="tx2"/>
                          </a:solidFill>
                          <a:latin typeface="Barlow" pitchFamily="2" charset="77"/>
                        </a:rPr>
                        <a:t>Remuneration rights</a:t>
                      </a:r>
                    </a:p>
                  </a:txBody>
                  <a:tcPr/>
                </a:tc>
                <a:tc>
                  <a:txBody>
                    <a:bodyPr/>
                    <a:lstStyle/>
                    <a:p>
                      <a:r>
                        <a:rPr lang="en-GB" sz="2800" dirty="0">
                          <a:solidFill>
                            <a:schemeClr val="tx2"/>
                          </a:solidFill>
                          <a:latin typeface="Barlow" pitchFamily="2" charset="77"/>
                        </a:rPr>
                        <a:t>Unwaivable</a:t>
                      </a:r>
                    </a:p>
                  </a:txBody>
                  <a:tcPr/>
                </a:tc>
                <a:tc>
                  <a:txBody>
                    <a:bodyPr/>
                    <a:lstStyle/>
                    <a:p>
                      <a:r>
                        <a:rPr lang="en-GB" sz="2800" dirty="0">
                          <a:solidFill>
                            <a:schemeClr val="tx2"/>
                          </a:solidFill>
                          <a:latin typeface="Barlow" pitchFamily="2" charset="77"/>
                        </a:rPr>
                        <a:t>-</a:t>
                      </a:r>
                    </a:p>
                  </a:txBody>
                  <a:tcPr/>
                </a:tc>
                <a:tc>
                  <a:txBody>
                    <a:bodyPr/>
                    <a:lstStyle/>
                    <a:p>
                      <a:pPr marL="0" marR="0" lvl="0" indent="0" algn="ctr" defTabSz="782735" eaLnBrk="1" fontAlgn="auto" latinLnBrk="0" hangingPunct="1">
                        <a:lnSpc>
                          <a:spcPct val="100000"/>
                        </a:lnSpc>
                        <a:spcBef>
                          <a:spcPts val="0"/>
                        </a:spcBef>
                        <a:spcAft>
                          <a:spcPts val="0"/>
                        </a:spcAft>
                        <a:buClrTx/>
                        <a:buSzTx/>
                        <a:buFontTx/>
                        <a:buNone/>
                        <a:tabLst/>
                        <a:defRPr/>
                      </a:pPr>
                      <a:r>
                        <a:rPr lang="en-GB" sz="2800" dirty="0">
                          <a:solidFill>
                            <a:schemeClr val="tx2"/>
                          </a:solidFill>
                          <a:latin typeface="Barlow" pitchFamily="2" charset="77"/>
                        </a:rPr>
                        <a:t>Yes</a:t>
                      </a:r>
                    </a:p>
                    <a:p>
                      <a:endParaRPr lang="en-GB" sz="2800" dirty="0">
                        <a:solidFill>
                          <a:schemeClr val="tx2"/>
                        </a:solidFill>
                        <a:latin typeface="Barlow" pitchFamily="2" charset="77"/>
                      </a:endParaRPr>
                    </a:p>
                  </a:txBody>
                  <a:tcPr/>
                </a:tc>
                <a:tc>
                  <a:txBody>
                    <a:bodyPr/>
                    <a:lstStyle/>
                    <a:p>
                      <a:r>
                        <a:rPr lang="en-GB" sz="2800" dirty="0">
                          <a:solidFill>
                            <a:schemeClr val="tx2"/>
                          </a:solidFill>
                          <a:latin typeface="Barlow" pitchFamily="2" charset="77"/>
                        </a:rPr>
                        <a:t>-</a:t>
                      </a:r>
                    </a:p>
                  </a:txBody>
                  <a:tcPr/>
                </a:tc>
                <a:extLst>
                  <a:ext uri="{0D108BD9-81ED-4DB2-BD59-A6C34878D82A}">
                    <a16:rowId xmlns:a16="http://schemas.microsoft.com/office/drawing/2014/main" val="2460167662"/>
                  </a:ext>
                </a:extLst>
              </a:tr>
            </a:tbl>
          </a:graphicData>
        </a:graphic>
      </p:graphicFrame>
    </p:spTree>
    <p:extLst>
      <p:ext uri="{BB962C8B-B14F-4D97-AF65-F5344CB8AC3E}">
        <p14:creationId xmlns:p14="http://schemas.microsoft.com/office/powerpoint/2010/main" val="3250435362"/>
      </p:ext>
    </p:extLst>
  </p:cSld>
  <p:clrMapOvr>
    <a:masterClrMapping/>
  </p:clrMapOvr>
  <p:transition spd="med" advTm="222639"/>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6B5EE-3AC4-5076-ACAB-2A7E246BA86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C33BD61-A2A8-90DC-0DDB-452EBFB93C42}"/>
              </a:ext>
            </a:extLst>
          </p:cNvPr>
          <p:cNvSpPr txBox="1"/>
          <p:nvPr/>
        </p:nvSpPr>
        <p:spPr>
          <a:xfrm>
            <a:off x="1028458" y="730197"/>
            <a:ext cx="12509121"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The equitable remuneration right</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9CCF4F9-5CEA-1657-B029-06F21B5DF482}"/>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B12683C6-C46A-A368-25F7-B47AD6599736}"/>
              </a:ext>
            </a:extLst>
          </p:cNvPr>
          <p:cNvSpPr/>
          <p:nvPr/>
        </p:nvSpPr>
        <p:spPr>
          <a:xfrm>
            <a:off x="1028459" y="1947120"/>
            <a:ext cx="14862995" cy="6001643"/>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182D CDPA implementing the Rome Convention and (EU) Rental Directive:</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(1)Where a </a:t>
            </a:r>
            <a:r>
              <a:rPr lang="en-GB" sz="3200" dirty="0">
                <a:solidFill>
                  <a:schemeClr val="tx2"/>
                </a:solidFill>
                <a:latin typeface="Barlow" pitchFamily="2" charset="77"/>
              </a:rPr>
              <a:t>commercially published sound recording </a:t>
            </a:r>
            <a:r>
              <a:rPr lang="en-GB" sz="3200" b="0" dirty="0">
                <a:solidFill>
                  <a:schemeClr val="tx2"/>
                </a:solidFill>
                <a:latin typeface="Barlow" pitchFamily="2" charset="77"/>
              </a:rPr>
              <a:t>of the whole or any substantial part of a qualifying performance—</a:t>
            </a:r>
          </a:p>
          <a:p>
            <a:pPr marL="457200" indent="-457200" algn="just">
              <a:buFont typeface="Arial" panose="020B0604020202020204" pitchFamily="34" charset="0"/>
              <a:buChar char="•"/>
            </a:pPr>
            <a:r>
              <a:rPr lang="en-GB" sz="3200" b="0" dirty="0">
                <a:solidFill>
                  <a:schemeClr val="tx2"/>
                </a:solidFill>
                <a:latin typeface="Barlow" pitchFamily="2" charset="77"/>
              </a:rPr>
              <a:t>(a) is </a:t>
            </a:r>
            <a:r>
              <a:rPr lang="en-GB" sz="3200" dirty="0">
                <a:solidFill>
                  <a:schemeClr val="tx2"/>
                </a:solidFill>
                <a:latin typeface="Barlow" pitchFamily="2" charset="77"/>
              </a:rPr>
              <a:t>played in public</a:t>
            </a:r>
            <a:r>
              <a:rPr lang="en-GB" sz="3200" b="0" dirty="0">
                <a:solidFill>
                  <a:schemeClr val="tx2"/>
                </a:solidFill>
                <a:latin typeface="Barlow" pitchFamily="2" charset="77"/>
              </a:rPr>
              <a:t>, or</a:t>
            </a:r>
          </a:p>
          <a:p>
            <a:pPr marL="457200" indent="-457200" algn="just">
              <a:buFont typeface="Arial" panose="020B0604020202020204" pitchFamily="34" charset="0"/>
              <a:buChar char="•"/>
            </a:pPr>
            <a:r>
              <a:rPr lang="en-GB" sz="3200" b="0" dirty="0">
                <a:solidFill>
                  <a:schemeClr val="tx2"/>
                </a:solidFill>
                <a:latin typeface="Barlow" pitchFamily="2" charset="77"/>
              </a:rPr>
              <a:t>(b) is </a:t>
            </a:r>
            <a:r>
              <a:rPr lang="en-GB" sz="3200" dirty="0">
                <a:solidFill>
                  <a:schemeClr val="tx2"/>
                </a:solidFill>
                <a:latin typeface="Barlow" pitchFamily="2" charset="77"/>
              </a:rPr>
              <a:t>communicated to the public </a:t>
            </a:r>
            <a:r>
              <a:rPr lang="en-GB" sz="3200" b="0" dirty="0">
                <a:solidFill>
                  <a:schemeClr val="tx2"/>
                </a:solidFill>
                <a:latin typeface="Barlow" pitchFamily="2" charset="77"/>
              </a:rPr>
              <a:t>[…]</a:t>
            </a:r>
          </a:p>
          <a:p>
            <a:pPr marL="457200" indent="-457200" algn="just">
              <a:buFont typeface="Arial" panose="020B0604020202020204" pitchFamily="34" charset="0"/>
              <a:buChar char="•"/>
            </a:pPr>
            <a:r>
              <a:rPr lang="en-GB" sz="3200" b="0" dirty="0">
                <a:solidFill>
                  <a:schemeClr val="tx2"/>
                </a:solidFill>
                <a:latin typeface="Barlow" pitchFamily="2" charset="77"/>
              </a:rPr>
              <a:t>the performer is entitled to </a:t>
            </a:r>
            <a:r>
              <a:rPr lang="en-GB" sz="3200" dirty="0">
                <a:solidFill>
                  <a:schemeClr val="tx2"/>
                </a:solidFill>
                <a:latin typeface="Barlow" pitchFamily="2" charset="77"/>
              </a:rPr>
              <a:t>equitable remuneration from the owner of the copyright in the sound recording</a:t>
            </a:r>
          </a:p>
          <a:p>
            <a:pPr marL="457200" indent="-457200" algn="just">
              <a:buFont typeface="Arial" panose="020B0604020202020204" pitchFamily="34" charset="0"/>
              <a:buChar char="•"/>
            </a:pPr>
            <a:r>
              <a:rPr lang="en-GB" sz="3200" b="0" dirty="0">
                <a:solidFill>
                  <a:schemeClr val="tx2"/>
                </a:solidFill>
                <a:latin typeface="Barlow" pitchFamily="2" charset="77"/>
              </a:rPr>
              <a:t>(2)The right to equitable remuneration under this section </a:t>
            </a:r>
            <a:r>
              <a:rPr lang="en-GB" sz="3200" dirty="0">
                <a:solidFill>
                  <a:schemeClr val="tx2"/>
                </a:solidFill>
                <a:latin typeface="Barlow" pitchFamily="2" charset="77"/>
              </a:rPr>
              <a:t>may not be assigned </a:t>
            </a:r>
            <a:r>
              <a:rPr lang="en-GB" sz="3200" b="0" dirty="0">
                <a:solidFill>
                  <a:schemeClr val="tx2"/>
                </a:solidFill>
                <a:latin typeface="Barlow" pitchFamily="2" charset="77"/>
              </a:rPr>
              <a:t>by the performer </a:t>
            </a:r>
            <a:r>
              <a:rPr lang="en-GB" sz="3200" dirty="0">
                <a:solidFill>
                  <a:schemeClr val="tx2"/>
                </a:solidFill>
                <a:latin typeface="Barlow" pitchFamily="2" charset="77"/>
              </a:rPr>
              <a:t>except to a collecting society [usually Performing Rights Society (PRS) and Phonographic Performance Limited (PPL)] </a:t>
            </a:r>
            <a:r>
              <a:rPr lang="en-GB" sz="3200" b="0" dirty="0">
                <a:solidFill>
                  <a:schemeClr val="tx2"/>
                </a:solidFill>
                <a:latin typeface="Barlow" pitchFamily="2" charset="77"/>
              </a:rPr>
              <a:t>for the purpose of enabling it to enforce the right on his behalf.</a:t>
            </a:r>
          </a:p>
        </p:txBody>
      </p:sp>
    </p:spTree>
    <p:extLst>
      <p:ext uri="{BB962C8B-B14F-4D97-AF65-F5344CB8AC3E}">
        <p14:creationId xmlns:p14="http://schemas.microsoft.com/office/powerpoint/2010/main" val="1300493996"/>
      </p:ext>
    </p:extLst>
  </p:cSld>
  <p:clrMapOvr>
    <a:masterClrMapping/>
  </p:clrMapOvr>
  <p:transition spd="med" advTm="222639"/>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53941-C2AA-00C2-AC2A-B0260324550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B3C4D3E-B54D-4325-1F01-7EB1D18599F3}"/>
              </a:ext>
            </a:extLst>
          </p:cNvPr>
          <p:cNvSpPr txBox="1"/>
          <p:nvPr/>
        </p:nvSpPr>
        <p:spPr>
          <a:xfrm>
            <a:off x="1028458" y="730197"/>
            <a:ext cx="1159472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The equitable remuneration right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9072172-487E-55CB-ADCC-AA72E1914523}"/>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C7524980-123D-FA04-0D26-590A95ABAB35}"/>
              </a:ext>
            </a:extLst>
          </p:cNvPr>
          <p:cNvSpPr/>
          <p:nvPr/>
        </p:nvSpPr>
        <p:spPr>
          <a:xfrm>
            <a:off x="1028459" y="1947120"/>
            <a:ext cx="14862995" cy="255454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Typically, the equitable remuneration right would mandate a 50/50 share between copyright holders and </a:t>
            </a:r>
            <a:r>
              <a:rPr lang="en-GB" sz="3200" b="0" u="sng" dirty="0">
                <a:solidFill>
                  <a:schemeClr val="tx2"/>
                </a:solidFill>
                <a:latin typeface="Barlow" pitchFamily="2" charset="77"/>
              </a:rPr>
              <a:t>all</a:t>
            </a:r>
            <a:r>
              <a:rPr lang="en-GB" sz="3200" b="0" dirty="0">
                <a:solidFill>
                  <a:schemeClr val="tx2"/>
                </a:solidFill>
                <a:latin typeface="Barlow" pitchFamily="2" charset="77"/>
              </a:rPr>
              <a:t> performers, including session artists. But -</a:t>
            </a:r>
          </a:p>
          <a:p>
            <a:pPr algn="just"/>
            <a:endParaRPr lang="en-GB" sz="3200" b="0" i="1" dirty="0">
              <a:solidFill>
                <a:schemeClr val="tx2"/>
              </a:solidFill>
              <a:latin typeface="Barlow" pitchFamily="2" charset="77"/>
            </a:endParaRPr>
          </a:p>
          <a:p>
            <a:pPr marL="457200" indent="-457200" algn="just">
              <a:buFont typeface="Arial" panose="020B0604020202020204" pitchFamily="34" charset="0"/>
              <a:buChar char="•"/>
            </a:pPr>
            <a:r>
              <a:rPr lang="en-GB" sz="3200" b="0" i="1" dirty="0">
                <a:solidFill>
                  <a:schemeClr val="tx2"/>
                </a:solidFill>
                <a:latin typeface="Barlow" pitchFamily="2" charset="77"/>
              </a:rPr>
              <a:t>When songs are streamed this does </a:t>
            </a:r>
            <a:r>
              <a:rPr lang="en-GB" sz="3200" b="0" i="1" u="sng" dirty="0">
                <a:solidFill>
                  <a:schemeClr val="tx2"/>
                </a:solidFill>
                <a:latin typeface="Barlow" pitchFamily="2" charset="77"/>
              </a:rPr>
              <a:t>not</a:t>
            </a:r>
            <a:r>
              <a:rPr lang="en-GB" sz="3200" b="0" i="1" dirty="0">
                <a:solidFill>
                  <a:schemeClr val="tx2"/>
                </a:solidFill>
                <a:latin typeface="Barlow" pitchFamily="2" charset="77"/>
              </a:rPr>
              <a:t> trigger the right of equitable remuneration. Why not?</a:t>
            </a:r>
          </a:p>
        </p:txBody>
      </p:sp>
    </p:spTree>
    <p:extLst>
      <p:ext uri="{BB962C8B-B14F-4D97-AF65-F5344CB8AC3E}">
        <p14:creationId xmlns:p14="http://schemas.microsoft.com/office/powerpoint/2010/main" val="2598703097"/>
      </p:ext>
    </p:extLst>
  </p:cSld>
  <p:clrMapOvr>
    <a:masterClrMapping/>
  </p:clrMapOvr>
  <p:transition spd="med" advTm="222639"/>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BECC8-845A-F816-07C6-BFE8EB8E8E45}"/>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315EFA1E-12C3-525D-8511-4FE31BBDBD91}"/>
              </a:ext>
            </a:extLst>
          </p:cNvPr>
          <p:cNvSpPr txBox="1"/>
          <p:nvPr/>
        </p:nvSpPr>
        <p:spPr>
          <a:xfrm>
            <a:off x="1875951" y="2311530"/>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4DD8A283-0BB6-4EAC-D283-D656066760C1}"/>
              </a:ext>
            </a:extLst>
          </p:cNvPr>
          <p:cNvSpPr/>
          <p:nvPr/>
        </p:nvSpPr>
        <p:spPr>
          <a:xfrm>
            <a:off x="7323482" y="1274315"/>
            <a:ext cx="9279413" cy="861774"/>
          </a:xfrm>
          <a:prstGeom prst="rect">
            <a:avLst/>
          </a:prstGeom>
          <a:solidFill>
            <a:srgbClr val="FF7765"/>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i="0" u="none" strike="noStrike" cap="none" spc="0" normalizeH="0" baseline="0" dirty="0">
                <a:ln>
                  <a:noFill/>
                </a:ln>
                <a:solidFill>
                  <a:schemeClr val="bg1"/>
                </a:solidFill>
                <a:effectLst/>
                <a:uFillTx/>
                <a:latin typeface="Barlow" pitchFamily="2" charset="77"/>
                <a:ea typeface="+mn-ea"/>
                <a:cs typeface="+mn-cs"/>
                <a:sym typeface="Helvetica Neue Medium"/>
              </a:rPr>
              <a:t>Artists</a:t>
            </a:r>
            <a:r>
              <a:rPr kumimoji="0" lang="en-GB" sz="2800" b="0" i="0" u="none" strike="noStrike" cap="none" spc="0" normalizeH="0" baseline="0" dirty="0">
                <a:ln>
                  <a:noFill/>
                </a:ln>
                <a:solidFill>
                  <a:schemeClr val="bg1"/>
                </a:solidFill>
                <a:effectLst/>
                <a:uFillTx/>
                <a:latin typeface="Barlow" pitchFamily="2" charset="77"/>
                <a:ea typeface="+mn-ea"/>
                <a:cs typeface="+mn-cs"/>
                <a:sym typeface="Helvetica Neue Medium"/>
              </a:rPr>
              <a:t> (including lyricists, singers, musicians, composers and session artists)</a:t>
            </a:r>
          </a:p>
        </p:txBody>
      </p:sp>
      <p:sp>
        <p:nvSpPr>
          <p:cNvPr id="10" name="Rectangle 9">
            <a:extLst>
              <a:ext uri="{FF2B5EF4-FFF2-40B4-BE49-F238E27FC236}">
                <a16:creationId xmlns:a16="http://schemas.microsoft.com/office/drawing/2014/main" id="{9682A59A-8EA1-D68C-1226-CCBFB0F56675}"/>
              </a:ext>
            </a:extLst>
          </p:cNvPr>
          <p:cNvSpPr/>
          <p:nvPr/>
        </p:nvSpPr>
        <p:spPr>
          <a:xfrm>
            <a:off x="7571912" y="3684977"/>
            <a:ext cx="8564932" cy="861774"/>
          </a:xfrm>
          <a:prstGeom prst="rect">
            <a:avLst/>
          </a:prstGeom>
          <a:solidFill>
            <a:srgbClr val="FF7765"/>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i="0" u="none" strike="noStrike" cap="none" spc="0" normalizeH="0" baseline="0" dirty="0">
                <a:ln>
                  <a:noFill/>
                </a:ln>
                <a:solidFill>
                  <a:srgbClr val="FFFFFF"/>
                </a:solidFill>
                <a:effectLst/>
                <a:uFillTx/>
                <a:latin typeface="Barlow" pitchFamily="2" charset="77"/>
                <a:ea typeface="+mn-ea"/>
                <a:cs typeface="+mn-cs"/>
                <a:sym typeface="Helvetica Neue Medium"/>
              </a:rPr>
              <a:t>Publishers </a:t>
            </a:r>
            <a:r>
              <a:rPr kumimoji="0" lang="en-GB" sz="2800" b="0" i="0" u="none" strike="noStrike" cap="none" spc="0" normalizeH="0" baseline="0" dirty="0">
                <a:ln>
                  <a:noFill/>
                </a:ln>
                <a:solidFill>
                  <a:srgbClr val="FFFFFF"/>
                </a:solidFill>
                <a:effectLst/>
                <a:uFillTx/>
                <a:latin typeface="Barlow" pitchFamily="2" charset="77"/>
                <a:ea typeface="+mn-ea"/>
                <a:cs typeface="+mn-cs"/>
                <a:sym typeface="Helvetica Neue Medium"/>
              </a:rPr>
              <a:t>(exploiting the underlying lyrics, melody and performers’ rights)</a:t>
            </a:r>
          </a:p>
        </p:txBody>
      </p:sp>
      <p:sp>
        <p:nvSpPr>
          <p:cNvPr id="11" name="Rectangle 10">
            <a:extLst>
              <a:ext uri="{FF2B5EF4-FFF2-40B4-BE49-F238E27FC236}">
                <a16:creationId xmlns:a16="http://schemas.microsoft.com/office/drawing/2014/main" id="{438ED1A8-EC3E-3297-2721-318711CA5095}"/>
              </a:ext>
            </a:extLst>
          </p:cNvPr>
          <p:cNvSpPr/>
          <p:nvPr/>
        </p:nvSpPr>
        <p:spPr>
          <a:xfrm>
            <a:off x="8769004" y="6034567"/>
            <a:ext cx="6309044" cy="861774"/>
          </a:xfrm>
          <a:prstGeom prst="rect">
            <a:avLst/>
          </a:prstGeom>
          <a:solidFill>
            <a:srgbClr val="FF7765"/>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i="0" u="none" strike="noStrike" cap="none" spc="0" normalizeH="0" baseline="0" dirty="0">
                <a:ln>
                  <a:noFill/>
                </a:ln>
                <a:solidFill>
                  <a:srgbClr val="FFFFFF"/>
                </a:solidFill>
                <a:effectLst/>
                <a:uFillTx/>
                <a:latin typeface="Barlow" pitchFamily="2" charset="77"/>
                <a:ea typeface="+mn-ea"/>
                <a:cs typeface="+mn-cs"/>
                <a:sym typeface="Helvetica Neue Medium"/>
              </a:rPr>
              <a:t>Record label </a:t>
            </a:r>
            <a:r>
              <a:rPr kumimoji="0" lang="en-GB" sz="2800" b="0" i="0" u="none" strike="noStrike" cap="none" spc="0" normalizeH="0" baseline="0" dirty="0">
                <a:ln>
                  <a:noFill/>
                </a:ln>
                <a:solidFill>
                  <a:srgbClr val="FFFFFF"/>
                </a:solidFill>
                <a:effectLst/>
                <a:uFillTx/>
                <a:latin typeface="Barlow" pitchFamily="2" charset="77"/>
                <a:ea typeface="+mn-ea"/>
                <a:cs typeface="+mn-cs"/>
                <a:sym typeface="Helvetica Neue Medium"/>
              </a:rPr>
              <a:t>(exploiting the sound recording itself)</a:t>
            </a:r>
          </a:p>
        </p:txBody>
      </p:sp>
      <p:sp>
        <p:nvSpPr>
          <p:cNvPr id="22" name="Rectangle 21">
            <a:extLst>
              <a:ext uri="{FF2B5EF4-FFF2-40B4-BE49-F238E27FC236}">
                <a16:creationId xmlns:a16="http://schemas.microsoft.com/office/drawing/2014/main" id="{957BDADD-73B0-1FB0-B204-CB8D332A6460}"/>
              </a:ext>
            </a:extLst>
          </p:cNvPr>
          <p:cNvSpPr/>
          <p:nvPr/>
        </p:nvSpPr>
        <p:spPr>
          <a:xfrm>
            <a:off x="8769004" y="8246607"/>
            <a:ext cx="6309044" cy="430887"/>
          </a:xfrm>
          <a:prstGeom prst="rect">
            <a:avLst/>
          </a:prstGeom>
          <a:solidFill>
            <a:srgbClr val="FF7765"/>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i="0" u="none" strike="noStrike" cap="none" spc="0" normalizeH="0" baseline="0" dirty="0">
                <a:ln>
                  <a:noFill/>
                </a:ln>
                <a:solidFill>
                  <a:srgbClr val="FFFFFF"/>
                </a:solidFill>
                <a:effectLst/>
                <a:uFillTx/>
                <a:latin typeface="Barlow" pitchFamily="2" charset="77"/>
                <a:ea typeface="+mn-ea"/>
                <a:cs typeface="+mn-cs"/>
                <a:sym typeface="Helvetica Neue Medium"/>
              </a:rPr>
              <a:t>The platform </a:t>
            </a:r>
            <a:r>
              <a:rPr kumimoji="0" lang="en-GB" sz="2800" b="0" i="0" u="none" strike="noStrike" cap="none" spc="0" normalizeH="0" baseline="0" dirty="0">
                <a:ln>
                  <a:noFill/>
                </a:ln>
                <a:solidFill>
                  <a:srgbClr val="FFFFFF"/>
                </a:solidFill>
                <a:effectLst/>
                <a:uFillTx/>
                <a:latin typeface="Barlow" pitchFamily="2" charset="77"/>
                <a:ea typeface="+mn-ea"/>
                <a:cs typeface="+mn-cs"/>
                <a:sym typeface="Helvetica Neue Medium"/>
              </a:rPr>
              <a:t>(distributing the song)</a:t>
            </a:r>
            <a:endParaRPr kumimoji="0" lang="en-GB" sz="2800" i="0" u="none" strike="noStrike" cap="none" spc="0" normalizeH="0" baseline="0" dirty="0">
              <a:ln>
                <a:noFill/>
              </a:ln>
              <a:solidFill>
                <a:srgbClr val="FFFFFF"/>
              </a:solidFill>
              <a:effectLst/>
              <a:uFillTx/>
              <a:latin typeface="Barlow" pitchFamily="2" charset="77"/>
              <a:ea typeface="+mn-ea"/>
              <a:cs typeface="+mn-cs"/>
              <a:sym typeface="Helvetica Neue Medium"/>
            </a:endParaRPr>
          </a:p>
        </p:txBody>
      </p:sp>
      <p:sp>
        <p:nvSpPr>
          <p:cNvPr id="3" name="Rectangle 2">
            <a:extLst>
              <a:ext uri="{FF2B5EF4-FFF2-40B4-BE49-F238E27FC236}">
                <a16:creationId xmlns:a16="http://schemas.microsoft.com/office/drawing/2014/main" id="{E08E39D9-5B72-CC7E-D96B-3359840ECF85}"/>
              </a:ext>
            </a:extLst>
          </p:cNvPr>
          <p:cNvSpPr/>
          <p:nvPr/>
        </p:nvSpPr>
        <p:spPr>
          <a:xfrm>
            <a:off x="4611233" y="6201363"/>
            <a:ext cx="1026630" cy="523220"/>
          </a:xfrm>
          <a:prstGeom prst="rect">
            <a:avLst/>
          </a:prstGeom>
        </p:spPr>
        <p:txBody>
          <a:bodyPr wrap="square">
            <a:spAutoFit/>
          </a:bodyPr>
          <a:lstStyle/>
          <a:p>
            <a:r>
              <a:rPr lang="en-GB" sz="2800" b="0" dirty="0">
                <a:solidFill>
                  <a:schemeClr val="tx2"/>
                </a:solidFill>
                <a:latin typeface="Barlow" pitchFamily="2" charset="77"/>
              </a:rPr>
              <a:t>50%</a:t>
            </a:r>
          </a:p>
        </p:txBody>
      </p:sp>
      <p:sp>
        <p:nvSpPr>
          <p:cNvPr id="4" name="Rectangle 3">
            <a:extLst>
              <a:ext uri="{FF2B5EF4-FFF2-40B4-BE49-F238E27FC236}">
                <a16:creationId xmlns:a16="http://schemas.microsoft.com/office/drawing/2014/main" id="{9A4568DD-23BB-6347-409F-FCDC1EB64A79}"/>
              </a:ext>
            </a:extLst>
          </p:cNvPr>
          <p:cNvSpPr/>
          <p:nvPr/>
        </p:nvSpPr>
        <p:spPr>
          <a:xfrm>
            <a:off x="4611233" y="8236945"/>
            <a:ext cx="1026630" cy="523220"/>
          </a:xfrm>
          <a:prstGeom prst="rect">
            <a:avLst/>
          </a:prstGeom>
        </p:spPr>
        <p:txBody>
          <a:bodyPr wrap="square">
            <a:spAutoFit/>
          </a:bodyPr>
          <a:lstStyle/>
          <a:p>
            <a:r>
              <a:rPr lang="en-GB" sz="2800" b="0" dirty="0">
                <a:solidFill>
                  <a:schemeClr val="tx2"/>
                </a:solidFill>
                <a:latin typeface="Barlow" pitchFamily="2" charset="77"/>
              </a:rPr>
              <a:t>30%</a:t>
            </a:r>
          </a:p>
        </p:txBody>
      </p:sp>
      <p:sp>
        <p:nvSpPr>
          <p:cNvPr id="5" name="Rectangle 4">
            <a:extLst>
              <a:ext uri="{FF2B5EF4-FFF2-40B4-BE49-F238E27FC236}">
                <a16:creationId xmlns:a16="http://schemas.microsoft.com/office/drawing/2014/main" id="{1D811260-FA53-EE82-63EF-CD2E6B9131EC}"/>
              </a:ext>
            </a:extLst>
          </p:cNvPr>
          <p:cNvSpPr/>
          <p:nvPr/>
        </p:nvSpPr>
        <p:spPr>
          <a:xfrm>
            <a:off x="4611233" y="3882528"/>
            <a:ext cx="1026630" cy="523220"/>
          </a:xfrm>
          <a:prstGeom prst="rect">
            <a:avLst/>
          </a:prstGeom>
        </p:spPr>
        <p:txBody>
          <a:bodyPr wrap="square">
            <a:spAutoFit/>
          </a:bodyPr>
          <a:lstStyle/>
          <a:p>
            <a:r>
              <a:rPr lang="en-GB" sz="2800" b="0" dirty="0">
                <a:solidFill>
                  <a:schemeClr val="tx2"/>
                </a:solidFill>
                <a:latin typeface="Barlow" pitchFamily="2" charset="77"/>
              </a:rPr>
              <a:t>10%</a:t>
            </a:r>
          </a:p>
        </p:txBody>
      </p:sp>
      <p:sp>
        <p:nvSpPr>
          <p:cNvPr id="6" name="Rectangle 5">
            <a:extLst>
              <a:ext uri="{FF2B5EF4-FFF2-40B4-BE49-F238E27FC236}">
                <a16:creationId xmlns:a16="http://schemas.microsoft.com/office/drawing/2014/main" id="{7276F4E3-542F-F8D2-07E2-E5B70D8F65C3}"/>
              </a:ext>
            </a:extLst>
          </p:cNvPr>
          <p:cNvSpPr/>
          <p:nvPr/>
        </p:nvSpPr>
        <p:spPr>
          <a:xfrm>
            <a:off x="3107364" y="527161"/>
            <a:ext cx="4034368" cy="2677656"/>
          </a:xfrm>
          <a:prstGeom prst="rect">
            <a:avLst/>
          </a:prstGeom>
        </p:spPr>
        <p:txBody>
          <a:bodyPr wrap="square">
            <a:spAutoFit/>
          </a:bodyPr>
          <a:lstStyle/>
          <a:p>
            <a:r>
              <a:rPr lang="en-GB" sz="2800" dirty="0">
                <a:solidFill>
                  <a:schemeClr val="tx2"/>
                </a:solidFill>
                <a:latin typeface="Barlow" pitchFamily="2" charset="77"/>
              </a:rPr>
              <a:t>10%</a:t>
            </a:r>
          </a:p>
          <a:p>
            <a:r>
              <a:rPr lang="en-GB" sz="2800" b="0" dirty="0">
                <a:solidFill>
                  <a:schemeClr val="tx2"/>
                </a:solidFill>
                <a:latin typeface="Barlow" pitchFamily="2" charset="77"/>
              </a:rPr>
              <a:t>(5% each between performers and composers, usually excluding session artists)</a:t>
            </a:r>
          </a:p>
        </p:txBody>
      </p:sp>
      <p:sp>
        <p:nvSpPr>
          <p:cNvPr id="14" name="Left Brace 13">
            <a:extLst>
              <a:ext uri="{FF2B5EF4-FFF2-40B4-BE49-F238E27FC236}">
                <a16:creationId xmlns:a16="http://schemas.microsoft.com/office/drawing/2014/main" id="{7C591407-2231-BAA4-1B82-4EC6FC42D7D2}"/>
              </a:ext>
            </a:extLst>
          </p:cNvPr>
          <p:cNvSpPr/>
          <p:nvPr/>
        </p:nvSpPr>
        <p:spPr>
          <a:xfrm>
            <a:off x="2797736" y="697330"/>
            <a:ext cx="669074" cy="8186277"/>
          </a:xfrm>
          <a:prstGeom prst="leftBrace">
            <a:avLst>
              <a:gd name="adj1" fmla="val 0"/>
              <a:gd name="adj2" fmla="val 50000"/>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000000"/>
              </a:solidFill>
              <a:effectLst/>
              <a:uFillTx/>
            </a:endParaRPr>
          </a:p>
        </p:txBody>
      </p:sp>
      <p:sp>
        <p:nvSpPr>
          <p:cNvPr id="15" name="Rectangle 14">
            <a:extLst>
              <a:ext uri="{FF2B5EF4-FFF2-40B4-BE49-F238E27FC236}">
                <a16:creationId xmlns:a16="http://schemas.microsoft.com/office/drawing/2014/main" id="{7DF1DF67-E22A-1426-82FD-6F252262ED14}"/>
              </a:ext>
            </a:extLst>
          </p:cNvPr>
          <p:cNvSpPr/>
          <p:nvPr/>
        </p:nvSpPr>
        <p:spPr>
          <a:xfrm>
            <a:off x="393116" y="2891641"/>
            <a:ext cx="2357960" cy="3970318"/>
          </a:xfrm>
          <a:prstGeom prst="rect">
            <a:avLst/>
          </a:prstGeom>
        </p:spPr>
        <p:txBody>
          <a:bodyPr wrap="square">
            <a:spAutoFit/>
          </a:bodyPr>
          <a:lstStyle/>
          <a:p>
            <a:r>
              <a:rPr lang="en-GB" sz="2800" b="0" dirty="0">
                <a:solidFill>
                  <a:schemeClr val="tx2"/>
                </a:solidFill>
                <a:latin typeface="Barlow" pitchFamily="2" charset="77"/>
              </a:rPr>
              <a:t>Our subscription fees and/or ad-revenue</a:t>
            </a:r>
          </a:p>
          <a:p>
            <a:endParaRPr lang="en-GB" sz="2800" b="0" dirty="0">
              <a:solidFill>
                <a:schemeClr val="tx2"/>
              </a:solidFill>
              <a:latin typeface="Barlow" pitchFamily="2" charset="77"/>
            </a:endParaRPr>
          </a:p>
          <a:p>
            <a:r>
              <a:rPr lang="en-GB" sz="2800" b="0" dirty="0">
                <a:solidFill>
                  <a:schemeClr val="tx2"/>
                </a:solidFill>
                <a:latin typeface="Barlow" pitchFamily="2" charset="77"/>
              </a:rPr>
              <a:t>Pro-rata models (%’s of aggregate streams)</a:t>
            </a:r>
          </a:p>
        </p:txBody>
      </p:sp>
    </p:spTree>
    <p:extLst>
      <p:ext uri="{BB962C8B-B14F-4D97-AF65-F5344CB8AC3E}">
        <p14:creationId xmlns:p14="http://schemas.microsoft.com/office/powerpoint/2010/main" val="936493351"/>
      </p:ext>
    </p:extLst>
  </p:cSld>
  <p:clrMapOvr>
    <a:masterClrMapping/>
  </p:clrMapOvr>
  <p:transition spd="med" advTm="222639"/>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4AF18-EEB4-4011-A4EF-582B102DA72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DA21084-24B6-5B6D-9A97-29C533291F54}"/>
              </a:ext>
            </a:extLst>
          </p:cNvPr>
          <p:cNvSpPr txBox="1"/>
          <p:nvPr/>
        </p:nvSpPr>
        <p:spPr>
          <a:xfrm>
            <a:off x="1028458" y="730197"/>
            <a:ext cx="11683931"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The equitable remuneration right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D5CAFEA-BAE4-99E0-A614-8AEF69A54BB6}"/>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3F23C1A1-4386-BADA-0922-3A82A0678D3E}"/>
              </a:ext>
            </a:extLst>
          </p:cNvPr>
          <p:cNvSpPr/>
          <p:nvPr/>
        </p:nvSpPr>
        <p:spPr>
          <a:xfrm>
            <a:off x="1028459" y="1947120"/>
            <a:ext cx="14862995" cy="452431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If equitable remuneration triggers a responsibility to the record label, then it would be in their interest for music streaming not to be a ‘communication to the public’!</a:t>
            </a:r>
          </a:p>
          <a:p>
            <a:pPr marL="457200" indent="-457200" algn="just">
              <a:buFont typeface="Arial" panose="020B0604020202020204" pitchFamily="34" charset="0"/>
              <a:buChar char="•"/>
            </a:pPr>
            <a:r>
              <a:rPr lang="en-GB" sz="3200" b="0" dirty="0">
                <a:solidFill>
                  <a:schemeClr val="tx2"/>
                </a:solidFill>
                <a:latin typeface="Barlow" pitchFamily="2" charset="77"/>
              </a:rPr>
              <a:t>Sony, Universal and Warner make up </a:t>
            </a:r>
            <a:r>
              <a:rPr lang="en-GB" sz="3200" dirty="0">
                <a:solidFill>
                  <a:schemeClr val="tx2"/>
                </a:solidFill>
                <a:latin typeface="Barlow" pitchFamily="2" charset="77"/>
              </a:rPr>
              <a:t>more than 50% of the record label market </a:t>
            </a:r>
            <a:r>
              <a:rPr lang="en-GB" sz="3200" b="0" dirty="0">
                <a:solidFill>
                  <a:schemeClr val="tx2"/>
                </a:solidFill>
                <a:latin typeface="Barlow" pitchFamily="2" charset="77"/>
              </a:rPr>
              <a:t>&lt;- leveraging market power to strike favourable deals</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Remember (allegedly): Record Industry Association of America left advanced negotiations with Napster in the 1990s when asked to disclose how monies are allocated between themselves and artists</a:t>
            </a:r>
          </a:p>
        </p:txBody>
      </p:sp>
    </p:spTree>
    <p:extLst>
      <p:ext uri="{BB962C8B-B14F-4D97-AF65-F5344CB8AC3E}">
        <p14:creationId xmlns:p14="http://schemas.microsoft.com/office/powerpoint/2010/main" val="1993011214"/>
      </p:ext>
    </p:extLst>
  </p:cSld>
  <p:clrMapOvr>
    <a:masterClrMapping/>
  </p:clrMapOvr>
  <p:transition spd="med" advTm="222639"/>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64D38-9EF8-3161-681C-78E31EFC5504}"/>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20A2D35-4B6D-7005-8289-E3ADADFB7803}"/>
              </a:ext>
            </a:extLst>
          </p:cNvPr>
          <p:cNvSpPr txBox="1"/>
          <p:nvPr/>
        </p:nvSpPr>
        <p:spPr>
          <a:xfrm>
            <a:off x="1875951" y="2311530"/>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62492F8B-5A7E-66C1-F850-DF20EE0AED41}"/>
              </a:ext>
            </a:extLst>
          </p:cNvPr>
          <p:cNvSpPr/>
          <p:nvPr/>
        </p:nvSpPr>
        <p:spPr>
          <a:xfrm>
            <a:off x="7323482" y="1274315"/>
            <a:ext cx="9279413" cy="861774"/>
          </a:xfrm>
          <a:prstGeom prst="rect">
            <a:avLst/>
          </a:prstGeom>
          <a:solidFill>
            <a:srgbClr val="FF7765"/>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i="0" u="none" strike="noStrike" cap="none" spc="0" normalizeH="0" baseline="0" dirty="0">
                <a:ln>
                  <a:noFill/>
                </a:ln>
                <a:solidFill>
                  <a:schemeClr val="bg1"/>
                </a:solidFill>
                <a:effectLst/>
                <a:uFillTx/>
                <a:latin typeface="Barlow" pitchFamily="2" charset="77"/>
                <a:ea typeface="+mn-ea"/>
                <a:cs typeface="+mn-cs"/>
                <a:sym typeface="Helvetica Neue Medium"/>
              </a:rPr>
              <a:t>Artists</a:t>
            </a:r>
            <a:r>
              <a:rPr kumimoji="0" lang="en-GB" sz="2800" b="0" i="0" u="none" strike="noStrike" cap="none" spc="0" normalizeH="0" baseline="0" dirty="0">
                <a:ln>
                  <a:noFill/>
                </a:ln>
                <a:solidFill>
                  <a:schemeClr val="bg1"/>
                </a:solidFill>
                <a:effectLst/>
                <a:uFillTx/>
                <a:latin typeface="Barlow" pitchFamily="2" charset="77"/>
                <a:ea typeface="+mn-ea"/>
                <a:cs typeface="+mn-cs"/>
                <a:sym typeface="Helvetica Neue Medium"/>
              </a:rPr>
              <a:t> (including lyricists, singers, musicians, composers and session artists)</a:t>
            </a:r>
          </a:p>
        </p:txBody>
      </p:sp>
      <p:sp>
        <p:nvSpPr>
          <p:cNvPr id="10" name="Rectangle 9">
            <a:extLst>
              <a:ext uri="{FF2B5EF4-FFF2-40B4-BE49-F238E27FC236}">
                <a16:creationId xmlns:a16="http://schemas.microsoft.com/office/drawing/2014/main" id="{E4E3629A-2A8A-D73F-2417-EBC5623BCF68}"/>
              </a:ext>
            </a:extLst>
          </p:cNvPr>
          <p:cNvSpPr/>
          <p:nvPr/>
        </p:nvSpPr>
        <p:spPr>
          <a:xfrm>
            <a:off x="7571912" y="3684977"/>
            <a:ext cx="8564932" cy="861774"/>
          </a:xfrm>
          <a:prstGeom prst="rect">
            <a:avLst/>
          </a:prstGeom>
          <a:solidFill>
            <a:srgbClr val="FF7765"/>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i="0" u="none" strike="noStrike" cap="none" spc="0" normalizeH="0" baseline="0" dirty="0">
                <a:ln>
                  <a:noFill/>
                </a:ln>
                <a:solidFill>
                  <a:srgbClr val="FFFFFF"/>
                </a:solidFill>
                <a:effectLst/>
                <a:uFillTx/>
                <a:latin typeface="Barlow" pitchFamily="2" charset="77"/>
                <a:ea typeface="+mn-ea"/>
                <a:cs typeface="+mn-cs"/>
                <a:sym typeface="Helvetica Neue Medium"/>
              </a:rPr>
              <a:t>Publishers </a:t>
            </a:r>
            <a:r>
              <a:rPr kumimoji="0" lang="en-GB" sz="2800" b="0" i="0" u="none" strike="noStrike" cap="none" spc="0" normalizeH="0" baseline="0" dirty="0">
                <a:ln>
                  <a:noFill/>
                </a:ln>
                <a:solidFill>
                  <a:srgbClr val="FFFFFF"/>
                </a:solidFill>
                <a:effectLst/>
                <a:uFillTx/>
                <a:latin typeface="Barlow" pitchFamily="2" charset="77"/>
                <a:ea typeface="+mn-ea"/>
                <a:cs typeface="+mn-cs"/>
                <a:sym typeface="Helvetica Neue Medium"/>
              </a:rPr>
              <a:t>(exploiting the underlying lyrics, melody and performers’ rights)</a:t>
            </a:r>
          </a:p>
        </p:txBody>
      </p:sp>
      <p:sp>
        <p:nvSpPr>
          <p:cNvPr id="11" name="Rectangle 10">
            <a:extLst>
              <a:ext uri="{FF2B5EF4-FFF2-40B4-BE49-F238E27FC236}">
                <a16:creationId xmlns:a16="http://schemas.microsoft.com/office/drawing/2014/main" id="{1E4D3D24-C8D3-F368-C45A-A9030B8573B2}"/>
              </a:ext>
            </a:extLst>
          </p:cNvPr>
          <p:cNvSpPr/>
          <p:nvPr/>
        </p:nvSpPr>
        <p:spPr>
          <a:xfrm>
            <a:off x="8769004" y="6034567"/>
            <a:ext cx="6309044" cy="861774"/>
          </a:xfrm>
          <a:prstGeom prst="rect">
            <a:avLst/>
          </a:prstGeom>
          <a:solidFill>
            <a:srgbClr val="FF7765"/>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i="0" u="none" strike="noStrike" cap="none" spc="0" normalizeH="0" baseline="0" dirty="0">
                <a:ln>
                  <a:noFill/>
                </a:ln>
                <a:solidFill>
                  <a:srgbClr val="FFFFFF"/>
                </a:solidFill>
                <a:effectLst/>
                <a:uFillTx/>
                <a:latin typeface="Barlow" pitchFamily="2" charset="77"/>
                <a:ea typeface="+mn-ea"/>
                <a:cs typeface="+mn-cs"/>
                <a:sym typeface="Helvetica Neue Medium"/>
              </a:rPr>
              <a:t>Record label </a:t>
            </a:r>
            <a:r>
              <a:rPr kumimoji="0" lang="en-GB" sz="2800" b="0" i="0" u="none" strike="noStrike" cap="none" spc="0" normalizeH="0" baseline="0" dirty="0">
                <a:ln>
                  <a:noFill/>
                </a:ln>
                <a:solidFill>
                  <a:srgbClr val="FFFFFF"/>
                </a:solidFill>
                <a:effectLst/>
                <a:uFillTx/>
                <a:latin typeface="Barlow" pitchFamily="2" charset="77"/>
                <a:ea typeface="+mn-ea"/>
                <a:cs typeface="+mn-cs"/>
                <a:sym typeface="Helvetica Neue Medium"/>
              </a:rPr>
              <a:t>(exploiting the sound recording itself)</a:t>
            </a:r>
          </a:p>
        </p:txBody>
      </p:sp>
      <p:sp>
        <p:nvSpPr>
          <p:cNvPr id="22" name="Rectangle 21">
            <a:extLst>
              <a:ext uri="{FF2B5EF4-FFF2-40B4-BE49-F238E27FC236}">
                <a16:creationId xmlns:a16="http://schemas.microsoft.com/office/drawing/2014/main" id="{F886BDC0-BD6B-CD0B-6F0D-9F0392220C6A}"/>
              </a:ext>
            </a:extLst>
          </p:cNvPr>
          <p:cNvSpPr/>
          <p:nvPr/>
        </p:nvSpPr>
        <p:spPr>
          <a:xfrm>
            <a:off x="8769004" y="8246607"/>
            <a:ext cx="6309044" cy="430887"/>
          </a:xfrm>
          <a:prstGeom prst="rect">
            <a:avLst/>
          </a:prstGeom>
          <a:solidFill>
            <a:srgbClr val="FF7765"/>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i="0" u="none" strike="noStrike" cap="none" spc="0" normalizeH="0" baseline="0" dirty="0">
                <a:ln>
                  <a:noFill/>
                </a:ln>
                <a:solidFill>
                  <a:srgbClr val="FFFFFF"/>
                </a:solidFill>
                <a:effectLst/>
                <a:uFillTx/>
                <a:latin typeface="Barlow" pitchFamily="2" charset="77"/>
                <a:ea typeface="+mn-ea"/>
                <a:cs typeface="+mn-cs"/>
                <a:sym typeface="Helvetica Neue Medium"/>
              </a:rPr>
              <a:t>The platform </a:t>
            </a:r>
            <a:r>
              <a:rPr kumimoji="0" lang="en-GB" sz="2800" b="0" i="0" u="none" strike="noStrike" cap="none" spc="0" normalizeH="0" baseline="0" dirty="0">
                <a:ln>
                  <a:noFill/>
                </a:ln>
                <a:solidFill>
                  <a:srgbClr val="FFFFFF"/>
                </a:solidFill>
                <a:effectLst/>
                <a:uFillTx/>
                <a:latin typeface="Barlow" pitchFamily="2" charset="77"/>
                <a:ea typeface="+mn-ea"/>
                <a:cs typeface="+mn-cs"/>
                <a:sym typeface="Helvetica Neue Medium"/>
              </a:rPr>
              <a:t>(distributing the song)</a:t>
            </a:r>
            <a:endParaRPr kumimoji="0" lang="en-GB" sz="2800" i="0" u="none" strike="noStrike" cap="none" spc="0" normalizeH="0" baseline="0" dirty="0">
              <a:ln>
                <a:noFill/>
              </a:ln>
              <a:solidFill>
                <a:srgbClr val="FFFFFF"/>
              </a:solidFill>
              <a:effectLst/>
              <a:uFillTx/>
              <a:latin typeface="Barlow" pitchFamily="2" charset="77"/>
              <a:ea typeface="+mn-ea"/>
              <a:cs typeface="+mn-cs"/>
              <a:sym typeface="Helvetica Neue Medium"/>
            </a:endParaRPr>
          </a:p>
        </p:txBody>
      </p:sp>
      <p:sp>
        <p:nvSpPr>
          <p:cNvPr id="6" name="Rectangle 5">
            <a:extLst>
              <a:ext uri="{FF2B5EF4-FFF2-40B4-BE49-F238E27FC236}">
                <a16:creationId xmlns:a16="http://schemas.microsoft.com/office/drawing/2014/main" id="{5BDE65EC-076C-D132-C29B-63CD544CA0A8}"/>
              </a:ext>
            </a:extLst>
          </p:cNvPr>
          <p:cNvSpPr/>
          <p:nvPr/>
        </p:nvSpPr>
        <p:spPr>
          <a:xfrm>
            <a:off x="3132273" y="1012704"/>
            <a:ext cx="4034368" cy="1384995"/>
          </a:xfrm>
          <a:prstGeom prst="rect">
            <a:avLst/>
          </a:prstGeom>
        </p:spPr>
        <p:txBody>
          <a:bodyPr wrap="square">
            <a:spAutoFit/>
          </a:bodyPr>
          <a:lstStyle/>
          <a:p>
            <a:r>
              <a:rPr lang="en-GB" sz="2800" dirty="0">
                <a:solidFill>
                  <a:schemeClr val="tx2"/>
                </a:solidFill>
                <a:latin typeface="Barlow" pitchFamily="2" charset="77"/>
              </a:rPr>
              <a:t>70%</a:t>
            </a:r>
          </a:p>
          <a:p>
            <a:r>
              <a:rPr lang="en-GB" sz="2800" b="0" dirty="0">
                <a:solidFill>
                  <a:schemeClr val="tx2"/>
                </a:solidFill>
                <a:latin typeface="Barlow" pitchFamily="2" charset="77"/>
              </a:rPr>
              <a:t>(between performers and composers)</a:t>
            </a:r>
          </a:p>
        </p:txBody>
      </p:sp>
      <p:sp>
        <p:nvSpPr>
          <p:cNvPr id="14" name="Left Brace 13">
            <a:extLst>
              <a:ext uri="{FF2B5EF4-FFF2-40B4-BE49-F238E27FC236}">
                <a16:creationId xmlns:a16="http://schemas.microsoft.com/office/drawing/2014/main" id="{334A95E7-96B5-F6FF-C1B3-85EE06F14550}"/>
              </a:ext>
            </a:extLst>
          </p:cNvPr>
          <p:cNvSpPr/>
          <p:nvPr/>
        </p:nvSpPr>
        <p:spPr>
          <a:xfrm>
            <a:off x="2797736" y="697330"/>
            <a:ext cx="669074" cy="8186277"/>
          </a:xfrm>
          <a:prstGeom prst="leftBrace">
            <a:avLst>
              <a:gd name="adj1" fmla="val 0"/>
              <a:gd name="adj2" fmla="val 50000"/>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000000"/>
              </a:solidFill>
              <a:effectLst/>
              <a:uFillTx/>
            </a:endParaRPr>
          </a:p>
        </p:txBody>
      </p:sp>
      <p:sp>
        <p:nvSpPr>
          <p:cNvPr id="15" name="Rectangle 14">
            <a:extLst>
              <a:ext uri="{FF2B5EF4-FFF2-40B4-BE49-F238E27FC236}">
                <a16:creationId xmlns:a16="http://schemas.microsoft.com/office/drawing/2014/main" id="{40D7B534-040B-A0F5-715F-1D39FD355870}"/>
              </a:ext>
            </a:extLst>
          </p:cNvPr>
          <p:cNvSpPr/>
          <p:nvPr/>
        </p:nvSpPr>
        <p:spPr>
          <a:xfrm>
            <a:off x="393116" y="2891641"/>
            <a:ext cx="2357960" cy="3970318"/>
          </a:xfrm>
          <a:prstGeom prst="rect">
            <a:avLst/>
          </a:prstGeom>
        </p:spPr>
        <p:txBody>
          <a:bodyPr wrap="square">
            <a:spAutoFit/>
          </a:bodyPr>
          <a:lstStyle/>
          <a:p>
            <a:r>
              <a:rPr lang="en-GB" sz="2800" b="0" dirty="0">
                <a:solidFill>
                  <a:schemeClr val="tx2"/>
                </a:solidFill>
                <a:latin typeface="Barlow" pitchFamily="2" charset="77"/>
              </a:rPr>
              <a:t>Our subscription fees and/or ad-revenue</a:t>
            </a:r>
          </a:p>
          <a:p>
            <a:endParaRPr lang="en-GB" sz="2800" b="0" dirty="0">
              <a:solidFill>
                <a:schemeClr val="tx2"/>
              </a:solidFill>
              <a:latin typeface="Barlow" pitchFamily="2" charset="77"/>
            </a:endParaRPr>
          </a:p>
          <a:p>
            <a:r>
              <a:rPr lang="en-GB" sz="2800" b="0" dirty="0">
                <a:solidFill>
                  <a:schemeClr val="tx2"/>
                </a:solidFill>
                <a:latin typeface="Barlow" pitchFamily="2" charset="77"/>
              </a:rPr>
              <a:t>Pro-rata models (%’s of aggregate streams)</a:t>
            </a:r>
          </a:p>
        </p:txBody>
      </p:sp>
      <p:sp>
        <p:nvSpPr>
          <p:cNvPr id="7" name="Rectangle 6">
            <a:extLst>
              <a:ext uri="{FF2B5EF4-FFF2-40B4-BE49-F238E27FC236}">
                <a16:creationId xmlns:a16="http://schemas.microsoft.com/office/drawing/2014/main" id="{3A57F9CB-BF94-E4C3-A1DB-849E7B320A87}"/>
              </a:ext>
            </a:extLst>
          </p:cNvPr>
          <p:cNvSpPr/>
          <p:nvPr/>
        </p:nvSpPr>
        <p:spPr>
          <a:xfrm>
            <a:off x="3299542" y="8200440"/>
            <a:ext cx="4034368" cy="523220"/>
          </a:xfrm>
          <a:prstGeom prst="rect">
            <a:avLst/>
          </a:prstGeom>
        </p:spPr>
        <p:txBody>
          <a:bodyPr wrap="square">
            <a:spAutoFit/>
          </a:bodyPr>
          <a:lstStyle/>
          <a:p>
            <a:r>
              <a:rPr lang="en-GB" sz="2800" dirty="0">
                <a:solidFill>
                  <a:schemeClr val="tx2"/>
                </a:solidFill>
                <a:latin typeface="Barlow" pitchFamily="2" charset="77"/>
              </a:rPr>
              <a:t>30%</a:t>
            </a:r>
          </a:p>
        </p:txBody>
      </p:sp>
      <p:sp>
        <p:nvSpPr>
          <p:cNvPr id="8" name="Multiply 7">
            <a:extLst>
              <a:ext uri="{FF2B5EF4-FFF2-40B4-BE49-F238E27FC236}">
                <a16:creationId xmlns:a16="http://schemas.microsoft.com/office/drawing/2014/main" id="{3319C1F7-244A-E590-5407-8C331BA2997D}"/>
              </a:ext>
            </a:extLst>
          </p:cNvPr>
          <p:cNvSpPr/>
          <p:nvPr/>
        </p:nvSpPr>
        <p:spPr>
          <a:xfrm>
            <a:off x="8840790" y="2928163"/>
            <a:ext cx="6027176" cy="4557374"/>
          </a:xfrm>
          <a:prstGeom prst="mathMultiply">
            <a:avLst/>
          </a:prstGeom>
          <a:solidFill>
            <a:schemeClr val="tx1"/>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endParaRPr kumimoji="0" lang="en-GB" sz="2000" b="0" i="0" u="none" strike="noStrike" cap="none" spc="0" normalizeH="0" baseline="0">
              <a:ln>
                <a:no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281152506"/>
      </p:ext>
    </p:extLst>
  </p:cSld>
  <p:clrMapOvr>
    <a:masterClrMapping/>
  </p:clrMapOvr>
  <p:transition spd="med" advTm="222639"/>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56E22-BB2C-0778-641D-6D85EDFE69E6}"/>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A50A8973-0FEF-8F67-8B9A-91AECD7BA185}"/>
              </a:ext>
            </a:extLst>
          </p:cNvPr>
          <p:cNvSpPr txBox="1"/>
          <p:nvPr/>
        </p:nvSpPr>
        <p:spPr>
          <a:xfrm>
            <a:off x="1028459" y="730197"/>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Platform policies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CA5CDCE7-91AD-550C-0957-514CF075A494}"/>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DE50436D-BA6A-E864-AA82-ADDEC30DFF29}"/>
              </a:ext>
            </a:extLst>
          </p:cNvPr>
          <p:cNvSpPr/>
          <p:nvPr/>
        </p:nvSpPr>
        <p:spPr>
          <a:xfrm>
            <a:off x="1028459" y="1947120"/>
            <a:ext cx="14862995" cy="5016758"/>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The benefits of the ‘democratisation’ of content production vs:</a:t>
            </a:r>
          </a:p>
          <a:p>
            <a:pPr marL="457200" indent="-457200" algn="just">
              <a:buFont typeface="Arial" panose="020B0604020202020204" pitchFamily="34" charset="0"/>
              <a:buChar char="•"/>
            </a:pPr>
            <a:r>
              <a:rPr lang="en-GB" sz="3200" b="0" dirty="0">
                <a:solidFill>
                  <a:schemeClr val="tx2"/>
                </a:solidFill>
                <a:latin typeface="Barlow" pitchFamily="2" charset="77"/>
              </a:rPr>
              <a:t>Disintermediation (losing the ‘middle man’): lack of human curation and outsourcing to the </a:t>
            </a:r>
            <a:r>
              <a:rPr lang="en-GB" sz="3200" dirty="0">
                <a:solidFill>
                  <a:schemeClr val="tx2"/>
                </a:solidFill>
                <a:latin typeface="Barlow" pitchFamily="2" charset="77"/>
              </a:rPr>
              <a:t>algorithm</a:t>
            </a:r>
            <a:r>
              <a:rPr lang="en-GB" sz="3200" b="0" dirty="0">
                <a:solidFill>
                  <a:schemeClr val="tx2"/>
                </a:solidFill>
                <a:latin typeface="Barlow" pitchFamily="2" charset="77"/>
              </a:rPr>
              <a:t> – money is dependent on </a:t>
            </a:r>
            <a:r>
              <a:rPr lang="en-GB" sz="3200" dirty="0">
                <a:solidFill>
                  <a:schemeClr val="tx2"/>
                </a:solidFill>
                <a:latin typeface="Barlow" pitchFamily="2" charset="77"/>
              </a:rPr>
              <a:t>discoverability</a:t>
            </a:r>
          </a:p>
          <a:p>
            <a:pPr marL="457200" indent="-457200" algn="just">
              <a:buFont typeface="Arial" panose="020B0604020202020204" pitchFamily="34" charset="0"/>
              <a:buChar char="•"/>
            </a:pPr>
            <a:r>
              <a:rPr lang="en-GB" sz="3200" b="0" i="1" dirty="0">
                <a:solidFill>
                  <a:schemeClr val="tx2"/>
                </a:solidFill>
                <a:latin typeface="Barlow" pitchFamily="2" charset="77"/>
              </a:rPr>
              <a:t>Is the algorithm a ‘neutral’ or ‘personal’ recommendation?</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‘Payola’: undisclosed payment or other benefits when a commercial broadcaster is paid to play a song (The Broadcasting Act 1990 – a form of bribery)</a:t>
            </a:r>
          </a:p>
          <a:p>
            <a:pPr marL="457200" indent="-457200" algn="just">
              <a:buFont typeface="Arial" panose="020B0604020202020204" pitchFamily="34" charset="0"/>
              <a:buChar char="•"/>
            </a:pPr>
            <a:r>
              <a:rPr lang="en-GB" sz="3200" b="0" dirty="0">
                <a:solidFill>
                  <a:schemeClr val="tx2"/>
                </a:solidFill>
                <a:latin typeface="Barlow" pitchFamily="2" charset="77"/>
              </a:rPr>
              <a:t>Spotify’s ‘Discovery Mode’ allows artists to accept a lower per-stream rate to have favourable algorithm coverage</a:t>
            </a:r>
          </a:p>
          <a:p>
            <a:pPr marL="457200" indent="-457200" algn="just">
              <a:buFont typeface="Arial" panose="020B0604020202020204" pitchFamily="34" charset="0"/>
              <a:buChar char="•"/>
            </a:pPr>
            <a:r>
              <a:rPr lang="en-GB" sz="3200" b="0" dirty="0">
                <a:solidFill>
                  <a:schemeClr val="tx2"/>
                </a:solidFill>
                <a:latin typeface="Barlow" pitchFamily="2" charset="77"/>
              </a:rPr>
              <a:t>See: </a:t>
            </a:r>
            <a:r>
              <a:rPr lang="en-GB" sz="3200" b="0" dirty="0">
                <a:solidFill>
                  <a:schemeClr val="tx2"/>
                </a:solidFill>
                <a:latin typeface="Barlow" pitchFamily="2" charset="77"/>
                <a:hlinkClick r:id="rId2">
                  <a:extLst>
                    <a:ext uri="{A12FA001-AC4F-418D-AE19-62706E023703}">
                      <ahyp:hlinkClr xmlns:ahyp="http://schemas.microsoft.com/office/drawing/2018/hyperlinkcolor" val="tx"/>
                    </a:ext>
                  </a:extLst>
                </a:hlinkClick>
              </a:rPr>
              <a:t>US lawsuit</a:t>
            </a:r>
            <a:endParaRPr lang="en-GB" sz="3200" b="0" dirty="0">
              <a:solidFill>
                <a:schemeClr val="tx2"/>
              </a:solidFill>
              <a:latin typeface="Barlow" pitchFamily="2" charset="77"/>
            </a:endParaRPr>
          </a:p>
        </p:txBody>
      </p:sp>
    </p:spTree>
    <p:extLst>
      <p:ext uri="{BB962C8B-B14F-4D97-AF65-F5344CB8AC3E}">
        <p14:creationId xmlns:p14="http://schemas.microsoft.com/office/powerpoint/2010/main" val="252643258"/>
      </p:ext>
    </p:extLst>
  </p:cSld>
  <p:clrMapOvr>
    <a:masterClrMapping/>
  </p:clrMapOvr>
  <p:transition spd="med" advTm="222639"/>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EFAD8-8D26-7660-EC40-5C7EE7B0A0B9}"/>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85248A0-5015-BDF3-DA83-E01E2E0412F7}"/>
              </a:ext>
            </a:extLst>
          </p:cNvPr>
          <p:cNvSpPr txBox="1"/>
          <p:nvPr/>
        </p:nvSpPr>
        <p:spPr>
          <a:xfrm>
            <a:off x="1028459"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Platform policies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A03023C-50C7-5ACF-C95A-311E930F6DE7}"/>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B4906B3B-EE0A-A3BA-6562-BFAC473711FB}"/>
              </a:ext>
            </a:extLst>
          </p:cNvPr>
          <p:cNvSpPr/>
          <p:nvPr/>
        </p:nvSpPr>
        <p:spPr>
          <a:xfrm>
            <a:off x="1028459" y="1947120"/>
            <a:ext cx="14862995" cy="3539430"/>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Spotify have proposed a policy change that songs will need a minimum of 1000 streams within the preceding 12 months to be eligible for royalties</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Spotify’s average rate is $0.004 per stream</a:t>
            </a:r>
          </a:p>
          <a:p>
            <a:pPr marL="457200" indent="-457200" algn="just">
              <a:buFont typeface="Arial" panose="020B0604020202020204" pitchFamily="34" charset="0"/>
              <a:buChar char="•"/>
            </a:pPr>
            <a:r>
              <a:rPr lang="en-GB" sz="3200" b="0" dirty="0">
                <a:solidFill>
                  <a:schemeClr val="tx2"/>
                </a:solidFill>
                <a:latin typeface="Barlow" pitchFamily="2" charset="77"/>
              </a:rPr>
              <a:t>1,000 streams × $0.004/stream = $4.00</a:t>
            </a:r>
          </a:p>
          <a:p>
            <a:pPr algn="just"/>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i="1" dirty="0">
                <a:solidFill>
                  <a:schemeClr val="tx2"/>
                </a:solidFill>
                <a:latin typeface="Barlow" pitchFamily="2" charset="77"/>
              </a:rPr>
              <a:t>Do you support this policy change? Why/why not?</a:t>
            </a:r>
          </a:p>
        </p:txBody>
      </p:sp>
    </p:spTree>
    <p:extLst>
      <p:ext uri="{BB962C8B-B14F-4D97-AF65-F5344CB8AC3E}">
        <p14:creationId xmlns:p14="http://schemas.microsoft.com/office/powerpoint/2010/main" val="1244592963"/>
      </p:ext>
    </p:extLst>
  </p:cSld>
  <p:clrMapOvr>
    <a:masterClrMapping/>
  </p:clrMapOvr>
  <p:transition spd="med" advTm="222639"/>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63DCC-C76D-D07A-3A6F-BCCC85D0724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42648132-8502-63DB-5A63-EA298EB5ACB2}"/>
              </a:ext>
            </a:extLst>
          </p:cNvPr>
          <p:cNvSpPr txBox="1"/>
          <p:nvPr/>
        </p:nvSpPr>
        <p:spPr>
          <a:xfrm>
            <a:off x="1028459"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Legislative change</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F811BFFE-D299-D3D1-4E0B-02BA813D82F5}"/>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D3B308F0-AD4C-4FD1-1C1E-D026B8E36364}"/>
              </a:ext>
            </a:extLst>
          </p:cNvPr>
          <p:cNvSpPr/>
          <p:nvPr/>
        </p:nvSpPr>
        <p:spPr>
          <a:xfrm>
            <a:off x="1028459" y="1947120"/>
            <a:ext cx="14862995" cy="7048083"/>
          </a:xfrm>
          <a:prstGeom prst="rect">
            <a:avLst/>
          </a:prstGeom>
        </p:spPr>
        <p:txBody>
          <a:bodyPr wrap="square">
            <a:spAutoFit/>
          </a:bodyPr>
          <a:lstStyle/>
          <a:p>
            <a:pPr marL="457200" indent="-457200" algn="just">
              <a:buFont typeface="Arial" panose="020B0604020202020204" pitchFamily="34" charset="0"/>
              <a:buChar char="•"/>
            </a:pPr>
            <a:r>
              <a:rPr lang="en-GB" sz="2800" b="0" dirty="0">
                <a:solidFill>
                  <a:schemeClr val="tx2"/>
                </a:solidFill>
                <a:latin typeface="Barlow" pitchFamily="2" charset="77"/>
              </a:rPr>
              <a:t>Proposed Copyright (Rights and Remuneration of Musicians etc) Bill</a:t>
            </a:r>
          </a:p>
          <a:p>
            <a:pPr marL="457200" indent="-457200" algn="just">
              <a:buFont typeface="Arial" panose="020B0604020202020204" pitchFamily="34" charset="0"/>
              <a:buChar char="•"/>
            </a:pPr>
            <a:endParaRPr lang="en-GB" sz="2800" b="0" dirty="0">
              <a:solidFill>
                <a:schemeClr val="tx2"/>
              </a:solidFill>
              <a:latin typeface="Barlow" pitchFamily="2" charset="77"/>
            </a:endParaRPr>
          </a:p>
          <a:p>
            <a:pPr marL="457200" indent="-457200" algn="just">
              <a:buFont typeface="Arial" panose="020B0604020202020204" pitchFamily="34" charset="0"/>
              <a:buChar char="•"/>
            </a:pPr>
            <a:r>
              <a:rPr lang="en-GB" sz="2800" dirty="0">
                <a:solidFill>
                  <a:schemeClr val="tx2"/>
                </a:solidFill>
                <a:latin typeface="Barlow" pitchFamily="2" charset="77"/>
              </a:rPr>
              <a:t>Streaming = communication to the public </a:t>
            </a:r>
            <a:r>
              <a:rPr lang="en-GB" sz="2800" b="0" dirty="0">
                <a:solidFill>
                  <a:schemeClr val="tx2"/>
                </a:solidFill>
                <a:latin typeface="Barlow" pitchFamily="2" charset="77"/>
              </a:rPr>
              <a:t>= equitable remuneration</a:t>
            </a:r>
          </a:p>
          <a:p>
            <a:pPr marL="457200" indent="-457200" algn="just">
              <a:buFont typeface="Arial" panose="020B0604020202020204" pitchFamily="34" charset="0"/>
              <a:buChar char="•"/>
            </a:pPr>
            <a:r>
              <a:rPr lang="en-GB" sz="2800" dirty="0">
                <a:solidFill>
                  <a:schemeClr val="tx2"/>
                </a:solidFill>
                <a:latin typeface="Barlow" pitchFamily="2" charset="77"/>
              </a:rPr>
              <a:t>Transparency</a:t>
            </a:r>
            <a:r>
              <a:rPr lang="en-GB" sz="2800" b="0" dirty="0">
                <a:solidFill>
                  <a:schemeClr val="tx2"/>
                </a:solidFill>
                <a:latin typeface="Barlow" pitchFamily="2" charset="77"/>
              </a:rPr>
              <a:t> obligations: mandatory reporting on earnings and distribution</a:t>
            </a:r>
          </a:p>
          <a:p>
            <a:pPr marL="457200" indent="-457200" algn="just">
              <a:buFont typeface="Arial" panose="020B0604020202020204" pitchFamily="34" charset="0"/>
              <a:buChar char="•"/>
            </a:pPr>
            <a:r>
              <a:rPr lang="en-GB" sz="2800" b="0" dirty="0">
                <a:solidFill>
                  <a:schemeClr val="tx2"/>
                </a:solidFill>
                <a:latin typeface="Barlow" pitchFamily="2" charset="77"/>
              </a:rPr>
              <a:t>Ability to </a:t>
            </a:r>
            <a:r>
              <a:rPr lang="en-GB" sz="2800" dirty="0">
                <a:solidFill>
                  <a:schemeClr val="tx2"/>
                </a:solidFill>
                <a:latin typeface="Barlow" pitchFamily="2" charset="77"/>
              </a:rPr>
              <a:t>renegotiate</a:t>
            </a:r>
            <a:r>
              <a:rPr lang="en-GB" sz="2800" b="0" dirty="0">
                <a:solidFill>
                  <a:schemeClr val="tx2"/>
                </a:solidFill>
                <a:latin typeface="Barlow" pitchFamily="2" charset="77"/>
              </a:rPr>
              <a:t> contracts (a ‘reversion’ right) (note: we currently have a version of this for music artists, but it’s very useless - CDPA 191HA)</a:t>
            </a:r>
          </a:p>
          <a:p>
            <a:pPr marL="457200" indent="-457200" algn="just">
              <a:buFont typeface="Arial" panose="020B0604020202020204" pitchFamily="34" charset="0"/>
              <a:buChar char="•"/>
            </a:pPr>
            <a:r>
              <a:rPr lang="en-GB" sz="2800" b="0" dirty="0">
                <a:solidFill>
                  <a:schemeClr val="tx2"/>
                </a:solidFill>
                <a:latin typeface="Barlow" pitchFamily="2" charset="77"/>
              </a:rPr>
              <a:t>Improve </a:t>
            </a:r>
            <a:r>
              <a:rPr lang="en-GB" sz="2800" dirty="0">
                <a:solidFill>
                  <a:schemeClr val="tx2"/>
                </a:solidFill>
                <a:latin typeface="Barlow" pitchFamily="2" charset="77"/>
              </a:rPr>
              <a:t>metadata</a:t>
            </a:r>
            <a:r>
              <a:rPr lang="en-GB" sz="2800" b="0" dirty="0">
                <a:solidFill>
                  <a:schemeClr val="tx2"/>
                </a:solidFill>
                <a:latin typeface="Barlow" pitchFamily="2" charset="77"/>
              </a:rPr>
              <a:t> practices and royalty-chain tracing</a:t>
            </a:r>
          </a:p>
          <a:p>
            <a:pPr marL="457200" indent="-457200" algn="just">
              <a:buFont typeface="Arial" panose="020B0604020202020204" pitchFamily="34" charset="0"/>
              <a:buChar char="•"/>
            </a:pPr>
            <a:r>
              <a:rPr lang="en-GB" sz="2800" b="0" dirty="0">
                <a:solidFill>
                  <a:schemeClr val="tx2"/>
                </a:solidFill>
                <a:latin typeface="Barlow" pitchFamily="2" charset="77"/>
              </a:rPr>
              <a:t>Incentivise platforms that host user generated content (like YouTube) enter into </a:t>
            </a:r>
            <a:r>
              <a:rPr lang="en-GB" sz="2800" dirty="0">
                <a:solidFill>
                  <a:schemeClr val="tx2"/>
                </a:solidFill>
                <a:latin typeface="Barlow" pitchFamily="2" charset="77"/>
              </a:rPr>
              <a:t>licensing agreements</a:t>
            </a:r>
          </a:p>
          <a:p>
            <a:pPr marL="457200" indent="-457200" algn="just">
              <a:buFont typeface="Arial" panose="020B0604020202020204" pitchFamily="34" charset="0"/>
              <a:buChar char="•"/>
            </a:pPr>
            <a:r>
              <a:rPr lang="en-GB" sz="2800" dirty="0">
                <a:solidFill>
                  <a:schemeClr val="tx2"/>
                </a:solidFill>
                <a:latin typeface="Barlow" pitchFamily="2" charset="77"/>
              </a:rPr>
              <a:t>Voluntary methods</a:t>
            </a:r>
            <a:r>
              <a:rPr lang="en-GB" sz="2800" b="0" dirty="0">
                <a:solidFill>
                  <a:schemeClr val="tx2"/>
                </a:solidFill>
                <a:latin typeface="Barlow" pitchFamily="2" charset="77"/>
              </a:rPr>
              <a:t>, e.g., change from pro-rata streaming allocations to a ‘user-centric’ model, like Deezer/Soundcloud</a:t>
            </a:r>
          </a:p>
          <a:p>
            <a:pPr marL="457200" indent="-457200" algn="just">
              <a:buFont typeface="Arial" panose="020B0604020202020204" pitchFamily="34" charset="0"/>
              <a:buChar char="•"/>
            </a:pPr>
            <a:endParaRPr lang="en-GB" sz="2800" b="0" dirty="0">
              <a:solidFill>
                <a:schemeClr val="tx2"/>
              </a:solidFill>
              <a:latin typeface="Barlow" pitchFamily="2" charset="77"/>
            </a:endParaRPr>
          </a:p>
          <a:p>
            <a:pPr marL="457200" indent="-457200" algn="just">
              <a:buFont typeface="Arial" panose="020B0604020202020204" pitchFamily="34" charset="0"/>
              <a:buChar char="•"/>
            </a:pPr>
            <a:r>
              <a:rPr lang="en-GB" sz="2800" b="0" dirty="0">
                <a:solidFill>
                  <a:schemeClr val="tx2"/>
                </a:solidFill>
                <a:latin typeface="Barlow" pitchFamily="2" charset="77"/>
              </a:rPr>
              <a:t>Ultimately the bill was rejected because the market is ‘operating’ (music is affordable, people can create freely)</a:t>
            </a:r>
          </a:p>
          <a:p>
            <a:pPr marL="457200" indent="-457200" algn="just">
              <a:buFont typeface="Arial" panose="020B0604020202020204" pitchFamily="34" charset="0"/>
              <a:buChar char="•"/>
            </a:pPr>
            <a:r>
              <a:rPr lang="en-GB" sz="2800" b="0" dirty="0">
                <a:solidFill>
                  <a:schemeClr val="tx2"/>
                </a:solidFill>
                <a:latin typeface="Barlow" pitchFamily="2" charset="77"/>
              </a:rPr>
              <a:t>But this is not the same as </a:t>
            </a:r>
            <a:r>
              <a:rPr lang="en-GB" sz="2800" dirty="0">
                <a:solidFill>
                  <a:schemeClr val="tx2"/>
                </a:solidFill>
                <a:latin typeface="Barlow" pitchFamily="2" charset="77"/>
              </a:rPr>
              <a:t>social justice</a:t>
            </a:r>
            <a:r>
              <a:rPr lang="en-GB" sz="2800" b="0" dirty="0">
                <a:solidFill>
                  <a:schemeClr val="tx2"/>
                </a:solidFill>
                <a:latin typeface="Barlow" pitchFamily="2" charset="77"/>
              </a:rPr>
              <a:t>! (will return to this in our contracts/earnings class)</a:t>
            </a:r>
          </a:p>
          <a:p>
            <a:pPr marL="457200" indent="-457200" algn="just">
              <a:buFont typeface="Arial" panose="020B0604020202020204" pitchFamily="34" charset="0"/>
              <a:buChar char="•"/>
            </a:pPr>
            <a:endParaRPr lang="en-GB" sz="3200" b="0" dirty="0">
              <a:solidFill>
                <a:schemeClr val="tx2"/>
              </a:solidFill>
              <a:latin typeface="Barlow" pitchFamily="2" charset="77"/>
            </a:endParaRPr>
          </a:p>
        </p:txBody>
      </p:sp>
    </p:spTree>
    <p:extLst>
      <p:ext uri="{BB962C8B-B14F-4D97-AF65-F5344CB8AC3E}">
        <p14:creationId xmlns:p14="http://schemas.microsoft.com/office/powerpoint/2010/main" val="587359955"/>
      </p:ext>
    </p:extLst>
  </p:cSld>
  <p:clrMapOvr>
    <a:masterClrMapping/>
  </p:clrMapOvr>
  <p:transition spd="med" advTm="22263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39872-37C8-50E1-D1D9-FDD728F6AC27}"/>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E3B7E5A-3E11-DDD4-A87B-065B5C7BF83B}"/>
              </a:ext>
            </a:extLst>
          </p:cNvPr>
          <p:cNvSpPr txBox="1"/>
          <p:nvPr/>
        </p:nvSpPr>
        <p:spPr>
          <a:xfrm>
            <a:off x="1028459" y="730197"/>
            <a:ext cx="13934450"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Lookalikes and soundalikes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2B2936A-CA8D-9548-2E76-2502328FFFE8}"/>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CB9695A7-E99E-B33E-D65D-10DEEF753B0F}"/>
              </a:ext>
            </a:extLst>
          </p:cNvPr>
          <p:cNvSpPr/>
          <p:nvPr/>
        </p:nvSpPr>
        <p:spPr>
          <a:xfrm>
            <a:off x="1028459" y="1947120"/>
            <a:ext cx="15283345" cy="2062103"/>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Harrison Ford is the famous actor who portrayed Indiana Jones in a series of Hollywood films. Recently, </a:t>
            </a:r>
            <a:r>
              <a:rPr lang="en-GB" sz="3200" b="0" i="1" dirty="0">
                <a:solidFill>
                  <a:schemeClr val="tx2"/>
                </a:solidFill>
                <a:latin typeface="Barlow" pitchFamily="2" charset="77"/>
              </a:rPr>
              <a:t>Indiana Jones and the Great Circle</a:t>
            </a:r>
            <a:r>
              <a:rPr lang="en-GB" sz="3200" b="0" dirty="0">
                <a:solidFill>
                  <a:schemeClr val="tx2"/>
                </a:solidFill>
                <a:latin typeface="Barlow" pitchFamily="2" charset="77"/>
              </a:rPr>
              <a:t> was released, a video game where Indiana Jones is portrayed by Troy Baker. Is this an infringement of Harrison Ford’s </a:t>
            </a:r>
            <a:r>
              <a:rPr lang="en-GB" sz="3200" b="0" u="sng" dirty="0">
                <a:solidFill>
                  <a:schemeClr val="tx2"/>
                </a:solidFill>
                <a:latin typeface="Barlow" pitchFamily="2" charset="77"/>
              </a:rPr>
              <a:t>performers’ rights</a:t>
            </a:r>
            <a:r>
              <a:rPr lang="en-GB" sz="3200" b="0" dirty="0">
                <a:solidFill>
                  <a:schemeClr val="tx2"/>
                </a:solidFill>
                <a:latin typeface="Barlow" pitchFamily="2" charset="77"/>
              </a:rPr>
              <a:t>? Assume it’s all made in the UK!</a:t>
            </a:r>
          </a:p>
        </p:txBody>
      </p:sp>
      <p:pic>
        <p:nvPicPr>
          <p:cNvPr id="5" name="Online Media 4" descr="Troy Baker vs Harrison Ford - Indiana Jones Voice Comparison">
            <a:hlinkClick r:id="" action="ppaction://media"/>
            <a:extLst>
              <a:ext uri="{FF2B5EF4-FFF2-40B4-BE49-F238E27FC236}">
                <a16:creationId xmlns:a16="http://schemas.microsoft.com/office/drawing/2014/main" id="{129DF285-EFBA-B6D8-F5A9-41B71A7A1C5D}"/>
              </a:ext>
            </a:extLst>
          </p:cNvPr>
          <p:cNvPicPr>
            <a:picLocks noRot="1" noChangeAspect="1"/>
          </p:cNvPicPr>
          <p:nvPr>
            <a:videoFile r:link="rId1"/>
          </p:nvPr>
        </p:nvPicPr>
        <p:blipFill>
          <a:blip r:embed="rId3"/>
          <a:stretch>
            <a:fillRect/>
          </a:stretch>
        </p:blipFill>
        <p:spPr>
          <a:xfrm>
            <a:off x="4653493" y="4373498"/>
            <a:ext cx="8033276" cy="4538801"/>
          </a:xfrm>
          <a:prstGeom prst="rect">
            <a:avLst/>
          </a:prstGeom>
        </p:spPr>
      </p:pic>
    </p:spTree>
    <p:extLst>
      <p:ext uri="{BB962C8B-B14F-4D97-AF65-F5344CB8AC3E}">
        <p14:creationId xmlns:p14="http://schemas.microsoft.com/office/powerpoint/2010/main" val="1575903436"/>
      </p:ext>
    </p:extLst>
  </p:cSld>
  <p:clrMapOvr>
    <a:masterClrMapping/>
  </p:clrMapOvr>
  <p:transition spd="med" advTm="22263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6FE08-91D8-D59B-B446-AA2F509EB7FE}"/>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EAE25A9-41C8-33EF-D92C-DC2691A7CC1A}"/>
              </a:ext>
            </a:extLst>
          </p:cNvPr>
          <p:cNvSpPr txBox="1"/>
          <p:nvPr/>
        </p:nvSpPr>
        <p:spPr>
          <a:xfrm>
            <a:off x="1028459" y="730197"/>
            <a:ext cx="13934450"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Lookalikes and soundalikes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B7EDEF05-0AC5-8B86-259B-691C48A868EE}"/>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21BB5DA8-3040-3797-D56F-5CBD7795E32E}"/>
              </a:ext>
            </a:extLst>
          </p:cNvPr>
          <p:cNvSpPr/>
          <p:nvPr/>
        </p:nvSpPr>
        <p:spPr>
          <a:xfrm>
            <a:off x="1028459" y="1947120"/>
            <a:ext cx="14862995" cy="954107"/>
          </a:xfrm>
          <a:prstGeom prst="rect">
            <a:avLst/>
          </a:prstGeom>
        </p:spPr>
        <p:txBody>
          <a:bodyPr wrap="square">
            <a:spAutoFit/>
          </a:bodyPr>
          <a:lstStyle/>
          <a:p>
            <a:pPr marL="457200" indent="-457200" algn="just">
              <a:buFont typeface="Arial" panose="020B0604020202020204" pitchFamily="34" charset="0"/>
              <a:buChar char="•"/>
            </a:pPr>
            <a:r>
              <a:rPr lang="en-GB" sz="2800" b="0" dirty="0">
                <a:solidFill>
                  <a:schemeClr val="tx2"/>
                </a:solidFill>
                <a:latin typeface="Barlow" pitchFamily="2" charset="77"/>
              </a:rPr>
              <a:t>But – in the AI context - audiovisual performers do have fewer rights than other performers – the UK has yet to ratify the </a:t>
            </a:r>
            <a:r>
              <a:rPr lang="en-GB" sz="2800" dirty="0">
                <a:solidFill>
                  <a:schemeClr val="tx2"/>
                </a:solidFill>
                <a:latin typeface="Barlow" pitchFamily="2" charset="77"/>
              </a:rPr>
              <a:t>Beijing Treaty on Audiovisual Performances</a:t>
            </a:r>
          </a:p>
        </p:txBody>
      </p:sp>
      <p:graphicFrame>
        <p:nvGraphicFramePr>
          <p:cNvPr id="5" name="Table 4">
            <a:extLst>
              <a:ext uri="{FF2B5EF4-FFF2-40B4-BE49-F238E27FC236}">
                <a16:creationId xmlns:a16="http://schemas.microsoft.com/office/drawing/2014/main" id="{30490A95-50AD-7066-1220-76A0F98A4B55}"/>
              </a:ext>
            </a:extLst>
          </p:cNvPr>
          <p:cNvGraphicFramePr>
            <a:graphicFrameLocks noGrp="1"/>
          </p:cNvGraphicFramePr>
          <p:nvPr>
            <p:extLst>
              <p:ext uri="{D42A27DB-BD31-4B8C-83A1-F6EECF244321}">
                <p14:modId xmlns:p14="http://schemas.microsoft.com/office/powerpoint/2010/main" val="1036642003"/>
              </p:ext>
            </p:extLst>
          </p:nvPr>
        </p:nvGraphicFramePr>
        <p:xfrm>
          <a:off x="1028458" y="3235024"/>
          <a:ext cx="15283345" cy="5632148"/>
        </p:xfrm>
        <a:graphic>
          <a:graphicData uri="http://schemas.openxmlformats.org/drawingml/2006/table">
            <a:tbl>
              <a:tblPr firstRow="1" bandRow="1">
                <a:tableStyleId>{5940675A-B579-460E-94D1-54222C63F5DA}</a:tableStyleId>
              </a:tblPr>
              <a:tblGrid>
                <a:gridCol w="3056669">
                  <a:extLst>
                    <a:ext uri="{9D8B030D-6E8A-4147-A177-3AD203B41FA5}">
                      <a16:colId xmlns:a16="http://schemas.microsoft.com/office/drawing/2014/main" val="798654136"/>
                    </a:ext>
                  </a:extLst>
                </a:gridCol>
                <a:gridCol w="3056669">
                  <a:extLst>
                    <a:ext uri="{9D8B030D-6E8A-4147-A177-3AD203B41FA5}">
                      <a16:colId xmlns:a16="http://schemas.microsoft.com/office/drawing/2014/main" val="2686689222"/>
                    </a:ext>
                  </a:extLst>
                </a:gridCol>
                <a:gridCol w="3056669">
                  <a:extLst>
                    <a:ext uri="{9D8B030D-6E8A-4147-A177-3AD203B41FA5}">
                      <a16:colId xmlns:a16="http://schemas.microsoft.com/office/drawing/2014/main" val="3022717165"/>
                    </a:ext>
                  </a:extLst>
                </a:gridCol>
                <a:gridCol w="3056669">
                  <a:extLst>
                    <a:ext uri="{9D8B030D-6E8A-4147-A177-3AD203B41FA5}">
                      <a16:colId xmlns:a16="http://schemas.microsoft.com/office/drawing/2014/main" val="1206150256"/>
                    </a:ext>
                  </a:extLst>
                </a:gridCol>
                <a:gridCol w="3056669">
                  <a:extLst>
                    <a:ext uri="{9D8B030D-6E8A-4147-A177-3AD203B41FA5}">
                      <a16:colId xmlns:a16="http://schemas.microsoft.com/office/drawing/2014/main" val="1199223057"/>
                    </a:ext>
                  </a:extLst>
                </a:gridCol>
              </a:tblGrid>
              <a:tr h="852815">
                <a:tc>
                  <a:txBody>
                    <a:bodyPr/>
                    <a:lstStyle/>
                    <a:p>
                      <a:endParaRPr lang="en-GB" sz="2800" b="1" dirty="0">
                        <a:solidFill>
                          <a:schemeClr val="tx2"/>
                        </a:solidFill>
                        <a:latin typeface="Barlow" pitchFamily="2" charset="77"/>
                      </a:endParaRPr>
                    </a:p>
                  </a:txBody>
                  <a:tcPr/>
                </a:tc>
                <a:tc>
                  <a:txBody>
                    <a:bodyPr/>
                    <a:lstStyle/>
                    <a:p>
                      <a:r>
                        <a:rPr lang="en-GB" sz="2800" b="1" dirty="0">
                          <a:solidFill>
                            <a:schemeClr val="tx2"/>
                          </a:solidFill>
                          <a:latin typeface="Barlow" pitchFamily="2" charset="77"/>
                        </a:rPr>
                        <a:t>Contractable?</a:t>
                      </a:r>
                    </a:p>
                  </a:txBody>
                  <a:tcPr/>
                </a:tc>
                <a:tc>
                  <a:txBody>
                    <a:bodyPr/>
                    <a:lstStyle/>
                    <a:p>
                      <a:r>
                        <a:rPr lang="en-GB" sz="2800" b="1" dirty="0">
                          <a:solidFill>
                            <a:schemeClr val="tx2"/>
                          </a:solidFill>
                          <a:latin typeface="Barlow" pitchFamily="2" charset="77"/>
                        </a:rPr>
                        <a:t>Live performers</a:t>
                      </a:r>
                    </a:p>
                  </a:txBody>
                  <a:tcPr/>
                </a:tc>
                <a:tc>
                  <a:txBody>
                    <a:bodyPr/>
                    <a:lstStyle/>
                    <a:p>
                      <a:r>
                        <a:rPr lang="en-GB" sz="2800" b="1" dirty="0">
                          <a:solidFill>
                            <a:schemeClr val="tx2"/>
                          </a:solidFill>
                          <a:latin typeface="Barlow" pitchFamily="2" charset="77"/>
                        </a:rPr>
                        <a:t>Performers on sound recordings</a:t>
                      </a:r>
                    </a:p>
                  </a:txBody>
                  <a:tcPr/>
                </a:tc>
                <a:tc>
                  <a:txBody>
                    <a:bodyPr/>
                    <a:lstStyle/>
                    <a:p>
                      <a:r>
                        <a:rPr lang="en-GB" sz="2800" b="1" dirty="0">
                          <a:solidFill>
                            <a:schemeClr val="tx2"/>
                          </a:solidFill>
                          <a:highlight>
                            <a:srgbClr val="FFFF00"/>
                          </a:highlight>
                          <a:latin typeface="Barlow" pitchFamily="2" charset="77"/>
                        </a:rPr>
                        <a:t>Audiovisual performers</a:t>
                      </a:r>
                    </a:p>
                  </a:txBody>
                  <a:tcPr/>
                </a:tc>
                <a:extLst>
                  <a:ext uri="{0D108BD9-81ED-4DB2-BD59-A6C34878D82A}">
                    <a16:rowId xmlns:a16="http://schemas.microsoft.com/office/drawing/2014/main" val="652212238"/>
                  </a:ext>
                </a:extLst>
              </a:tr>
              <a:tr h="2778527">
                <a:tc>
                  <a:txBody>
                    <a:bodyPr/>
                    <a:lstStyle/>
                    <a:p>
                      <a:r>
                        <a:rPr lang="en-GB" sz="2800" dirty="0">
                          <a:solidFill>
                            <a:schemeClr val="tx2"/>
                          </a:solidFill>
                          <a:latin typeface="Barlow" pitchFamily="2" charset="77"/>
                        </a:rPr>
                        <a:t>Economic rights</a:t>
                      </a:r>
                    </a:p>
                  </a:txBody>
                  <a:tcPr/>
                </a:tc>
                <a:tc>
                  <a:txBody>
                    <a:bodyPr/>
                    <a:lstStyle/>
                    <a:p>
                      <a:r>
                        <a:rPr lang="en-GB" sz="2800" dirty="0">
                          <a:solidFill>
                            <a:schemeClr val="tx2"/>
                          </a:solidFill>
                          <a:latin typeface="Barlow" pitchFamily="2" charset="77"/>
                        </a:rPr>
                        <a:t>Assignable/licensable</a:t>
                      </a:r>
                    </a:p>
                  </a:txBody>
                  <a:tcPr/>
                </a:tc>
                <a:tc>
                  <a:txBody>
                    <a:bodyPr/>
                    <a:lstStyle/>
                    <a:p>
                      <a:r>
                        <a:rPr lang="en-GB" sz="2800" dirty="0">
                          <a:solidFill>
                            <a:schemeClr val="tx2"/>
                          </a:solidFill>
                          <a:latin typeface="Barlow" pitchFamily="2" charset="77"/>
                        </a:rPr>
                        <a:t>Recording, copying and broadcasting</a:t>
                      </a:r>
                    </a:p>
                  </a:txBody>
                  <a:tcPr/>
                </a:tc>
                <a:tc>
                  <a:txBody>
                    <a:bodyPr/>
                    <a:lstStyle/>
                    <a:p>
                      <a:pPr marL="0" marR="0" lvl="0" indent="0" algn="ctr" defTabSz="782735" eaLnBrk="1" fontAlgn="auto" latinLnBrk="0" hangingPunct="1">
                        <a:lnSpc>
                          <a:spcPct val="100000"/>
                        </a:lnSpc>
                        <a:spcBef>
                          <a:spcPts val="0"/>
                        </a:spcBef>
                        <a:spcAft>
                          <a:spcPts val="0"/>
                        </a:spcAft>
                        <a:buClrTx/>
                        <a:buSzTx/>
                        <a:buFontTx/>
                        <a:buNone/>
                        <a:tabLst/>
                        <a:defRPr/>
                      </a:pPr>
                      <a:r>
                        <a:rPr lang="en-GB" sz="2800" dirty="0">
                          <a:solidFill>
                            <a:schemeClr val="tx2"/>
                          </a:solidFill>
                          <a:latin typeface="Barlow" pitchFamily="2" charset="77"/>
                        </a:rPr>
                        <a:t>Recording, copying and broadcasting</a:t>
                      </a:r>
                    </a:p>
                    <a:p>
                      <a:pPr marL="0" marR="0" lvl="0" indent="0" algn="ctr" defTabSz="782735" eaLnBrk="1" fontAlgn="auto" latinLnBrk="0" hangingPunct="1">
                        <a:lnSpc>
                          <a:spcPct val="100000"/>
                        </a:lnSpc>
                        <a:spcBef>
                          <a:spcPts val="0"/>
                        </a:spcBef>
                        <a:spcAft>
                          <a:spcPts val="0"/>
                        </a:spcAft>
                        <a:buClrTx/>
                        <a:buSzTx/>
                        <a:buFontTx/>
                        <a:buNone/>
                        <a:tabLst/>
                        <a:defRPr/>
                      </a:pPr>
                      <a:r>
                        <a:rPr lang="en-GB" sz="2800" dirty="0">
                          <a:solidFill>
                            <a:schemeClr val="tx2"/>
                          </a:solidFill>
                          <a:latin typeface="Barlow" pitchFamily="2" charset="77"/>
                        </a:rPr>
                        <a:t>+ Making available to the public and public performance</a:t>
                      </a:r>
                    </a:p>
                  </a:txBody>
                  <a:tcPr/>
                </a:tc>
                <a:tc>
                  <a:txBody>
                    <a:bodyPr/>
                    <a:lstStyle/>
                    <a:p>
                      <a:r>
                        <a:rPr lang="en-GB" sz="2800" dirty="0">
                          <a:solidFill>
                            <a:schemeClr val="tx2"/>
                          </a:solidFill>
                          <a:highlight>
                            <a:srgbClr val="FFFF00"/>
                          </a:highlight>
                          <a:latin typeface="Barlow" pitchFamily="2" charset="77"/>
                        </a:rPr>
                        <a:t>Recording and copying</a:t>
                      </a:r>
                    </a:p>
                  </a:txBody>
                  <a:tcPr/>
                </a:tc>
                <a:extLst>
                  <a:ext uri="{0D108BD9-81ED-4DB2-BD59-A6C34878D82A}">
                    <a16:rowId xmlns:a16="http://schemas.microsoft.com/office/drawing/2014/main" val="767709111"/>
                  </a:ext>
                </a:extLst>
              </a:tr>
              <a:tr h="475205">
                <a:tc>
                  <a:txBody>
                    <a:bodyPr/>
                    <a:lstStyle/>
                    <a:p>
                      <a:r>
                        <a:rPr lang="en-GB" sz="2800" dirty="0">
                          <a:solidFill>
                            <a:schemeClr val="tx2"/>
                          </a:solidFill>
                          <a:latin typeface="Barlow" pitchFamily="2" charset="77"/>
                        </a:rPr>
                        <a:t>Moral rights</a:t>
                      </a:r>
                    </a:p>
                  </a:txBody>
                  <a:tcPr/>
                </a:tc>
                <a:tc>
                  <a:txBody>
                    <a:bodyPr/>
                    <a:lstStyle/>
                    <a:p>
                      <a:r>
                        <a:rPr lang="en-GB" sz="2800" dirty="0">
                          <a:solidFill>
                            <a:schemeClr val="tx2"/>
                          </a:solidFill>
                          <a:latin typeface="Barlow" pitchFamily="2" charset="77"/>
                        </a:rPr>
                        <a:t>Waivable</a:t>
                      </a:r>
                    </a:p>
                  </a:txBody>
                  <a:tcPr/>
                </a:tc>
                <a:tc>
                  <a:txBody>
                    <a:bodyPr/>
                    <a:lstStyle/>
                    <a:p>
                      <a:r>
                        <a:rPr lang="en-GB" sz="2800" dirty="0">
                          <a:solidFill>
                            <a:schemeClr val="tx2"/>
                          </a:solidFill>
                          <a:latin typeface="Barlow" pitchFamily="2" charset="77"/>
                        </a:rPr>
                        <a:t>Yes</a:t>
                      </a:r>
                    </a:p>
                  </a:txBody>
                  <a:tcPr/>
                </a:tc>
                <a:tc>
                  <a:txBody>
                    <a:bodyPr/>
                    <a:lstStyle/>
                    <a:p>
                      <a:r>
                        <a:rPr lang="en-GB" sz="2800" dirty="0">
                          <a:solidFill>
                            <a:schemeClr val="tx2"/>
                          </a:solidFill>
                          <a:latin typeface="Barlow" pitchFamily="2" charset="77"/>
                        </a:rPr>
                        <a:t>Yes</a:t>
                      </a:r>
                    </a:p>
                  </a:txBody>
                  <a:tcPr/>
                </a:tc>
                <a:tc>
                  <a:txBody>
                    <a:bodyPr/>
                    <a:lstStyle/>
                    <a:p>
                      <a:r>
                        <a:rPr lang="en-GB" sz="2800" dirty="0">
                          <a:solidFill>
                            <a:schemeClr val="tx2"/>
                          </a:solidFill>
                          <a:highlight>
                            <a:srgbClr val="FFFF00"/>
                          </a:highlight>
                          <a:latin typeface="Barlow" pitchFamily="2" charset="77"/>
                        </a:rPr>
                        <a:t>-</a:t>
                      </a:r>
                    </a:p>
                  </a:txBody>
                  <a:tcPr/>
                </a:tc>
                <a:extLst>
                  <a:ext uri="{0D108BD9-81ED-4DB2-BD59-A6C34878D82A}">
                    <a16:rowId xmlns:a16="http://schemas.microsoft.com/office/drawing/2014/main" val="1605625995"/>
                  </a:ext>
                </a:extLst>
              </a:tr>
              <a:tr h="1090628">
                <a:tc>
                  <a:txBody>
                    <a:bodyPr/>
                    <a:lstStyle/>
                    <a:p>
                      <a:r>
                        <a:rPr lang="en-GB" sz="2800" dirty="0">
                          <a:solidFill>
                            <a:schemeClr val="tx2"/>
                          </a:solidFill>
                          <a:latin typeface="Barlow" pitchFamily="2" charset="77"/>
                        </a:rPr>
                        <a:t>Remuneration rights</a:t>
                      </a:r>
                    </a:p>
                  </a:txBody>
                  <a:tcPr/>
                </a:tc>
                <a:tc>
                  <a:txBody>
                    <a:bodyPr/>
                    <a:lstStyle/>
                    <a:p>
                      <a:r>
                        <a:rPr lang="en-GB" sz="2800" dirty="0">
                          <a:solidFill>
                            <a:schemeClr val="tx2"/>
                          </a:solidFill>
                          <a:latin typeface="Barlow" pitchFamily="2" charset="77"/>
                        </a:rPr>
                        <a:t>Unwaivable</a:t>
                      </a:r>
                    </a:p>
                  </a:txBody>
                  <a:tcPr/>
                </a:tc>
                <a:tc>
                  <a:txBody>
                    <a:bodyPr/>
                    <a:lstStyle/>
                    <a:p>
                      <a:r>
                        <a:rPr lang="en-GB" sz="2800" dirty="0">
                          <a:solidFill>
                            <a:schemeClr val="tx2"/>
                          </a:solidFill>
                          <a:latin typeface="Barlow" pitchFamily="2" charset="77"/>
                        </a:rPr>
                        <a:t>-</a:t>
                      </a:r>
                    </a:p>
                  </a:txBody>
                  <a:tcPr/>
                </a:tc>
                <a:tc>
                  <a:txBody>
                    <a:bodyPr/>
                    <a:lstStyle/>
                    <a:p>
                      <a:pPr marL="0" marR="0" lvl="0" indent="0" algn="ctr" defTabSz="782735" eaLnBrk="1" fontAlgn="auto" latinLnBrk="0" hangingPunct="1">
                        <a:lnSpc>
                          <a:spcPct val="100000"/>
                        </a:lnSpc>
                        <a:spcBef>
                          <a:spcPts val="0"/>
                        </a:spcBef>
                        <a:spcAft>
                          <a:spcPts val="0"/>
                        </a:spcAft>
                        <a:buClrTx/>
                        <a:buSzTx/>
                        <a:buFontTx/>
                        <a:buNone/>
                        <a:tabLst/>
                        <a:defRPr/>
                      </a:pPr>
                      <a:r>
                        <a:rPr lang="en-GB" sz="2800" dirty="0">
                          <a:solidFill>
                            <a:schemeClr val="tx2"/>
                          </a:solidFill>
                          <a:latin typeface="Barlow" pitchFamily="2" charset="77"/>
                        </a:rPr>
                        <a:t>Yes</a:t>
                      </a:r>
                    </a:p>
                    <a:p>
                      <a:endParaRPr lang="en-GB" sz="2800" dirty="0">
                        <a:solidFill>
                          <a:schemeClr val="tx2"/>
                        </a:solidFill>
                        <a:latin typeface="Barlow" pitchFamily="2" charset="77"/>
                      </a:endParaRPr>
                    </a:p>
                  </a:txBody>
                  <a:tcPr/>
                </a:tc>
                <a:tc>
                  <a:txBody>
                    <a:bodyPr/>
                    <a:lstStyle/>
                    <a:p>
                      <a:r>
                        <a:rPr lang="en-GB" sz="2800" dirty="0">
                          <a:solidFill>
                            <a:schemeClr val="tx2"/>
                          </a:solidFill>
                          <a:highlight>
                            <a:srgbClr val="FFFF00"/>
                          </a:highlight>
                          <a:latin typeface="Barlow" pitchFamily="2" charset="77"/>
                        </a:rPr>
                        <a:t>-</a:t>
                      </a:r>
                    </a:p>
                  </a:txBody>
                  <a:tcPr/>
                </a:tc>
                <a:extLst>
                  <a:ext uri="{0D108BD9-81ED-4DB2-BD59-A6C34878D82A}">
                    <a16:rowId xmlns:a16="http://schemas.microsoft.com/office/drawing/2014/main" val="2460167662"/>
                  </a:ext>
                </a:extLst>
              </a:tr>
            </a:tbl>
          </a:graphicData>
        </a:graphic>
      </p:graphicFrame>
    </p:spTree>
    <p:extLst>
      <p:ext uri="{BB962C8B-B14F-4D97-AF65-F5344CB8AC3E}">
        <p14:creationId xmlns:p14="http://schemas.microsoft.com/office/powerpoint/2010/main" val="1930544653"/>
      </p:ext>
    </p:extLst>
  </p:cSld>
  <p:clrMapOvr>
    <a:masterClrMapping/>
  </p:clrMapOvr>
  <p:transition spd="med" advTm="222639"/>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26D2A-C4C9-351F-5D54-7E419F6D5CD9}"/>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99778247-C4AC-81B5-3663-5E309801687B}"/>
              </a:ext>
            </a:extLst>
          </p:cNvPr>
          <p:cNvSpPr txBox="1"/>
          <p:nvPr/>
        </p:nvSpPr>
        <p:spPr>
          <a:xfrm>
            <a:off x="1028459" y="730197"/>
            <a:ext cx="1190695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Deepfakes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479B8F2E-3227-E11D-D653-76B77D8D8D02}"/>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60C65B3A-3B9A-B1F2-8AA9-DA73D99F98A0}"/>
              </a:ext>
            </a:extLst>
          </p:cNvPr>
          <p:cNvSpPr/>
          <p:nvPr/>
        </p:nvSpPr>
        <p:spPr>
          <a:xfrm>
            <a:off x="1028459" y="1947120"/>
            <a:ext cx="15779084" cy="523220"/>
          </a:xfrm>
          <a:prstGeom prst="rect">
            <a:avLst/>
          </a:prstGeom>
        </p:spPr>
        <p:txBody>
          <a:bodyPr wrap="square">
            <a:spAutoFit/>
          </a:bodyPr>
          <a:lstStyle/>
          <a:p>
            <a:pPr marL="457200" indent="-457200" algn="just">
              <a:buFont typeface="Arial" panose="020B0604020202020204" pitchFamily="34" charset="0"/>
              <a:buChar char="•"/>
            </a:pPr>
            <a:r>
              <a:rPr lang="en-GB" sz="2800" b="0" dirty="0">
                <a:solidFill>
                  <a:schemeClr val="tx2"/>
                </a:solidFill>
                <a:latin typeface="Barlow" pitchFamily="2" charset="77"/>
              </a:rPr>
              <a:t>'Deepfakes’ – using AI making to make it look like someone did/said something that they didn’t</a:t>
            </a:r>
          </a:p>
        </p:txBody>
      </p:sp>
      <p:pic>
        <p:nvPicPr>
          <p:cNvPr id="12" name="Online Media 11" descr="Deepfake Tom Cruise">
            <a:hlinkClick r:id="" action="ppaction://media"/>
            <a:extLst>
              <a:ext uri="{FF2B5EF4-FFF2-40B4-BE49-F238E27FC236}">
                <a16:creationId xmlns:a16="http://schemas.microsoft.com/office/drawing/2014/main" id="{D21AEBC7-FDD0-6B38-03E0-FF592AE58EE7}"/>
              </a:ext>
            </a:extLst>
          </p:cNvPr>
          <p:cNvPicPr>
            <a:picLocks noRot="1" noChangeAspect="1"/>
          </p:cNvPicPr>
          <p:nvPr>
            <a:videoFile r:link="rId1"/>
          </p:nvPr>
        </p:nvPicPr>
        <p:blipFill>
          <a:blip r:embed="rId5"/>
          <a:stretch>
            <a:fillRect/>
          </a:stretch>
        </p:blipFill>
        <p:spPr>
          <a:xfrm>
            <a:off x="1604564" y="2923567"/>
            <a:ext cx="3446407" cy="6099836"/>
          </a:xfrm>
          <a:prstGeom prst="rect">
            <a:avLst/>
          </a:prstGeom>
        </p:spPr>
      </p:pic>
      <p:pic>
        <p:nvPicPr>
          <p:cNvPr id="13" name="Online Media 12" descr="We do our own stunts #deeptomcruise #parishilton #shorts Paris Hilton Tom Cruise">
            <a:hlinkClick r:id="" action="ppaction://media"/>
            <a:extLst>
              <a:ext uri="{FF2B5EF4-FFF2-40B4-BE49-F238E27FC236}">
                <a16:creationId xmlns:a16="http://schemas.microsoft.com/office/drawing/2014/main" id="{35A9A754-6133-3206-8E66-2C9869A4508B}"/>
              </a:ext>
            </a:extLst>
          </p:cNvPr>
          <p:cNvPicPr>
            <a:picLocks noRot="1" noChangeAspect="1"/>
          </p:cNvPicPr>
          <p:nvPr>
            <a:videoFile r:link="rId2"/>
          </p:nvPr>
        </p:nvPicPr>
        <p:blipFill>
          <a:blip r:embed="rId6"/>
          <a:stretch>
            <a:fillRect/>
          </a:stretch>
        </p:blipFill>
        <p:spPr>
          <a:xfrm>
            <a:off x="6946928" y="2923567"/>
            <a:ext cx="3446407" cy="6099835"/>
          </a:xfrm>
          <a:prstGeom prst="rect">
            <a:avLst/>
          </a:prstGeom>
        </p:spPr>
      </p:pic>
      <p:pic>
        <p:nvPicPr>
          <p:cNvPr id="14" name="Online Media 13" descr="Deeptomcruise #shorts - I want to see you climb this.">
            <a:hlinkClick r:id="" action="ppaction://media"/>
            <a:extLst>
              <a:ext uri="{FF2B5EF4-FFF2-40B4-BE49-F238E27FC236}">
                <a16:creationId xmlns:a16="http://schemas.microsoft.com/office/drawing/2014/main" id="{C82ACA16-6C37-DD9B-33BB-F513E9A2F6D8}"/>
              </a:ext>
            </a:extLst>
          </p:cNvPr>
          <p:cNvPicPr>
            <a:picLocks noRot="1" noChangeAspect="1"/>
          </p:cNvPicPr>
          <p:nvPr>
            <a:videoFile r:link="rId3"/>
          </p:nvPr>
        </p:nvPicPr>
        <p:blipFill>
          <a:blip r:embed="rId7"/>
          <a:stretch>
            <a:fillRect/>
          </a:stretch>
        </p:blipFill>
        <p:spPr>
          <a:xfrm>
            <a:off x="12289292" y="2923567"/>
            <a:ext cx="3446407" cy="6099835"/>
          </a:xfrm>
          <a:prstGeom prst="rect">
            <a:avLst/>
          </a:prstGeom>
        </p:spPr>
      </p:pic>
    </p:spTree>
    <p:extLst>
      <p:ext uri="{BB962C8B-B14F-4D97-AF65-F5344CB8AC3E}">
        <p14:creationId xmlns:p14="http://schemas.microsoft.com/office/powerpoint/2010/main" val="2538361943"/>
      </p:ext>
    </p:extLst>
  </p:cSld>
  <p:clrMapOvr>
    <a:masterClrMapping/>
  </p:clrMapOvr>
  <p:transition spd="med" advTm="22263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13"/>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12"/>
                </p:tgtEl>
              </p:cMediaNode>
            </p:video>
            <p:seq concurrent="1" nextAc="seek">
              <p:cTn id="16" restart="whenNotActive" fill="hold" evtFilter="cancelBubble" nodeType="interactiveSeq">
                <p:stCondLst>
                  <p:cond evt="onClick" delay="0">
                    <p:tgtEl>
                      <p:spTgt spid="12"/>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2"/>
                                        </p:tgtEl>
                                      </p:cBhvr>
                                    </p:cmd>
                                  </p:childTnLst>
                                </p:cTn>
                              </p:par>
                            </p:childTnLst>
                          </p:cTn>
                        </p:par>
                      </p:childTnLst>
                    </p:cTn>
                  </p:par>
                </p:childTnLst>
              </p:cTn>
              <p:nextCondLst>
                <p:cond evt="onClick" delay="0">
                  <p:tgtEl>
                    <p:spTgt spid="12"/>
                  </p:tgtEl>
                </p:cond>
              </p:nextCondLst>
            </p:seq>
            <p:video>
              <p:cMediaNode vol="80000">
                <p:cTn id="21" fill="hold" display="0">
                  <p:stCondLst>
                    <p:cond delay="indefinite"/>
                  </p:stCondLst>
                </p:cTn>
                <p:tgtEl>
                  <p:spTgt spid="13"/>
                </p:tgtEl>
              </p:cMediaNode>
            </p:video>
            <p:seq concurrent="1" nextAc="seek">
              <p:cTn id="22" restart="whenNotActive" fill="hold" evtFilter="cancelBubble" nodeType="interactiveSeq">
                <p:stCondLst>
                  <p:cond evt="onClick" delay="0">
                    <p:tgtEl>
                      <p:spTgt spid="13"/>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13"/>
                                        </p:tgtEl>
                                      </p:cBhvr>
                                    </p:cmd>
                                  </p:childTnLst>
                                </p:cTn>
                              </p:par>
                            </p:childTnLst>
                          </p:cTn>
                        </p:par>
                      </p:childTnLst>
                    </p:cTn>
                  </p:par>
                </p:childTnLst>
              </p:cTn>
              <p:nextCondLst>
                <p:cond evt="onClick" delay="0">
                  <p:tgtEl>
                    <p:spTgt spid="13"/>
                  </p:tgtEl>
                </p:cond>
              </p:nextCondLst>
            </p:seq>
            <p:video>
              <p:cMediaNode vol="80000">
                <p:cTn id="27" fill="hold" display="0">
                  <p:stCondLst>
                    <p:cond delay="indefinite"/>
                  </p:stCondLst>
                </p:cTn>
                <p:tgtEl>
                  <p:spTgt spid="14"/>
                </p:tgtEl>
              </p:cMediaNode>
            </p:video>
            <p:seq concurrent="1" nextAc="seek">
              <p:cTn id="28" restart="whenNotActive" fill="hold" evtFilter="cancelBubble" nodeType="interactiveSeq">
                <p:stCondLst>
                  <p:cond evt="onClick" delay="0">
                    <p:tgtEl>
                      <p:spTgt spid="14"/>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44A49-65E5-AC03-20B8-A3744358E87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A108C38-C5A0-3482-4CBD-8E469D7158D4}"/>
              </a:ext>
            </a:extLst>
          </p:cNvPr>
          <p:cNvSpPr txBox="1"/>
          <p:nvPr/>
        </p:nvSpPr>
        <p:spPr>
          <a:xfrm>
            <a:off x="1028458" y="1022626"/>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Deepfakes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78C5EDC8-62BA-22E7-6F94-EDF47E85EE1A}"/>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E6C2815E-776B-F523-49FC-EE0429552BF0}"/>
              </a:ext>
            </a:extLst>
          </p:cNvPr>
          <p:cNvSpPr/>
          <p:nvPr/>
        </p:nvSpPr>
        <p:spPr>
          <a:xfrm>
            <a:off x="1028460" y="2614641"/>
            <a:ext cx="7641672" cy="3539430"/>
          </a:xfrm>
          <a:prstGeom prst="rect">
            <a:avLst/>
          </a:prstGeom>
        </p:spPr>
        <p:txBody>
          <a:bodyPr wrap="square">
            <a:spAutoFit/>
          </a:bodyPr>
          <a:lstStyle/>
          <a:p>
            <a:pPr algn="just"/>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Assume Tom Cruise is a UK-based actor and these deepfakes were made in the UK. Can Tom Cruise rely on his performers' rights to stop these videos?</a:t>
            </a:r>
          </a:p>
          <a:p>
            <a:pPr algn="just"/>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https://</a:t>
            </a:r>
            <a:r>
              <a:rPr lang="en-GB" sz="3200" b="0" dirty="0" err="1">
                <a:solidFill>
                  <a:schemeClr val="tx2"/>
                </a:solidFill>
                <a:latin typeface="Barlow" pitchFamily="2" charset="77"/>
              </a:rPr>
              <a:t>forms.office.com</a:t>
            </a:r>
            <a:r>
              <a:rPr lang="en-GB" sz="3200" b="0" dirty="0">
                <a:solidFill>
                  <a:schemeClr val="tx2"/>
                </a:solidFill>
                <a:latin typeface="Barlow" pitchFamily="2" charset="77"/>
              </a:rPr>
              <a:t>/e/aYr5N2PLJG</a:t>
            </a:r>
          </a:p>
        </p:txBody>
      </p:sp>
      <p:pic>
        <p:nvPicPr>
          <p:cNvPr id="3076" name="Picture 4" descr="QR code">
            <a:extLst>
              <a:ext uri="{FF2B5EF4-FFF2-40B4-BE49-F238E27FC236}">
                <a16:creationId xmlns:a16="http://schemas.microsoft.com/office/drawing/2014/main" id="{639CB810-15E1-57A9-6B74-6EB5639B1B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4121" y="1783776"/>
            <a:ext cx="6483757" cy="6483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923020"/>
      </p:ext>
    </p:extLst>
  </p:cSld>
  <p:clrMapOvr>
    <a:masterClrMapping/>
  </p:clrMapOvr>
  <p:transition spd="med" advTm="222639"/>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894A9-9CE8-6158-2764-2AE4386B6D3F}"/>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645866E7-2567-932F-8EB8-9BDC30A2FFAF}"/>
              </a:ext>
            </a:extLst>
          </p:cNvPr>
          <p:cNvSpPr txBox="1"/>
          <p:nvPr/>
        </p:nvSpPr>
        <p:spPr>
          <a:xfrm>
            <a:off x="1028458" y="1002549"/>
            <a:ext cx="16116541"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Performers’ rights – a summary for your AI classes!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5779220-42C4-538A-094B-99009884559A}"/>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5481C2AE-676F-AD38-C77D-3F75215A1821}"/>
              </a:ext>
            </a:extLst>
          </p:cNvPr>
          <p:cNvSpPr/>
          <p:nvPr/>
        </p:nvSpPr>
        <p:spPr>
          <a:xfrm>
            <a:off x="1028459" y="2179242"/>
            <a:ext cx="15015593" cy="4754122"/>
          </a:xfrm>
          <a:prstGeom prst="rect">
            <a:avLst/>
          </a:prstGeom>
        </p:spPr>
        <p:txBody>
          <a:bodyPr wrap="square">
            <a:spAutoFit/>
          </a:bodyPr>
          <a:lstStyle/>
          <a:p>
            <a:pPr marL="457200" indent="-457200"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b="0" dirty="0">
                <a:solidFill>
                  <a:schemeClr val="tx2"/>
                </a:solidFill>
                <a:latin typeface="Barlow" pitchFamily="2" charset="77"/>
                <a:sym typeface="Barlow Regular"/>
              </a:rPr>
              <a:t>Performers’ have more limited rights than ‘authors’ in copyright, especially audiovisual performers</a:t>
            </a:r>
          </a:p>
          <a:p>
            <a:pPr marL="457200" indent="-457200"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b="0" dirty="0">
                <a:solidFill>
                  <a:schemeClr val="tx2"/>
                </a:solidFill>
                <a:latin typeface="Barlow" pitchFamily="2" charset="77"/>
                <a:sym typeface="Barlow Regular"/>
              </a:rPr>
              <a:t>Performers may face particular vulnerabilities where their performances are used to train AI models, because there is little legal protection for ‘likenesses’ in the UK</a:t>
            </a:r>
          </a:p>
          <a:p>
            <a:pPr marL="457200" indent="-457200"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b="0" dirty="0">
              <a:solidFill>
                <a:schemeClr val="tx2"/>
              </a:solidFill>
              <a:latin typeface="Barlow" pitchFamily="2" charset="77"/>
              <a:sym typeface="Barlow Regular"/>
            </a:endParaRPr>
          </a:p>
          <a:p>
            <a:pPr marL="457200" indent="-457200"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b="0" dirty="0">
                <a:solidFill>
                  <a:schemeClr val="tx2"/>
                </a:solidFill>
                <a:latin typeface="Barlow" pitchFamily="2" charset="77"/>
                <a:sym typeface="Barlow Regular"/>
              </a:rPr>
              <a:t>Things you might want to ask our guest lecturers…</a:t>
            </a:r>
          </a:p>
          <a:p>
            <a:pPr marL="457200" indent="-457200"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b="0" dirty="0">
                <a:solidFill>
                  <a:schemeClr val="tx2"/>
                </a:solidFill>
                <a:latin typeface="Barlow" pitchFamily="2" charset="77"/>
                <a:sym typeface="Barlow Regular"/>
              </a:rPr>
              <a:t>Are there ‘copies’ of performances in AI models?</a:t>
            </a:r>
          </a:p>
          <a:p>
            <a:pPr marL="457200" indent="-457200"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b="0" dirty="0">
                <a:solidFill>
                  <a:schemeClr val="tx2"/>
                </a:solidFill>
                <a:latin typeface="Barlow" pitchFamily="2" charset="77"/>
                <a:sym typeface="Barlow Regular"/>
              </a:rPr>
              <a:t>Can an AI be a ‘performer’?</a:t>
            </a:r>
          </a:p>
        </p:txBody>
      </p:sp>
    </p:spTree>
    <p:extLst>
      <p:ext uri="{BB962C8B-B14F-4D97-AF65-F5344CB8AC3E}">
        <p14:creationId xmlns:p14="http://schemas.microsoft.com/office/powerpoint/2010/main" val="4218934436"/>
      </p:ext>
    </p:extLst>
  </p:cSld>
  <p:clrMapOvr>
    <a:masterClrMapping/>
  </p:clrMapOvr>
  <p:transition spd="med" advTm="222639"/>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F6314-B7A3-7909-0B59-F649A6E20EA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907AF5E2-BF5C-1E49-F212-006A21C8B5C4}"/>
              </a:ext>
            </a:extLst>
          </p:cNvPr>
          <p:cNvSpPr txBox="1"/>
          <p:nvPr/>
        </p:nvSpPr>
        <p:spPr>
          <a:xfrm>
            <a:off x="1028458" y="730197"/>
            <a:ext cx="1413534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Next week…</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8CCD2BF4-DDAD-234B-D70B-5096F3BD646C}"/>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4" name="TextBox 3">
            <a:extLst>
              <a:ext uri="{FF2B5EF4-FFF2-40B4-BE49-F238E27FC236}">
                <a16:creationId xmlns:a16="http://schemas.microsoft.com/office/drawing/2014/main" id="{CB426401-4D89-B554-38A0-24A75915F8BE}"/>
              </a:ext>
            </a:extLst>
          </p:cNvPr>
          <p:cNvSpPr txBox="1"/>
          <p:nvPr/>
        </p:nvSpPr>
        <p:spPr>
          <a:xfrm>
            <a:off x="1162335" y="1824650"/>
            <a:ext cx="15149469" cy="304698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just">
              <a:buFont typeface="Symbol" pitchFamily="2" charset="2"/>
              <a:buChar char=""/>
            </a:pPr>
            <a:r>
              <a:rPr lang="en-GB" sz="3200" b="0" dirty="0">
                <a:solidFill>
                  <a:schemeClr val="tx2"/>
                </a:solidFill>
                <a:latin typeface="Barlow" pitchFamily="2" charset="77"/>
                <a:ea typeface="Times New Roman" panose="02020603050405020304" pitchFamily="18" charset="0"/>
              </a:rPr>
              <a:t>Seminar 7: (with Martin Kretschmer) AI: Inputs and Licensing Economy</a:t>
            </a:r>
          </a:p>
          <a:p>
            <a:pPr marL="342900" indent="-342900" algn="just">
              <a:buFont typeface="Symbol" pitchFamily="2" charset="2"/>
              <a:buChar char=""/>
            </a:pPr>
            <a:r>
              <a:rPr lang="en-GB" sz="3200" b="0" dirty="0">
                <a:solidFill>
                  <a:schemeClr val="tx2"/>
                </a:solidFill>
                <a:latin typeface="Barlow" pitchFamily="2" charset="77"/>
                <a:ea typeface="Times New Roman" panose="02020603050405020304" pitchFamily="18" charset="0"/>
              </a:rPr>
              <a:t>Seminar 8: (with Kris Erickson) AI: Outputs and Creativity</a:t>
            </a:r>
          </a:p>
          <a:p>
            <a:pPr marL="342900" indent="-342900" algn="just">
              <a:buFont typeface="Symbol" pitchFamily="2" charset="2"/>
              <a:buChar char=""/>
            </a:pPr>
            <a:endParaRPr lang="en-GB" sz="3200" b="0" dirty="0">
              <a:solidFill>
                <a:schemeClr val="tx2"/>
              </a:solidFill>
              <a:latin typeface="Barlow" pitchFamily="2" charset="77"/>
              <a:ea typeface="Times New Roman" panose="02020603050405020304" pitchFamily="18" charset="0"/>
            </a:endParaRPr>
          </a:p>
          <a:p>
            <a:pPr marL="342900" indent="-342900" algn="just">
              <a:buFont typeface="Symbol" pitchFamily="2" charset="2"/>
              <a:buChar char=""/>
            </a:pPr>
            <a:r>
              <a:rPr lang="en-GB" sz="3200" b="0" dirty="0">
                <a:solidFill>
                  <a:schemeClr val="tx2"/>
                </a:solidFill>
                <a:latin typeface="Barlow" pitchFamily="2" charset="77"/>
                <a:ea typeface="Times New Roman" panose="02020603050405020304" pitchFamily="18" charset="0"/>
              </a:rPr>
              <a:t>Remember: you can ask guest lecturers subject-specific/class specific questions, but questions about assignments etc. should be sent to me (</a:t>
            </a:r>
            <a:r>
              <a:rPr lang="en-GB" sz="3200" b="0" dirty="0" err="1">
                <a:solidFill>
                  <a:schemeClr val="tx2"/>
                </a:solidFill>
                <a:latin typeface="Barlow" pitchFamily="2" charset="77"/>
                <a:ea typeface="Times New Roman" panose="02020603050405020304" pitchFamily="18" charset="0"/>
              </a:rPr>
              <a:t>amy.thomas@glasgow.ac.uk</a:t>
            </a:r>
            <a:r>
              <a:rPr lang="en-GB" sz="3200" b="0" dirty="0">
                <a:solidFill>
                  <a:schemeClr val="tx2"/>
                </a:solidFill>
                <a:latin typeface="Barlow" pitchFamily="2" charset="77"/>
                <a:ea typeface="Times New Roman" panose="02020603050405020304" pitchFamily="18" charset="0"/>
              </a:rPr>
              <a:t>)</a:t>
            </a:r>
          </a:p>
        </p:txBody>
      </p:sp>
    </p:spTree>
    <p:extLst>
      <p:ext uri="{BB962C8B-B14F-4D97-AF65-F5344CB8AC3E}">
        <p14:creationId xmlns:p14="http://schemas.microsoft.com/office/powerpoint/2010/main" val="2733197075"/>
      </p:ext>
    </p:extLst>
  </p:cSld>
  <p:clrMapOvr>
    <a:masterClrMapping/>
  </p:clrMapOvr>
  <p:transition spd="med" advTm="222639"/>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6643</TotalTime>
  <Words>1671</Words>
  <Application>Microsoft Macintosh PowerPoint</Application>
  <PresentationFormat>Custom</PresentationFormat>
  <Paragraphs>190</Paragraphs>
  <Slides>23</Slides>
  <Notes>0</Notes>
  <HiddenSlides>0</HiddenSlides>
  <MMClips>4</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Barlow</vt:lpstr>
      <vt:lpstr>Helvetica Neue</vt:lpstr>
      <vt:lpstr>Helvetica Neue Light</vt:lpstr>
      <vt:lpstr>Helvetica Neue Medium</vt:lpstr>
      <vt:lpstr>Symbol</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MEMES AND PARASITES: ANALYSING DISCOURSE ON THE COPYRIGHT DIRECTIVE  Ula Furgal Amy Thomas Gikii 2020</dc:title>
  <dc:creator>Amy Thomas (student)</dc:creator>
  <cp:lastModifiedBy>Amy Thomas</cp:lastModifiedBy>
  <cp:revision>133</cp:revision>
  <dcterms:created xsi:type="dcterms:W3CDTF">2020-07-21T13:40:18Z</dcterms:created>
  <dcterms:modified xsi:type="dcterms:W3CDTF">2026-02-23T16:33:01Z</dcterms:modified>
</cp:coreProperties>
</file>